
<file path=[Content_Types].xml><?xml version="1.0" encoding="utf-8"?>
<Types xmlns="http://schemas.openxmlformats.org/package/2006/content-types">
  <Default Extension="gif" ContentType="image/gif"/>
  <Default Extension="jpeg" ContentType="image/jpeg"/>
  <Default Extension="jpg" ContentType="image/jpg"/>
  <Default Extension="m4v" ContentType="video/mp4"/>
  <Default Extension="mp4" ContentType="video/mp4"/>
  <Default Extension="png" ContentType="image/png"/>
  <Default Extension="rels" ContentType="application/vnd.openxmlformats-package.relationships+xml"/>
  <Default Extension="svg" ContentType="image/svg+xml"/>
  <Default Extension="vml" ContentType="application/vnd.openxmlformats-officedocument.vmlDrawing"/>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entation.xml" ContentType="application/vnd.openxmlformats-officedocument.presentationml.presentation.main+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38"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D55"/>
                </a:solidFill>
                <a:latin typeface="Aptos"/>
              </a:defRPr>
            </a:pPr>
            <a:r>
              <a:rPr sz="1300" b="0" i="0" u="none" strike="noStrike">
                <a:solidFill>
                  <a:srgbClr val="0B2D55"/>
                </a:solidFill>
                <a:latin typeface="Aptos"/>
              </a:rPr>
              <a:t>ReLU: max(0, z)</a:t>
            </a:r>
          </a:p>
        </c:rich>
      </c:tx>
      <c:layout/>
      <c:overlay val="0"/>
    </c:title>
    <c:autoTitleDeleted val="0"/>
    <c:plotArea>
      <c:layout/>
      <c:scatterChart>
        <c:scatterStyle val="lineMarker"/>
        <c:varyColors val="0"/>
        <c:ser>
          <c:idx val="0"/>
          <c:order val="0"/>
          <c:tx>
            <c:strRef>
              <c:f>Sheet1!$B$1</c:f>
              <c:strCache>
                <c:ptCount val="1"/>
                <c:pt idx="0">
                  <c:v>ReLU</c:v>
                </c:pt>
              </c:strCache>
            </c:strRef>
          </c:tx>
          <c:spPr>
            <a:solidFill>
              <a:srgbClr val="1D5FA7"/>
            </a:solidFill>
            <a:ln w="34925" cap="flat">
              <a:solidFill>
                <a:srgbClr val="1D5FA7"/>
              </a:solidFill>
              <a:prstDash val="solid"/>
              <a:round/>
            </a:ln>
            <a:effectLst/>
          </c:spPr>
          <c:marker>
            <c:symbol val="none"/>
            <c:size val="6"/>
            <c:spPr>
              <a:solidFill>
                <a:srgbClr val="1D5FA7"/>
              </a:solidFill>
              <a:ln w="9525" cap="flat">
                <a:solidFill>
                  <a:srgbClr val="1D5FA7"/>
                </a:solidFill>
                <a:prstDash val="solid"/>
                <a:round/>
              </a:ln>
              <a:effectLst/>
            </c:spPr>
          </c:marker>
          <c:xVal>
            <c:numRef>
              <c:f>Sheet1!$A$2:$A$42</c:f>
              <c:numCache>
                <c:formatCode>General</c:formatCode>
                <c:ptCount val="41"/>
                <c:pt idx="0">
                  <c:v>-5</c:v>
                </c:pt>
                <c:pt idx="1">
                  <c:v>-4.75</c:v>
                </c:pt>
                <c:pt idx="2">
                  <c:v>-4.5</c:v>
                </c:pt>
                <c:pt idx="3">
                  <c:v>-4.25</c:v>
                </c:pt>
                <c:pt idx="4">
                  <c:v>-4</c:v>
                </c:pt>
                <c:pt idx="5">
                  <c:v>-3.75</c:v>
                </c:pt>
                <c:pt idx="6">
                  <c:v>-3.5</c:v>
                </c:pt>
                <c:pt idx="7">
                  <c:v>-3.25</c:v>
                </c:pt>
                <c:pt idx="8">
                  <c:v>-3</c:v>
                </c:pt>
                <c:pt idx="9">
                  <c:v>-2.75</c:v>
                </c:pt>
                <c:pt idx="10">
                  <c:v>-2.5</c:v>
                </c:pt>
                <c:pt idx="11">
                  <c:v>-2.25</c:v>
                </c:pt>
                <c:pt idx="12">
                  <c:v>-2</c:v>
                </c:pt>
                <c:pt idx="13">
                  <c:v>-1.75</c:v>
                </c:pt>
                <c:pt idx="14">
                  <c:v>-1.5</c:v>
                </c:pt>
                <c:pt idx="15">
                  <c:v>-1.25</c:v>
                </c:pt>
                <c:pt idx="16">
                  <c:v>-1</c:v>
                </c:pt>
                <c:pt idx="17">
                  <c:v>-0.75</c:v>
                </c:pt>
                <c:pt idx="18">
                  <c:v>-0.5</c:v>
                </c:pt>
                <c:pt idx="19">
                  <c:v>-0.25</c:v>
                </c:pt>
                <c:pt idx="20">
                  <c:v>0</c:v>
                </c:pt>
                <c:pt idx="21">
                  <c:v>0.25</c:v>
                </c:pt>
                <c:pt idx="22">
                  <c:v>0.5</c:v>
                </c:pt>
                <c:pt idx="23">
                  <c:v>0.75</c:v>
                </c:pt>
                <c:pt idx="24">
                  <c:v>1</c:v>
                </c:pt>
                <c:pt idx="25">
                  <c:v>1.25</c:v>
                </c:pt>
                <c:pt idx="26">
                  <c:v>1.5</c:v>
                </c:pt>
                <c:pt idx="27">
                  <c:v>1.75</c:v>
                </c:pt>
                <c:pt idx="28">
                  <c:v>2</c:v>
                </c:pt>
                <c:pt idx="29">
                  <c:v>2.25</c:v>
                </c:pt>
                <c:pt idx="30">
                  <c:v>2.5</c:v>
                </c:pt>
                <c:pt idx="31">
                  <c:v>2.75</c:v>
                </c:pt>
                <c:pt idx="32">
                  <c:v>3</c:v>
                </c:pt>
                <c:pt idx="33">
                  <c:v>3.25</c:v>
                </c:pt>
                <c:pt idx="34">
                  <c:v>3.5</c:v>
                </c:pt>
                <c:pt idx="35">
                  <c:v>3.75</c:v>
                </c:pt>
                <c:pt idx="36">
                  <c:v>4</c:v>
                </c:pt>
                <c:pt idx="37">
                  <c:v>4.25</c:v>
                </c:pt>
                <c:pt idx="38">
                  <c:v>4.5</c:v>
                </c:pt>
                <c:pt idx="39">
                  <c:v>4.75</c:v>
                </c:pt>
                <c:pt idx="40">
                  <c:v>5</c:v>
                </c:pt>
              </c:numCache>
            </c:numRef>
          </c:xVal>
          <c:yVal>
            <c:numRef>
              <c:f>Sheet1!$B$2:$B$42</c:f>
              <c:numCache>
                <c:formatCode>General</c:formatCode>
                <c:ptCount val="4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0.25</c:v>
                </c:pt>
                <c:pt idx="22">
                  <c:v>0.5</c:v>
                </c:pt>
                <c:pt idx="23">
                  <c:v>0.75</c:v>
                </c:pt>
                <c:pt idx="24">
                  <c:v>1</c:v>
                </c:pt>
                <c:pt idx="25">
                  <c:v>1.25</c:v>
                </c:pt>
                <c:pt idx="26">
                  <c:v>1.5</c:v>
                </c:pt>
                <c:pt idx="27">
                  <c:v>1.75</c:v>
                </c:pt>
                <c:pt idx="28">
                  <c:v>2</c:v>
                </c:pt>
                <c:pt idx="29">
                  <c:v>2.25</c:v>
                </c:pt>
                <c:pt idx="30">
                  <c:v>2.5</c:v>
                </c:pt>
                <c:pt idx="31">
                  <c:v>2.75</c:v>
                </c:pt>
                <c:pt idx="32">
                  <c:v>3</c:v>
                </c:pt>
                <c:pt idx="33">
                  <c:v>3.25</c:v>
                </c:pt>
                <c:pt idx="34">
                  <c:v>3.5</c:v>
                </c:pt>
                <c:pt idx="35">
                  <c:v>3.75</c:v>
                </c:pt>
                <c:pt idx="36">
                  <c:v>4</c:v>
                </c:pt>
                <c:pt idx="37">
                  <c:v>4.25</c:v>
                </c:pt>
                <c:pt idx="38">
                  <c:v>4.5</c:v>
                </c:pt>
                <c:pt idx="39">
                  <c:v>4.75</c:v>
                </c:pt>
                <c:pt idx="40">
                  <c:v>5</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5"/>
          <c:min val="-5"/>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6D7C8F"/>
                </a:solidFill>
                <a:latin typeface="Aptos"/>
              </a:defRPr>
            </a:pPr>
            <a:endParaRPr lang="en-US"/>
          </a:p>
        </c:txPr>
        <c:crossAx val="2094734552"/>
        <c:crossesAt val="-5"/>
        <c:auto val="1"/>
        <c:lblAlgn val="ctr"/>
        <c:noMultiLvlLbl val="1"/>
        <c:majorUnit val="1"/>
      </c:valAx>
      <c:valAx>
        <c:axId val="2094734552"/>
        <c:scaling>
          <c:orientation val="minMax"/>
          <c:max val="5"/>
          <c:min val="0"/>
        </c:scaling>
        <c:delete val="0"/>
        <c:axPos val="l"/>
        <c:majorGridlines>
          <c:spPr>
            <a:ln w="6350" cap="flat">
              <a:solidFill>
                <a:srgbClr val="E3E9F0"/>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6D7C8F"/>
                </a:solidFill>
                <a:latin typeface="Aptos"/>
              </a:defRPr>
            </a:pPr>
            <a:endParaRPr lang="en-US"/>
          </a:p>
        </c:txPr>
        <c:crossAx val="2094734554"/>
        <c:crosses val="autoZero"/>
        <c:crossBetween val="midCat"/>
        <c:majorUnit val="1"/>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D55"/>
                </a:solidFill>
                <a:latin typeface="Aptos"/>
              </a:defRPr>
            </a:pPr>
            <a:r>
              <a:rPr sz="1300" b="0" i="0" u="none" strike="noStrike">
                <a:solidFill>
                  <a:srgbClr val="0B2D55"/>
                </a:solidFill>
                <a:latin typeface="Aptos"/>
              </a:rPr>
              <a:t>Sigmoid: 1 / (1 + e^(−z))</a:t>
            </a:r>
          </a:p>
        </c:rich>
      </c:tx>
      <c:layout/>
      <c:overlay val="0"/>
    </c:title>
    <c:autoTitleDeleted val="0"/>
    <c:plotArea>
      <c:layout/>
      <c:scatterChart>
        <c:scatterStyle val="lineMarker"/>
        <c:varyColors val="0"/>
        <c:ser>
          <c:idx val="0"/>
          <c:order val="0"/>
          <c:tx>
            <c:strRef>
              <c:f>Sheet1!$B$1</c:f>
              <c:strCache>
                <c:ptCount val="1"/>
                <c:pt idx="0">
                  <c:v>Sigmoid</c:v>
                </c:pt>
              </c:strCache>
            </c:strRef>
          </c:tx>
          <c:spPr>
            <a:solidFill>
              <a:srgbClr val="D9731A"/>
            </a:solidFill>
            <a:ln w="34925" cap="flat">
              <a:solidFill>
                <a:srgbClr val="D9731A"/>
              </a:solidFill>
              <a:prstDash val="solid"/>
              <a:round/>
            </a:ln>
            <a:effectLst/>
          </c:spPr>
          <c:marker>
            <c:symbol val="none"/>
            <c:size val="6"/>
            <c:spPr>
              <a:solidFill>
                <a:srgbClr val="D9731A"/>
              </a:solidFill>
              <a:ln w="9525" cap="flat">
                <a:solidFill>
                  <a:srgbClr val="D9731A"/>
                </a:solidFill>
                <a:prstDash val="solid"/>
                <a:round/>
              </a:ln>
              <a:effectLst/>
            </c:spPr>
          </c:marker>
          <c:xVal>
            <c:numRef>
              <c:f>Sheet1!$A$2:$A$42</c:f>
              <c:numCache>
                <c:formatCode>General</c:formatCode>
                <c:ptCount val="41"/>
                <c:pt idx="0">
                  <c:v>-5</c:v>
                </c:pt>
                <c:pt idx="1">
                  <c:v>-4.75</c:v>
                </c:pt>
                <c:pt idx="2">
                  <c:v>-4.5</c:v>
                </c:pt>
                <c:pt idx="3">
                  <c:v>-4.25</c:v>
                </c:pt>
                <c:pt idx="4">
                  <c:v>-4</c:v>
                </c:pt>
                <c:pt idx="5">
                  <c:v>-3.75</c:v>
                </c:pt>
                <c:pt idx="6">
                  <c:v>-3.5</c:v>
                </c:pt>
                <c:pt idx="7">
                  <c:v>-3.25</c:v>
                </c:pt>
                <c:pt idx="8">
                  <c:v>-3</c:v>
                </c:pt>
                <c:pt idx="9">
                  <c:v>-2.75</c:v>
                </c:pt>
                <c:pt idx="10">
                  <c:v>-2.5</c:v>
                </c:pt>
                <c:pt idx="11">
                  <c:v>-2.25</c:v>
                </c:pt>
                <c:pt idx="12">
                  <c:v>-2</c:v>
                </c:pt>
                <c:pt idx="13">
                  <c:v>-1.75</c:v>
                </c:pt>
                <c:pt idx="14">
                  <c:v>-1.5</c:v>
                </c:pt>
                <c:pt idx="15">
                  <c:v>-1.25</c:v>
                </c:pt>
                <c:pt idx="16">
                  <c:v>-1</c:v>
                </c:pt>
                <c:pt idx="17">
                  <c:v>-0.75</c:v>
                </c:pt>
                <c:pt idx="18">
                  <c:v>-0.5</c:v>
                </c:pt>
                <c:pt idx="19">
                  <c:v>-0.25</c:v>
                </c:pt>
                <c:pt idx="20">
                  <c:v>0</c:v>
                </c:pt>
                <c:pt idx="21">
                  <c:v>0.25</c:v>
                </c:pt>
                <c:pt idx="22">
                  <c:v>0.5</c:v>
                </c:pt>
                <c:pt idx="23">
                  <c:v>0.75</c:v>
                </c:pt>
                <c:pt idx="24">
                  <c:v>1</c:v>
                </c:pt>
                <c:pt idx="25">
                  <c:v>1.25</c:v>
                </c:pt>
                <c:pt idx="26">
                  <c:v>1.5</c:v>
                </c:pt>
                <c:pt idx="27">
                  <c:v>1.75</c:v>
                </c:pt>
                <c:pt idx="28">
                  <c:v>2</c:v>
                </c:pt>
                <c:pt idx="29">
                  <c:v>2.25</c:v>
                </c:pt>
                <c:pt idx="30">
                  <c:v>2.5</c:v>
                </c:pt>
                <c:pt idx="31">
                  <c:v>2.75</c:v>
                </c:pt>
                <c:pt idx="32">
                  <c:v>3</c:v>
                </c:pt>
                <c:pt idx="33">
                  <c:v>3.25</c:v>
                </c:pt>
                <c:pt idx="34">
                  <c:v>3.5</c:v>
                </c:pt>
                <c:pt idx="35">
                  <c:v>3.75</c:v>
                </c:pt>
                <c:pt idx="36">
                  <c:v>4</c:v>
                </c:pt>
                <c:pt idx="37">
                  <c:v>4.25</c:v>
                </c:pt>
                <c:pt idx="38">
                  <c:v>4.5</c:v>
                </c:pt>
                <c:pt idx="39">
                  <c:v>4.75</c:v>
                </c:pt>
                <c:pt idx="40">
                  <c:v>5</c:v>
                </c:pt>
              </c:numCache>
            </c:numRef>
          </c:xVal>
          <c:yVal>
            <c:numRef>
              <c:f>Sheet1!$B$2:$B$42</c:f>
              <c:numCache>
                <c:formatCode>General</c:formatCode>
                <c:ptCount val="41"/>
                <c:pt idx="0">
                  <c:v>0.0066928509242848554</c:v>
                </c:pt>
                <c:pt idx="1">
                  <c:v>0.008577485413711984</c:v>
                </c:pt>
                <c:pt idx="2">
                  <c:v>0.01098694263059318</c:v>
                </c:pt>
                <c:pt idx="3">
                  <c:v>0.014063627043245475</c:v>
                </c:pt>
                <c:pt idx="4">
                  <c:v>0.01798620996209156</c:v>
                </c:pt>
                <c:pt idx="5">
                  <c:v>0.022977369910025615</c:v>
                </c:pt>
                <c:pt idx="6">
                  <c:v>0.02931223075135632</c:v>
                </c:pt>
                <c:pt idx="7">
                  <c:v>0.03732688734412946</c:v>
                </c:pt>
                <c:pt idx="8">
                  <c:v>0.04742587317756678</c:v>
                </c:pt>
                <c:pt idx="9">
                  <c:v>0.060086650174007626</c:v>
                </c:pt>
                <c:pt idx="10">
                  <c:v>0.07585818002124355</c:v>
                </c:pt>
                <c:pt idx="11">
                  <c:v>0.09534946489910949</c:v>
                </c:pt>
                <c:pt idx="12">
                  <c:v>0.11920292202211755</c:v>
                </c:pt>
                <c:pt idx="13">
                  <c:v>0.14804719803168948</c:v>
                </c:pt>
                <c:pt idx="14">
                  <c:v>0.18242552380635635</c:v>
                </c:pt>
                <c:pt idx="15">
                  <c:v>0.22270013882530884</c:v>
                </c:pt>
                <c:pt idx="16">
                  <c:v>0.2689414213699951</c:v>
                </c:pt>
                <c:pt idx="17">
                  <c:v>0.320821300824607</c:v>
                </c:pt>
                <c:pt idx="18">
                  <c:v>0.3775406687981454</c:v>
                </c:pt>
                <c:pt idx="19">
                  <c:v>0.43782349911420193</c:v>
                </c:pt>
                <c:pt idx="20">
                  <c:v>0.5</c:v>
                </c:pt>
                <c:pt idx="21">
                  <c:v>0.5621765008857981</c:v>
                </c:pt>
                <c:pt idx="22">
                  <c:v>0.6224593312018546</c:v>
                </c:pt>
                <c:pt idx="23">
                  <c:v>0.679178699175393</c:v>
                </c:pt>
                <c:pt idx="24">
                  <c:v>0.7310585786300049</c:v>
                </c:pt>
                <c:pt idx="25">
                  <c:v>0.7772998611746911</c:v>
                </c:pt>
                <c:pt idx="26">
                  <c:v>0.8175744761936437</c:v>
                </c:pt>
                <c:pt idx="27">
                  <c:v>0.8519528019683106</c:v>
                </c:pt>
                <c:pt idx="28">
                  <c:v>0.8807970779778823</c:v>
                </c:pt>
                <c:pt idx="29">
                  <c:v>0.9046505351008906</c:v>
                </c:pt>
                <c:pt idx="30">
                  <c:v>0.9241418199787566</c:v>
                </c:pt>
                <c:pt idx="31">
                  <c:v>0.9399133498259924</c:v>
                </c:pt>
                <c:pt idx="32">
                  <c:v>0.9525741268224334</c:v>
                </c:pt>
                <c:pt idx="33">
                  <c:v>0.9626731126558706</c:v>
                </c:pt>
                <c:pt idx="34">
                  <c:v>0.9706877692486436</c:v>
                </c:pt>
                <c:pt idx="35">
                  <c:v>0.9770226300899744</c:v>
                </c:pt>
                <c:pt idx="36">
                  <c:v>0.9820137900379085</c:v>
                </c:pt>
                <c:pt idx="37">
                  <c:v>0.9859363729567544</c:v>
                </c:pt>
                <c:pt idx="38">
                  <c:v>0.9890130573694068</c:v>
                </c:pt>
                <c:pt idx="39">
                  <c:v>0.991422514586288</c:v>
                </c:pt>
                <c:pt idx="40">
                  <c:v>0.9933071490757153</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5"/>
          <c:min val="-5"/>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6D7C8F"/>
                </a:solidFill>
                <a:latin typeface="Aptos"/>
              </a:defRPr>
            </a:pPr>
            <a:endParaRPr lang="en-US"/>
          </a:p>
        </c:txPr>
        <c:crossAx val="2094734552"/>
        <c:crossesAt val="-5"/>
        <c:auto val="1"/>
        <c:lblAlgn val="ctr"/>
        <c:noMultiLvlLbl val="1"/>
        <c:majorUnit val="1"/>
      </c:valAx>
      <c:valAx>
        <c:axId val="2094734552"/>
        <c:scaling>
          <c:orientation val="minMax"/>
          <c:max val="1"/>
          <c:min val="0"/>
        </c:scaling>
        <c:delete val="0"/>
        <c:axPos val="l"/>
        <c:majorGridlines>
          <c:spPr>
            <a:ln w="6350" cap="flat">
              <a:solidFill>
                <a:srgbClr val="E3E9F0"/>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6D7C8F"/>
                </a:solidFill>
                <a:latin typeface="Aptos"/>
              </a:defRPr>
            </a:pPr>
            <a:endParaRPr lang="en-US"/>
          </a:p>
        </c:txPr>
        <c:crossAx val="2094734554"/>
        <c:crosses val="autoZero"/>
        <c:crossBetween val="midCat"/>
        <c:majorUnit val="0.25"/>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D55"/>
                </a:solidFill>
                <a:latin typeface="Aptos"/>
              </a:defRPr>
            </a:pPr>
            <a:r>
              <a:rPr sz="1300" b="0" i="0" u="none" strike="noStrike">
                <a:solidFill>
                  <a:srgbClr val="0B2D55"/>
                </a:solidFill>
                <a:latin typeface="Aptos"/>
              </a:rPr>
              <a:t>h₁: too-low detector</a:t>
            </a:r>
          </a:p>
        </c:rich>
      </c:tx>
      <c:layout/>
      <c:overlay val="0"/>
    </c:title>
    <c:autoTitleDeleted val="0"/>
    <c:plotArea>
      <c:layout/>
      <c:scatterChart>
        <c:scatterStyle val="lineMarker"/>
        <c:varyColors val="0"/>
        <c:ser>
          <c:idx val="0"/>
          <c:order val="0"/>
          <c:tx>
            <c:strRef>
              <c:f>Sheet1!$B$1</c:f>
              <c:strCache>
                <c:ptCount val="1"/>
                <c:pt idx="0">
                  <c:v>h₁</c:v>
                </c:pt>
              </c:strCache>
            </c:strRef>
          </c:tx>
          <c:spPr>
            <a:solidFill>
              <a:srgbClr val="D9731A"/>
            </a:solidFill>
            <a:ln w="34925" cap="flat">
              <a:solidFill>
                <a:srgbClr val="D9731A"/>
              </a:solidFill>
              <a:prstDash val="solid"/>
              <a:round/>
            </a:ln>
            <a:effectLst/>
          </c:spPr>
          <c:marker>
            <c:symbol val="none"/>
            <c:size val="6"/>
            <c:spPr>
              <a:solidFill>
                <a:srgbClr val="D9731A"/>
              </a:solidFill>
              <a:ln w="9525" cap="flat">
                <a:solidFill>
                  <a:srgbClr val="D9731A"/>
                </a:solidFill>
                <a:prstDash val="solid"/>
                <a:round/>
              </a:ln>
              <a:effectLst/>
            </c:spPr>
          </c:marker>
          <c:xVal>
            <c:numRef>
              <c:f>Sheet1!$A$2:$A$42</c:f>
              <c:numCache>
                <c:formatCode>General</c:formatCode>
                <c:ptCount val="41"/>
                <c:pt idx="0">
                  <c:v>0</c:v>
                </c:pt>
                <c:pt idx="1">
                  <c:v>2.5</c:v>
                </c:pt>
                <c:pt idx="2">
                  <c:v>5</c:v>
                </c:pt>
                <c:pt idx="3">
                  <c:v>7.5</c:v>
                </c:pt>
                <c:pt idx="4">
                  <c:v>10</c:v>
                </c:pt>
                <c:pt idx="5">
                  <c:v>12.5</c:v>
                </c:pt>
                <c:pt idx="6">
                  <c:v>15</c:v>
                </c:pt>
                <c:pt idx="7">
                  <c:v>17.5</c:v>
                </c:pt>
                <c:pt idx="8">
                  <c:v>20</c:v>
                </c:pt>
                <c:pt idx="9">
                  <c:v>22.5</c:v>
                </c:pt>
                <c:pt idx="10">
                  <c:v>25</c:v>
                </c:pt>
                <c:pt idx="11">
                  <c:v>27.5</c:v>
                </c:pt>
                <c:pt idx="12">
                  <c:v>30</c:v>
                </c:pt>
                <c:pt idx="13">
                  <c:v>32.5</c:v>
                </c:pt>
                <c:pt idx="14">
                  <c:v>35</c:v>
                </c:pt>
                <c:pt idx="15">
                  <c:v>37.5</c:v>
                </c:pt>
                <c:pt idx="16">
                  <c:v>40</c:v>
                </c:pt>
                <c:pt idx="17">
                  <c:v>42.5</c:v>
                </c:pt>
                <c:pt idx="18">
                  <c:v>45</c:v>
                </c:pt>
                <c:pt idx="19">
                  <c:v>47.5</c:v>
                </c:pt>
                <c:pt idx="20">
                  <c:v>50</c:v>
                </c:pt>
                <c:pt idx="21">
                  <c:v>52.5</c:v>
                </c:pt>
                <c:pt idx="22">
                  <c:v>55</c:v>
                </c:pt>
                <c:pt idx="23">
                  <c:v>57.5</c:v>
                </c:pt>
                <c:pt idx="24">
                  <c:v>60</c:v>
                </c:pt>
                <c:pt idx="25">
                  <c:v>62.5</c:v>
                </c:pt>
                <c:pt idx="26">
                  <c:v>65</c:v>
                </c:pt>
                <c:pt idx="27">
                  <c:v>67.5</c:v>
                </c:pt>
                <c:pt idx="28">
                  <c:v>70</c:v>
                </c:pt>
                <c:pt idx="29">
                  <c:v>72.5</c:v>
                </c:pt>
                <c:pt idx="30">
                  <c:v>75</c:v>
                </c:pt>
                <c:pt idx="31">
                  <c:v>77.5</c:v>
                </c:pt>
                <c:pt idx="32">
                  <c:v>80</c:v>
                </c:pt>
                <c:pt idx="33">
                  <c:v>82.5</c:v>
                </c:pt>
                <c:pt idx="34">
                  <c:v>85</c:v>
                </c:pt>
                <c:pt idx="35">
                  <c:v>87.5</c:v>
                </c:pt>
                <c:pt idx="36">
                  <c:v>90</c:v>
                </c:pt>
                <c:pt idx="37">
                  <c:v>92.5</c:v>
                </c:pt>
                <c:pt idx="38">
                  <c:v>95</c:v>
                </c:pt>
                <c:pt idx="39">
                  <c:v>97.5</c:v>
                </c:pt>
                <c:pt idx="40">
                  <c:v>100</c:v>
                </c:pt>
              </c:numCache>
            </c:numRef>
          </c:xVal>
          <c:yVal>
            <c:numRef>
              <c:f>Sheet1!$B$2:$B$42</c:f>
              <c:numCache>
                <c:formatCode>General</c:formatCode>
                <c:ptCount val="41"/>
                <c:pt idx="0">
                  <c:v>20</c:v>
                </c:pt>
                <c:pt idx="1">
                  <c:v>17.5</c:v>
                </c:pt>
                <c:pt idx="2">
                  <c:v>15</c:v>
                </c:pt>
                <c:pt idx="3">
                  <c:v>12.5</c:v>
                </c:pt>
                <c:pt idx="4">
                  <c:v>10</c:v>
                </c:pt>
                <c:pt idx="5">
                  <c:v>7.5</c:v>
                </c:pt>
                <c:pt idx="6">
                  <c:v>5</c:v>
                </c:pt>
                <c:pt idx="7">
                  <c:v>2.5</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00"/>
          <c:min val="0"/>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6D7C8F"/>
                </a:solidFill>
                <a:latin typeface="Aptos"/>
              </a:defRPr>
            </a:pPr>
            <a:endParaRPr lang="en-US"/>
          </a:p>
        </c:txPr>
        <c:crossAx val="2094734552"/>
        <c:crosses val="autoZero"/>
        <c:auto val="1"/>
        <c:lblAlgn val="ctr"/>
        <c:noMultiLvlLbl val="1"/>
        <c:majorUnit val="20"/>
      </c:valAx>
      <c:valAx>
        <c:axId val="2094734552"/>
        <c:scaling>
          <c:orientation val="minMax"/>
          <c:max val="20"/>
          <c:min val="0"/>
        </c:scaling>
        <c:delete val="0"/>
        <c:axPos val="l"/>
        <c:majorGridlines>
          <c:spPr>
            <a:ln w="6350" cap="flat">
              <a:solidFill>
                <a:srgbClr val="E3E9F0"/>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6D7C8F"/>
                </a:solidFill>
                <a:latin typeface="Aptos"/>
              </a:defRPr>
            </a:pPr>
            <a:endParaRPr lang="en-US"/>
          </a:p>
        </c:txPr>
        <c:crossAx val="2094734554"/>
        <c:crosses val="autoZero"/>
        <c:crossBetween val="midCat"/>
        <c:majorUnit val="10"/>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D55"/>
                </a:solidFill>
                <a:latin typeface="Aptos"/>
              </a:defRPr>
            </a:pPr>
            <a:r>
              <a:rPr sz="1300" b="0" i="0" u="none" strike="noStrike">
                <a:solidFill>
                  <a:srgbClr val="0B2D55"/>
                </a:solidFill>
                <a:latin typeface="Aptos"/>
              </a:rPr>
              <a:t>h₂: too-high detector</a:t>
            </a:r>
          </a:p>
        </c:rich>
      </c:tx>
      <c:layout/>
      <c:overlay val="0"/>
    </c:title>
    <c:autoTitleDeleted val="0"/>
    <c:plotArea>
      <c:layout/>
      <c:scatterChart>
        <c:scatterStyle val="lineMarker"/>
        <c:varyColors val="0"/>
        <c:ser>
          <c:idx val="0"/>
          <c:order val="0"/>
          <c:tx>
            <c:strRef>
              <c:f>Sheet1!$B$1</c:f>
              <c:strCache>
                <c:ptCount val="1"/>
                <c:pt idx="0">
                  <c:v>h₂</c:v>
                </c:pt>
              </c:strCache>
            </c:strRef>
          </c:tx>
          <c:spPr>
            <a:solidFill>
              <a:srgbClr val="1D5FA7"/>
            </a:solidFill>
            <a:ln w="34925" cap="flat">
              <a:solidFill>
                <a:srgbClr val="1D5FA7"/>
              </a:solidFill>
              <a:prstDash val="solid"/>
              <a:round/>
            </a:ln>
            <a:effectLst/>
          </c:spPr>
          <c:marker>
            <c:symbol val="none"/>
            <c:size val="6"/>
            <c:spPr>
              <a:solidFill>
                <a:srgbClr val="1D5FA7"/>
              </a:solidFill>
              <a:ln w="9525" cap="flat">
                <a:solidFill>
                  <a:srgbClr val="1D5FA7"/>
                </a:solidFill>
                <a:prstDash val="solid"/>
                <a:round/>
              </a:ln>
              <a:effectLst/>
            </c:spPr>
          </c:marker>
          <c:xVal>
            <c:numRef>
              <c:f>Sheet1!$A$2:$A$42</c:f>
              <c:numCache>
                <c:formatCode>General</c:formatCode>
                <c:ptCount val="41"/>
                <c:pt idx="0">
                  <c:v>0</c:v>
                </c:pt>
                <c:pt idx="1">
                  <c:v>2.5</c:v>
                </c:pt>
                <c:pt idx="2">
                  <c:v>5</c:v>
                </c:pt>
                <c:pt idx="3">
                  <c:v>7.5</c:v>
                </c:pt>
                <c:pt idx="4">
                  <c:v>10</c:v>
                </c:pt>
                <c:pt idx="5">
                  <c:v>12.5</c:v>
                </c:pt>
                <c:pt idx="6">
                  <c:v>15</c:v>
                </c:pt>
                <c:pt idx="7">
                  <c:v>17.5</c:v>
                </c:pt>
                <c:pt idx="8">
                  <c:v>20</c:v>
                </c:pt>
                <c:pt idx="9">
                  <c:v>22.5</c:v>
                </c:pt>
                <c:pt idx="10">
                  <c:v>25</c:v>
                </c:pt>
                <c:pt idx="11">
                  <c:v>27.5</c:v>
                </c:pt>
                <c:pt idx="12">
                  <c:v>30</c:v>
                </c:pt>
                <c:pt idx="13">
                  <c:v>32.5</c:v>
                </c:pt>
                <c:pt idx="14">
                  <c:v>35</c:v>
                </c:pt>
                <c:pt idx="15">
                  <c:v>37.5</c:v>
                </c:pt>
                <c:pt idx="16">
                  <c:v>40</c:v>
                </c:pt>
                <c:pt idx="17">
                  <c:v>42.5</c:v>
                </c:pt>
                <c:pt idx="18">
                  <c:v>45</c:v>
                </c:pt>
                <c:pt idx="19">
                  <c:v>47.5</c:v>
                </c:pt>
                <c:pt idx="20">
                  <c:v>50</c:v>
                </c:pt>
                <c:pt idx="21">
                  <c:v>52.5</c:v>
                </c:pt>
                <c:pt idx="22">
                  <c:v>55</c:v>
                </c:pt>
                <c:pt idx="23">
                  <c:v>57.5</c:v>
                </c:pt>
                <c:pt idx="24">
                  <c:v>60</c:v>
                </c:pt>
                <c:pt idx="25">
                  <c:v>62.5</c:v>
                </c:pt>
                <c:pt idx="26">
                  <c:v>65</c:v>
                </c:pt>
                <c:pt idx="27">
                  <c:v>67.5</c:v>
                </c:pt>
                <c:pt idx="28">
                  <c:v>70</c:v>
                </c:pt>
                <c:pt idx="29">
                  <c:v>72.5</c:v>
                </c:pt>
                <c:pt idx="30">
                  <c:v>75</c:v>
                </c:pt>
                <c:pt idx="31">
                  <c:v>77.5</c:v>
                </c:pt>
                <c:pt idx="32">
                  <c:v>80</c:v>
                </c:pt>
                <c:pt idx="33">
                  <c:v>82.5</c:v>
                </c:pt>
                <c:pt idx="34">
                  <c:v>85</c:v>
                </c:pt>
                <c:pt idx="35">
                  <c:v>87.5</c:v>
                </c:pt>
                <c:pt idx="36">
                  <c:v>90</c:v>
                </c:pt>
                <c:pt idx="37">
                  <c:v>92.5</c:v>
                </c:pt>
                <c:pt idx="38">
                  <c:v>95</c:v>
                </c:pt>
                <c:pt idx="39">
                  <c:v>97.5</c:v>
                </c:pt>
                <c:pt idx="40">
                  <c:v>100</c:v>
                </c:pt>
              </c:numCache>
            </c:numRef>
          </c:xVal>
          <c:yVal>
            <c:numRef>
              <c:f>Sheet1!$B$2:$B$42</c:f>
              <c:numCache>
                <c:formatCode>General</c:formatCode>
                <c:ptCount val="4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2.5</c:v>
                </c:pt>
                <c:pt idx="34">
                  <c:v>5</c:v>
                </c:pt>
                <c:pt idx="35">
                  <c:v>7.5</c:v>
                </c:pt>
                <c:pt idx="36">
                  <c:v>10</c:v>
                </c:pt>
                <c:pt idx="37">
                  <c:v>12.5</c:v>
                </c:pt>
                <c:pt idx="38">
                  <c:v>15</c:v>
                </c:pt>
                <c:pt idx="39">
                  <c:v>17.5</c:v>
                </c:pt>
                <c:pt idx="40">
                  <c:v>20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00"/>
          <c:min val="0"/>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6D7C8F"/>
                </a:solidFill>
                <a:latin typeface="Aptos"/>
              </a:defRPr>
            </a:pPr>
            <a:endParaRPr lang="en-US"/>
          </a:p>
        </c:txPr>
        <c:crossAx val="2094734552"/>
        <c:crosses val="autoZero"/>
        <c:auto val="1"/>
        <c:lblAlgn val="ctr"/>
        <c:noMultiLvlLbl val="1"/>
        <c:majorUnit val="20"/>
      </c:valAx>
      <c:valAx>
        <c:axId val="2094734552"/>
        <c:scaling>
          <c:orientation val="minMax"/>
          <c:max val="20"/>
          <c:min val="0"/>
        </c:scaling>
        <c:delete val="0"/>
        <c:axPos val="l"/>
        <c:majorGridlines>
          <c:spPr>
            <a:ln w="6350" cap="flat">
              <a:solidFill>
                <a:srgbClr val="E3E9F0"/>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6D7C8F"/>
                </a:solidFill>
                <a:latin typeface="Aptos"/>
              </a:defRPr>
            </a:pPr>
            <a:endParaRPr lang="en-US"/>
          </a:p>
        </c:txPr>
        <c:crossAx val="2094734554"/>
        <c:crosses val="autoZero"/>
        <c:crossBetween val="midCat"/>
        <c:majorUnit val="10"/>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D55"/>
                </a:solidFill>
                <a:latin typeface="Aptos"/>
              </a:defRPr>
            </a:pPr>
            <a:r>
              <a:rPr sz="1300" b="0" i="0" u="none" strike="noStrike">
                <a:solidFill>
                  <a:srgbClr val="0B2D55"/>
                </a:solidFill>
                <a:latin typeface="Aptos"/>
              </a:rPr>
              <a:t>Output: P(alert) vs. CPU load</a:t>
            </a:r>
          </a:p>
        </c:rich>
      </c:tx>
      <c:layout/>
      <c:overlay val="0"/>
    </c:title>
    <c:autoTitleDeleted val="0"/>
    <c:plotArea>
      <c:layout/>
      <c:scatterChart>
        <c:scatterStyle val="lineMarker"/>
        <c:varyColors val="0"/>
        <c:ser>
          <c:idx val="0"/>
          <c:order val="0"/>
          <c:tx>
            <c:strRef>
              <c:f>Sheet1!$B$1</c:f>
              <c:strCache>
                <c:ptCount val="1"/>
                <c:pt idx="0">
                  <c:v>P(alert)</c:v>
                </c:pt>
              </c:strCache>
            </c:strRef>
          </c:tx>
          <c:spPr>
            <a:solidFill>
              <a:srgbClr val="2E7D32"/>
            </a:solidFill>
            <a:ln w="34925" cap="flat">
              <a:solidFill>
                <a:srgbClr val="2E7D32"/>
              </a:solidFill>
              <a:prstDash val="solid"/>
              <a:round/>
            </a:ln>
            <a:effectLst/>
          </c:spPr>
          <c:marker>
            <c:symbol val="none"/>
            <c:size val="6"/>
            <c:spPr>
              <a:solidFill>
                <a:srgbClr val="2E7D32"/>
              </a:solidFill>
              <a:ln w="9525" cap="flat">
                <a:solidFill>
                  <a:srgbClr val="2E7D32"/>
                </a:solidFill>
                <a:prstDash val="solid"/>
                <a:round/>
              </a:ln>
              <a:effectLst/>
            </c:spPr>
          </c:marker>
          <c:xVal>
            <c:numRef>
              <c:f>Sheet1!$A$2:$A$42</c:f>
              <c:numCache>
                <c:formatCode>General</c:formatCode>
                <c:ptCount val="41"/>
                <c:pt idx="0">
                  <c:v>0</c:v>
                </c:pt>
                <c:pt idx="1">
                  <c:v>2.5</c:v>
                </c:pt>
                <c:pt idx="2">
                  <c:v>5</c:v>
                </c:pt>
                <c:pt idx="3">
                  <c:v>7.5</c:v>
                </c:pt>
                <c:pt idx="4">
                  <c:v>10</c:v>
                </c:pt>
                <c:pt idx="5">
                  <c:v>12.5</c:v>
                </c:pt>
                <c:pt idx="6">
                  <c:v>15</c:v>
                </c:pt>
                <c:pt idx="7">
                  <c:v>17.5</c:v>
                </c:pt>
                <c:pt idx="8">
                  <c:v>20</c:v>
                </c:pt>
                <c:pt idx="9">
                  <c:v>22.5</c:v>
                </c:pt>
                <c:pt idx="10">
                  <c:v>25</c:v>
                </c:pt>
                <c:pt idx="11">
                  <c:v>27.5</c:v>
                </c:pt>
                <c:pt idx="12">
                  <c:v>30</c:v>
                </c:pt>
                <c:pt idx="13">
                  <c:v>32.5</c:v>
                </c:pt>
                <c:pt idx="14">
                  <c:v>35</c:v>
                </c:pt>
                <c:pt idx="15">
                  <c:v>37.5</c:v>
                </c:pt>
                <c:pt idx="16">
                  <c:v>40</c:v>
                </c:pt>
                <c:pt idx="17">
                  <c:v>42.5</c:v>
                </c:pt>
                <c:pt idx="18">
                  <c:v>45</c:v>
                </c:pt>
                <c:pt idx="19">
                  <c:v>47.5</c:v>
                </c:pt>
                <c:pt idx="20">
                  <c:v>50</c:v>
                </c:pt>
                <c:pt idx="21">
                  <c:v>52.5</c:v>
                </c:pt>
                <c:pt idx="22">
                  <c:v>55</c:v>
                </c:pt>
                <c:pt idx="23">
                  <c:v>57.5</c:v>
                </c:pt>
                <c:pt idx="24">
                  <c:v>60</c:v>
                </c:pt>
                <c:pt idx="25">
                  <c:v>62.5</c:v>
                </c:pt>
                <c:pt idx="26">
                  <c:v>65</c:v>
                </c:pt>
                <c:pt idx="27">
                  <c:v>67.5</c:v>
                </c:pt>
                <c:pt idx="28">
                  <c:v>70</c:v>
                </c:pt>
                <c:pt idx="29">
                  <c:v>72.5</c:v>
                </c:pt>
                <c:pt idx="30">
                  <c:v>75</c:v>
                </c:pt>
                <c:pt idx="31">
                  <c:v>77.5</c:v>
                </c:pt>
                <c:pt idx="32">
                  <c:v>80</c:v>
                </c:pt>
                <c:pt idx="33">
                  <c:v>82.5</c:v>
                </c:pt>
                <c:pt idx="34">
                  <c:v>85</c:v>
                </c:pt>
                <c:pt idx="35">
                  <c:v>87.5</c:v>
                </c:pt>
                <c:pt idx="36">
                  <c:v>90</c:v>
                </c:pt>
                <c:pt idx="37">
                  <c:v>92.5</c:v>
                </c:pt>
                <c:pt idx="38">
                  <c:v>95</c:v>
                </c:pt>
                <c:pt idx="39">
                  <c:v>97.5</c:v>
                </c:pt>
                <c:pt idx="40">
                  <c:v>100</c:v>
                </c:pt>
              </c:numCache>
            </c:numRef>
          </c:xVal>
          <c:yVal>
            <c:numRef>
              <c:f>Sheet1!$B$2:$B$42</c:f>
              <c:numCache>
                <c:formatCode>General</c:formatCode>
                <c:ptCount val="41"/>
                <c:pt idx="0">
                  <c:v>0.9996646498695336</c:v>
                </c:pt>
                <c:pt idx="1">
                  <c:v>0.9988304897349445</c:v>
                </c:pt>
                <c:pt idx="2">
                  <c:v>0.995929862284104</c:v>
                </c:pt>
                <c:pt idx="3">
                  <c:v>0.9859363729567544</c:v>
                </c:pt>
                <c:pt idx="4">
                  <c:v>0.9525741268224334</c:v>
                </c:pt>
                <c:pt idx="5">
                  <c:v>0.8519528019683106</c:v>
                </c:pt>
                <c:pt idx="6">
                  <c:v>0.6224593312018546</c:v>
                </c:pt>
                <c:pt idx="7">
                  <c:v>0.320821300824607</c:v>
                </c:pt>
                <c:pt idx="8">
                  <c:v>0.11920292202211755</c:v>
                </c:pt>
                <c:pt idx="9">
                  <c:v>0.11920292202211755</c:v>
                </c:pt>
                <c:pt idx="10">
                  <c:v>0.11920292202211755</c:v>
                </c:pt>
                <c:pt idx="11">
                  <c:v>0.11920292202211755</c:v>
                </c:pt>
                <c:pt idx="12">
                  <c:v>0.11920292202211755</c:v>
                </c:pt>
                <c:pt idx="13">
                  <c:v>0.11920292202211755</c:v>
                </c:pt>
                <c:pt idx="14">
                  <c:v>0.11920292202211755</c:v>
                </c:pt>
                <c:pt idx="15">
                  <c:v>0.11920292202211755</c:v>
                </c:pt>
                <c:pt idx="16">
                  <c:v>0.11920292202211755</c:v>
                </c:pt>
                <c:pt idx="17">
                  <c:v>0.11920292202211755</c:v>
                </c:pt>
                <c:pt idx="18">
                  <c:v>0.11920292202211755</c:v>
                </c:pt>
                <c:pt idx="19">
                  <c:v>0.11920292202211755</c:v>
                </c:pt>
                <c:pt idx="20">
                  <c:v>0.11920292202211755</c:v>
                </c:pt>
                <c:pt idx="21">
                  <c:v>0.11920292202211755</c:v>
                </c:pt>
                <c:pt idx="22">
                  <c:v>0.11920292202211755</c:v>
                </c:pt>
                <c:pt idx="23">
                  <c:v>0.11920292202211755</c:v>
                </c:pt>
                <c:pt idx="24">
                  <c:v>0.11920292202211755</c:v>
                </c:pt>
                <c:pt idx="25">
                  <c:v>0.11920292202211755</c:v>
                </c:pt>
                <c:pt idx="26">
                  <c:v>0.11920292202211755</c:v>
                </c:pt>
                <c:pt idx="27">
                  <c:v>0.11920292202211755</c:v>
                </c:pt>
                <c:pt idx="28">
                  <c:v>0.11920292202211755</c:v>
                </c:pt>
                <c:pt idx="29">
                  <c:v>0.11920292202211755</c:v>
                </c:pt>
                <c:pt idx="30">
                  <c:v>0.11920292202211755</c:v>
                </c:pt>
                <c:pt idx="31">
                  <c:v>0.11920292202211755</c:v>
                </c:pt>
                <c:pt idx="32">
                  <c:v>0.11920292202211755</c:v>
                </c:pt>
                <c:pt idx="33">
                  <c:v>0.320821300824607</c:v>
                </c:pt>
                <c:pt idx="34">
                  <c:v>0.6224593312018546</c:v>
                </c:pt>
                <c:pt idx="35">
                  <c:v>0.8519528019683106</c:v>
                </c:pt>
                <c:pt idx="36">
                  <c:v>0.9525741268224334</c:v>
                </c:pt>
                <c:pt idx="37">
                  <c:v>0.9859363729567544</c:v>
                </c:pt>
                <c:pt idx="38">
                  <c:v>0.995929862284104</c:v>
                </c:pt>
                <c:pt idx="39">
                  <c:v>0.9988304897349445</c:v>
                </c:pt>
                <c:pt idx="40">
                  <c:v>0.9996646498695336</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00"/>
          <c:min val="0"/>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6D7C8F"/>
                </a:solidFill>
                <a:latin typeface="Aptos"/>
              </a:defRPr>
            </a:pPr>
            <a:endParaRPr lang="en-US"/>
          </a:p>
        </c:txPr>
        <c:crossAx val="2094734552"/>
        <c:crosses val="autoZero"/>
        <c:auto val="1"/>
        <c:lblAlgn val="ctr"/>
        <c:noMultiLvlLbl val="1"/>
        <c:majorUnit val="20"/>
      </c:valAx>
      <c:valAx>
        <c:axId val="2094734552"/>
        <c:scaling>
          <c:orientation val="minMax"/>
          <c:max val="1"/>
          <c:min val="0"/>
        </c:scaling>
        <c:delete val="0"/>
        <c:axPos val="l"/>
        <c:majorGridlines>
          <c:spPr>
            <a:ln w="6350" cap="flat">
              <a:solidFill>
                <a:srgbClr val="E3E9F0"/>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6D7C8F"/>
                </a:solidFill>
                <a:latin typeface="Aptos"/>
              </a:defRPr>
            </a:pPr>
            <a:endParaRPr lang="en-US"/>
          </a:p>
        </c:txPr>
        <c:crossAx val="2094734554"/>
        <c:crosses val="autoZero"/>
        <c:crossBetween val="midCat"/>
        <c:majorUnit val="0.5"/>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D55"/>
                </a:solidFill>
                <a:latin typeface="Aptos"/>
              </a:defRPr>
            </a:pPr>
            <a:r>
              <a:rPr sz="1300" b="0" i="0" u="none" strike="noStrike">
                <a:solidFill>
                  <a:srgbClr val="0B2D55"/>
                </a:solidFill>
                <a:latin typeface="Aptos"/>
              </a:rPr>
              <a:t>Linear stack: y = 6x − 1 (a straight line)</a:t>
            </a:r>
          </a:p>
        </c:rich>
      </c:tx>
      <c:layout/>
      <c:overlay val="0"/>
    </c:title>
    <c:autoTitleDeleted val="0"/>
    <c:plotArea>
      <c:layout/>
      <c:scatterChart>
        <c:scatterStyle val="lineMarker"/>
        <c:varyColors val="0"/>
        <c:ser>
          <c:idx val="0"/>
          <c:order val="0"/>
          <c:tx>
            <c:strRef>
              <c:f>Sheet1!$B$1</c:f>
              <c:strCache>
                <c:ptCount val="1"/>
                <c:pt idx="0">
                  <c:v>linear</c:v>
                </c:pt>
              </c:strCache>
            </c:strRef>
          </c:tx>
          <c:spPr>
            <a:solidFill>
              <a:srgbClr val="B43A3A"/>
            </a:solidFill>
            <a:ln w="34925" cap="flat">
              <a:solidFill>
                <a:srgbClr val="B43A3A"/>
              </a:solidFill>
              <a:prstDash val="solid"/>
              <a:round/>
            </a:ln>
            <a:effectLst/>
          </c:spPr>
          <c:marker>
            <c:symbol val="none"/>
            <c:size val="6"/>
            <c:spPr>
              <a:solidFill>
                <a:srgbClr val="B43A3A"/>
              </a:solidFill>
              <a:ln w="9525" cap="flat">
                <a:solidFill>
                  <a:srgbClr val="B43A3A"/>
                </a:solidFill>
                <a:prstDash val="solid"/>
                <a:round/>
              </a:ln>
              <a:effectLst/>
            </c:spPr>
          </c:marker>
          <c:xVal>
            <c:numRef>
              <c:f>Sheet1!$A$2:$A$42</c:f>
              <c:numCache>
                <c:formatCode>General</c:formatCode>
                <c:ptCount val="41"/>
                <c:pt idx="0">
                  <c:v>-2</c:v>
                </c:pt>
                <c:pt idx="1">
                  <c:v>-1.9</c:v>
                </c:pt>
                <c:pt idx="2">
                  <c:v>-1.8</c:v>
                </c:pt>
                <c:pt idx="3">
                  <c:v>-1.7</c:v>
                </c:pt>
                <c:pt idx="4">
                  <c:v>-1.6</c:v>
                </c:pt>
                <c:pt idx="5">
                  <c:v>-1.5</c:v>
                </c:pt>
                <c:pt idx="6">
                  <c:v>-1.4</c:v>
                </c:pt>
                <c:pt idx="7">
                  <c:v>-1.3</c:v>
                </c:pt>
                <c:pt idx="8">
                  <c:v>-1.2</c:v>
                </c:pt>
                <c:pt idx="9">
                  <c:v>-1.1</c:v>
                </c:pt>
                <c:pt idx="10">
                  <c:v>-1</c:v>
                </c:pt>
                <c:pt idx="11">
                  <c:v>-0.9</c:v>
                </c:pt>
                <c:pt idx="12">
                  <c:v>-0.8</c:v>
                </c:pt>
                <c:pt idx="13">
                  <c:v>-0.7</c:v>
                </c:pt>
                <c:pt idx="14">
                  <c:v>-0.6</c:v>
                </c:pt>
                <c:pt idx="15">
                  <c:v>-0.5</c:v>
                </c:pt>
                <c:pt idx="16">
                  <c:v>-0.4</c:v>
                </c:pt>
                <c:pt idx="17">
                  <c:v>-0.3</c:v>
                </c:pt>
                <c:pt idx="18">
                  <c:v>-0.2</c:v>
                </c:pt>
                <c:pt idx="19">
                  <c:v>-0.1</c:v>
                </c:pt>
                <c:pt idx="20">
                  <c:v>0</c:v>
                </c:pt>
                <c:pt idx="21">
                  <c:v>0.1</c:v>
                </c:pt>
                <c:pt idx="22">
                  <c:v>0.2</c:v>
                </c:pt>
                <c:pt idx="23">
                  <c:v>0.3</c:v>
                </c:pt>
                <c:pt idx="24">
                  <c:v>0.4</c:v>
                </c:pt>
                <c:pt idx="25">
                  <c:v>0.5</c:v>
                </c:pt>
                <c:pt idx="26">
                  <c:v>0.6</c:v>
                </c:pt>
                <c:pt idx="27">
                  <c:v>0.7</c:v>
                </c:pt>
                <c:pt idx="28">
                  <c:v>0.8</c:v>
                </c:pt>
                <c:pt idx="29">
                  <c:v>0.9</c:v>
                </c:pt>
                <c:pt idx="30">
                  <c:v>1</c:v>
                </c:pt>
                <c:pt idx="31">
                  <c:v>1.1</c:v>
                </c:pt>
                <c:pt idx="32">
                  <c:v>1.2</c:v>
                </c:pt>
                <c:pt idx="33">
                  <c:v>1.3</c:v>
                </c:pt>
                <c:pt idx="34">
                  <c:v>1.4</c:v>
                </c:pt>
                <c:pt idx="35">
                  <c:v>1.5</c:v>
                </c:pt>
                <c:pt idx="36">
                  <c:v>1.6</c:v>
                </c:pt>
                <c:pt idx="37">
                  <c:v>1.7</c:v>
                </c:pt>
                <c:pt idx="38">
                  <c:v>1.8</c:v>
                </c:pt>
                <c:pt idx="39">
                  <c:v>1.9</c:v>
                </c:pt>
                <c:pt idx="40">
                  <c:v>2</c:v>
                </c:pt>
              </c:numCache>
            </c:numRef>
          </c:xVal>
          <c:yVal>
            <c:numRef>
              <c:f>Sheet1!$B$2:$B$42</c:f>
              <c:numCache>
                <c:formatCode>General</c:formatCode>
                <c:ptCount val="41"/>
                <c:pt idx="0">
                  <c:v>-13</c:v>
                </c:pt>
                <c:pt idx="1">
                  <c:v>-12.399999999999999</c:v>
                </c:pt>
                <c:pt idx="2">
                  <c:v>-11.8</c:v>
                </c:pt>
                <c:pt idx="3">
                  <c:v>-11.2</c:v>
                </c:pt>
                <c:pt idx="4">
                  <c:v>-10.600000000000001</c:v>
                </c:pt>
                <c:pt idx="5">
                  <c:v>-10</c:v>
                </c:pt>
                <c:pt idx="6">
                  <c:v>-9.399999999999999</c:v>
                </c:pt>
                <c:pt idx="7">
                  <c:v>-8.8</c:v>
                </c:pt>
                <c:pt idx="8">
                  <c:v>-8.2</c:v>
                </c:pt>
                <c:pt idx="9">
                  <c:v>-7.6000000000000005</c:v>
                </c:pt>
                <c:pt idx="10">
                  <c:v>-7</c:v>
                </c:pt>
                <c:pt idx="11">
                  <c:v>-6.4</c:v>
                </c:pt>
                <c:pt idx="12">
                  <c:v>-5.800000000000001</c:v>
                </c:pt>
                <c:pt idx="13">
                  <c:v>-5.199999999999999</c:v>
                </c:pt>
                <c:pt idx="14">
                  <c:v>-4.6</c:v>
                </c:pt>
                <c:pt idx="15">
                  <c:v>-4</c:v>
                </c:pt>
                <c:pt idx="16">
                  <c:v>-3.4000000000000004</c:v>
                </c:pt>
                <c:pt idx="17">
                  <c:v>-2.8</c:v>
                </c:pt>
                <c:pt idx="18">
                  <c:v>-2.2</c:v>
                </c:pt>
                <c:pt idx="19">
                  <c:v>-1.6</c:v>
                </c:pt>
                <c:pt idx="20">
                  <c:v>-1</c:v>
                </c:pt>
                <c:pt idx="21">
                  <c:v>-0.3999999999999999</c:v>
                </c:pt>
                <c:pt idx="22">
                  <c:v>0.20000000000000018</c:v>
                </c:pt>
                <c:pt idx="23">
                  <c:v>0.7999999999999998</c:v>
                </c:pt>
                <c:pt idx="24">
                  <c:v>1.4000000000000004</c:v>
                </c:pt>
                <c:pt idx="25">
                  <c:v>2</c:v>
                </c:pt>
                <c:pt idx="26">
                  <c:v>2.5999999999999996</c:v>
                </c:pt>
                <c:pt idx="27">
                  <c:v>3.1999999999999993</c:v>
                </c:pt>
                <c:pt idx="28">
                  <c:v>3.8000000000000007</c:v>
                </c:pt>
                <c:pt idx="29">
                  <c:v>4.4</c:v>
                </c:pt>
                <c:pt idx="30">
                  <c:v>5</c:v>
                </c:pt>
                <c:pt idx="31">
                  <c:v>5.6000000000000005</c:v>
                </c:pt>
                <c:pt idx="32">
                  <c:v>6.199999999999999</c:v>
                </c:pt>
                <c:pt idx="33">
                  <c:v>6.800000000000001</c:v>
                </c:pt>
                <c:pt idx="34">
                  <c:v>7.399999999999999</c:v>
                </c:pt>
                <c:pt idx="35">
                  <c:v>8</c:v>
                </c:pt>
                <c:pt idx="36">
                  <c:v>8.600000000000001</c:v>
                </c:pt>
                <c:pt idx="37">
                  <c:v>9.2</c:v>
                </c:pt>
                <c:pt idx="38">
                  <c:v>9.8</c:v>
                </c:pt>
                <c:pt idx="39">
                  <c:v>10.399999999999999</c:v>
                </c:pt>
                <c:pt idx="40">
                  <c:v>11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2"/>
          <c:min val="-2"/>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6D7C8F"/>
                </a:solidFill>
                <a:latin typeface="Aptos"/>
              </a:defRPr>
            </a:pPr>
            <a:endParaRPr lang="en-US"/>
          </a:p>
        </c:txPr>
        <c:crossAx val="2094734552"/>
        <c:crosses val="autoZero"/>
        <c:auto val="1"/>
        <c:lblAlgn val="ctr"/>
        <c:noMultiLvlLbl val="1"/>
        <c:majorUnit val="1"/>
      </c:valAx>
      <c:valAx>
        <c:axId val="2094734552"/>
        <c:scaling>
          <c:orientation val="minMax"/>
          <c:max val="12"/>
          <c:min val="-14"/>
        </c:scaling>
        <c:delete val="0"/>
        <c:axPos val="l"/>
        <c:majorGridlines>
          <c:spPr>
            <a:ln w="6350" cap="flat">
              <a:solidFill>
                <a:srgbClr val="E3E9F0"/>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6D7C8F"/>
                </a:solidFill>
                <a:latin typeface="Aptos"/>
              </a:defRPr>
            </a:pPr>
            <a:endParaRPr lang="en-US"/>
          </a:p>
        </c:txPr>
        <c:crossAx val="2094734554"/>
        <c:crosses val="autoZero"/>
        <c:crossBetween val="midCat"/>
        <c:majorUnit val="6"/>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D55"/>
                </a:solidFill>
                <a:latin typeface="Aptos"/>
              </a:defRPr>
            </a:pPr>
            <a:r>
              <a:rPr sz="1300" b="0" i="0" u="none" strike="noStrike">
                <a:solidFill>
                  <a:srgbClr val="0B2D55"/>
                </a:solidFill>
                <a:latin typeface="Aptos"/>
              </a:rPr>
              <a:t>With ReLU: bends at x = −0.5</a:t>
            </a:r>
          </a:p>
        </c:rich>
      </c:tx>
      <c:layout/>
      <c:overlay val="0"/>
    </c:title>
    <c:autoTitleDeleted val="0"/>
    <c:plotArea>
      <c:layout/>
      <c:scatterChart>
        <c:scatterStyle val="lineMarker"/>
        <c:varyColors val="0"/>
        <c:ser>
          <c:idx val="0"/>
          <c:order val="0"/>
          <c:tx>
            <c:strRef>
              <c:f>Sheet1!$B$1</c:f>
              <c:strCache>
                <c:ptCount val="1"/>
                <c:pt idx="0">
                  <c:v>relu</c:v>
                </c:pt>
              </c:strCache>
            </c:strRef>
          </c:tx>
          <c:spPr>
            <a:solidFill>
              <a:srgbClr val="2E7D32"/>
            </a:solidFill>
            <a:ln w="34925" cap="flat">
              <a:solidFill>
                <a:srgbClr val="2E7D32"/>
              </a:solidFill>
              <a:prstDash val="solid"/>
              <a:round/>
            </a:ln>
            <a:effectLst/>
          </c:spPr>
          <c:marker>
            <c:symbol val="none"/>
            <c:size val="6"/>
            <c:spPr>
              <a:solidFill>
                <a:srgbClr val="2E7D32"/>
              </a:solidFill>
              <a:ln w="9525" cap="flat">
                <a:solidFill>
                  <a:srgbClr val="2E7D32"/>
                </a:solidFill>
                <a:prstDash val="solid"/>
                <a:round/>
              </a:ln>
              <a:effectLst/>
            </c:spPr>
          </c:marker>
          <c:xVal>
            <c:numRef>
              <c:f>Sheet1!$A$2:$A$42</c:f>
              <c:numCache>
                <c:formatCode>General</c:formatCode>
                <c:ptCount val="41"/>
                <c:pt idx="0">
                  <c:v>-2</c:v>
                </c:pt>
                <c:pt idx="1">
                  <c:v>-1.9</c:v>
                </c:pt>
                <c:pt idx="2">
                  <c:v>-1.8</c:v>
                </c:pt>
                <c:pt idx="3">
                  <c:v>-1.7</c:v>
                </c:pt>
                <c:pt idx="4">
                  <c:v>-1.6</c:v>
                </c:pt>
                <c:pt idx="5">
                  <c:v>-1.5</c:v>
                </c:pt>
                <c:pt idx="6">
                  <c:v>-1.4</c:v>
                </c:pt>
                <c:pt idx="7">
                  <c:v>-1.3</c:v>
                </c:pt>
                <c:pt idx="8">
                  <c:v>-1.2</c:v>
                </c:pt>
                <c:pt idx="9">
                  <c:v>-1.1</c:v>
                </c:pt>
                <c:pt idx="10">
                  <c:v>-1</c:v>
                </c:pt>
                <c:pt idx="11">
                  <c:v>-0.9</c:v>
                </c:pt>
                <c:pt idx="12">
                  <c:v>-0.8</c:v>
                </c:pt>
                <c:pt idx="13">
                  <c:v>-0.7</c:v>
                </c:pt>
                <c:pt idx="14">
                  <c:v>-0.6</c:v>
                </c:pt>
                <c:pt idx="15">
                  <c:v>-0.5</c:v>
                </c:pt>
                <c:pt idx="16">
                  <c:v>-0.4</c:v>
                </c:pt>
                <c:pt idx="17">
                  <c:v>-0.3</c:v>
                </c:pt>
                <c:pt idx="18">
                  <c:v>-0.2</c:v>
                </c:pt>
                <c:pt idx="19">
                  <c:v>-0.1</c:v>
                </c:pt>
                <c:pt idx="20">
                  <c:v>0</c:v>
                </c:pt>
                <c:pt idx="21">
                  <c:v>0.1</c:v>
                </c:pt>
                <c:pt idx="22">
                  <c:v>0.2</c:v>
                </c:pt>
                <c:pt idx="23">
                  <c:v>0.3</c:v>
                </c:pt>
                <c:pt idx="24">
                  <c:v>0.4</c:v>
                </c:pt>
                <c:pt idx="25">
                  <c:v>0.5</c:v>
                </c:pt>
                <c:pt idx="26">
                  <c:v>0.6</c:v>
                </c:pt>
                <c:pt idx="27">
                  <c:v>0.7</c:v>
                </c:pt>
                <c:pt idx="28">
                  <c:v>0.8</c:v>
                </c:pt>
                <c:pt idx="29">
                  <c:v>0.9</c:v>
                </c:pt>
                <c:pt idx="30">
                  <c:v>1</c:v>
                </c:pt>
                <c:pt idx="31">
                  <c:v>1.1</c:v>
                </c:pt>
                <c:pt idx="32">
                  <c:v>1.2</c:v>
                </c:pt>
                <c:pt idx="33">
                  <c:v>1.3</c:v>
                </c:pt>
                <c:pt idx="34">
                  <c:v>1.4</c:v>
                </c:pt>
                <c:pt idx="35">
                  <c:v>1.5</c:v>
                </c:pt>
                <c:pt idx="36">
                  <c:v>1.6</c:v>
                </c:pt>
                <c:pt idx="37">
                  <c:v>1.7</c:v>
                </c:pt>
                <c:pt idx="38">
                  <c:v>1.8</c:v>
                </c:pt>
                <c:pt idx="39">
                  <c:v>1.9</c:v>
                </c:pt>
                <c:pt idx="40">
                  <c:v>2</c:v>
                </c:pt>
              </c:numCache>
            </c:numRef>
          </c:xVal>
          <c:yVal>
            <c:numRef>
              <c:f>Sheet1!$B$2:$B$42</c:f>
              <c:numCache>
                <c:formatCode>General</c:formatCode>
                <c:ptCount val="41"/>
                <c:pt idx="0">
                  <c:v>-4</c:v>
                </c:pt>
                <c:pt idx="1">
                  <c:v>-4</c:v>
                </c:pt>
                <c:pt idx="2">
                  <c:v>-4</c:v>
                </c:pt>
                <c:pt idx="3">
                  <c:v>-4</c:v>
                </c:pt>
                <c:pt idx="4">
                  <c:v>-4</c:v>
                </c:pt>
                <c:pt idx="5">
                  <c:v>-4</c:v>
                </c:pt>
                <c:pt idx="6">
                  <c:v>-4</c:v>
                </c:pt>
                <c:pt idx="7">
                  <c:v>-4</c:v>
                </c:pt>
                <c:pt idx="8">
                  <c:v>-4</c:v>
                </c:pt>
                <c:pt idx="9">
                  <c:v>-4</c:v>
                </c:pt>
                <c:pt idx="10">
                  <c:v>-4</c:v>
                </c:pt>
                <c:pt idx="11">
                  <c:v>-4</c:v>
                </c:pt>
                <c:pt idx="12">
                  <c:v>-4</c:v>
                </c:pt>
                <c:pt idx="13">
                  <c:v>-4</c:v>
                </c:pt>
                <c:pt idx="14">
                  <c:v>-4</c:v>
                </c:pt>
                <c:pt idx="15">
                  <c:v>-4</c:v>
                </c:pt>
                <c:pt idx="16">
                  <c:v>-3.4000000000000004</c:v>
                </c:pt>
                <c:pt idx="17">
                  <c:v>-2.8</c:v>
                </c:pt>
                <c:pt idx="18">
                  <c:v>-2.2</c:v>
                </c:pt>
                <c:pt idx="19">
                  <c:v>-1.5999999999999996</c:v>
                </c:pt>
                <c:pt idx="20">
                  <c:v>-1</c:v>
                </c:pt>
                <c:pt idx="21">
                  <c:v>-0.40000000000000036</c:v>
                </c:pt>
                <c:pt idx="22">
                  <c:v>0.1999999999999993</c:v>
                </c:pt>
                <c:pt idx="23">
                  <c:v>0.8000000000000007</c:v>
                </c:pt>
                <c:pt idx="24">
                  <c:v>1.4000000000000004</c:v>
                </c:pt>
                <c:pt idx="25">
                  <c:v>2</c:v>
                </c:pt>
                <c:pt idx="26">
                  <c:v>2.6000000000000005</c:v>
                </c:pt>
                <c:pt idx="27">
                  <c:v>3.1999999999999993</c:v>
                </c:pt>
                <c:pt idx="28">
                  <c:v>3.8000000000000007</c:v>
                </c:pt>
                <c:pt idx="29">
                  <c:v>4.399999999999999</c:v>
                </c:pt>
                <c:pt idx="30">
                  <c:v>5</c:v>
                </c:pt>
                <c:pt idx="31">
                  <c:v>5.600000000000001</c:v>
                </c:pt>
                <c:pt idx="32">
                  <c:v>6.199999999999999</c:v>
                </c:pt>
                <c:pt idx="33">
                  <c:v>6.800000000000001</c:v>
                </c:pt>
                <c:pt idx="34">
                  <c:v>7.399999999999999</c:v>
                </c:pt>
                <c:pt idx="35">
                  <c:v>8</c:v>
                </c:pt>
                <c:pt idx="36">
                  <c:v>8.600000000000001</c:v>
                </c:pt>
                <c:pt idx="37">
                  <c:v>9.200000000000001</c:v>
                </c:pt>
                <c:pt idx="38">
                  <c:v>9.799999999999999</c:v>
                </c:pt>
                <c:pt idx="39">
                  <c:v>10.399999999999999</c:v>
                </c:pt>
                <c:pt idx="40">
                  <c:v>11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2"/>
          <c:min val="-2"/>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6D7C8F"/>
                </a:solidFill>
                <a:latin typeface="Aptos"/>
              </a:defRPr>
            </a:pPr>
            <a:endParaRPr lang="en-US"/>
          </a:p>
        </c:txPr>
        <c:crossAx val="2094734552"/>
        <c:crosses val="autoZero"/>
        <c:auto val="1"/>
        <c:lblAlgn val="ctr"/>
        <c:noMultiLvlLbl val="1"/>
        <c:majorUnit val="1"/>
      </c:valAx>
      <c:valAx>
        <c:axId val="2094734552"/>
        <c:scaling>
          <c:orientation val="minMax"/>
          <c:max val="12"/>
          <c:min val="-14"/>
        </c:scaling>
        <c:delete val="0"/>
        <c:axPos val="l"/>
        <c:majorGridlines>
          <c:spPr>
            <a:ln w="6350" cap="flat">
              <a:solidFill>
                <a:srgbClr val="E3E9F0"/>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6D7C8F"/>
                </a:solidFill>
                <a:latin typeface="Aptos"/>
              </a:defRPr>
            </a:pPr>
            <a:endParaRPr lang="en-US"/>
          </a:p>
        </c:txPr>
        <c:crossAx val="2094734554"/>
        <c:crosses val="autoZero"/>
        <c:crossBetween val="midCat"/>
        <c:majorUnit val="6"/>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D55"/>
                </a:solidFill>
                <a:latin typeface="Aptos"/>
              </a:defRPr>
            </a:pPr>
            <a:r>
              <a:rPr sz="1300" b="0" i="0" u="none" strike="noStrike">
                <a:solidFill>
                  <a:srgbClr val="0B2D55"/>
                </a:solidFill>
                <a:latin typeface="Aptos"/>
              </a:rPr>
              <a:t>Approximating x² with ReLU hinges</a:t>
            </a:r>
          </a:p>
        </c:rich>
      </c:tx>
      <c:layout/>
      <c:overlay val="0"/>
    </c:title>
    <c:autoTitleDeleted val="0"/>
    <c:plotArea>
      <c:layout/>
      <c:scatterChart>
        <c:scatterStyle val="lineMarker"/>
        <c:varyColors val="0"/>
        <c:ser>
          <c:idx val="0"/>
          <c:order val="0"/>
          <c:tx>
            <c:strRef>
              <c:f>Sheet1!$B$1</c:f>
              <c:strCache>
                <c:ptCount val="1"/>
                <c:pt idx="0">
                  <c:v>x²</c:v>
                </c:pt>
              </c:strCache>
            </c:strRef>
          </c:tx>
          <c:spPr>
            <a:solidFill>
              <a:srgbClr val="6D7C8F"/>
            </a:solidFill>
            <a:ln w="34925" cap="flat">
              <a:solidFill>
                <a:srgbClr val="6D7C8F"/>
              </a:solidFill>
              <a:prstDash val="solid"/>
              <a:round/>
            </a:ln>
            <a:effectLst/>
          </c:spPr>
          <c:marker>
            <c:symbol val="none"/>
            <c:size val="6"/>
            <c:spPr>
              <a:solidFill>
                <a:srgbClr val="6D7C8F"/>
              </a:solidFill>
              <a:ln w="9525" cap="flat">
                <a:solidFill>
                  <a:srgbClr val="6D7C8F"/>
                </a:solidFill>
                <a:prstDash val="solid"/>
                <a:round/>
              </a:ln>
              <a:effectLst/>
            </c:spPr>
          </c:marker>
          <c:xVal>
            <c:numRef>
              <c:f>Sheet1!$A$2:$A$42</c:f>
              <c:numCache>
                <c:formatCode>General</c:formatCode>
                <c:ptCount val="41"/>
                <c:pt idx="0">
                  <c:v>-2</c:v>
                </c:pt>
                <c:pt idx="1">
                  <c:v>-1.9</c:v>
                </c:pt>
                <c:pt idx="2">
                  <c:v>-1.8</c:v>
                </c:pt>
                <c:pt idx="3">
                  <c:v>-1.7</c:v>
                </c:pt>
                <c:pt idx="4">
                  <c:v>-1.6</c:v>
                </c:pt>
                <c:pt idx="5">
                  <c:v>-1.5</c:v>
                </c:pt>
                <c:pt idx="6">
                  <c:v>-1.4</c:v>
                </c:pt>
                <c:pt idx="7">
                  <c:v>-1.3</c:v>
                </c:pt>
                <c:pt idx="8">
                  <c:v>-1.2</c:v>
                </c:pt>
                <c:pt idx="9">
                  <c:v>-1.1</c:v>
                </c:pt>
                <c:pt idx="10">
                  <c:v>-1</c:v>
                </c:pt>
                <c:pt idx="11">
                  <c:v>-0.9</c:v>
                </c:pt>
                <c:pt idx="12">
                  <c:v>-0.8</c:v>
                </c:pt>
                <c:pt idx="13">
                  <c:v>-0.7</c:v>
                </c:pt>
                <c:pt idx="14">
                  <c:v>-0.6</c:v>
                </c:pt>
                <c:pt idx="15">
                  <c:v>-0.5</c:v>
                </c:pt>
                <c:pt idx="16">
                  <c:v>-0.4</c:v>
                </c:pt>
                <c:pt idx="17">
                  <c:v>-0.3</c:v>
                </c:pt>
                <c:pt idx="18">
                  <c:v>-0.2</c:v>
                </c:pt>
                <c:pt idx="19">
                  <c:v>-0.1</c:v>
                </c:pt>
                <c:pt idx="20">
                  <c:v>0</c:v>
                </c:pt>
                <c:pt idx="21">
                  <c:v>0.1</c:v>
                </c:pt>
                <c:pt idx="22">
                  <c:v>0.2</c:v>
                </c:pt>
                <c:pt idx="23">
                  <c:v>0.3</c:v>
                </c:pt>
                <c:pt idx="24">
                  <c:v>0.4</c:v>
                </c:pt>
                <c:pt idx="25">
                  <c:v>0.5</c:v>
                </c:pt>
                <c:pt idx="26">
                  <c:v>0.6</c:v>
                </c:pt>
                <c:pt idx="27">
                  <c:v>0.7</c:v>
                </c:pt>
                <c:pt idx="28">
                  <c:v>0.8</c:v>
                </c:pt>
                <c:pt idx="29">
                  <c:v>0.9</c:v>
                </c:pt>
                <c:pt idx="30">
                  <c:v>1</c:v>
                </c:pt>
                <c:pt idx="31">
                  <c:v>1.1</c:v>
                </c:pt>
                <c:pt idx="32">
                  <c:v>1.2</c:v>
                </c:pt>
                <c:pt idx="33">
                  <c:v>1.3</c:v>
                </c:pt>
                <c:pt idx="34">
                  <c:v>1.4</c:v>
                </c:pt>
                <c:pt idx="35">
                  <c:v>1.5</c:v>
                </c:pt>
                <c:pt idx="36">
                  <c:v>1.6</c:v>
                </c:pt>
                <c:pt idx="37">
                  <c:v>1.7</c:v>
                </c:pt>
                <c:pt idx="38">
                  <c:v>1.8</c:v>
                </c:pt>
                <c:pt idx="39">
                  <c:v>1.9</c:v>
                </c:pt>
                <c:pt idx="40">
                  <c:v>2</c:v>
                </c:pt>
              </c:numCache>
            </c:numRef>
          </c:xVal>
          <c:yVal>
            <c:numRef>
              <c:f>Sheet1!$B$2:$B$42</c:f>
              <c:numCache>
                <c:formatCode>General</c:formatCode>
                <c:ptCount val="41"/>
                <c:pt idx="0">
                  <c:v>4</c:v>
                </c:pt>
                <c:pt idx="1">
                  <c:v>3.61</c:v>
                </c:pt>
                <c:pt idx="2">
                  <c:v>3.24</c:v>
                </c:pt>
                <c:pt idx="3">
                  <c:v>2.8899999999999997</c:v>
                </c:pt>
                <c:pt idx="4">
                  <c:v>2.5600000000000005</c:v>
                </c:pt>
                <c:pt idx="5">
                  <c:v>2.25</c:v>
                </c:pt>
                <c:pt idx="6">
                  <c:v>1.9599999999999997</c:v>
                </c:pt>
                <c:pt idx="7">
                  <c:v>1.6900000000000002</c:v>
                </c:pt>
                <c:pt idx="8">
                  <c:v>1.44</c:v>
                </c:pt>
                <c:pt idx="9">
                  <c:v>1.2100000000000002</c:v>
                </c:pt>
                <c:pt idx="10">
                  <c:v>1</c:v>
                </c:pt>
                <c:pt idx="11">
                  <c:v>0.81</c:v>
                </c:pt>
                <c:pt idx="12">
                  <c:v>0.6400000000000001</c:v>
                </c:pt>
                <c:pt idx="13">
                  <c:v>0.48999999999999994</c:v>
                </c:pt>
                <c:pt idx="14">
                  <c:v>0.36</c:v>
                </c:pt>
                <c:pt idx="15">
                  <c:v>0.25</c:v>
                </c:pt>
                <c:pt idx="16">
                  <c:v>0.16000000000000003</c:v>
                </c:pt>
                <c:pt idx="17">
                  <c:v>0.09</c:v>
                </c:pt>
                <c:pt idx="18">
                  <c:v>0.04000000000000001</c:v>
                </c:pt>
                <c:pt idx="19">
                  <c:v>0.010000000000000002</c:v>
                </c:pt>
                <c:pt idx="20">
                  <c:v>0</c:v>
                </c:pt>
                <c:pt idx="21">
                  <c:v>0.010000000000000002</c:v>
                </c:pt>
                <c:pt idx="22">
                  <c:v>0.04000000000000001</c:v>
                </c:pt>
                <c:pt idx="23">
                  <c:v>0.09</c:v>
                </c:pt>
                <c:pt idx="24">
                  <c:v>0.16000000000000003</c:v>
                </c:pt>
                <c:pt idx="25">
                  <c:v>0.25</c:v>
                </c:pt>
                <c:pt idx="26">
                  <c:v>0.36</c:v>
                </c:pt>
                <c:pt idx="27">
                  <c:v>0.48999999999999994</c:v>
                </c:pt>
                <c:pt idx="28">
                  <c:v>0.6400000000000001</c:v>
                </c:pt>
                <c:pt idx="29">
                  <c:v>0.81</c:v>
                </c:pt>
                <c:pt idx="30">
                  <c:v>1</c:v>
                </c:pt>
                <c:pt idx="31">
                  <c:v>1.2100000000000002</c:v>
                </c:pt>
                <c:pt idx="32">
                  <c:v>1.44</c:v>
                </c:pt>
                <c:pt idx="33">
                  <c:v>1.6900000000000002</c:v>
                </c:pt>
                <c:pt idx="34">
                  <c:v>1.9599999999999997</c:v>
                </c:pt>
                <c:pt idx="35">
                  <c:v>2.25</c:v>
                </c:pt>
                <c:pt idx="36">
                  <c:v>2.5600000000000005</c:v>
                </c:pt>
                <c:pt idx="37">
                  <c:v>2.8899999999999997</c:v>
                </c:pt>
                <c:pt idx="38">
                  <c:v>3.24</c:v>
                </c:pt>
                <c:pt idx="39">
                  <c:v>3.61</c:v>
                </c:pt>
                <c:pt idx="40">
                  <c:v>4</c:v>
                </c:pt>
              </c:numCache>
            </c:numRef>
          </c:yVal>
          <c:smooth val="0"/>
        </c:ser>
        <c:ser>
          <c:idx val="1"/>
          <c:order val="1"/>
          <c:tx>
            <c:strRef>
              <c:f>Sheet1!$C$1</c:f>
              <c:strCache>
                <c:ptCount val="1"/>
                <c:pt idx="0">
                  <c:v>3 ReLU hinges</c:v>
                </c:pt>
              </c:strCache>
            </c:strRef>
          </c:tx>
          <c:spPr>
            <a:solidFill>
              <a:srgbClr val="D9731A"/>
            </a:solidFill>
            <a:ln w="34925" cap="flat">
              <a:solidFill>
                <a:srgbClr val="D9731A"/>
              </a:solidFill>
              <a:prstDash val="solid"/>
              <a:round/>
            </a:ln>
            <a:effectLst/>
          </c:spPr>
          <c:marker>
            <c:symbol val="none"/>
            <c:size val="6"/>
            <c:spPr>
              <a:solidFill>
                <a:srgbClr val="D9731A"/>
              </a:solidFill>
              <a:ln w="9525" cap="flat">
                <a:solidFill>
                  <a:srgbClr val="D9731A"/>
                </a:solidFill>
                <a:prstDash val="solid"/>
                <a:round/>
              </a:ln>
              <a:effectLst/>
            </c:spPr>
          </c:marker>
          <c:xVal>
            <c:numRef>
              <c:f>Sheet1!$A$2:$A$42</c:f>
              <c:numCache>
                <c:formatCode>General</c:formatCode>
                <c:ptCount val="41"/>
                <c:pt idx="0">
                  <c:v>-2</c:v>
                </c:pt>
                <c:pt idx="1">
                  <c:v>-1.9</c:v>
                </c:pt>
                <c:pt idx="2">
                  <c:v>-1.8</c:v>
                </c:pt>
                <c:pt idx="3">
                  <c:v>-1.7</c:v>
                </c:pt>
                <c:pt idx="4">
                  <c:v>-1.6</c:v>
                </c:pt>
                <c:pt idx="5">
                  <c:v>-1.5</c:v>
                </c:pt>
                <c:pt idx="6">
                  <c:v>-1.4</c:v>
                </c:pt>
                <c:pt idx="7">
                  <c:v>-1.3</c:v>
                </c:pt>
                <c:pt idx="8">
                  <c:v>-1.2</c:v>
                </c:pt>
                <c:pt idx="9">
                  <c:v>-1.1</c:v>
                </c:pt>
                <c:pt idx="10">
                  <c:v>-1</c:v>
                </c:pt>
                <c:pt idx="11">
                  <c:v>-0.9</c:v>
                </c:pt>
                <c:pt idx="12">
                  <c:v>-0.8</c:v>
                </c:pt>
                <c:pt idx="13">
                  <c:v>-0.7</c:v>
                </c:pt>
                <c:pt idx="14">
                  <c:v>-0.6</c:v>
                </c:pt>
                <c:pt idx="15">
                  <c:v>-0.5</c:v>
                </c:pt>
                <c:pt idx="16">
                  <c:v>-0.4</c:v>
                </c:pt>
                <c:pt idx="17">
                  <c:v>-0.3</c:v>
                </c:pt>
                <c:pt idx="18">
                  <c:v>-0.2</c:v>
                </c:pt>
                <c:pt idx="19">
                  <c:v>-0.1</c:v>
                </c:pt>
                <c:pt idx="20">
                  <c:v>0</c:v>
                </c:pt>
                <c:pt idx="21">
                  <c:v>0.1</c:v>
                </c:pt>
                <c:pt idx="22">
                  <c:v>0.2</c:v>
                </c:pt>
                <c:pt idx="23">
                  <c:v>0.3</c:v>
                </c:pt>
                <c:pt idx="24">
                  <c:v>0.4</c:v>
                </c:pt>
                <c:pt idx="25">
                  <c:v>0.5</c:v>
                </c:pt>
                <c:pt idx="26">
                  <c:v>0.6</c:v>
                </c:pt>
                <c:pt idx="27">
                  <c:v>0.7</c:v>
                </c:pt>
                <c:pt idx="28">
                  <c:v>0.8</c:v>
                </c:pt>
                <c:pt idx="29">
                  <c:v>0.9</c:v>
                </c:pt>
                <c:pt idx="30">
                  <c:v>1</c:v>
                </c:pt>
                <c:pt idx="31">
                  <c:v>1.1</c:v>
                </c:pt>
                <c:pt idx="32">
                  <c:v>1.2</c:v>
                </c:pt>
                <c:pt idx="33">
                  <c:v>1.3</c:v>
                </c:pt>
                <c:pt idx="34">
                  <c:v>1.4</c:v>
                </c:pt>
                <c:pt idx="35">
                  <c:v>1.5</c:v>
                </c:pt>
                <c:pt idx="36">
                  <c:v>1.6</c:v>
                </c:pt>
                <c:pt idx="37">
                  <c:v>1.7</c:v>
                </c:pt>
                <c:pt idx="38">
                  <c:v>1.8</c:v>
                </c:pt>
                <c:pt idx="39">
                  <c:v>1.9</c:v>
                </c:pt>
                <c:pt idx="40">
                  <c:v>2</c:v>
                </c:pt>
              </c:numCache>
            </c:numRef>
          </c:xVal>
          <c:yVal>
            <c:numRef>
              <c:f>Sheet1!$C$2:$C$42</c:f>
              <c:numCache>
                <c:formatCode>General</c:formatCode>
                <c:ptCount val="41"/>
                <c:pt idx="0">
                  <c:v>4</c:v>
                </c:pt>
                <c:pt idx="1">
                  <c:v>3.6999999999999997</c:v>
                </c:pt>
                <c:pt idx="2">
                  <c:v>3.4000000000000004</c:v>
                </c:pt>
                <c:pt idx="3">
                  <c:v>3.0999999999999996</c:v>
                </c:pt>
                <c:pt idx="4">
                  <c:v>2.8000000000000003</c:v>
                </c:pt>
                <c:pt idx="5">
                  <c:v>2.5</c:v>
                </c:pt>
                <c:pt idx="6">
                  <c:v>2.1999999999999997</c:v>
                </c:pt>
                <c:pt idx="7">
                  <c:v>1.9000000000000004</c:v>
                </c:pt>
                <c:pt idx="8">
                  <c:v>1.5999999999999996</c:v>
                </c:pt>
                <c:pt idx="9">
                  <c:v>1.3000000000000003</c:v>
                </c:pt>
                <c:pt idx="10">
                  <c:v>1</c:v>
                </c:pt>
                <c:pt idx="11">
                  <c:v>0.8999999999999997</c:v>
                </c:pt>
                <c:pt idx="12">
                  <c:v>0.8000000000000003</c:v>
                </c:pt>
                <c:pt idx="13">
                  <c:v>0.6999999999999997</c:v>
                </c:pt>
                <c:pt idx="14">
                  <c:v>0.6000000000000008</c:v>
                </c:pt>
                <c:pt idx="15">
                  <c:v>0.5</c:v>
                </c:pt>
                <c:pt idx="16">
                  <c:v>0.39999999999999925</c:v>
                </c:pt>
                <c:pt idx="17">
                  <c:v>0.30000000000000027</c:v>
                </c:pt>
                <c:pt idx="18">
                  <c:v>0.19999999999999973</c:v>
                </c:pt>
                <c:pt idx="19">
                  <c:v>0.10000000000000075</c:v>
                </c:pt>
                <c:pt idx="20">
                  <c:v>0</c:v>
                </c:pt>
                <c:pt idx="21">
                  <c:v>0.09999999999999948</c:v>
                </c:pt>
                <c:pt idx="22">
                  <c:v>0.1999999999999994</c:v>
                </c:pt>
                <c:pt idx="23">
                  <c:v>0.3000000000000006</c:v>
                </c:pt>
                <c:pt idx="24">
                  <c:v>0.4000000000000006</c:v>
                </c:pt>
                <c:pt idx="25">
                  <c:v>0.5</c:v>
                </c:pt>
                <c:pt idx="26">
                  <c:v>0.5999999999999994</c:v>
                </c:pt>
                <c:pt idx="27">
                  <c:v>0.6999999999999984</c:v>
                </c:pt>
                <c:pt idx="28">
                  <c:v>0.8000000000000016</c:v>
                </c:pt>
                <c:pt idx="29">
                  <c:v>0.9000000000000006</c:v>
                </c:pt>
                <c:pt idx="30">
                  <c:v>1</c:v>
                </c:pt>
                <c:pt idx="31">
                  <c:v>1.2999999999999998</c:v>
                </c:pt>
                <c:pt idx="32">
                  <c:v>1.5999999999999988</c:v>
                </c:pt>
                <c:pt idx="33">
                  <c:v>1.9000000000000012</c:v>
                </c:pt>
                <c:pt idx="34">
                  <c:v>2.2</c:v>
                </c:pt>
                <c:pt idx="35">
                  <c:v>2.5</c:v>
                </c:pt>
                <c:pt idx="36">
                  <c:v>2.8</c:v>
                </c:pt>
                <c:pt idx="37">
                  <c:v>3.0999999999999988</c:v>
                </c:pt>
                <c:pt idx="38">
                  <c:v>3.4000000000000012</c:v>
                </c:pt>
                <c:pt idx="39">
                  <c:v>3.7</c:v>
                </c:pt>
                <c:pt idx="40">
                  <c:v>4</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2"/>
          <c:min val="-2"/>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6D7C8F"/>
                </a:solidFill>
                <a:latin typeface="Aptos"/>
              </a:defRPr>
            </a:pPr>
            <a:endParaRPr lang="en-US"/>
          </a:p>
        </c:txPr>
        <c:crossAx val="2094734552"/>
        <c:crossesAt val="-2"/>
        <c:auto val="1"/>
        <c:lblAlgn val="ctr"/>
        <c:noMultiLvlLbl val="1"/>
        <c:majorUnit val="0.5"/>
      </c:valAx>
      <c:valAx>
        <c:axId val="2094734552"/>
        <c:scaling>
          <c:orientation val="minMax"/>
          <c:max val="4.5"/>
          <c:min val="0"/>
        </c:scaling>
        <c:delete val="0"/>
        <c:axPos val="l"/>
        <c:majorGridlines>
          <c:spPr>
            <a:ln w="6350" cap="flat">
              <a:solidFill>
                <a:srgbClr val="E3E9F0"/>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6D7C8F"/>
                </a:solidFill>
                <a:latin typeface="Aptos"/>
              </a:defRPr>
            </a:pPr>
            <a:endParaRPr lang="en-US"/>
          </a:p>
        </c:txPr>
        <c:crossAx val="2094734554"/>
        <c:crosses val="autoZero"/>
        <c:crossBetween val="midCat"/>
        <c:majorUnit val="1"/>
      </c:valAx>
      <c:spPr>
        <a:noFill/>
        <a:ln>
          <a:noFill/>
        </a:ln>
        <a:effectLst/>
      </c:spPr>
    </c:plotArea>
    <c:legend>
      <c:legendPos val="b"/>
      <c:overlay val="0"/>
      <c:txPr>
        <a:bodyPr/>
        <a:lstStyle/>
        <a:p>
          <a:pPr>
            <a:defRPr sz="1100">
              <a:latin typeface="Aptos"/>
              <a:cs typeface="Aptos"/>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(slides 1-3 total 4 min).
INSTRUCTOR: The graphic is a complete neural network: two inputs on the left, two hidden neurons, one output. Every circle holds a number and every line holds a weight (blue positive, orange negative). By slide 15 students will have computed every value shown here by hand, including the 0.88 output. Point out the hidden neuron holding 0: it "switched off" for this input, and understanding why is a key idea today.
The four stage labels (Weigh, Sum, Activate, Stack) are the lesson's storyline.
CENTRAL CLAIM: A neuron is a weighted vote followed by a squash, and a single neuron is just L26's logistic regression. Stacking neurons with non-linear activations lets a network bend its boundary and build its own features; without that non-linearity, any stack collapses back to a straight line.
ASSESSMENT ALIGNMENT: Framing only. [Confirm lesson placement and assessment timing against the syllabus when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
INSTRUCTOR: Recall three things from L26. (1) Logistic regression computed a weighted score z, squashed it with a sigmoid, and applied a threshold. Students will see that exact pipeline again in a few minutes, renamed "a neuron." (2) Every model in the L26 gallery drew a boundary shape we picked in advance by picking the model: lines, simple curves, rectangles. (3) When the data needed a shape the model could not draw, we hand-built a new feature (x-squared in the kernel slide).
Neural networks change the division of labor: the network learns useful intermediate features itself.
Turn-and-talk answers: QDA (curved boundary from per-class spreads) or a kernel SVM; both rely on a shape or transformation that we chose.
ASSESSMENT ALIGNMENT: Retrieval for Objectives 1 and 3. [Confirm against GR/quiz items when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
INSTRUCTOR: Objective 1 = Part 1 (single neuron). Objective 2 = Part 2 (forward propagation). Objective 3 = Parts 3 and 4 (non-linearity, hidden features, multiple outputs). Point to the performance target: students do it on slide 16 and the exit ticket.
Tell students up front: today the weights are GIVEN. How a network learns its weights is next lesson's topic.
DESIGN NOTE: The source listed four objectives; "compute weighted sums" is folded into Objectives 1 and 2 because students compute a weighted sum on nearly every slide.
ASSESSMENT ALIGNMENT: Knowledge Check Q2 (weight vs. bias) = Objective 1; Q4 (ReLU on a negative sum) = Objective 2; Q1 (linear stacking) and Q3 (multiple outputs) = Objective 3. [Map to specific GR, quiz, Blackboard homework, and notebook items when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 (Part 1 total 13 min).
INSTRUCTOR: Introduce the dashboard. Three live metrics per server: CPU load (fraction of capacity, 0 to 1), memory used (fraction, 0 to 1), and requests per second (in hundreds). Two questions will run through the lesson:
Q1 (Part 1): Will this server crash in the next hour? The riskier every metric looks, the higher the risk, so one neuron (one straight boundary) handles it.
Q2 (Part 3): Is CPU load abnormal? CPU near 0 means a hung or dead service; CPU near 100% means overload; the middle is healthy. Alerts at BOTH ends. Ask students to predict now whether one neuron can handle Q2; resolve on slide 17.
ASSESSMENT ALIGNMENT: Context for Objectives 1 and 3. [Confirm against GR/quiz items when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
INSTRUCTOR: A biological neuron collects signals through its dendrites; connections differ in strength; if the combined signal passes a threshold, the neuron fires. The artificial neuron keeps only that skeleton: inputs, weights for connection strength, a bias that shifts the threshold, and an activation function that decides the output.
Caution students: real neurons are vastly more complex (timing, chemistry, feedback). "Neural" is a naming inspiration; nobody should conclude these models think like brains.
HISTORY (optional, 20 s): Rosenblatt's perceptron (1958) used a hard step function: fire (1) or not (0). Modern networks use smooth or piecewise-linear activations such as sigmoid and ReLU, which later make training possible.
ASSESSMENT ALIGNMENT: Objective 1 (neuron components). [Confirm against GR/quiz items when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INSTRUCTOR: Trace the diagram left to right. Each input is multiplied by its weight (line thickness = size of weight; blue = positive, orange = negative). The products are summed, the bias is added, giving z. The activation function f turns z into the neuron's output a.
WEIGHT vs. BIAS (Knowledge Check Q2): a weight belongs to one input and says how much that input matters and in which direction. The bias belongs to the neuron itself; it is the neuron's default leaning, the value of z when every input is 0, so it shifts how easily the neuron fires.
Analogy: judges' scorecards. Weights are how much each judge's vote counts; the bias is the contestant's head start or penalty before any judge votes.
ASSESSMENT ALIGNMENT: Objective 1; Knowledge Check Q2. [Confirm against GR/quiz items when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
INSTRUCTOR: Fill in the diagram with students.
Products (the "votes"): CPU 4 x 0.9 = 3.6; memory 2 x 0.7 = 1.4; requests 0.5 x 3 = 1.5. Sum = 6.5.
Add the bias: z = 6.5 + (-6) = 0.5.
Activate with the sigmoid: e^(-0.5) is about 0.607, so P = 1 / 1.607, about 0.62.
Read it: a 62% chance of a crash in the next hour, so page the on-call engineer.
The weights are GIVEN today (a trained model). Where they come from is next lesson.
WATCH FOR: Students adding the bias before multiplying, or multiplying the bias by an input.
ASSESSMENT ALIGNMENT: Objective 1 (compute weighted sum and sigmoid output). Original numbers. [Confirm against GR/quiz/homework items when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
INSTRUCTOR:
COMPUTE (second server, server-12): 4 x 0.5 + 2 x 0.4 + 0.5 x 1 = 2 + 0.8 + 0.5 = 3.3; z = 3.3 - 6 = -2.7; e^2.7 is about 14.9, so P = 1 / 15.9, about 0.06. Healthy.
INTERPRET: Each weight-times-input product is that input's vote toward "crash." On server-07, CPU cast the biggest vote (3.6). The bias of -6 means that with nothing alarming, the neuron's default answer is strongly "healthy": the inputs must add up to more than 6 before the risk passes 50%.
PREDICT: (a) Which single change raises server-12's z more: CPU up by 0.1 (adds 4 x 0.1 = 0.4) or 100 more requests per second (adds 0.5 x 1 = 0.5)? The requests change. Big weight does not automatically mean big effect; weight times change does. (b) If the bias were -4 instead of -6, server-07's z becomes 2.5 and P about 0.92: a less conservative alarm.
ASSESSMENT ALIGNMENT: Objective 1 (interpret weights and bias). Original numbers. [Confirm against GR/quiz items when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
INSTRUCTOR: Put the L26 logistic regression pipeline next to the neuron: weighted score z, sigmoid, threshold. They are identical. A single neuron with a sigmoid activation IS logistic regression; the new vocabulary is just "weights," "bias," and "activation."
Consequence: one neuron can only draw one straight boundary (the line where z = 0), exactly like the L26 fraud figure on the right. For Q1 (crash risk), that is fine. For Q2 (CPU too low OR too high), it will not be.
PRECISION NOTE: The source reading calls this a "perceptron." Historically, the perceptron used a hard step function; with a sigmoid it is logistic regression. Both draw a straight boundary.
ASSESSMENT ALIGNMENT: Objectives 1 and 3 (single-neuron boundary is linear); supports Knowledge Check Q1. [Confirm against GR/quiz items when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(pairs). If short on time, assign as homework.
ANSWERS (do not show until pairs finish):
Products: 1.2 x 2.0 = 2.4; 0.8 x 1.5 = 1.2. Sum = 3.6. z = 3.6 - 3 = 0.6.
P = 1 / (1 + e^(-0.6)) = 1 / (1 + 0.549) = about 0.65. Flag for inspection.
Per unit of input, vibration matters more (weight 1.2 vs. 0.8).
Follow-up: "What does the bias of -3 mean here?" With normal readings (small inputs), the default is "no inspection needed."
CONTEXT: Inputs are standardized sensor readings (vibration in g, oil temperature on a normalized scale), typical of aircraft engine health monitoring.
ASSESSMENT ALIGNMENT: Objective 1 (independent practice: weighted sum and sigmoid). Original numbers. [Confirm against GR/quiz/homework items when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(Part 2 total 13 min).
INSTRUCTOR: Stack neurons into layers. The input layer just holds the feature values (no computation). Each hidden-layer neuron takes ALL the previous layer's values as its inputs (fully connected), computes its own weighted sum and activation, and passes its output forward. The output layer produces the prediction. "Feedforward" means no loops: values move strictly left to right.
Vocabulary: depth = number of layers with weights; width = neurons in a layer; "hidden" = not directly observed as input or output.
Parameter count, the quick skill: every connection has a weight and every non-input neuron has a bias. 3-4-1: (3 x 4 weights + 4 biases) + (4 x 1 weights + 1 bias) = 16 + 5 = 21. Modern language models have hundreds of billions.
ASSESSMENT ALIGNMENT: Objective 2 (feedforward architecture vocabulary; parameter counting). [Confirm against GR/quiz items when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INSTRUCTOR: ReLU (rectified linear unit): f(z) = max(0, z). Negative sums become exactly 0 (the neuron is "off"); positive sums pass through unchanged. Cheap to compute and the default for hidden layers.
Sigmoid: squashes any z into (0, 1), so it is used at the output when we want a probability. sigma(0) = 0.5.
Chips: ReLU(-3.7) = 0; ReLU(2.5) = 2.5; sigma(0) = 0.5.
Why ReLU's zero matters (Knowledge Check Q4 idea): a neuron with a negative sum sends exactly 0 forward, contributing nothing for that input. Different inputs switch on different subsets of neurons, which is part of how a network represents different patterns. And the kink at 0 is what makes ReLU non-linear (Part 3).
ASSESSMENT ALIGNMENT: Objective 2 (apply ReLU and sigmoid); Knowledge Check Q4. [Confirm against GR/quiz items when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INSTRUCTOR: Network: 2 inputs, 2 hidden ReLU neurons, 1 sigmoid output. Weights on the lines (blue positive, orange negative); biases under the nodes. Input x = [3, 1].
Only the edges into h1 are highlighted. h1's weights are 1 (from x1) and -2 (from x2); its bias is 0.
z1 = 1(3) + (-2)(1) + 0 = 1. ReLU(1) = 1. Write 1 in the h1 node.
Emphasize: nothing new. A hidden neuron is exactly the slide 7 calculation with a different activation.
ASSESSMENT ALIGNMENT: Objective 2 (forward propagation, weighted sums with ReLU). Original numbers. [Confirm against GR/quiz/homework items when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INSTRUCTOR: Now h2: weights -1 (from x1) and 1 (from x2), bias 1.
z2 = (-1)(3) + 1(1) + 1 = -1. ReLU(-1) = 0. h2 is "switched off" for this input: it passes nothing forward.
Ask: "Is that a bug?" No. For this input, whatever pattern h2 detects is absent. For other inputs it will switch on (students verify on slide 16).
ASSESSMENT ALIGNMENT: Objective 2; Knowledge Check Q4 (ReLU on a negative weighted sum). Original numbers. [Confirm against GR/quiz/homework items when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
INSTRUCTOR:
COMPUTE: The output neuron's inputs are the hidden VALUES [1, 0], not the original features. Weights [1.5, 2], bias 0.5. z = 1.5(1) + 2(0) + 0.5 = 2. Sigmoid: e^(-2) is about 0.135, so P = 1 / 1.135, about 0.88.
INTERPRET: h2 contributed nothing for this input (0 x 2 = 0), so the prediction came entirely through h1. Different inputs light up different paths through the network.
PREDICT: For x = [1, 2], which hidden neuron fires? Quick look: h1 = 1 - 4 = -3 (off); h2 = -1 + 2 + 1 = 2 (on). The path flips. Students confirm on the next slide.
The whole pass is called forward propagation: compute layer by layer, left to right.
ASSESSMENT ALIGNMENT: Objective 2 (complete a forward pass). Original numbers. [Confirm against GR/quiz/homework items when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 (pairs). If short on time, assign as homework.
ANSWERS (do not show until pairs finish):
h1: z = 1(1) + (-2)(2) + 0 = -3, so h1 = 0 (off).
h2: z = (-1)(1) + 1(2) + 1 = 2, so h2 = 2 (on).
Output: z = 1.5(0) + 2(2) + 0.5 = 4.5; P = sigma(4.5), about 0.99.
The active path flipped: this time the prediction flowed entirely through h2.
WATCH FOR: Students feeding the raw inputs [1, 2] into the output neuron instead of the hidden values [0, 2].
ASSESSMENT ALIGNMENT: Objective 2 (independent forward propagation). Original numbers. [Confirm against GR/quiz/homework items when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(Part 3 total 12 min).
INSTRUCTOR: Return to Q2. Plot CPU load on a number line: alerts (orange) at both ends, healthy (blue) in the middle. A single neuron computes z = w x cpu + b; its output crosses 0.5 at ONE cpu value, so it can separate "left of a point" from "right of a point." Whichever threshold you choose, one group of alerts ends up on the wrong side.
Callback: L26's kernel slide had exactly this shape (fraud at both extremes of one feature), and we fixed it by hand-adding x-squared. Today the network will build its own fix out of two hidden ReLU neurons.
ASSESSMENT ALIGNMENT: Objective 3 (limits of a single neuron; need for hidden layers). [Confirm against GR/quiz items when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
INSTRUCTOR: A 1-2-1 network. h1 = ReLU(20 - cpu): positive only when CPU is below 20, and larger the further below it goes. That is a "too low" detector. h2 = ReLU(cpu - 80): positive only above 80, a "too high" detector. The output adds them: z = 0.5 h1 + 0.5 h2 - 2, then sigmoid.
Charts on the right: each ReLU draws a hinge (flat, then a ramp). Adding two hinges and squashing gives a U-shaped alert probability: high at both ends, low in the middle. That shape was impossible for a single neuron.
Key idea: nobody told the network "too low" and "too high" exist. In a trained network, hidden neurons discover useful intermediate features like these from data. Today we hand-set the weights so we can read them.
ASSESSMENT ALIGNMENT: Objective 3 (how hidden ReLU neurons create non-linear boundaries). [Confirm against GR/quiz items when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
INSTRUCTOR:
COMPUTE row by row. CPU 10: h1 = ReLU(10) = 10, h2 = ReLU(-70) = 0, z = 5 - 2 = 3, P = sigma(3), about 0.95: alert. CPU 50: both detectors are 0, z = -2, P about 0.12: healthy. CPU 85: h1 = 0, h2 = 5, z = 2.5 - 2 = 0.5, P about 0.62: alert.
INTERPRET: The hidden neurons turned one raw feature into two useful ones, "how far below 20" and "how far above 80." We would otherwise have engineered those by hand (like x-squared in L26).
PREDICT: Where does P cross 0.5? When z = 0, so 0.5 h1 = 2 (h1 = 4, CPU = 16) or 0.5 h2 = 2 (h2 = 4, CPU = 84). The network carved out a healthy band from 16 to 84. Bonus: CPU 95 gives h2 = 15, z = 5.5, P about 0.996.
ASSESSMENT ALIGNMENT: Objectives 2 and 3 (forward propagation through ReLU; interpret the non-linear boundary). Original numbers. [Confirm against GR/quiz/homework items when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
INSTRUCTOR:
COMPUTE: Two linear "neurons" in a row: h = 2x + 1, then y = 3h - 4. Substitute: y = 3(2x + 1) - 4 = 6x - 1. The two-layer network is exactly one linear neuron with weight 6 and bias -1. Stack 5 or 50 linear layers and the same algebra collapses them into one (Knowledge Check Q1: the boundary is still a single straight line, no better than one perceptron).
CONTRAST: Put a ReLU between them: y = 3 ReLU(2x + 1) - 4. For x below -0.5 the ReLU outputs 0, so y is flat at -4; above -0.5 it follows 6x - 1. The line bends at x = -0.5. The chart shows both.
ANALOGY (from the reading): stacking transparent colored lenses gives one blended color. Non-linearity is what lets layers add something new.
ASSESSMENT ALIGNMENT: Objective 3; Knowledge Check Q1. [Confirm against GR/quiz items when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INSTRUCTOR: This is a real network, trained (not hand-set) on two-class data where one class sits in the middle and the other surrounds it: a 2D version of the band problem. It has 5 hidden ReLU neurons.
Left: each dashed line is one hidden neuron's z = 0 line, where that neuron switches on. Each one is still a straight line. Right: the output combines those half-planes into a closed, many-sided region around the middle cluster. No single straight boundary, and no model in the L26 gallery except QDA or a kernel SVM, could do this.
Abstraction (verbal): in image recognition, early layers detect edges, later layers combine edges into shapes, and later still into objects. Hidden layers build features out of features.
CAUTION: More neurons can wrap the data ever more tightly, which is the overfitting risk from L26. Wrapping training data "perfectly" is not the goal; generalization is.
ASSESSMENT ALIGNMENT: Objective 3 (hidden layers create non-linear boundaries). [Confirm against GR/quiz items when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 (Part 4 total 6 min).
INSTRUCTOR: A ride-share app needs a price quote AND an arrival time for the same trip. Two separate models would each learn, on their own, the same underlying facts (how slow this trip will be, how much demand there is). A single network with shared hidden layers learns those intermediate features once, and each output neuron reads them its own way.
Benefits: the two predictions stay consistent (the same traffic estimate drives both), and features learned from one task help the other, which is useful when data is limited.
Outputs here are continuous numbers (dollars, minutes), so the output neurons use a LINEAR activation: no sigmoid, which would squash them into 0 to 1.
MILITARY/ENGINEERING PARALLEL (Knowledge Check Q3): fuel consumption and time-on-target for a strike package both depend on the same drag, weight, and wind conditions; a shared-trunk network keeps them consistent. Satellite operations: battery temperature and power draw from the same telemetry.
ASSESSMENT ALIGNMENT: Objective 3 (multiple outputs, shared representation); Knowledge Check Q3. [Confirm against GR/quiz items when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
INSTRUCTOR: Suppose the shared hidden layer (two neurons here for simplicity) produced h = [2, 1] for this trip. Each output neuron has its own weights and bias, with linear activation.
COMPUTE: Price = 3(2) + 4(1) + 2 = 12 dollars. ETA = 5(2) + 2(1) + 1 = 13 minutes.
PREDICT: A traffic spike raises h2 from 1 to 3 (h2 behaves like a "congestion" feature). Price = 6 + 12 + 2 = 20 dollars; ETA = 10 + 6 + 1 = 17 minutes. Both rise together because both read the same h2. With two separate models, nothing would guarantee that consistency.
ASSESSMENT ALIGNMENT: Objectives 2 and 3 (forward pass to a vector output). Original numbers. [Confirm against GR/quiz/homework items when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 (synthesis total 5 min).
INSTRUCTOR: Recap the chain: weighted sum, activation, layer, network. Then add neural networks to the running comparison table from L26 and L27. A single neuron is logistic regression. A network with hidden ReLU layers assumes no particular boundary shape; it learns its own features, and with enough neurons it can approximate essentially any shape (backup B3). The price is the L26 tradeoff: low bias, high variance, lots of data needed, and many parameters to learn.
Tee up next lesson: today every weight was given. Next, how a network learns its weights from data.
ASSESSMENT ALIGNMENT: Objectives 1-3 synthesis; links to L26 Objective 3. [Confirm against GR/quiz/notebook items when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 Pairs vote, then discuss.
ANSWERS:
1. Incorrect. Linear layers collapse into one linear layer; only non-linear activations add flexibility.
2. Incorrect. ReLU outputs exactly 0 for any negative weighted sum.
3. Correct. Same formula as L26: weighted sum then sigmoid.
4. Correct. The bias is the neuron's default leaning (its z when every input is 0).
5. Incorrect. Adding a sigmoid to a dollar-value output squashes it into 0 to 1; continuous outputs use a linear activation.
WATCH FOR: Claim 1 is the most commonly missed.
ASSESSMENT ALIGNMENT: Objectives 1-3 (misconception check). [Confirm against GR/quiz items when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(collect on paper or in Blackboard).
STRONG ANSWERS:
1. z = 0.5(4) + 1.5(1) - 4 = 2 + 1.5 - 4 = -0.5. P = 1 / (1 + e^0.5) = 1 / 2.649, about 0.38. Below 0.5: no alert (but close).
2. ReLU(-2.6) = 0. The neuron passes nothing forward for this login; it is switched off. This zeroing is what makes ReLU non-linear, so the network can bend its boundary.
3. Every layer would collapse into one linear function, so the whole network's boundary would be a single straight line, no better than one neuron.
CLOSE: Restate the central claim on the slide.
ASSESSMENT ALIGNMENT: Objectives 1-3 integrated (performance target). [Map to GR/quiz/homework items when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students who ask how real code computes a layer, or before notebook work with NumPy, PyTorch, or Keras.
EXPLAIN: Stack each hidden neuron's weights as a row of a matrix W1. Then the whole hidden layer is h = ReLU(W1 x + b1): one matrix-vector product, one vector add, one element-wise ReLU. The output is sigma(W2 h + b2). This is why GPUs, built for fast matrix multiplication, made deep learning practical.
Check: W1 x = [1(3) - 2(1), -1(3) + 1(1)] = [1, -2]; + b1 [0, 1] = [1, -1]; ReLU gives [1, 0]; W2 h + b2 = 1.5 + 0 + 0.5 = 2; sigma(2), about 0.88. Same as slide 15.
ASSESSMENT ALIGNMENT: Enrichment; likely relevant to notebook homework.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students ask what else exists, or before multiclass problems.
EXPLAIN: tanh is a zero-centered sigmoid, output -1 to 1; common in older networks and recurrent models. Leaky ReLU lets a small fraction of negative sums through (e.g., 0.01z), which keeps neurons from getting permanently stuck at 0 ("dead ReLU"). Softmax turns a vector of output scores into probabilities that sum to 1 across several classes; it is the multiclass generalization of the sigmoid.
Linear output: used for continuous predictions like the price and ETA example.
ASSESSMENT ALIGNMENT: Enrichment.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students asking why networks can model "almost any shape."
EXPLAIN: Each ReLU neuron contributes one hinge (a place where the slope changes). Adding enough hinges can approximate any reasonable curve as closely as you like. Here, three ReLU neurons plus a straight line trace x-squared, the same feature we hand-built for the L26 kernel slide:
f(x) = 4 - 3(x + 2) + 2 ReLU(x + 1) + 2 ReLU(x) + 2 ReLU(x - 1), which matches x-squared exactly at x = -2, -1, 0, 1, 2 and is close in between. More neurons, finer fit.
Formal result: the universal approximation theorem (Cybenko 1989; Hornik 1991). It guarantees such weights exist, not that training will find them or that the fit will generalize.
ASSESSMENT ALIGNMENT: Enrichment.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62B49"/>
          </a:solidFill>
          <a:ln w="12700">
            <a:solidFill>
              <a:srgbClr val="062B49"/>
            </a:solidFill>
            <a:prstDash val="solid"/>
          </a:ln>
        </p:spPr>
      </p:sp>
      <p:sp>
        <p:nvSpPr>
          <p:cNvPr id="3" name="Shape 1"/>
          <p:cNvSpPr/>
          <p:nvPr/>
        </p:nvSpPr>
        <p:spPr>
          <a:xfrm>
            <a:off x="0" y="164592"/>
            <a:ext cx="12191695" cy="36576"/>
          </a:xfrm>
          <a:prstGeom prst="rect">
            <a:avLst/>
          </a:prstGeom>
          <a:solidFill>
            <a:srgbClr val="FDB515"/>
          </a:solidFill>
          <a:ln w="12700">
            <a:solidFill>
              <a:srgbClr val="FDB515"/>
            </a:solidFill>
            <a:prstDash val="solid"/>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chart" Target="/ppt/charts/chart5.xml"/><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228600"/>
            <a:ext cx="12191695" cy="6629400"/>
          </a:xfrm>
          <a:prstGeom prst="rect">
            <a:avLst/>
          </a:prstGeom>
          <a:solidFill>
            <a:srgbClr val="F4F8FC"/>
          </a:solidFill>
          <a:ln w="12700">
            <a:solidFill>
              <a:srgbClr val="F4F8FC"/>
            </a:solidFill>
            <a:prstDash val="solid"/>
          </a:ln>
        </p:spPr>
      </p:sp>
      <p:sp>
        <p:nvSpPr>
          <p:cNvPr id="3" name="Text 1"/>
          <p:cNvSpPr txBox="1"/>
          <p:nvPr/>
        </p:nvSpPr>
        <p:spPr>
          <a:xfrm>
            <a:off x="731520" y="685800"/>
            <a:ext cx="2926080" cy="320040"/>
          </a:xfrm>
          <a:prstGeom prst="rect">
            <a:avLst/>
          </a:prstGeom>
          <a:noFill/>
          <a:ln/>
        </p:spPr>
        <p:txBody>
          <a:bodyPr wrap="square" lIns="0" tIns="0" rIns="0" bIns="0" rtlCol="0" anchor="ctr"/>
          <a:lstStyle/>
          <a:p>
            <a:pPr indent="0" marL="0">
              <a:buNone/>
            </a:pPr>
            <a:r>
              <a:rPr lang="en-US" sz="1800" b="1" dirty="0">
                <a:solidFill>
                  <a:srgbClr val="C9971C"/>
                </a:solidFill>
                <a:latin typeface="Aptos Display" pitchFamily="34" charset="0"/>
                <a:ea typeface="Aptos Display" pitchFamily="34" charset="-122"/>
                <a:cs typeface="Aptos Display" pitchFamily="34" charset="-120"/>
              </a:rPr>
              <a:t>CompSci 471</a:t>
            </a:r>
            <a:endParaRPr lang="en-US" sz="1800" dirty="0"/>
          </a:p>
        </p:txBody>
      </p:sp>
      <p:sp>
        <p:nvSpPr>
          <p:cNvPr id="4" name="Text 2"/>
          <p:cNvSpPr txBox="1"/>
          <p:nvPr/>
        </p:nvSpPr>
        <p:spPr>
          <a:xfrm>
            <a:off x="713232" y="1124712"/>
            <a:ext cx="6309360" cy="685800"/>
          </a:xfrm>
          <a:prstGeom prst="rect">
            <a:avLst/>
          </a:prstGeom>
          <a:noFill/>
          <a:ln/>
        </p:spPr>
        <p:txBody>
          <a:bodyPr wrap="square" lIns="0" tIns="0" rIns="0" bIns="0" rtlCol="0" anchor="ctr"/>
          <a:lstStyle/>
          <a:p>
            <a:pPr indent="0" marL="0">
              <a:buNone/>
            </a:pPr>
            <a:r>
              <a:rPr lang="en-US" sz="4200" b="1" dirty="0">
                <a:solidFill>
                  <a:srgbClr val="0B2D55"/>
                </a:solidFill>
                <a:latin typeface="Aptos Display" pitchFamily="34" charset="0"/>
                <a:ea typeface="Aptos Display" pitchFamily="34" charset="-122"/>
                <a:cs typeface="Aptos Display" pitchFamily="34" charset="-120"/>
              </a:rPr>
              <a:t>Artificial Intelligence</a:t>
            </a:r>
            <a:endParaRPr lang="en-US" sz="4200" dirty="0"/>
          </a:p>
        </p:txBody>
      </p:sp>
      <p:sp>
        <p:nvSpPr>
          <p:cNvPr id="5" name="Text 3"/>
          <p:cNvSpPr txBox="1"/>
          <p:nvPr/>
        </p:nvSpPr>
        <p:spPr>
          <a:xfrm>
            <a:off x="749808" y="1874520"/>
            <a:ext cx="6355080" cy="384048"/>
          </a:xfrm>
          <a:prstGeom prst="rect">
            <a:avLst/>
          </a:prstGeom>
          <a:noFill/>
          <a:ln/>
        </p:spPr>
        <p:txBody>
          <a:bodyPr wrap="square" lIns="0" tIns="0" rIns="0" bIns="0" rtlCol="0" anchor="ctr"/>
          <a:lstStyle/>
          <a:p>
            <a:pPr indent="0" marL="0">
              <a:buNone/>
            </a:pPr>
            <a:r>
              <a:rPr lang="en-US" sz="2100" b="1" dirty="0">
                <a:solidFill>
                  <a:srgbClr val="1D5FA7"/>
                </a:solidFill>
                <a:latin typeface="Aptos" pitchFamily="34" charset="0"/>
                <a:ea typeface="Aptos" pitchFamily="34" charset="-122"/>
                <a:cs typeface="Aptos" pitchFamily="34" charset="-120"/>
              </a:rPr>
              <a:t>Lesson 28: Neural Networks I</a:t>
            </a:r>
            <a:endParaRPr lang="en-US" sz="2100" dirty="0"/>
          </a:p>
        </p:txBody>
      </p:sp>
      <p:sp>
        <p:nvSpPr>
          <p:cNvPr id="6" name="Text 4"/>
          <p:cNvSpPr txBox="1"/>
          <p:nvPr/>
        </p:nvSpPr>
        <p:spPr>
          <a:xfrm>
            <a:off x="749808" y="2450592"/>
            <a:ext cx="6035040" cy="822960"/>
          </a:xfrm>
          <a:prstGeom prst="rect">
            <a:avLst/>
          </a:prstGeom>
          <a:noFill/>
          <a:ln/>
        </p:spPr>
        <p:txBody>
          <a:bodyPr wrap="square" lIns="0" tIns="0" rIns="0" bIns="0" rtlCol="0" anchor="t"/>
          <a:lstStyle/>
          <a:p>
            <a:pPr indent="0" marL="0">
              <a:buNone/>
            </a:pPr>
            <a:r>
              <a:rPr lang="en-US" sz="2000" b="1" dirty="0">
                <a:solidFill>
                  <a:srgbClr val="132033"/>
                </a:solidFill>
                <a:latin typeface="Aptos" pitchFamily="34" charset="0"/>
                <a:ea typeface="Aptos" pitchFamily="34" charset="-122"/>
                <a:cs typeface="Aptos" pitchFamily="34" charset="-120"/>
              </a:rPr>
              <a:t>Stack simple neurons, get complex shapes.</a:t>
            </a:r>
            <a:endParaRPr lang="en-US" sz="2000" dirty="0"/>
          </a:p>
        </p:txBody>
      </p:sp>
      <p:sp>
        <p:nvSpPr>
          <p:cNvPr id="7" name="Shape 5"/>
          <p:cNvSpPr/>
          <p:nvPr/>
        </p:nvSpPr>
        <p:spPr>
          <a:xfrm>
            <a:off x="1143000" y="4279392"/>
            <a:ext cx="1143000" cy="0"/>
          </a:xfrm>
          <a:prstGeom prst="line">
            <a:avLst/>
          </a:prstGeom>
          <a:noFill/>
          <a:ln w="31750">
            <a:solidFill>
              <a:srgbClr val="F2C14E"/>
            </a:solidFill>
            <a:prstDash val="solid"/>
          </a:ln>
        </p:spPr>
      </p:sp>
      <p:sp>
        <p:nvSpPr>
          <p:cNvPr id="8" name="Text 6"/>
          <p:cNvSpPr txBox="1"/>
          <p:nvPr/>
        </p:nvSpPr>
        <p:spPr>
          <a:xfrm>
            <a:off x="868680" y="4507992"/>
            <a:ext cx="1371600" cy="201168"/>
          </a:xfrm>
          <a:prstGeom prst="rect">
            <a:avLst/>
          </a:prstGeom>
          <a:noFill/>
          <a:ln/>
        </p:spPr>
        <p:txBody>
          <a:bodyPr wrap="square" lIns="0" tIns="0" rIns="0" bIns="0" rtlCol="0" anchor="ctr"/>
          <a:lstStyle/>
          <a:p>
            <a:pPr algn="ctr" indent="0" marL="0">
              <a:buNone/>
            </a:pPr>
            <a:r>
              <a:rPr lang="en-US" sz="1450" b="1" dirty="0">
                <a:solidFill>
                  <a:srgbClr val="0B2D55"/>
                </a:solidFill>
                <a:latin typeface="Aptos" pitchFamily="34" charset="0"/>
                <a:ea typeface="Aptos" pitchFamily="34" charset="-122"/>
                <a:cs typeface="Aptos" pitchFamily="34" charset="-120"/>
              </a:rPr>
              <a:t>Weigh</a:t>
            </a:r>
            <a:endParaRPr lang="en-US" sz="1450" dirty="0"/>
          </a:p>
        </p:txBody>
      </p:sp>
      <p:sp>
        <p:nvSpPr>
          <p:cNvPr id="9" name="Shape 7"/>
          <p:cNvSpPr/>
          <p:nvPr/>
        </p:nvSpPr>
        <p:spPr>
          <a:xfrm>
            <a:off x="2715768" y="4279392"/>
            <a:ext cx="1143000" cy="0"/>
          </a:xfrm>
          <a:prstGeom prst="line">
            <a:avLst/>
          </a:prstGeom>
          <a:noFill/>
          <a:ln w="31750">
            <a:solidFill>
              <a:srgbClr val="F2C14E"/>
            </a:solidFill>
            <a:prstDash val="solid"/>
          </a:ln>
        </p:spPr>
      </p:sp>
      <p:sp>
        <p:nvSpPr>
          <p:cNvPr id="10" name="Text 8"/>
          <p:cNvSpPr txBox="1"/>
          <p:nvPr/>
        </p:nvSpPr>
        <p:spPr>
          <a:xfrm>
            <a:off x="2441448" y="4507992"/>
            <a:ext cx="1371600" cy="201168"/>
          </a:xfrm>
          <a:prstGeom prst="rect">
            <a:avLst/>
          </a:prstGeom>
          <a:noFill/>
          <a:ln/>
        </p:spPr>
        <p:txBody>
          <a:bodyPr wrap="square" lIns="0" tIns="0" rIns="0" bIns="0" rtlCol="0" anchor="ctr"/>
          <a:lstStyle/>
          <a:p>
            <a:pPr algn="ctr" indent="0" marL="0">
              <a:buNone/>
            </a:pPr>
            <a:r>
              <a:rPr lang="en-US" sz="1450" b="1" dirty="0">
                <a:solidFill>
                  <a:srgbClr val="0B2D55"/>
                </a:solidFill>
                <a:latin typeface="Aptos" pitchFamily="34" charset="0"/>
                <a:ea typeface="Aptos" pitchFamily="34" charset="-122"/>
                <a:cs typeface="Aptos" pitchFamily="34" charset="-120"/>
              </a:rPr>
              <a:t>Sum</a:t>
            </a:r>
            <a:endParaRPr lang="en-US" sz="1450" dirty="0"/>
          </a:p>
        </p:txBody>
      </p:sp>
      <p:sp>
        <p:nvSpPr>
          <p:cNvPr id="11" name="Shape 9"/>
          <p:cNvSpPr/>
          <p:nvPr/>
        </p:nvSpPr>
        <p:spPr>
          <a:xfrm>
            <a:off x="4288536" y="4279392"/>
            <a:ext cx="1143000" cy="0"/>
          </a:xfrm>
          <a:prstGeom prst="line">
            <a:avLst/>
          </a:prstGeom>
          <a:noFill/>
          <a:ln w="31750">
            <a:solidFill>
              <a:srgbClr val="F2C14E"/>
            </a:solidFill>
            <a:prstDash val="solid"/>
          </a:ln>
        </p:spPr>
      </p:sp>
      <p:sp>
        <p:nvSpPr>
          <p:cNvPr id="12" name="Text 10"/>
          <p:cNvSpPr txBox="1"/>
          <p:nvPr/>
        </p:nvSpPr>
        <p:spPr>
          <a:xfrm>
            <a:off x="4014216" y="4507992"/>
            <a:ext cx="1371600" cy="201168"/>
          </a:xfrm>
          <a:prstGeom prst="rect">
            <a:avLst/>
          </a:prstGeom>
          <a:noFill/>
          <a:ln/>
        </p:spPr>
        <p:txBody>
          <a:bodyPr wrap="square" lIns="0" tIns="0" rIns="0" bIns="0" rtlCol="0" anchor="ctr"/>
          <a:lstStyle/>
          <a:p>
            <a:pPr algn="ctr" indent="0" marL="0">
              <a:buNone/>
            </a:pPr>
            <a:r>
              <a:rPr lang="en-US" sz="1450" b="1" dirty="0">
                <a:solidFill>
                  <a:srgbClr val="0B2D55"/>
                </a:solidFill>
                <a:latin typeface="Aptos" pitchFamily="34" charset="0"/>
                <a:ea typeface="Aptos" pitchFamily="34" charset="-122"/>
                <a:cs typeface="Aptos" pitchFamily="34" charset="-120"/>
              </a:rPr>
              <a:t>Activate</a:t>
            </a:r>
            <a:endParaRPr lang="en-US" sz="1450" dirty="0"/>
          </a:p>
        </p:txBody>
      </p:sp>
      <p:sp>
        <p:nvSpPr>
          <p:cNvPr id="13" name="Shape 11"/>
          <p:cNvSpPr/>
          <p:nvPr/>
        </p:nvSpPr>
        <p:spPr>
          <a:xfrm>
            <a:off x="5861304" y="4279392"/>
            <a:ext cx="1143000" cy="0"/>
          </a:xfrm>
          <a:prstGeom prst="line">
            <a:avLst/>
          </a:prstGeom>
          <a:noFill/>
          <a:ln w="31750">
            <a:solidFill>
              <a:srgbClr val="F2C14E"/>
            </a:solidFill>
            <a:prstDash val="solid"/>
          </a:ln>
        </p:spPr>
      </p:sp>
      <p:sp>
        <p:nvSpPr>
          <p:cNvPr id="14" name="Text 12"/>
          <p:cNvSpPr txBox="1"/>
          <p:nvPr/>
        </p:nvSpPr>
        <p:spPr>
          <a:xfrm>
            <a:off x="5586984" y="4507992"/>
            <a:ext cx="1371600" cy="201168"/>
          </a:xfrm>
          <a:prstGeom prst="rect">
            <a:avLst/>
          </a:prstGeom>
          <a:noFill/>
          <a:ln/>
        </p:spPr>
        <p:txBody>
          <a:bodyPr wrap="square" lIns="0" tIns="0" rIns="0" bIns="0" rtlCol="0" anchor="ctr"/>
          <a:lstStyle/>
          <a:p>
            <a:pPr algn="ctr" indent="0" marL="0">
              <a:buNone/>
            </a:pPr>
            <a:r>
              <a:rPr lang="en-US" sz="1450" b="1" dirty="0">
                <a:solidFill>
                  <a:srgbClr val="0B2D55"/>
                </a:solidFill>
                <a:latin typeface="Aptos" pitchFamily="34" charset="0"/>
                <a:ea typeface="Aptos" pitchFamily="34" charset="-122"/>
                <a:cs typeface="Aptos" pitchFamily="34" charset="-120"/>
              </a:rPr>
              <a:t>Stack</a:t>
            </a:r>
            <a:endParaRPr lang="en-US" sz="1450" dirty="0"/>
          </a:p>
        </p:txBody>
      </p:sp>
      <p:sp>
        <p:nvSpPr>
          <p:cNvPr id="15" name="Shape 13"/>
          <p:cNvSpPr/>
          <p:nvPr/>
        </p:nvSpPr>
        <p:spPr>
          <a:xfrm>
            <a:off x="7178040" y="1600200"/>
            <a:ext cx="4343400" cy="3886200"/>
          </a:xfrm>
          <a:prstGeom prst="roundRect">
            <a:avLst>
              <a:gd name="adj" fmla="val 1882"/>
            </a:avLst>
          </a:prstGeom>
          <a:solidFill>
            <a:srgbClr val="FFFFFF"/>
          </a:solidFill>
          <a:ln w="12700">
            <a:solidFill>
              <a:srgbClr val="B8C7D8"/>
            </a:solidFill>
            <a:prstDash val="solid"/>
          </a:ln>
        </p:spPr>
      </p:sp>
      <p:sp>
        <p:nvSpPr>
          <p:cNvPr id="16" name="Shape 14"/>
          <p:cNvSpPr/>
          <p:nvPr/>
        </p:nvSpPr>
        <p:spPr>
          <a:xfrm>
            <a:off x="7994599" y="2697480"/>
            <a:ext cx="1088136" cy="914"/>
          </a:xfrm>
          <a:prstGeom prst="line">
            <a:avLst/>
          </a:prstGeom>
          <a:noFill/>
          <a:ln w="24130">
            <a:solidFill>
              <a:srgbClr val="1D5FA7"/>
            </a:solidFill>
            <a:prstDash val="solid"/>
          </a:ln>
        </p:spPr>
      </p:sp>
      <p:sp>
        <p:nvSpPr>
          <p:cNvPr id="17" name="Text 15"/>
          <p:cNvSpPr txBox="1"/>
          <p:nvPr/>
        </p:nvSpPr>
        <p:spPr>
          <a:xfrm>
            <a:off x="7995788" y="2551176"/>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1D5FA7"/>
                </a:solidFill>
                <a:latin typeface="Aptos" pitchFamily="34" charset="0"/>
                <a:ea typeface="Aptos" pitchFamily="34" charset="-122"/>
                <a:cs typeface="Aptos" pitchFamily="34" charset="-120"/>
              </a:rPr>
              <a:t>1</a:t>
            </a:r>
            <a:endParaRPr lang="en-US" sz="1250" dirty="0"/>
          </a:p>
        </p:txBody>
      </p:sp>
      <p:sp>
        <p:nvSpPr>
          <p:cNvPr id="18" name="Shape 16"/>
          <p:cNvSpPr/>
          <p:nvPr/>
        </p:nvSpPr>
        <p:spPr>
          <a:xfrm>
            <a:off x="7994599" y="2697480"/>
            <a:ext cx="1088136" cy="1430122"/>
          </a:xfrm>
          <a:prstGeom prst="line">
            <a:avLst/>
          </a:prstGeom>
          <a:noFill/>
          <a:ln w="24130">
            <a:solidFill>
              <a:srgbClr val="D9731A"/>
            </a:solidFill>
            <a:prstDash val="solid"/>
          </a:ln>
        </p:spPr>
      </p:sp>
      <p:sp>
        <p:nvSpPr>
          <p:cNvPr id="19" name="Text 17"/>
          <p:cNvSpPr txBox="1"/>
          <p:nvPr/>
        </p:nvSpPr>
        <p:spPr>
          <a:xfrm>
            <a:off x="7995788" y="2937309"/>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D9731A"/>
                </a:solidFill>
                <a:latin typeface="Aptos" pitchFamily="34" charset="0"/>
                <a:ea typeface="Aptos" pitchFamily="34" charset="-122"/>
                <a:cs typeface="Aptos" pitchFamily="34" charset="-120"/>
              </a:rPr>
              <a:t>−1</a:t>
            </a:r>
            <a:endParaRPr lang="en-US" sz="1250" dirty="0"/>
          </a:p>
        </p:txBody>
      </p:sp>
      <p:sp>
        <p:nvSpPr>
          <p:cNvPr id="20" name="Shape 18"/>
          <p:cNvSpPr/>
          <p:nvPr/>
        </p:nvSpPr>
        <p:spPr>
          <a:xfrm flipV="1">
            <a:off x="7994599" y="2697480"/>
            <a:ext cx="1088136" cy="1430122"/>
          </a:xfrm>
          <a:prstGeom prst="line">
            <a:avLst/>
          </a:prstGeom>
          <a:noFill/>
          <a:ln w="35560">
            <a:solidFill>
              <a:srgbClr val="D9731A"/>
            </a:solidFill>
            <a:prstDash val="solid"/>
          </a:ln>
        </p:spPr>
      </p:sp>
      <p:sp>
        <p:nvSpPr>
          <p:cNvPr id="21" name="Text 19"/>
          <p:cNvSpPr txBox="1"/>
          <p:nvPr/>
        </p:nvSpPr>
        <p:spPr>
          <a:xfrm>
            <a:off x="7995788" y="3595165"/>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D9731A"/>
                </a:solidFill>
                <a:latin typeface="Aptos" pitchFamily="34" charset="0"/>
                <a:ea typeface="Aptos" pitchFamily="34" charset="-122"/>
                <a:cs typeface="Aptos" pitchFamily="34" charset="-120"/>
              </a:rPr>
              <a:t>−2</a:t>
            </a:r>
            <a:endParaRPr lang="en-US" sz="1250" dirty="0"/>
          </a:p>
        </p:txBody>
      </p:sp>
      <p:sp>
        <p:nvSpPr>
          <p:cNvPr id="22" name="Shape 20"/>
          <p:cNvSpPr/>
          <p:nvPr/>
        </p:nvSpPr>
        <p:spPr>
          <a:xfrm>
            <a:off x="7994599" y="4127602"/>
            <a:ext cx="1088136" cy="914"/>
          </a:xfrm>
          <a:prstGeom prst="line">
            <a:avLst/>
          </a:prstGeom>
          <a:noFill/>
          <a:ln w="24130">
            <a:solidFill>
              <a:srgbClr val="1D5FA7"/>
            </a:solidFill>
            <a:prstDash val="solid"/>
          </a:ln>
        </p:spPr>
      </p:sp>
      <p:sp>
        <p:nvSpPr>
          <p:cNvPr id="23" name="Text 21"/>
          <p:cNvSpPr txBox="1"/>
          <p:nvPr/>
        </p:nvSpPr>
        <p:spPr>
          <a:xfrm>
            <a:off x="7995788" y="3981298"/>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1D5FA7"/>
                </a:solidFill>
                <a:latin typeface="Aptos" pitchFamily="34" charset="0"/>
                <a:ea typeface="Aptos" pitchFamily="34" charset="-122"/>
                <a:cs typeface="Aptos" pitchFamily="34" charset="-120"/>
              </a:rPr>
              <a:t>1</a:t>
            </a:r>
            <a:endParaRPr lang="en-US" sz="1250" dirty="0"/>
          </a:p>
        </p:txBody>
      </p:sp>
      <p:sp>
        <p:nvSpPr>
          <p:cNvPr id="24" name="Shape 22"/>
          <p:cNvSpPr/>
          <p:nvPr/>
        </p:nvSpPr>
        <p:spPr>
          <a:xfrm>
            <a:off x="9673438" y="2697480"/>
            <a:ext cx="1088136" cy="715061"/>
          </a:xfrm>
          <a:prstGeom prst="line">
            <a:avLst/>
          </a:prstGeom>
          <a:noFill/>
          <a:ln w="29845">
            <a:solidFill>
              <a:srgbClr val="1D5FA7"/>
            </a:solidFill>
            <a:prstDash val="solid"/>
          </a:ln>
        </p:spPr>
      </p:sp>
      <p:sp>
        <p:nvSpPr>
          <p:cNvPr id="25" name="Text 23"/>
          <p:cNvSpPr txBox="1"/>
          <p:nvPr/>
        </p:nvSpPr>
        <p:spPr>
          <a:xfrm>
            <a:off x="9761677" y="2801447"/>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1D5FA7"/>
                </a:solidFill>
                <a:latin typeface="Aptos" pitchFamily="34" charset="0"/>
                <a:ea typeface="Aptos" pitchFamily="34" charset="-122"/>
                <a:cs typeface="Aptos" pitchFamily="34" charset="-120"/>
              </a:rPr>
              <a:t>1.5</a:t>
            </a:r>
            <a:endParaRPr lang="en-US" sz="1250" dirty="0"/>
          </a:p>
        </p:txBody>
      </p:sp>
      <p:sp>
        <p:nvSpPr>
          <p:cNvPr id="26" name="Shape 24"/>
          <p:cNvSpPr/>
          <p:nvPr/>
        </p:nvSpPr>
        <p:spPr>
          <a:xfrm flipV="1">
            <a:off x="9673438" y="3412541"/>
            <a:ext cx="1088136" cy="715061"/>
          </a:xfrm>
          <a:prstGeom prst="line">
            <a:avLst/>
          </a:prstGeom>
          <a:noFill/>
          <a:ln w="35560">
            <a:solidFill>
              <a:srgbClr val="1D5FA7"/>
            </a:solidFill>
            <a:prstDash val="solid"/>
          </a:ln>
        </p:spPr>
      </p:sp>
      <p:sp>
        <p:nvSpPr>
          <p:cNvPr id="27" name="Text 25"/>
          <p:cNvSpPr txBox="1"/>
          <p:nvPr/>
        </p:nvSpPr>
        <p:spPr>
          <a:xfrm>
            <a:off x="9761677" y="3731026"/>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1D5FA7"/>
                </a:solidFill>
                <a:latin typeface="Aptos" pitchFamily="34" charset="0"/>
                <a:ea typeface="Aptos" pitchFamily="34" charset="-122"/>
                <a:cs typeface="Aptos" pitchFamily="34" charset="-120"/>
              </a:rPr>
              <a:t>2</a:t>
            </a:r>
            <a:endParaRPr lang="en-US" sz="1250" dirty="0"/>
          </a:p>
        </p:txBody>
      </p:sp>
      <p:sp>
        <p:nvSpPr>
          <p:cNvPr id="28" name="Shape 26"/>
          <p:cNvSpPr/>
          <p:nvPr/>
        </p:nvSpPr>
        <p:spPr>
          <a:xfrm>
            <a:off x="7403897" y="2402129"/>
            <a:ext cx="590702" cy="590702"/>
          </a:xfrm>
          <a:prstGeom prst="ellipse">
            <a:avLst/>
          </a:prstGeom>
          <a:solidFill>
            <a:srgbClr val="EAF2F8"/>
          </a:solidFill>
          <a:ln w="19050">
            <a:solidFill>
              <a:srgbClr val="1F5D9B"/>
            </a:solidFill>
            <a:prstDash val="solid"/>
          </a:ln>
        </p:spPr>
      </p:sp>
      <p:sp>
        <p:nvSpPr>
          <p:cNvPr id="29" name="Text 27"/>
          <p:cNvSpPr txBox="1"/>
          <p:nvPr/>
        </p:nvSpPr>
        <p:spPr>
          <a:xfrm>
            <a:off x="7312457" y="2402129"/>
            <a:ext cx="773582" cy="590702"/>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x₁</a:t>
            </a:r>
            <a:endParaRPr lang="en-US" sz="1600" dirty="0"/>
          </a:p>
          <a:p>
            <a:pPr algn="ctr" indent="0" marL="0">
              <a:buNone/>
            </a:pPr>
            <a:r>
              <a:rPr lang="en-US" sz="1700" b="1" dirty="0">
                <a:solidFill>
                  <a:srgbClr val="0B2D55"/>
                </a:solidFill>
                <a:latin typeface="Aptos" pitchFamily="34" charset="0"/>
                <a:ea typeface="Aptos" pitchFamily="34" charset="-122"/>
                <a:cs typeface="Aptos" pitchFamily="34" charset="-120"/>
              </a:rPr>
              <a:t>3</a:t>
            </a:r>
            <a:endParaRPr lang="en-US" sz="1600" dirty="0"/>
          </a:p>
        </p:txBody>
      </p:sp>
      <p:sp>
        <p:nvSpPr>
          <p:cNvPr id="30" name="Shape 28"/>
          <p:cNvSpPr/>
          <p:nvPr/>
        </p:nvSpPr>
        <p:spPr>
          <a:xfrm>
            <a:off x="7403897" y="3832250"/>
            <a:ext cx="590702" cy="590702"/>
          </a:xfrm>
          <a:prstGeom prst="ellipse">
            <a:avLst/>
          </a:prstGeom>
          <a:solidFill>
            <a:srgbClr val="EAF2F8"/>
          </a:solidFill>
          <a:ln w="19050">
            <a:solidFill>
              <a:srgbClr val="1F5D9B"/>
            </a:solidFill>
            <a:prstDash val="solid"/>
          </a:ln>
        </p:spPr>
      </p:sp>
      <p:sp>
        <p:nvSpPr>
          <p:cNvPr id="31" name="Text 29"/>
          <p:cNvSpPr txBox="1"/>
          <p:nvPr/>
        </p:nvSpPr>
        <p:spPr>
          <a:xfrm>
            <a:off x="7312457" y="3832250"/>
            <a:ext cx="773582" cy="590702"/>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x₂</a:t>
            </a:r>
            <a:endParaRPr lang="en-US" sz="1600" dirty="0"/>
          </a:p>
          <a:p>
            <a:pPr algn="ctr" indent="0" marL="0">
              <a:buNone/>
            </a:pPr>
            <a:r>
              <a:rPr lang="en-US" sz="1700" b="1" dirty="0">
                <a:solidFill>
                  <a:srgbClr val="0B2D55"/>
                </a:solidFill>
                <a:latin typeface="Aptos" pitchFamily="34" charset="0"/>
                <a:ea typeface="Aptos" pitchFamily="34" charset="-122"/>
                <a:cs typeface="Aptos" pitchFamily="34" charset="-120"/>
              </a:rPr>
              <a:t>1</a:t>
            </a:r>
            <a:endParaRPr lang="en-US" sz="1600" dirty="0"/>
          </a:p>
        </p:txBody>
      </p:sp>
      <p:sp>
        <p:nvSpPr>
          <p:cNvPr id="32" name="Shape 30"/>
          <p:cNvSpPr/>
          <p:nvPr/>
        </p:nvSpPr>
        <p:spPr>
          <a:xfrm>
            <a:off x="9082735" y="2402129"/>
            <a:ext cx="590702" cy="590702"/>
          </a:xfrm>
          <a:prstGeom prst="ellipse">
            <a:avLst/>
          </a:prstGeom>
          <a:solidFill>
            <a:srgbClr val="FFFFFF"/>
          </a:solidFill>
          <a:ln w="19050">
            <a:solidFill>
              <a:srgbClr val="0B2D55"/>
            </a:solidFill>
            <a:prstDash val="solid"/>
          </a:ln>
        </p:spPr>
      </p:sp>
      <p:sp>
        <p:nvSpPr>
          <p:cNvPr id="33" name="Text 31"/>
          <p:cNvSpPr txBox="1"/>
          <p:nvPr/>
        </p:nvSpPr>
        <p:spPr>
          <a:xfrm>
            <a:off x="8991295" y="2402129"/>
            <a:ext cx="773582" cy="590702"/>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h₁ ReLU</a:t>
            </a:r>
            <a:endParaRPr lang="en-US" sz="1600" dirty="0"/>
          </a:p>
          <a:p>
            <a:pPr algn="ctr" indent="0" marL="0">
              <a:buNone/>
            </a:pPr>
            <a:r>
              <a:rPr lang="en-US" sz="1700" b="1" dirty="0">
                <a:solidFill>
                  <a:srgbClr val="0B2D55"/>
                </a:solidFill>
                <a:latin typeface="Aptos" pitchFamily="34" charset="0"/>
                <a:ea typeface="Aptos" pitchFamily="34" charset="-122"/>
                <a:cs typeface="Aptos" pitchFamily="34" charset="-120"/>
              </a:rPr>
              <a:t>1</a:t>
            </a:r>
            <a:endParaRPr lang="en-US" sz="1600" dirty="0"/>
          </a:p>
        </p:txBody>
      </p:sp>
      <p:sp>
        <p:nvSpPr>
          <p:cNvPr id="34" name="Shape 32"/>
          <p:cNvSpPr/>
          <p:nvPr/>
        </p:nvSpPr>
        <p:spPr>
          <a:xfrm>
            <a:off x="9082735" y="3832250"/>
            <a:ext cx="590702" cy="590702"/>
          </a:xfrm>
          <a:prstGeom prst="ellipse">
            <a:avLst/>
          </a:prstGeom>
          <a:solidFill>
            <a:srgbClr val="FFFFFF"/>
          </a:solidFill>
          <a:ln w="19050">
            <a:solidFill>
              <a:srgbClr val="0B2D55"/>
            </a:solidFill>
            <a:prstDash val="solid"/>
          </a:ln>
        </p:spPr>
      </p:sp>
      <p:sp>
        <p:nvSpPr>
          <p:cNvPr id="35" name="Text 33"/>
          <p:cNvSpPr txBox="1"/>
          <p:nvPr/>
        </p:nvSpPr>
        <p:spPr>
          <a:xfrm>
            <a:off x="8991295" y="3832250"/>
            <a:ext cx="773582" cy="590702"/>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h₂ ReLU</a:t>
            </a:r>
            <a:endParaRPr lang="en-US" sz="1600" dirty="0"/>
          </a:p>
          <a:p>
            <a:pPr algn="ctr" indent="0" marL="0">
              <a:buNone/>
            </a:pPr>
            <a:r>
              <a:rPr lang="en-US" sz="1700" b="1" dirty="0">
                <a:solidFill>
                  <a:srgbClr val="0B2D55"/>
                </a:solidFill>
                <a:latin typeface="Aptos" pitchFamily="34" charset="0"/>
                <a:ea typeface="Aptos" pitchFamily="34" charset="-122"/>
                <a:cs typeface="Aptos" pitchFamily="34" charset="-120"/>
              </a:rPr>
              <a:t>0</a:t>
            </a:r>
            <a:endParaRPr lang="en-US" sz="1600" dirty="0"/>
          </a:p>
        </p:txBody>
      </p:sp>
      <p:sp>
        <p:nvSpPr>
          <p:cNvPr id="36" name="Shape 34"/>
          <p:cNvSpPr/>
          <p:nvPr/>
        </p:nvSpPr>
        <p:spPr>
          <a:xfrm>
            <a:off x="10761574" y="3117190"/>
            <a:ext cx="590702" cy="590702"/>
          </a:xfrm>
          <a:prstGeom prst="ellipse">
            <a:avLst/>
          </a:prstGeom>
          <a:solidFill>
            <a:srgbClr val="DFF0D8"/>
          </a:solidFill>
          <a:ln w="19050">
            <a:solidFill>
              <a:srgbClr val="2E7D32"/>
            </a:solidFill>
            <a:prstDash val="solid"/>
          </a:ln>
        </p:spPr>
      </p:sp>
      <p:sp>
        <p:nvSpPr>
          <p:cNvPr id="37" name="Text 35"/>
          <p:cNvSpPr txBox="1"/>
          <p:nvPr/>
        </p:nvSpPr>
        <p:spPr>
          <a:xfrm>
            <a:off x="10670134" y="3117190"/>
            <a:ext cx="773582" cy="590702"/>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out σ</a:t>
            </a:r>
            <a:endParaRPr lang="en-US" sz="1600" dirty="0"/>
          </a:p>
          <a:p>
            <a:pPr algn="ctr" indent="0" marL="0">
              <a:buNone/>
            </a:pPr>
            <a:r>
              <a:rPr lang="en-US" sz="1700" b="1" dirty="0">
                <a:solidFill>
                  <a:srgbClr val="0B2D55"/>
                </a:solidFill>
                <a:latin typeface="Aptos" pitchFamily="34" charset="0"/>
                <a:ea typeface="Aptos" pitchFamily="34" charset="-122"/>
                <a:cs typeface="Aptos" pitchFamily="34" charset="-120"/>
              </a:rPr>
              <a:t>0.88</a:t>
            </a:r>
            <a:endParaRPr lang="en-US" sz="1600" dirty="0"/>
          </a:p>
        </p:txBody>
      </p:sp>
      <p:sp>
        <p:nvSpPr>
          <p:cNvPr id="38" name="Text 36"/>
          <p:cNvSpPr txBox="1"/>
          <p:nvPr/>
        </p:nvSpPr>
        <p:spPr>
          <a:xfrm>
            <a:off x="8920886" y="2109521"/>
            <a:ext cx="914400" cy="256032"/>
          </a:xfrm>
          <a:prstGeom prst="rect">
            <a:avLst/>
          </a:prstGeom>
          <a:noFill/>
          <a:ln/>
        </p:spPr>
        <p:txBody>
          <a:bodyPr wrap="square" lIns="0" tIns="0" rIns="0" bIns="0" rtlCol="0" anchor="t"/>
          <a:lstStyle/>
          <a:p>
            <a:pPr algn="ctr" indent="0" marL="0">
              <a:buNone/>
            </a:pPr>
            <a:r>
              <a:rPr lang="en-US" sz="1000" dirty="0">
                <a:solidFill>
                  <a:srgbClr val="6D7C8F"/>
                </a:solidFill>
                <a:latin typeface="Aptos" pitchFamily="34" charset="0"/>
                <a:ea typeface="Aptos" pitchFamily="34" charset="-122"/>
                <a:cs typeface="Aptos" pitchFamily="34" charset="-120"/>
              </a:rPr>
              <a:t>b = 0</a:t>
            </a:r>
            <a:endParaRPr lang="en-US" sz="1000" dirty="0"/>
          </a:p>
        </p:txBody>
      </p:sp>
      <p:sp>
        <p:nvSpPr>
          <p:cNvPr id="39" name="Text 37"/>
          <p:cNvSpPr txBox="1"/>
          <p:nvPr/>
        </p:nvSpPr>
        <p:spPr>
          <a:xfrm>
            <a:off x="8920886" y="4459529"/>
            <a:ext cx="914400" cy="256032"/>
          </a:xfrm>
          <a:prstGeom prst="rect">
            <a:avLst/>
          </a:prstGeom>
          <a:noFill/>
          <a:ln/>
        </p:spPr>
        <p:txBody>
          <a:bodyPr wrap="square" lIns="0" tIns="0" rIns="0" bIns="0" rtlCol="0" anchor="t"/>
          <a:lstStyle/>
          <a:p>
            <a:pPr algn="ctr" indent="0" marL="0">
              <a:buNone/>
            </a:pPr>
            <a:r>
              <a:rPr lang="en-US" sz="1000" dirty="0">
                <a:solidFill>
                  <a:srgbClr val="6D7C8F"/>
                </a:solidFill>
                <a:latin typeface="Aptos" pitchFamily="34" charset="0"/>
                <a:ea typeface="Aptos" pitchFamily="34" charset="-122"/>
                <a:cs typeface="Aptos" pitchFamily="34" charset="-120"/>
              </a:rPr>
              <a:t>b = 1</a:t>
            </a:r>
            <a:endParaRPr lang="en-US" sz="1000" dirty="0"/>
          </a:p>
        </p:txBody>
      </p:sp>
      <p:sp>
        <p:nvSpPr>
          <p:cNvPr id="40" name="Text 38"/>
          <p:cNvSpPr txBox="1"/>
          <p:nvPr/>
        </p:nvSpPr>
        <p:spPr>
          <a:xfrm>
            <a:off x="10599725" y="3744468"/>
            <a:ext cx="914400" cy="256032"/>
          </a:xfrm>
          <a:prstGeom prst="rect">
            <a:avLst/>
          </a:prstGeom>
          <a:noFill/>
          <a:ln/>
        </p:spPr>
        <p:txBody>
          <a:bodyPr wrap="square" lIns="0" tIns="0" rIns="0" bIns="0" rtlCol="0" anchor="t"/>
          <a:lstStyle/>
          <a:p>
            <a:pPr algn="ctr" indent="0" marL="0">
              <a:buNone/>
            </a:pPr>
            <a:r>
              <a:rPr lang="en-US" sz="1000" dirty="0">
                <a:solidFill>
                  <a:srgbClr val="6D7C8F"/>
                </a:solidFill>
                <a:latin typeface="Aptos" pitchFamily="34" charset="0"/>
                <a:ea typeface="Aptos" pitchFamily="34" charset="-122"/>
                <a:cs typeface="Aptos" pitchFamily="34" charset="-120"/>
              </a:rPr>
              <a:t>b = 0.5</a:t>
            </a:r>
            <a:endParaRPr lang="en-US" sz="1000" dirty="0"/>
          </a:p>
        </p:txBody>
      </p:sp>
      <p:sp>
        <p:nvSpPr>
          <p:cNvPr id="41" name="Text 39"/>
          <p:cNvSpPr txBox="1"/>
          <p:nvPr/>
        </p:nvSpPr>
        <p:spPr>
          <a:xfrm>
            <a:off x="7086600" y="5669280"/>
            <a:ext cx="4434840" cy="548640"/>
          </a:xfrm>
          <a:prstGeom prst="rect">
            <a:avLst/>
          </a:prstGeom>
          <a:noFill/>
          <a:ln/>
        </p:spPr>
        <p:txBody>
          <a:bodyPr wrap="square" lIns="0" tIns="0" rIns="0" bIns="0" rtlCol="0" anchor="ctr"/>
          <a:lstStyle/>
          <a:p>
            <a:pPr algn="ctr" indent="0" marL="0">
              <a:buNone/>
            </a:pPr>
            <a:r>
              <a:rPr lang="en-US" sz="1800" b="1" dirty="0">
                <a:solidFill>
                  <a:srgbClr val="0B2D55"/>
                </a:solidFill>
                <a:latin typeface="Aptos" pitchFamily="34" charset="0"/>
                <a:ea typeface="Aptos" pitchFamily="34" charset="-122"/>
                <a:cs typeface="Aptos" pitchFamily="34" charset="-120"/>
              </a:rPr>
              <a:t>Two inputs in, one prediction out.</a:t>
            </a:r>
            <a:endParaRPr lang="en-US" sz="1800" dirty="0"/>
          </a:p>
        </p:txBody>
      </p:sp>
      <p:pic>
        <p:nvPicPr>
          <p:cNvPr id="42" name="Image 0" descr="figs/seal.png">    </p:cNvPr>
          <p:cNvPicPr>
            <a:picLocks noChangeAspect="1"/>
          </p:cNvPicPr>
          <p:nvPr/>
        </p:nvPicPr>
        <p:blipFill>
          <a:blip r:embed="rId1"/>
          <a:stretch>
            <a:fillRect/>
          </a:stretch>
        </p:blipFill>
        <p:spPr>
          <a:xfrm>
            <a:off x="530352" y="5148072"/>
            <a:ext cx="978408" cy="1005840"/>
          </a:xfrm>
          <a:prstGeom prst="rect">
            <a:avLst/>
          </a:prstGeom>
        </p:spPr>
      </p:pic>
      <p:sp>
        <p:nvSpPr>
          <p:cNvPr id="43" name="Text 40"/>
          <p:cNvSpPr txBox="1"/>
          <p:nvPr/>
        </p:nvSpPr>
        <p:spPr>
          <a:xfrm>
            <a:off x="749808" y="6281928"/>
            <a:ext cx="1645920" cy="228600"/>
          </a:xfrm>
          <a:prstGeom prst="rect">
            <a:avLst/>
          </a:prstGeom>
          <a:noFill/>
          <a:ln/>
        </p:spPr>
        <p:txBody>
          <a:bodyPr wrap="square" lIns="0" tIns="0" rIns="0" bIns="0" rtlCol="0" anchor="ctr"/>
          <a:lstStyle/>
          <a:p>
            <a:pPr indent="0" marL="0">
              <a:buNone/>
            </a:pPr>
            <a:r>
              <a:rPr lang="en-US" sz="1100" dirty="0">
                <a:solidFill>
                  <a:srgbClr val="6D7C8F"/>
                </a:solidFill>
                <a:latin typeface="Aptos" pitchFamily="34" charset="0"/>
                <a:ea typeface="Aptos" pitchFamily="34" charset="-122"/>
                <a:cs typeface="Aptos" pitchFamily="34" charset="-120"/>
              </a:rPr>
              <a:t>Fall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indent="0" marL="0">
              <a:buNone/>
            </a:pPr>
            <a:r>
              <a:rPr lang="en-US" sz="3400" b="1" dirty="0">
                <a:solidFill>
                  <a:srgbClr val="0B2D55"/>
                </a:solidFill>
                <a:latin typeface="Aptos Display" pitchFamily="34" charset="0"/>
                <a:ea typeface="Aptos Display" pitchFamily="34" charset="-122"/>
                <a:cs typeface="Aptos Display" pitchFamily="34" charset="-120"/>
              </a:rPr>
              <a:t>Retrieval: so far, we chose the shape</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indent="0" marL="0">
              <a:buNone/>
            </a:pPr>
            <a:r>
              <a:rPr lang="en-US" sz="1500" dirty="0">
                <a:solidFill>
                  <a:srgbClr val="132033"/>
                </a:solidFill>
                <a:latin typeface="Aptos" pitchFamily="34" charset="0"/>
                <a:ea typeface="Aptos" pitchFamily="34" charset="-122"/>
                <a:cs typeface="Aptos" pitchFamily="34" charset="-120"/>
              </a:rPr>
              <a:t>We chose the shape; the model chose the numbers.</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indent="0" marL="0">
              <a:buNone/>
            </a:pPr>
            <a:r>
              <a:rPr lang="en-US" sz="850" dirty="0">
                <a:solidFill>
                  <a:srgbClr val="6D7C8F"/>
                </a:solidFill>
                <a:latin typeface="Aptos" pitchFamily="34" charset="0"/>
                <a:ea typeface="Aptos" pitchFamily="34" charset="-122"/>
                <a:cs typeface="Aptos" pitchFamily="34" charset="-120"/>
              </a:rPr>
              <a:t>CS 471  |  L28: Neural Networks I</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algn="r" indent="0" marL="0">
              <a:buNone/>
            </a:pPr>
            <a:r>
              <a:rPr lang="en-US" sz="850" dirty="0">
                <a:solidFill>
                  <a:srgbClr val="6D7C8F"/>
                </a:solidFill>
                <a:latin typeface="Aptos" pitchFamily="34" charset="0"/>
                <a:ea typeface="Aptos" pitchFamily="34" charset="-122"/>
                <a:cs typeface="Aptos" pitchFamily="34" charset="-120"/>
              </a:rPr>
              <a:t>2</a:t>
            </a:r>
            <a:endParaRPr lang="en-US" sz="850" dirty="0"/>
          </a:p>
        </p:txBody>
      </p:sp>
      <p:sp>
        <p:nvSpPr>
          <p:cNvPr id="7" name="Shape 4"/>
          <p:cNvSpPr/>
          <p:nvPr/>
        </p:nvSpPr>
        <p:spPr>
          <a:xfrm>
            <a:off x="868680" y="1600200"/>
            <a:ext cx="3291840" cy="1965960"/>
          </a:xfrm>
          <a:prstGeom prst="roundRect">
            <a:avLst>
              <a:gd name="adj" fmla="val 3721"/>
            </a:avLst>
          </a:prstGeom>
          <a:solidFill>
            <a:srgbClr val="FFFFFF"/>
          </a:solidFill>
          <a:ln w="12700">
            <a:solidFill>
              <a:srgbClr val="B8C7D8"/>
            </a:solidFill>
            <a:prstDash val="solid"/>
          </a:ln>
        </p:spPr>
      </p:sp>
      <p:sp>
        <p:nvSpPr>
          <p:cNvPr id="8" name="Shape 5"/>
          <p:cNvSpPr/>
          <p:nvPr/>
        </p:nvSpPr>
        <p:spPr>
          <a:xfrm>
            <a:off x="1051560" y="1783080"/>
            <a:ext cx="2926080" cy="384048"/>
          </a:xfrm>
          <a:prstGeom prst="roundRect">
            <a:avLst>
              <a:gd name="adj" fmla="val 19048"/>
            </a:avLst>
          </a:prstGeom>
          <a:solidFill>
            <a:srgbClr val="1D5FA7"/>
          </a:solidFill>
          <a:ln w="12700">
            <a:solidFill>
              <a:srgbClr val="1D5FA7"/>
            </a:solidFill>
            <a:prstDash val="solid"/>
          </a:ln>
        </p:spPr>
      </p:sp>
      <p:sp>
        <p:nvSpPr>
          <p:cNvPr id="9" name="Text 6"/>
          <p:cNvSpPr txBox="1"/>
          <p:nvPr/>
        </p:nvSpPr>
        <p:spPr>
          <a:xfrm>
            <a:off x="1051560" y="1783080"/>
            <a:ext cx="2926080" cy="384048"/>
          </a:xfrm>
          <a:prstGeom prst="rect">
            <a:avLst/>
          </a:prstGeom>
          <a:noFill/>
          <a:ln/>
        </p:spPr>
        <p:txBody>
          <a:bodyPr wrap="square" lIns="0" tIns="0" rIns="0" bIns="0" rtlCol="0" anchor="ctr"/>
          <a:lstStyle/>
          <a:p>
            <a:pPr algn="ctr" indent="0" marL="0">
              <a:buNone/>
            </a:pPr>
            <a:r>
              <a:rPr lang="en-US" sz="1350" b="1" dirty="0">
                <a:solidFill>
                  <a:srgbClr val="FFFFFF"/>
                </a:solidFill>
                <a:latin typeface="Aptos" pitchFamily="34" charset="0"/>
                <a:ea typeface="Aptos" pitchFamily="34" charset="-122"/>
                <a:cs typeface="Aptos" pitchFamily="34" charset="-120"/>
              </a:rPr>
              <a:t>L26  |  Logistic regression</a:t>
            </a:r>
            <a:endParaRPr lang="en-US" sz="1350" dirty="0"/>
          </a:p>
        </p:txBody>
      </p:sp>
      <p:sp>
        <p:nvSpPr>
          <p:cNvPr id="10" name="Text 7"/>
          <p:cNvSpPr txBox="1"/>
          <p:nvPr/>
        </p:nvSpPr>
        <p:spPr>
          <a:xfrm>
            <a:off x="1097280" y="2304288"/>
            <a:ext cx="2834640" cy="685800"/>
          </a:xfrm>
          <a:prstGeom prst="rect">
            <a:avLst/>
          </a:prstGeom>
          <a:noFill/>
          <a:ln/>
        </p:spPr>
        <p:txBody>
          <a:bodyPr wrap="square" lIns="0" tIns="0" rIns="0" bIns="0" rtlCol="0" anchor="t"/>
          <a:lstStyle/>
          <a:p>
            <a:pPr indent="0" marL="0">
              <a:buNone/>
            </a:pPr>
            <a:r>
              <a:rPr lang="en-US" sz="1550" dirty="0">
                <a:solidFill>
                  <a:srgbClr val="132033"/>
                </a:solidFill>
                <a:latin typeface="Aptos" pitchFamily="34" charset="0"/>
                <a:ea typeface="Aptos" pitchFamily="34" charset="-122"/>
                <a:cs typeface="Aptos" pitchFamily="34" charset="-120"/>
              </a:rPr>
              <a:t>Weighted score z, then sigmoid, then threshold.</a:t>
            </a:r>
            <a:endParaRPr lang="en-US" sz="1550" dirty="0"/>
          </a:p>
        </p:txBody>
      </p:sp>
      <p:sp>
        <p:nvSpPr>
          <p:cNvPr id="11" name="Text 8"/>
          <p:cNvSpPr txBox="1"/>
          <p:nvPr/>
        </p:nvSpPr>
        <p:spPr>
          <a:xfrm>
            <a:off x="1097280" y="3017520"/>
            <a:ext cx="2834640" cy="411480"/>
          </a:xfrm>
          <a:prstGeom prst="rect">
            <a:avLst/>
          </a:prstGeom>
          <a:noFill/>
          <a:ln/>
        </p:spPr>
        <p:txBody>
          <a:bodyPr wrap="square" lIns="0" tIns="0" rIns="0" bIns="0" rtlCol="0" anchor="t"/>
          <a:lstStyle/>
          <a:p>
            <a:pPr indent="0" marL="0">
              <a:buNone/>
            </a:pPr>
            <a:r>
              <a:rPr lang="en-US" sz="1550" b="1" dirty="0">
                <a:solidFill>
                  <a:srgbClr val="0B2D55"/>
                </a:solidFill>
                <a:latin typeface="Aptos" pitchFamily="34" charset="0"/>
                <a:ea typeface="Aptos" pitchFamily="34" charset="-122"/>
                <a:cs typeface="Aptos" pitchFamily="34" charset="-120"/>
              </a:rPr>
              <a:t>One straight boundary.</a:t>
            </a:r>
            <a:endParaRPr lang="en-US" sz="1550" dirty="0"/>
          </a:p>
        </p:txBody>
      </p:sp>
      <p:sp>
        <p:nvSpPr>
          <p:cNvPr id="12" name="Shape 9"/>
          <p:cNvSpPr/>
          <p:nvPr/>
        </p:nvSpPr>
        <p:spPr>
          <a:xfrm>
            <a:off x="4434840" y="1600200"/>
            <a:ext cx="3291840" cy="1965960"/>
          </a:xfrm>
          <a:prstGeom prst="roundRect">
            <a:avLst>
              <a:gd name="adj" fmla="val 3721"/>
            </a:avLst>
          </a:prstGeom>
          <a:solidFill>
            <a:srgbClr val="FFFFFF"/>
          </a:solidFill>
          <a:ln w="12700">
            <a:solidFill>
              <a:srgbClr val="B8C7D8"/>
            </a:solidFill>
            <a:prstDash val="solid"/>
          </a:ln>
        </p:spPr>
      </p:sp>
      <p:sp>
        <p:nvSpPr>
          <p:cNvPr id="13" name="Shape 10"/>
          <p:cNvSpPr/>
          <p:nvPr/>
        </p:nvSpPr>
        <p:spPr>
          <a:xfrm>
            <a:off x="4617720" y="1783080"/>
            <a:ext cx="2926080" cy="384048"/>
          </a:xfrm>
          <a:prstGeom prst="roundRect">
            <a:avLst>
              <a:gd name="adj" fmla="val 19048"/>
            </a:avLst>
          </a:prstGeom>
          <a:solidFill>
            <a:srgbClr val="39A875"/>
          </a:solidFill>
          <a:ln w="12700">
            <a:solidFill>
              <a:srgbClr val="39A875"/>
            </a:solidFill>
            <a:prstDash val="solid"/>
          </a:ln>
        </p:spPr>
      </p:sp>
      <p:sp>
        <p:nvSpPr>
          <p:cNvPr id="14" name="Text 11"/>
          <p:cNvSpPr txBox="1"/>
          <p:nvPr/>
        </p:nvSpPr>
        <p:spPr>
          <a:xfrm>
            <a:off x="4617720" y="1783080"/>
            <a:ext cx="2926080" cy="384048"/>
          </a:xfrm>
          <a:prstGeom prst="rect">
            <a:avLst/>
          </a:prstGeom>
          <a:noFill/>
          <a:ln/>
        </p:spPr>
        <p:txBody>
          <a:bodyPr wrap="square" lIns="0" tIns="0" rIns="0" bIns="0" rtlCol="0" anchor="ctr"/>
          <a:lstStyle/>
          <a:p>
            <a:pPr algn="ctr" indent="0" marL="0">
              <a:buNone/>
            </a:pPr>
            <a:r>
              <a:rPr lang="en-US" sz="1350" b="1" dirty="0">
                <a:solidFill>
                  <a:srgbClr val="FFFFFF"/>
                </a:solidFill>
                <a:latin typeface="Aptos" pitchFamily="34" charset="0"/>
                <a:ea typeface="Aptos" pitchFamily="34" charset="-122"/>
                <a:cs typeface="Aptos" pitchFamily="34" charset="-120"/>
              </a:rPr>
              <a:t>L26  |  Model gallery</a:t>
            </a:r>
            <a:endParaRPr lang="en-US" sz="1350" dirty="0"/>
          </a:p>
        </p:txBody>
      </p:sp>
      <p:sp>
        <p:nvSpPr>
          <p:cNvPr id="15" name="Text 12"/>
          <p:cNvSpPr txBox="1"/>
          <p:nvPr/>
        </p:nvSpPr>
        <p:spPr>
          <a:xfrm>
            <a:off x="4663440" y="2304288"/>
            <a:ext cx="2834640" cy="685800"/>
          </a:xfrm>
          <a:prstGeom prst="rect">
            <a:avLst/>
          </a:prstGeom>
          <a:noFill/>
          <a:ln/>
        </p:spPr>
        <p:txBody>
          <a:bodyPr wrap="square" lIns="0" tIns="0" rIns="0" bIns="0" rtlCol="0" anchor="t"/>
          <a:lstStyle/>
          <a:p>
            <a:pPr indent="0" marL="0">
              <a:buNone/>
            </a:pPr>
            <a:r>
              <a:rPr lang="en-US" sz="1550" dirty="0">
                <a:solidFill>
                  <a:srgbClr val="132033"/>
                </a:solidFill>
                <a:latin typeface="Aptos" pitchFamily="34" charset="0"/>
                <a:ea typeface="Aptos" pitchFamily="34" charset="-122"/>
                <a:cs typeface="Aptos" pitchFamily="34" charset="-120"/>
              </a:rPr>
              <a:t>Lines, simple curves, rectangles.</a:t>
            </a:r>
            <a:endParaRPr lang="en-US" sz="1550" dirty="0"/>
          </a:p>
        </p:txBody>
      </p:sp>
      <p:sp>
        <p:nvSpPr>
          <p:cNvPr id="16" name="Text 13"/>
          <p:cNvSpPr txBox="1"/>
          <p:nvPr/>
        </p:nvSpPr>
        <p:spPr>
          <a:xfrm>
            <a:off x="4663440" y="3017520"/>
            <a:ext cx="2834640" cy="411480"/>
          </a:xfrm>
          <a:prstGeom prst="rect">
            <a:avLst/>
          </a:prstGeom>
          <a:noFill/>
          <a:ln/>
        </p:spPr>
        <p:txBody>
          <a:bodyPr wrap="square" lIns="0" tIns="0" rIns="0" bIns="0" rtlCol="0" anchor="t"/>
          <a:lstStyle/>
          <a:p>
            <a:pPr indent="0" marL="0">
              <a:buNone/>
            </a:pPr>
            <a:r>
              <a:rPr lang="en-US" sz="1550" b="1" dirty="0">
                <a:solidFill>
                  <a:srgbClr val="0B2D55"/>
                </a:solidFill>
                <a:latin typeface="Aptos" pitchFamily="34" charset="0"/>
                <a:ea typeface="Aptos" pitchFamily="34" charset="-122"/>
                <a:cs typeface="Aptos" pitchFamily="34" charset="-120"/>
              </a:rPr>
              <a:t>We picked the shape.</a:t>
            </a:r>
            <a:endParaRPr lang="en-US" sz="1550" dirty="0"/>
          </a:p>
        </p:txBody>
      </p:sp>
      <p:sp>
        <p:nvSpPr>
          <p:cNvPr id="17" name="Shape 14"/>
          <p:cNvSpPr/>
          <p:nvPr/>
        </p:nvSpPr>
        <p:spPr>
          <a:xfrm>
            <a:off x="8001000" y="1600200"/>
            <a:ext cx="3291840" cy="1965960"/>
          </a:xfrm>
          <a:prstGeom prst="roundRect">
            <a:avLst>
              <a:gd name="adj" fmla="val 3721"/>
            </a:avLst>
          </a:prstGeom>
          <a:solidFill>
            <a:srgbClr val="FFFFFF"/>
          </a:solidFill>
          <a:ln w="12700">
            <a:solidFill>
              <a:srgbClr val="B8C7D8"/>
            </a:solidFill>
            <a:prstDash val="solid"/>
          </a:ln>
        </p:spPr>
      </p:sp>
      <p:sp>
        <p:nvSpPr>
          <p:cNvPr id="18" name="Shape 15"/>
          <p:cNvSpPr/>
          <p:nvPr/>
        </p:nvSpPr>
        <p:spPr>
          <a:xfrm>
            <a:off x="8183880" y="1783080"/>
            <a:ext cx="2926080" cy="384048"/>
          </a:xfrm>
          <a:prstGeom prst="roundRect">
            <a:avLst>
              <a:gd name="adj" fmla="val 19048"/>
            </a:avLst>
          </a:prstGeom>
          <a:solidFill>
            <a:srgbClr val="C9971C"/>
          </a:solidFill>
          <a:ln w="12700">
            <a:solidFill>
              <a:srgbClr val="C9971C"/>
            </a:solidFill>
            <a:prstDash val="solid"/>
          </a:ln>
        </p:spPr>
      </p:sp>
      <p:sp>
        <p:nvSpPr>
          <p:cNvPr id="19" name="Text 16"/>
          <p:cNvSpPr txBox="1"/>
          <p:nvPr/>
        </p:nvSpPr>
        <p:spPr>
          <a:xfrm>
            <a:off x="8183880" y="1783080"/>
            <a:ext cx="2926080" cy="384048"/>
          </a:xfrm>
          <a:prstGeom prst="rect">
            <a:avLst/>
          </a:prstGeom>
          <a:noFill/>
          <a:ln/>
        </p:spPr>
        <p:txBody>
          <a:bodyPr wrap="square" lIns="0" tIns="0" rIns="0" bIns="0" rtlCol="0" anchor="ctr"/>
          <a:lstStyle/>
          <a:p>
            <a:pPr algn="ctr" indent="0" marL="0">
              <a:buNone/>
            </a:pPr>
            <a:r>
              <a:rPr lang="en-US" sz="1350" b="1" dirty="0">
                <a:solidFill>
                  <a:srgbClr val="FFFFFF"/>
                </a:solidFill>
                <a:latin typeface="Aptos" pitchFamily="34" charset="0"/>
                <a:ea typeface="Aptos" pitchFamily="34" charset="-122"/>
                <a:cs typeface="Aptos" pitchFamily="34" charset="-120"/>
              </a:rPr>
              <a:t>L26  |  Kernel trick</a:t>
            </a:r>
            <a:endParaRPr lang="en-US" sz="1350" dirty="0"/>
          </a:p>
        </p:txBody>
      </p:sp>
      <p:sp>
        <p:nvSpPr>
          <p:cNvPr id="20" name="Text 17"/>
          <p:cNvSpPr txBox="1"/>
          <p:nvPr/>
        </p:nvSpPr>
        <p:spPr>
          <a:xfrm>
            <a:off x="8229600" y="2304288"/>
            <a:ext cx="2834640" cy="685800"/>
          </a:xfrm>
          <a:prstGeom prst="rect">
            <a:avLst/>
          </a:prstGeom>
          <a:noFill/>
          <a:ln/>
        </p:spPr>
        <p:txBody>
          <a:bodyPr wrap="square" lIns="0" tIns="0" rIns="0" bIns="0" rtlCol="0" anchor="t"/>
          <a:lstStyle/>
          <a:p>
            <a:pPr indent="0" marL="0">
              <a:buNone/>
            </a:pPr>
            <a:r>
              <a:rPr lang="en-US" sz="1550" dirty="0">
                <a:solidFill>
                  <a:srgbClr val="132033"/>
                </a:solidFill>
                <a:latin typeface="Aptos" pitchFamily="34" charset="0"/>
                <a:ea typeface="Aptos" pitchFamily="34" charset="-122"/>
                <a:cs typeface="Aptos" pitchFamily="34" charset="-120"/>
              </a:rPr>
              <a:t>When a line failed, we hand-built x².</a:t>
            </a:r>
            <a:endParaRPr lang="en-US" sz="1550" dirty="0"/>
          </a:p>
        </p:txBody>
      </p:sp>
      <p:sp>
        <p:nvSpPr>
          <p:cNvPr id="21" name="Text 18"/>
          <p:cNvSpPr txBox="1"/>
          <p:nvPr/>
        </p:nvSpPr>
        <p:spPr>
          <a:xfrm>
            <a:off x="8229600" y="3017520"/>
            <a:ext cx="2834640" cy="411480"/>
          </a:xfrm>
          <a:prstGeom prst="rect">
            <a:avLst/>
          </a:prstGeom>
          <a:noFill/>
          <a:ln/>
        </p:spPr>
        <p:txBody>
          <a:bodyPr wrap="square" lIns="0" tIns="0" rIns="0" bIns="0" rtlCol="0" anchor="t"/>
          <a:lstStyle/>
          <a:p>
            <a:pPr indent="0" marL="0">
              <a:buNone/>
            </a:pPr>
            <a:r>
              <a:rPr lang="en-US" sz="1550" b="1" dirty="0">
                <a:solidFill>
                  <a:srgbClr val="0B2D55"/>
                </a:solidFill>
                <a:latin typeface="Aptos" pitchFamily="34" charset="0"/>
                <a:ea typeface="Aptos" pitchFamily="34" charset="-122"/>
                <a:cs typeface="Aptos" pitchFamily="34" charset="-120"/>
              </a:rPr>
              <a:t>We picked the feature.</a:t>
            </a:r>
            <a:endParaRPr lang="en-US" sz="1550" dirty="0"/>
          </a:p>
        </p:txBody>
      </p:sp>
      <p:sp>
        <p:nvSpPr>
          <p:cNvPr id="22" name="Text 19"/>
          <p:cNvSpPr txBox="1"/>
          <p:nvPr/>
        </p:nvSpPr>
        <p:spPr>
          <a:xfrm>
            <a:off x="868680" y="3840480"/>
            <a:ext cx="10515600" cy="868680"/>
          </a:xfrm>
          <a:prstGeom prst="rect">
            <a:avLst/>
          </a:prstGeom>
          <a:noFill/>
          <a:ln/>
        </p:spPr>
        <p:txBody>
          <a:bodyPr wrap="square" lIns="0" tIns="0" rIns="0" bIns="0" rtlCol="0" anchor="ctr"/>
          <a:lstStyle/>
          <a:p>
            <a:pPr algn="ctr" indent="0" marL="0">
              <a:buNone/>
            </a:pPr>
            <a:r>
              <a:rPr lang="en-US" sz="2700" b="1" dirty="0">
                <a:solidFill>
                  <a:srgbClr val="0B2D55"/>
                </a:solidFill>
                <a:latin typeface="Aptos" pitchFamily="34" charset="0"/>
                <a:ea typeface="Aptos" pitchFamily="34" charset="-122"/>
                <a:cs typeface="Aptos" pitchFamily="34" charset="-120"/>
              </a:rPr>
              <a:t>What if the model could learn its own features?</a:t>
            </a:r>
            <a:endParaRPr lang="en-US" sz="2700" dirty="0"/>
          </a:p>
        </p:txBody>
      </p:sp>
      <p:sp>
        <p:nvSpPr>
          <p:cNvPr id="23" name="Shape 20"/>
          <p:cNvSpPr/>
          <p:nvPr/>
        </p:nvSpPr>
        <p:spPr>
          <a:xfrm>
            <a:off x="2194560" y="4983480"/>
            <a:ext cx="7772400" cy="685800"/>
          </a:xfrm>
          <a:prstGeom prst="roundRect">
            <a:avLst>
              <a:gd name="adj" fmla="val 10667"/>
            </a:avLst>
          </a:prstGeom>
          <a:solidFill>
            <a:srgbClr val="FFF4CE"/>
          </a:solidFill>
          <a:ln w="12700">
            <a:solidFill>
              <a:srgbClr val="F2C14E"/>
            </a:solidFill>
            <a:prstDash val="solid"/>
          </a:ln>
        </p:spPr>
      </p:sp>
      <p:sp>
        <p:nvSpPr>
          <p:cNvPr id="24" name="Text 21"/>
          <p:cNvSpPr txBox="1"/>
          <p:nvPr/>
        </p:nvSpPr>
        <p:spPr>
          <a:xfrm>
            <a:off x="2377440" y="4983480"/>
            <a:ext cx="7406640" cy="685800"/>
          </a:xfrm>
          <a:prstGeom prst="rect">
            <a:avLst/>
          </a:prstGeom>
          <a:noFill/>
          <a:ln/>
        </p:spPr>
        <p:txBody>
          <a:bodyPr wrap="square" lIns="0" tIns="0" rIns="0" bIns="0" rtlCol="0" anchor="ctr"/>
          <a:lstStyle/>
          <a:p>
            <a:pPr algn="ctr" indent="0" marL="0">
              <a:buNone/>
            </a:pPr>
            <a:r>
              <a:rPr lang="en-US" sz="1600" b="1" dirty="0">
                <a:solidFill>
                  <a:srgbClr val="0B2D55"/>
                </a:solidFill>
                <a:latin typeface="Aptos" pitchFamily="34" charset="0"/>
                <a:ea typeface="Aptos" pitchFamily="34" charset="-122"/>
                <a:cs typeface="Aptos" pitchFamily="34" charset="-120"/>
              </a:rPr>
              <a:t>Turn and talk (45 s): which L26 model could wrap a boundary around a cluster, and how?</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indent="0" marL="0">
              <a:buNone/>
            </a:pPr>
            <a:r>
              <a:rPr lang="en-US" sz="3400" b="1" dirty="0">
                <a:solidFill>
                  <a:srgbClr val="0B2D55"/>
                </a:solidFill>
                <a:latin typeface="Aptos Display" pitchFamily="34" charset="0"/>
                <a:ea typeface="Aptos Display" pitchFamily="34" charset="-122"/>
                <a:cs typeface="Aptos Display" pitchFamily="34" charset="-120"/>
              </a:rPr>
              <a:t>Today’s mission</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indent="0" marL="0">
              <a:buNone/>
            </a:pPr>
            <a:r>
              <a:rPr lang="en-US" sz="1500" dirty="0">
                <a:solidFill>
                  <a:srgbClr val="132033"/>
                </a:solidFill>
                <a:latin typeface="Aptos" pitchFamily="34" charset="0"/>
                <a:ea typeface="Aptos" pitchFamily="34" charset="-122"/>
                <a:cs typeface="Aptos" pitchFamily="34" charset="-120"/>
              </a:rPr>
              <a:t>By the end of Lesson 28, you should be able to…</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indent="0" marL="0">
              <a:buNone/>
            </a:pPr>
            <a:r>
              <a:rPr lang="en-US" sz="850" dirty="0">
                <a:solidFill>
                  <a:srgbClr val="6D7C8F"/>
                </a:solidFill>
                <a:latin typeface="Aptos" pitchFamily="34" charset="0"/>
                <a:ea typeface="Aptos" pitchFamily="34" charset="-122"/>
                <a:cs typeface="Aptos" pitchFamily="34" charset="-120"/>
              </a:rPr>
              <a:t>CS 471  |  L28: Neural Networks I</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algn="r" indent="0" marL="0">
              <a:buNone/>
            </a:pPr>
            <a:r>
              <a:rPr lang="en-US" sz="850" dirty="0">
                <a:solidFill>
                  <a:srgbClr val="6D7C8F"/>
                </a:solidFill>
                <a:latin typeface="Aptos" pitchFamily="34" charset="0"/>
                <a:ea typeface="Aptos" pitchFamily="34" charset="-122"/>
                <a:cs typeface="Aptos" pitchFamily="34" charset="-120"/>
              </a:rPr>
              <a:t>3</a:t>
            </a:r>
            <a:endParaRPr lang="en-US" sz="850" dirty="0"/>
          </a:p>
        </p:txBody>
      </p:sp>
      <p:sp>
        <p:nvSpPr>
          <p:cNvPr id="7" name="Shape 4"/>
          <p:cNvSpPr/>
          <p:nvPr/>
        </p:nvSpPr>
        <p:spPr>
          <a:xfrm>
            <a:off x="960120" y="1773936"/>
            <a:ext cx="502920" cy="502920"/>
          </a:xfrm>
          <a:prstGeom prst="ellipse">
            <a:avLst/>
          </a:prstGeom>
          <a:solidFill>
            <a:srgbClr val="0B2D55"/>
          </a:solidFill>
          <a:ln w="12700">
            <a:solidFill>
              <a:srgbClr val="0B2D55"/>
            </a:solidFill>
            <a:prstDash val="solid"/>
          </a:ln>
        </p:spPr>
      </p:sp>
      <p:sp>
        <p:nvSpPr>
          <p:cNvPr id="8" name="Text 5"/>
          <p:cNvSpPr txBox="1"/>
          <p:nvPr/>
        </p:nvSpPr>
        <p:spPr>
          <a:xfrm>
            <a:off x="960120" y="1773936"/>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Text 6"/>
          <p:cNvSpPr txBox="1"/>
          <p:nvPr/>
        </p:nvSpPr>
        <p:spPr>
          <a:xfrm>
            <a:off x="1691640" y="1645920"/>
            <a:ext cx="9601200" cy="777240"/>
          </a:xfrm>
          <a:prstGeom prst="rect">
            <a:avLst/>
          </a:prstGeom>
          <a:noFill/>
          <a:ln/>
        </p:spPr>
        <p:txBody>
          <a:bodyPr wrap="square" lIns="0" tIns="0" rIns="0" bIns="0" rtlCol="0" anchor="ctr"/>
          <a:lstStyle/>
          <a:p>
            <a:pPr indent="0" marL="0">
              <a:buNone/>
            </a:pPr>
            <a:r>
              <a:rPr lang="en-US" sz="2000" b="1" dirty="0">
                <a:solidFill>
                  <a:srgbClr val="132033"/>
                </a:solidFill>
                <a:latin typeface="Aptos" pitchFamily="34" charset="0"/>
                <a:ea typeface="Aptos" pitchFamily="34" charset="-122"/>
                <a:cs typeface="Aptos" pitchFamily="34" charset="-120"/>
              </a:rPr>
              <a:t>Describe an artificial neuron (inputs, weights, bias, activation) and compute its output from the weighted sum.</a:t>
            </a:r>
            <a:endParaRPr lang="en-US" sz="2000" dirty="0"/>
          </a:p>
        </p:txBody>
      </p:sp>
      <p:sp>
        <p:nvSpPr>
          <p:cNvPr id="10" name="Shape 7"/>
          <p:cNvSpPr/>
          <p:nvPr/>
        </p:nvSpPr>
        <p:spPr>
          <a:xfrm>
            <a:off x="960120" y="2852928"/>
            <a:ext cx="502920" cy="502920"/>
          </a:xfrm>
          <a:prstGeom prst="ellipse">
            <a:avLst/>
          </a:prstGeom>
          <a:solidFill>
            <a:srgbClr val="0B2D55"/>
          </a:solidFill>
          <a:ln w="12700">
            <a:solidFill>
              <a:srgbClr val="0B2D55"/>
            </a:solidFill>
            <a:prstDash val="solid"/>
          </a:ln>
        </p:spPr>
      </p:sp>
      <p:sp>
        <p:nvSpPr>
          <p:cNvPr id="11" name="Text 8"/>
          <p:cNvSpPr txBox="1"/>
          <p:nvPr/>
        </p:nvSpPr>
        <p:spPr>
          <a:xfrm>
            <a:off x="960120" y="2852928"/>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2" name="Text 9"/>
          <p:cNvSpPr txBox="1"/>
          <p:nvPr/>
        </p:nvSpPr>
        <p:spPr>
          <a:xfrm>
            <a:off x="1691640" y="2724912"/>
            <a:ext cx="9601200" cy="777240"/>
          </a:xfrm>
          <a:prstGeom prst="rect">
            <a:avLst/>
          </a:prstGeom>
          <a:noFill/>
          <a:ln/>
        </p:spPr>
        <p:txBody>
          <a:bodyPr wrap="square" lIns="0" tIns="0" rIns="0" bIns="0" rtlCol="0" anchor="ctr"/>
          <a:lstStyle/>
          <a:p>
            <a:pPr indent="0" marL="0">
              <a:buNone/>
            </a:pPr>
            <a:r>
              <a:rPr lang="en-US" sz="2000" b="1" dirty="0">
                <a:solidFill>
                  <a:srgbClr val="132033"/>
                </a:solidFill>
                <a:latin typeface="Aptos" pitchFamily="34" charset="0"/>
                <a:ea typeface="Aptos" pitchFamily="34" charset="-122"/>
                <a:cs typeface="Aptos" pitchFamily="34" charset="-120"/>
              </a:rPr>
              <a:t>Execute forward propagation through a small feedforward network, tracking the value at every node.</a:t>
            </a:r>
            <a:endParaRPr lang="en-US" sz="2000" dirty="0"/>
          </a:p>
        </p:txBody>
      </p:sp>
      <p:sp>
        <p:nvSpPr>
          <p:cNvPr id="13" name="Shape 10"/>
          <p:cNvSpPr/>
          <p:nvPr/>
        </p:nvSpPr>
        <p:spPr>
          <a:xfrm>
            <a:off x="960120" y="3931920"/>
            <a:ext cx="502920" cy="502920"/>
          </a:xfrm>
          <a:prstGeom prst="ellipse">
            <a:avLst/>
          </a:prstGeom>
          <a:solidFill>
            <a:srgbClr val="0B2D55"/>
          </a:solidFill>
          <a:ln w="12700">
            <a:solidFill>
              <a:srgbClr val="0B2D55"/>
            </a:solidFill>
            <a:prstDash val="solid"/>
          </a:ln>
        </p:spPr>
      </p:sp>
      <p:sp>
        <p:nvSpPr>
          <p:cNvPr id="14" name="Text 11"/>
          <p:cNvSpPr txBox="1"/>
          <p:nvPr/>
        </p:nvSpPr>
        <p:spPr>
          <a:xfrm>
            <a:off x="960120" y="39319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15" name="Text 12"/>
          <p:cNvSpPr txBox="1"/>
          <p:nvPr/>
        </p:nvSpPr>
        <p:spPr>
          <a:xfrm>
            <a:off x="1691640" y="3803904"/>
            <a:ext cx="9601200" cy="777240"/>
          </a:xfrm>
          <a:prstGeom prst="rect">
            <a:avLst/>
          </a:prstGeom>
          <a:noFill/>
          <a:ln/>
        </p:spPr>
        <p:txBody>
          <a:bodyPr wrap="square" lIns="0" tIns="0" rIns="0" bIns="0" rtlCol="0" anchor="ctr"/>
          <a:lstStyle/>
          <a:p>
            <a:pPr indent="0" marL="0">
              <a:buNone/>
            </a:pPr>
            <a:r>
              <a:rPr lang="en-US" sz="2000" b="1" dirty="0">
                <a:solidFill>
                  <a:srgbClr val="132033"/>
                </a:solidFill>
                <a:latin typeface="Aptos" pitchFamily="34" charset="0"/>
                <a:ea typeface="Aptos" pitchFamily="34" charset="-122"/>
                <a:cs typeface="Aptos" pitchFamily="34" charset="-120"/>
              </a:rPr>
              <a:t>Explain why non-linear activations are required, and how hidden layers and multiple outputs let a network bend boundaries and share learned features.</a:t>
            </a:r>
            <a:endParaRPr lang="en-US" sz="2000" dirty="0"/>
          </a:p>
        </p:txBody>
      </p:sp>
      <p:sp>
        <p:nvSpPr>
          <p:cNvPr id="16" name="Shape 13"/>
          <p:cNvSpPr/>
          <p:nvPr/>
        </p:nvSpPr>
        <p:spPr>
          <a:xfrm>
            <a:off x="1005840" y="5074920"/>
            <a:ext cx="10149840" cy="777240"/>
          </a:xfrm>
          <a:prstGeom prst="roundRect">
            <a:avLst>
              <a:gd name="adj" fmla="val 9412"/>
            </a:avLst>
          </a:prstGeom>
          <a:solidFill>
            <a:srgbClr val="FFF4CE"/>
          </a:solidFill>
          <a:ln w="12700">
            <a:solidFill>
              <a:srgbClr val="F2C14E"/>
            </a:solidFill>
            <a:prstDash val="solid"/>
          </a:ln>
        </p:spPr>
      </p:sp>
      <p:sp>
        <p:nvSpPr>
          <p:cNvPr id="17" name="Text 14"/>
          <p:cNvSpPr txBox="1"/>
          <p:nvPr/>
        </p:nvSpPr>
        <p:spPr>
          <a:xfrm>
            <a:off x="1188720" y="5074920"/>
            <a:ext cx="9784080" cy="777240"/>
          </a:xfrm>
          <a:prstGeom prst="rect">
            <a:avLst/>
          </a:prstGeom>
          <a:noFill/>
          <a:ln/>
        </p:spPr>
        <p:txBody>
          <a:bodyPr wrap="square" lIns="0" tIns="0" rIns="0" bIns="0" rtlCol="0" anchor="ctr"/>
          <a:lstStyle/>
          <a:p>
            <a:pPr algn="ctr" indent="0" marL="0">
              <a:buNone/>
            </a:pPr>
            <a:r>
              <a:rPr lang="en-US" sz="1500" b="1" dirty="0">
                <a:solidFill>
                  <a:srgbClr val="0B2D55"/>
                </a:solidFill>
                <a:latin typeface="Aptos" pitchFamily="34" charset="0"/>
                <a:ea typeface="Aptos" pitchFamily="34" charset="-122"/>
                <a:cs typeface="Aptos" pitchFamily="34" charset="-120"/>
              </a:rPr>
              <a:t>Performance target: given a small network’s weights and an input, compute every node’s value and the output, and explain what changes if the activations were linear.</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indent="0" marL="0">
              <a:buNone/>
            </a:pPr>
            <a:r>
              <a:rPr lang="en-US" sz="3400" b="1" dirty="0">
                <a:solidFill>
                  <a:srgbClr val="0B2D55"/>
                </a:solidFill>
                <a:latin typeface="Aptos Display" pitchFamily="34" charset="0"/>
                <a:ea typeface="Aptos Display" pitchFamily="34" charset="-122"/>
                <a:cs typeface="Aptos Display" pitchFamily="34" charset="-120"/>
              </a:rPr>
              <a:t>Running scenario: keep the servers healthy</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indent="0" marL="0">
              <a:buNone/>
            </a:pPr>
            <a:r>
              <a:rPr lang="en-US" sz="1500" dirty="0">
                <a:solidFill>
                  <a:srgbClr val="132033"/>
                </a:solidFill>
                <a:latin typeface="Aptos" pitchFamily="34" charset="0"/>
                <a:ea typeface="Aptos" pitchFamily="34" charset="-122"/>
                <a:cs typeface="Aptos" pitchFamily="34" charset="-120"/>
              </a:rPr>
              <a:t>A cloud team wants early warnings from its server metrics.</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indent="0" marL="0">
              <a:buNone/>
            </a:pPr>
            <a:r>
              <a:rPr lang="en-US" sz="850" dirty="0">
                <a:solidFill>
                  <a:srgbClr val="6D7C8F"/>
                </a:solidFill>
                <a:latin typeface="Aptos" pitchFamily="34" charset="0"/>
                <a:ea typeface="Aptos" pitchFamily="34" charset="-122"/>
                <a:cs typeface="Aptos" pitchFamily="34" charset="-120"/>
              </a:rPr>
              <a:t>CS 471  |  L28: Neural Networks I</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algn="r" indent="0" marL="0">
              <a:buNone/>
            </a:pPr>
            <a:r>
              <a:rPr lang="en-US" sz="850" dirty="0">
                <a:solidFill>
                  <a:srgbClr val="6D7C8F"/>
                </a:solidFill>
                <a:latin typeface="Aptos" pitchFamily="34" charset="0"/>
                <a:ea typeface="Aptos" pitchFamily="34" charset="-122"/>
                <a:cs typeface="Aptos" pitchFamily="34" charset="-120"/>
              </a:rPr>
              <a:t>4</a:t>
            </a:r>
            <a:endParaRPr lang="en-US" sz="850" dirty="0"/>
          </a:p>
        </p:txBody>
      </p:sp>
      <p:sp>
        <p:nvSpPr>
          <p:cNvPr id="7" name="Shape 4"/>
          <p:cNvSpPr/>
          <p:nvPr/>
        </p:nvSpPr>
        <p:spPr>
          <a:xfrm>
            <a:off x="576072" y="1554480"/>
            <a:ext cx="5394960" cy="4206240"/>
          </a:xfrm>
          <a:prstGeom prst="roundRect">
            <a:avLst>
              <a:gd name="adj" fmla="val 1739"/>
            </a:avLst>
          </a:prstGeom>
          <a:solidFill>
            <a:srgbClr val="FFFFFF"/>
          </a:solidFill>
          <a:ln w="12700">
            <a:solidFill>
              <a:srgbClr val="B8C7D8"/>
            </a:solidFill>
            <a:prstDash val="solid"/>
          </a:ln>
        </p:spPr>
      </p:sp>
      <p:sp>
        <p:nvSpPr>
          <p:cNvPr id="8" name="Text 5"/>
          <p:cNvSpPr txBox="1"/>
          <p:nvPr/>
        </p:nvSpPr>
        <p:spPr>
          <a:xfrm>
            <a:off x="822960" y="1691640"/>
            <a:ext cx="4937760" cy="365760"/>
          </a:xfrm>
          <a:prstGeom prst="rect">
            <a:avLst/>
          </a:prstGeom>
          <a:noFill/>
          <a:ln/>
        </p:spPr>
        <p:txBody>
          <a:bodyPr wrap="square" lIns="0" tIns="0" rIns="0" bIns="0" rtlCol="0" anchor="t"/>
          <a:lstStyle/>
          <a:p>
            <a:pPr indent="0" marL="0">
              <a:buNone/>
            </a:pPr>
            <a:r>
              <a:rPr lang="en-US" sz="1700" b="1" dirty="0">
                <a:solidFill>
                  <a:srgbClr val="0B2D55"/>
                </a:solidFill>
                <a:latin typeface="Aptos" pitchFamily="34" charset="0"/>
                <a:ea typeface="Aptos" pitchFamily="34" charset="-122"/>
                <a:cs typeface="Aptos" pitchFamily="34" charset="-120"/>
              </a:rPr>
              <a:t>server-07  |  live metrics</a:t>
            </a:r>
            <a:endParaRPr lang="en-US" sz="1700" dirty="0"/>
          </a:p>
        </p:txBody>
      </p:sp>
      <p:sp>
        <p:nvSpPr>
          <p:cNvPr id="9" name="Text 6"/>
          <p:cNvSpPr txBox="1"/>
          <p:nvPr/>
        </p:nvSpPr>
        <p:spPr>
          <a:xfrm>
            <a:off x="822960" y="2331720"/>
            <a:ext cx="2286000" cy="320040"/>
          </a:xfrm>
          <a:prstGeom prst="rect">
            <a:avLst/>
          </a:prstGeom>
          <a:noFill/>
          <a:ln/>
        </p:spPr>
        <p:txBody>
          <a:bodyPr wrap="square" lIns="0" tIns="0" rIns="0" bIns="0" rtlCol="0" anchor="t"/>
          <a:lstStyle/>
          <a:p>
            <a:pPr indent="0" marL="0">
              <a:buNone/>
            </a:pPr>
            <a:r>
              <a:rPr lang="en-US" sz="1500" b="1" dirty="0">
                <a:solidFill>
                  <a:srgbClr val="132033"/>
                </a:solidFill>
                <a:latin typeface="Aptos" pitchFamily="34" charset="0"/>
                <a:ea typeface="Aptos" pitchFamily="34" charset="-122"/>
                <a:cs typeface="Aptos" pitchFamily="34" charset="-120"/>
              </a:rPr>
              <a:t>CPU load</a:t>
            </a:r>
            <a:endParaRPr lang="en-US" sz="1500" dirty="0"/>
          </a:p>
        </p:txBody>
      </p:sp>
      <p:sp>
        <p:nvSpPr>
          <p:cNvPr id="10" name="Text 7"/>
          <p:cNvSpPr txBox="1"/>
          <p:nvPr/>
        </p:nvSpPr>
        <p:spPr>
          <a:xfrm>
            <a:off x="3566160" y="2331720"/>
            <a:ext cx="2194560" cy="320040"/>
          </a:xfrm>
          <a:prstGeom prst="rect">
            <a:avLst/>
          </a:prstGeom>
          <a:noFill/>
          <a:ln/>
        </p:spPr>
        <p:txBody>
          <a:bodyPr wrap="square" lIns="0" tIns="0" rIns="0" bIns="0" rtlCol="0" anchor="t"/>
          <a:lstStyle/>
          <a:p>
            <a:pPr algn="r" indent="0" marL="0">
              <a:buNone/>
            </a:pPr>
            <a:r>
              <a:rPr lang="en-US" sz="1500" b="1" dirty="0">
                <a:solidFill>
                  <a:srgbClr val="D9731A"/>
                </a:solidFill>
                <a:latin typeface="Aptos" pitchFamily="34" charset="0"/>
                <a:ea typeface="Aptos" pitchFamily="34" charset="-122"/>
                <a:cs typeface="Aptos" pitchFamily="34" charset="-120"/>
              </a:rPr>
              <a:t>0.9 (90%)</a:t>
            </a:r>
            <a:endParaRPr lang="en-US" sz="1500" dirty="0"/>
          </a:p>
        </p:txBody>
      </p:sp>
      <p:sp>
        <p:nvSpPr>
          <p:cNvPr id="11" name="Shape 8"/>
          <p:cNvSpPr/>
          <p:nvPr/>
        </p:nvSpPr>
        <p:spPr>
          <a:xfrm>
            <a:off x="822960" y="2743200"/>
            <a:ext cx="4937760" cy="292608"/>
          </a:xfrm>
          <a:prstGeom prst="rect">
            <a:avLst/>
          </a:prstGeom>
          <a:solidFill>
            <a:srgbClr val="EEF1F5"/>
          </a:solidFill>
          <a:ln w="12700">
            <a:solidFill>
              <a:srgbClr val="EEF1F5"/>
            </a:solidFill>
            <a:prstDash val="solid"/>
          </a:ln>
        </p:spPr>
      </p:sp>
      <p:sp>
        <p:nvSpPr>
          <p:cNvPr id="12" name="Shape 9"/>
          <p:cNvSpPr/>
          <p:nvPr/>
        </p:nvSpPr>
        <p:spPr>
          <a:xfrm>
            <a:off x="822960" y="2743200"/>
            <a:ext cx="4443984" cy="292608"/>
          </a:xfrm>
          <a:prstGeom prst="rect">
            <a:avLst/>
          </a:prstGeom>
          <a:solidFill>
            <a:srgbClr val="D9731A"/>
          </a:solidFill>
          <a:ln w="12700">
            <a:solidFill>
              <a:srgbClr val="D9731A"/>
            </a:solidFill>
            <a:prstDash val="solid"/>
          </a:ln>
        </p:spPr>
      </p:sp>
      <p:sp>
        <p:nvSpPr>
          <p:cNvPr id="13" name="Text 10"/>
          <p:cNvSpPr txBox="1"/>
          <p:nvPr/>
        </p:nvSpPr>
        <p:spPr>
          <a:xfrm>
            <a:off x="822960" y="3383280"/>
            <a:ext cx="2286000" cy="320040"/>
          </a:xfrm>
          <a:prstGeom prst="rect">
            <a:avLst/>
          </a:prstGeom>
          <a:noFill/>
          <a:ln/>
        </p:spPr>
        <p:txBody>
          <a:bodyPr wrap="square" lIns="0" tIns="0" rIns="0" bIns="0" rtlCol="0" anchor="t"/>
          <a:lstStyle/>
          <a:p>
            <a:pPr indent="0" marL="0">
              <a:buNone/>
            </a:pPr>
            <a:r>
              <a:rPr lang="en-US" sz="1500" b="1" dirty="0">
                <a:solidFill>
                  <a:srgbClr val="132033"/>
                </a:solidFill>
                <a:latin typeface="Aptos" pitchFamily="34" charset="0"/>
                <a:ea typeface="Aptos" pitchFamily="34" charset="-122"/>
                <a:cs typeface="Aptos" pitchFamily="34" charset="-120"/>
              </a:rPr>
              <a:t>Memory used</a:t>
            </a:r>
            <a:endParaRPr lang="en-US" sz="1500" dirty="0"/>
          </a:p>
        </p:txBody>
      </p:sp>
      <p:sp>
        <p:nvSpPr>
          <p:cNvPr id="14" name="Text 11"/>
          <p:cNvSpPr txBox="1"/>
          <p:nvPr/>
        </p:nvSpPr>
        <p:spPr>
          <a:xfrm>
            <a:off x="3566160" y="3383280"/>
            <a:ext cx="2194560" cy="320040"/>
          </a:xfrm>
          <a:prstGeom prst="rect">
            <a:avLst/>
          </a:prstGeom>
          <a:noFill/>
          <a:ln/>
        </p:spPr>
        <p:txBody>
          <a:bodyPr wrap="square" lIns="0" tIns="0" rIns="0" bIns="0" rtlCol="0" anchor="t"/>
          <a:lstStyle/>
          <a:p>
            <a:pPr algn="r" indent="0" marL="0">
              <a:buNone/>
            </a:pPr>
            <a:r>
              <a:rPr lang="en-US" sz="1500" b="1" dirty="0">
                <a:solidFill>
                  <a:srgbClr val="C9971C"/>
                </a:solidFill>
                <a:latin typeface="Aptos" pitchFamily="34" charset="0"/>
                <a:ea typeface="Aptos" pitchFamily="34" charset="-122"/>
                <a:cs typeface="Aptos" pitchFamily="34" charset="-120"/>
              </a:rPr>
              <a:t>0.7 (70%)</a:t>
            </a:r>
            <a:endParaRPr lang="en-US" sz="1500" dirty="0"/>
          </a:p>
        </p:txBody>
      </p:sp>
      <p:sp>
        <p:nvSpPr>
          <p:cNvPr id="15" name="Shape 12"/>
          <p:cNvSpPr/>
          <p:nvPr/>
        </p:nvSpPr>
        <p:spPr>
          <a:xfrm>
            <a:off x="822960" y="3794760"/>
            <a:ext cx="4937760" cy="292608"/>
          </a:xfrm>
          <a:prstGeom prst="rect">
            <a:avLst/>
          </a:prstGeom>
          <a:solidFill>
            <a:srgbClr val="EEF1F5"/>
          </a:solidFill>
          <a:ln w="12700">
            <a:solidFill>
              <a:srgbClr val="EEF1F5"/>
            </a:solidFill>
            <a:prstDash val="solid"/>
          </a:ln>
        </p:spPr>
      </p:sp>
      <p:sp>
        <p:nvSpPr>
          <p:cNvPr id="16" name="Shape 13"/>
          <p:cNvSpPr/>
          <p:nvPr/>
        </p:nvSpPr>
        <p:spPr>
          <a:xfrm>
            <a:off x="822960" y="3794760"/>
            <a:ext cx="3456432" cy="292608"/>
          </a:xfrm>
          <a:prstGeom prst="rect">
            <a:avLst/>
          </a:prstGeom>
          <a:solidFill>
            <a:srgbClr val="C9971C"/>
          </a:solidFill>
          <a:ln w="12700">
            <a:solidFill>
              <a:srgbClr val="C9971C"/>
            </a:solidFill>
            <a:prstDash val="solid"/>
          </a:ln>
        </p:spPr>
      </p:sp>
      <p:sp>
        <p:nvSpPr>
          <p:cNvPr id="17" name="Text 14"/>
          <p:cNvSpPr txBox="1"/>
          <p:nvPr/>
        </p:nvSpPr>
        <p:spPr>
          <a:xfrm>
            <a:off x="822960" y="4434840"/>
            <a:ext cx="2286000" cy="320040"/>
          </a:xfrm>
          <a:prstGeom prst="rect">
            <a:avLst/>
          </a:prstGeom>
          <a:noFill/>
          <a:ln/>
        </p:spPr>
        <p:txBody>
          <a:bodyPr wrap="square" lIns="0" tIns="0" rIns="0" bIns="0" rtlCol="0" anchor="t"/>
          <a:lstStyle/>
          <a:p>
            <a:pPr indent="0" marL="0">
              <a:buNone/>
            </a:pPr>
            <a:r>
              <a:rPr lang="en-US" sz="1500" b="1" dirty="0">
                <a:solidFill>
                  <a:srgbClr val="132033"/>
                </a:solidFill>
                <a:latin typeface="Aptos" pitchFamily="34" charset="0"/>
                <a:ea typeface="Aptos" pitchFamily="34" charset="-122"/>
                <a:cs typeface="Aptos" pitchFamily="34" charset="-120"/>
              </a:rPr>
              <a:t>Requests / sec</a:t>
            </a:r>
            <a:endParaRPr lang="en-US" sz="1500" dirty="0"/>
          </a:p>
        </p:txBody>
      </p:sp>
      <p:sp>
        <p:nvSpPr>
          <p:cNvPr id="18" name="Text 15"/>
          <p:cNvSpPr txBox="1"/>
          <p:nvPr/>
        </p:nvSpPr>
        <p:spPr>
          <a:xfrm>
            <a:off x="3566160" y="4434840"/>
            <a:ext cx="2194560" cy="320040"/>
          </a:xfrm>
          <a:prstGeom prst="rect">
            <a:avLst/>
          </a:prstGeom>
          <a:noFill/>
          <a:ln/>
        </p:spPr>
        <p:txBody>
          <a:bodyPr wrap="square" lIns="0" tIns="0" rIns="0" bIns="0" rtlCol="0" anchor="t"/>
          <a:lstStyle/>
          <a:p>
            <a:pPr algn="r" indent="0" marL="0">
              <a:buNone/>
            </a:pPr>
            <a:r>
              <a:rPr lang="en-US" sz="1500" b="1" dirty="0">
                <a:solidFill>
                  <a:srgbClr val="1D5FA7"/>
                </a:solidFill>
                <a:latin typeface="Aptos" pitchFamily="34" charset="0"/>
                <a:ea typeface="Aptos" pitchFamily="34" charset="-122"/>
                <a:cs typeface="Aptos" pitchFamily="34" charset="-120"/>
              </a:rPr>
              <a:t>3 (300 / s)</a:t>
            </a:r>
            <a:endParaRPr lang="en-US" sz="1500" dirty="0"/>
          </a:p>
        </p:txBody>
      </p:sp>
      <p:sp>
        <p:nvSpPr>
          <p:cNvPr id="19" name="Shape 16"/>
          <p:cNvSpPr/>
          <p:nvPr/>
        </p:nvSpPr>
        <p:spPr>
          <a:xfrm>
            <a:off x="822960" y="4846320"/>
            <a:ext cx="4937760" cy="292608"/>
          </a:xfrm>
          <a:prstGeom prst="rect">
            <a:avLst/>
          </a:prstGeom>
          <a:solidFill>
            <a:srgbClr val="EEF1F5"/>
          </a:solidFill>
          <a:ln w="12700">
            <a:solidFill>
              <a:srgbClr val="EEF1F5"/>
            </a:solidFill>
            <a:prstDash val="solid"/>
          </a:ln>
        </p:spPr>
      </p:sp>
      <p:sp>
        <p:nvSpPr>
          <p:cNvPr id="20" name="Shape 17"/>
          <p:cNvSpPr/>
          <p:nvPr/>
        </p:nvSpPr>
        <p:spPr>
          <a:xfrm>
            <a:off x="822960" y="4846320"/>
            <a:ext cx="2962656" cy="292608"/>
          </a:xfrm>
          <a:prstGeom prst="rect">
            <a:avLst/>
          </a:prstGeom>
          <a:solidFill>
            <a:srgbClr val="1D5FA7"/>
          </a:solidFill>
          <a:ln w="12700">
            <a:solidFill>
              <a:srgbClr val="1D5FA7"/>
            </a:solidFill>
            <a:prstDash val="solid"/>
          </a:ln>
        </p:spPr>
      </p:sp>
      <p:sp>
        <p:nvSpPr>
          <p:cNvPr id="21" name="Shape 18"/>
          <p:cNvSpPr/>
          <p:nvPr/>
        </p:nvSpPr>
        <p:spPr>
          <a:xfrm>
            <a:off x="6263640" y="1554480"/>
            <a:ext cx="5349240" cy="1234440"/>
          </a:xfrm>
          <a:prstGeom prst="roundRect">
            <a:avLst>
              <a:gd name="adj" fmla="val 5926"/>
            </a:avLst>
          </a:prstGeom>
          <a:solidFill>
            <a:srgbClr val="EAF2F8"/>
          </a:solidFill>
          <a:ln w="12700">
            <a:solidFill>
              <a:srgbClr val="1F5D9B"/>
            </a:solidFill>
            <a:prstDash val="solid"/>
          </a:ln>
        </p:spPr>
      </p:sp>
      <p:sp>
        <p:nvSpPr>
          <p:cNvPr id="22" name="Text 19"/>
          <p:cNvSpPr txBox="1"/>
          <p:nvPr/>
        </p:nvSpPr>
        <p:spPr>
          <a:xfrm>
            <a:off x="6446520" y="1664208"/>
            <a:ext cx="4983480" cy="292608"/>
          </a:xfrm>
          <a:prstGeom prst="rect">
            <a:avLst/>
          </a:prstGeom>
          <a:noFill/>
          <a:ln/>
        </p:spPr>
        <p:txBody>
          <a:bodyPr wrap="square" lIns="0" tIns="0" rIns="0" bIns="0" rtlCol="0" anchor="t"/>
          <a:lstStyle/>
          <a:p>
            <a:pPr indent="0" marL="0">
              <a:buNone/>
            </a:pPr>
            <a:r>
              <a:rPr lang="en-US" sz="1500" b="1" dirty="0">
                <a:solidFill>
                  <a:srgbClr val="0B2D55"/>
                </a:solidFill>
                <a:latin typeface="Aptos" pitchFamily="34" charset="0"/>
                <a:ea typeface="Aptos" pitchFamily="34" charset="-122"/>
                <a:cs typeface="Aptos" pitchFamily="34" charset="-120"/>
              </a:rPr>
              <a:t>Q1  |  Part 1</a:t>
            </a:r>
            <a:endParaRPr lang="en-US" sz="1500" dirty="0"/>
          </a:p>
        </p:txBody>
      </p:sp>
      <p:sp>
        <p:nvSpPr>
          <p:cNvPr id="23" name="Text 20"/>
          <p:cNvSpPr txBox="1"/>
          <p:nvPr/>
        </p:nvSpPr>
        <p:spPr>
          <a:xfrm>
            <a:off x="6446520" y="1993392"/>
            <a:ext cx="4983480" cy="704088"/>
          </a:xfrm>
          <a:prstGeom prst="rect">
            <a:avLst/>
          </a:prstGeom>
          <a:noFill/>
          <a:ln/>
        </p:spPr>
        <p:txBody>
          <a:bodyPr wrap="square" lIns="0" tIns="0" rIns="0" bIns="0" rtlCol="0" anchor="t"/>
          <a:lstStyle/>
          <a:p>
            <a:pPr indent="0" marL="0">
              <a:buNone/>
            </a:pPr>
            <a:r>
              <a:rPr lang="en-US" sz="1800" dirty="0">
                <a:solidFill>
                  <a:srgbClr val="132033"/>
                </a:solidFill>
                <a:latin typeface="Aptos" pitchFamily="34" charset="0"/>
                <a:ea typeface="Aptos" pitchFamily="34" charset="-122"/>
                <a:cs typeface="Aptos" pitchFamily="34" charset="-120"/>
              </a:rPr>
              <a:t>Will this server crash in the next hour?</a:t>
            </a:r>
            <a:endParaRPr lang="en-US" sz="1800" dirty="0"/>
          </a:p>
        </p:txBody>
      </p:sp>
      <p:sp>
        <p:nvSpPr>
          <p:cNvPr id="24" name="Shape 21"/>
          <p:cNvSpPr/>
          <p:nvPr/>
        </p:nvSpPr>
        <p:spPr>
          <a:xfrm>
            <a:off x="6263640" y="2971800"/>
            <a:ext cx="5349240" cy="1463040"/>
          </a:xfrm>
          <a:prstGeom prst="roundRect">
            <a:avLst>
              <a:gd name="adj" fmla="val 5000"/>
            </a:avLst>
          </a:prstGeom>
          <a:solidFill>
            <a:srgbClr val="FCE9D8"/>
          </a:solidFill>
          <a:ln w="12700">
            <a:solidFill>
              <a:srgbClr val="D9731A"/>
            </a:solidFill>
            <a:prstDash val="solid"/>
          </a:ln>
        </p:spPr>
      </p:sp>
      <p:sp>
        <p:nvSpPr>
          <p:cNvPr id="25" name="Text 22"/>
          <p:cNvSpPr txBox="1"/>
          <p:nvPr/>
        </p:nvSpPr>
        <p:spPr>
          <a:xfrm>
            <a:off x="6446520" y="3081528"/>
            <a:ext cx="4983480" cy="292608"/>
          </a:xfrm>
          <a:prstGeom prst="rect">
            <a:avLst/>
          </a:prstGeom>
          <a:noFill/>
          <a:ln/>
        </p:spPr>
        <p:txBody>
          <a:bodyPr wrap="square" lIns="0" tIns="0" rIns="0" bIns="0" rtlCol="0" anchor="t"/>
          <a:lstStyle/>
          <a:p>
            <a:pPr indent="0" marL="0">
              <a:buNone/>
            </a:pPr>
            <a:r>
              <a:rPr lang="en-US" sz="1500" b="1" dirty="0">
                <a:solidFill>
                  <a:srgbClr val="0B2D55"/>
                </a:solidFill>
                <a:latin typeface="Aptos" pitchFamily="34" charset="0"/>
                <a:ea typeface="Aptos" pitchFamily="34" charset="-122"/>
                <a:cs typeface="Aptos" pitchFamily="34" charset="-120"/>
              </a:rPr>
              <a:t>Q2  |  Part 3</a:t>
            </a:r>
            <a:endParaRPr lang="en-US" sz="1500" dirty="0"/>
          </a:p>
        </p:txBody>
      </p:sp>
      <p:sp>
        <p:nvSpPr>
          <p:cNvPr id="26" name="Text 23"/>
          <p:cNvSpPr txBox="1"/>
          <p:nvPr/>
        </p:nvSpPr>
        <p:spPr>
          <a:xfrm>
            <a:off x="6446520" y="3410712"/>
            <a:ext cx="4983480" cy="932688"/>
          </a:xfrm>
          <a:prstGeom prst="rect">
            <a:avLst/>
          </a:prstGeom>
          <a:noFill/>
          <a:ln/>
        </p:spPr>
        <p:txBody>
          <a:bodyPr wrap="square" lIns="0" tIns="0" rIns="0" bIns="0" rtlCol="0" anchor="t"/>
          <a:lstStyle/>
          <a:p>
            <a:pPr indent="0" marL="0">
              <a:buNone/>
            </a:pPr>
            <a:r>
              <a:rPr lang="en-US" sz="1800" dirty="0">
                <a:solidFill>
                  <a:srgbClr val="132033"/>
                </a:solidFill>
                <a:latin typeface="Aptos" pitchFamily="34" charset="0"/>
                <a:ea typeface="Aptos" pitchFamily="34" charset="-122"/>
                <a:cs typeface="Aptos" pitchFamily="34" charset="-120"/>
              </a:rPr>
              <a:t>Is CPU load abnormal: too low (hung service) or too high (overload)?</a:t>
            </a:r>
            <a:endParaRPr lang="en-US" sz="1800" dirty="0"/>
          </a:p>
        </p:txBody>
      </p:sp>
      <p:sp>
        <p:nvSpPr>
          <p:cNvPr id="27" name="Text 24"/>
          <p:cNvSpPr txBox="1"/>
          <p:nvPr/>
        </p:nvSpPr>
        <p:spPr>
          <a:xfrm>
            <a:off x="6263640" y="4709160"/>
            <a:ext cx="5349240" cy="822960"/>
          </a:xfrm>
          <a:prstGeom prst="rect">
            <a:avLst/>
          </a:prstGeom>
          <a:noFill/>
          <a:ln/>
        </p:spPr>
        <p:txBody>
          <a:bodyPr wrap="square" lIns="0" tIns="0" rIns="0" bIns="0" rtlCol="0" anchor="ctr"/>
          <a:lstStyle/>
          <a:p>
            <a:pPr algn="ctr" indent="0" marL="0">
              <a:buNone/>
            </a:pPr>
            <a:r>
              <a:rPr lang="en-US" sz="2000" b="1" dirty="0">
                <a:solidFill>
                  <a:srgbClr val="1D5FA7"/>
                </a:solidFill>
                <a:latin typeface="Aptos" pitchFamily="34" charset="0"/>
                <a:ea typeface="Aptos" pitchFamily="34" charset="-122"/>
                <a:cs typeface="Aptos" pitchFamily="34" charset="-120"/>
              </a:rPr>
              <a:t>Prediction: can one neuron answer Q2?</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indent="0" marL="0">
              <a:buNone/>
            </a:pPr>
            <a:r>
              <a:rPr lang="en-US" sz="3400" b="1" dirty="0">
                <a:solidFill>
                  <a:srgbClr val="0B2D55"/>
                </a:solidFill>
                <a:latin typeface="Aptos Display" pitchFamily="34" charset="0"/>
                <a:ea typeface="Aptos Display" pitchFamily="34" charset="-122"/>
                <a:cs typeface="Aptos Display" pitchFamily="34" charset="-120"/>
              </a:rPr>
              <a:t>From biology to math</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indent="0" marL="0">
              <a:buNone/>
            </a:pPr>
            <a:r>
              <a:rPr lang="en-US" sz="1500" dirty="0">
                <a:solidFill>
                  <a:srgbClr val="132033"/>
                </a:solidFill>
                <a:latin typeface="Aptos" pitchFamily="34" charset="0"/>
                <a:ea typeface="Aptos" pitchFamily="34" charset="-122"/>
                <a:cs typeface="Aptos" pitchFamily="34" charset="-120"/>
              </a:rPr>
              <a:t>Inspiration, not simulation.</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indent="0" marL="0">
              <a:buNone/>
            </a:pPr>
            <a:r>
              <a:rPr lang="en-US" sz="850" dirty="0">
                <a:solidFill>
                  <a:srgbClr val="6D7C8F"/>
                </a:solidFill>
                <a:latin typeface="Aptos" pitchFamily="34" charset="0"/>
                <a:ea typeface="Aptos" pitchFamily="34" charset="-122"/>
                <a:cs typeface="Aptos" pitchFamily="34" charset="-120"/>
              </a:rPr>
              <a:t>CS 471  |  L28: Neural Networks I</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algn="r" indent="0" marL="0">
              <a:buNone/>
            </a:pPr>
            <a:r>
              <a:rPr lang="en-US" sz="850" dirty="0">
                <a:solidFill>
                  <a:srgbClr val="6D7C8F"/>
                </a:solidFill>
                <a:latin typeface="Aptos" pitchFamily="34" charset="0"/>
                <a:ea typeface="Aptos" pitchFamily="34" charset="-122"/>
                <a:cs typeface="Aptos" pitchFamily="34" charset="-120"/>
              </a:rPr>
              <a:t>5</a:t>
            </a:r>
            <a:endParaRPr lang="en-US" sz="8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645920"/>
          <a:ext cx="6766560" cy="914400"/>
        </p:xfrm>
        <a:graphic>
          <a:graphicData uri="http://schemas.openxmlformats.org/drawingml/2006/table">
            <a:tbl>
              <a:tblPr/>
              <a:tblGrid>
                <a:gridCol w="2743200"/>
                <a:gridCol w="2560320"/>
                <a:gridCol w="1463040"/>
              </a:tblGrid>
              <a:tr h="566928">
                <a:tc>
                  <a:txBody>
                    <a:bodyPr/>
                    <a:lstStyle/>
                    <a:p>
                      <a:pPr algn="ctr" indent="0" marL="0">
                        <a:buNone/>
                      </a:pPr>
                      <a:r>
                        <a:rPr lang="en-US" sz="1500" b="1" dirty="0">
                          <a:solidFill>
                            <a:srgbClr val="0B2D55"/>
                          </a:solidFill>
                          <a:latin typeface="Aptos" pitchFamily="34" charset="0"/>
                          <a:ea typeface="Aptos" pitchFamily="34" charset="-122"/>
                          <a:cs typeface="Aptos" pitchFamily="34" charset="-120"/>
                        </a:rPr>
                        <a:t>Biological neuron</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algn="ctr" indent="0" marL="0">
                        <a:buNone/>
                      </a:pPr>
                      <a:r>
                        <a:rPr lang="en-US" sz="1500" b="1" dirty="0">
                          <a:solidFill>
                            <a:srgbClr val="0B2D55"/>
                          </a:solidFill>
                          <a:latin typeface="Aptos" pitchFamily="34" charset="0"/>
                          <a:ea typeface="Aptos" pitchFamily="34" charset="-122"/>
                          <a:cs typeface="Aptos" pitchFamily="34" charset="-120"/>
                        </a:rPr>
                        <a:t>Artificial neuron</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algn="ctr" indent="0" marL="0">
                        <a:buNone/>
                      </a:pPr>
                      <a:r>
                        <a:rPr lang="en-US" sz="1500" b="1" dirty="0">
                          <a:solidFill>
                            <a:srgbClr val="0B2D55"/>
                          </a:solidFill>
                          <a:latin typeface="Aptos" pitchFamily="34" charset="0"/>
                          <a:ea typeface="Aptos" pitchFamily="34" charset="-122"/>
                          <a:cs typeface="Aptos" pitchFamily="34" charset="-120"/>
                        </a:rPr>
                        <a:t>Symbol</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r>
              <a:tr h="566928">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Dendrites receive signals</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b="1" dirty="0">
                          <a:solidFill>
                            <a:srgbClr val="0B2D55"/>
                          </a:solidFill>
                          <a:latin typeface="Aptos" pitchFamily="34" charset="0"/>
                          <a:ea typeface="Aptos" pitchFamily="34" charset="-122"/>
                          <a:cs typeface="Aptos" pitchFamily="34" charset="-120"/>
                        </a:rPr>
                        <a:t>Inputs</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x₁, x₂, …</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r>
              <a:tr h="566928">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Connection strength</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b="1" dirty="0">
                          <a:solidFill>
                            <a:srgbClr val="0B2D55"/>
                          </a:solidFill>
                          <a:latin typeface="Aptos" pitchFamily="34" charset="0"/>
                          <a:ea typeface="Aptos" pitchFamily="34" charset="-122"/>
                          <a:cs typeface="Aptos" pitchFamily="34" charset="-120"/>
                        </a:rPr>
                        <a:t>Weights</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w₁, w₂, …</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r>
              <a:tr h="566928">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Firing threshold</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b="1" dirty="0">
                          <a:solidFill>
                            <a:srgbClr val="0B2D55"/>
                          </a:solidFill>
                          <a:latin typeface="Aptos" pitchFamily="34" charset="0"/>
                          <a:ea typeface="Aptos" pitchFamily="34" charset="-122"/>
                          <a:cs typeface="Aptos" pitchFamily="34" charset="-120"/>
                        </a:rPr>
                        <a:t>Bias</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b</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r>
              <a:tr h="566928">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Fires or stays quiet</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b="1" dirty="0">
                          <a:solidFill>
                            <a:srgbClr val="0B2D55"/>
                          </a:solidFill>
                          <a:latin typeface="Aptos" pitchFamily="34" charset="0"/>
                          <a:ea typeface="Aptos" pitchFamily="34" charset="-122"/>
                          <a:cs typeface="Aptos" pitchFamily="34" charset="-120"/>
                        </a:rPr>
                        <a:t>Activation function</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f(z)</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r>
            </a:tbl>
          </a:graphicData>
        </a:graphic>
      </p:graphicFrame>
      <p:sp>
        <p:nvSpPr>
          <p:cNvPr id="8" name="Shape 4"/>
          <p:cNvSpPr/>
          <p:nvPr/>
        </p:nvSpPr>
        <p:spPr>
          <a:xfrm>
            <a:off x="8001000" y="1645920"/>
            <a:ext cx="3611880" cy="2834640"/>
          </a:xfrm>
          <a:prstGeom prst="roundRect">
            <a:avLst>
              <a:gd name="adj" fmla="val 2581"/>
            </a:avLst>
          </a:prstGeom>
          <a:solidFill>
            <a:srgbClr val="FFF4CE"/>
          </a:solidFill>
          <a:ln w="12700">
            <a:solidFill>
              <a:srgbClr val="F2C14E"/>
            </a:solidFill>
            <a:prstDash val="solid"/>
          </a:ln>
        </p:spPr>
      </p:sp>
      <p:sp>
        <p:nvSpPr>
          <p:cNvPr id="9" name="Text 5"/>
          <p:cNvSpPr txBox="1"/>
          <p:nvPr/>
        </p:nvSpPr>
        <p:spPr>
          <a:xfrm>
            <a:off x="8183880" y="1645920"/>
            <a:ext cx="3246120" cy="2834640"/>
          </a:xfrm>
          <a:prstGeom prst="rect">
            <a:avLst/>
          </a:prstGeom>
          <a:noFill/>
          <a:ln/>
        </p:spPr>
        <p:txBody>
          <a:bodyPr wrap="square" lIns="0" tIns="0" rIns="0" bIns="0" rtlCol="0" anchor="ctr"/>
          <a:lstStyle/>
          <a:p>
            <a:pPr algn="ctr" indent="0" marL="0">
              <a:spcAft>
                <a:spcPts val="600"/>
              </a:spcAft>
              <a:buNone/>
            </a:pPr>
            <a:r>
              <a:rPr lang="en-US" sz="1900" b="1" dirty="0">
                <a:solidFill>
                  <a:srgbClr val="0B2D55"/>
                </a:solidFill>
                <a:latin typeface="Aptos" pitchFamily="34" charset="0"/>
                <a:ea typeface="Aptos" pitchFamily="34" charset="-122"/>
                <a:cs typeface="Aptos" pitchFamily="34" charset="-120"/>
              </a:rPr>
              <a:t>Caution</a:t>
            </a:r>
            <a:endParaRPr lang="en-US" sz="1600" dirty="0"/>
          </a:p>
          <a:p>
            <a:pPr algn="ctr" indent="0" marL="0">
              <a:spcAft>
                <a:spcPts val="600"/>
              </a:spcAft>
              <a:buNone/>
            </a:pPr>
            <a:r>
              <a:rPr lang="en-US" sz="1550" dirty="0">
                <a:solidFill>
                  <a:srgbClr val="132033"/>
                </a:solidFill>
                <a:latin typeface="Aptos" pitchFamily="34" charset="0"/>
                <a:ea typeface="Aptos" pitchFamily="34" charset="-122"/>
                <a:cs typeface="Aptos" pitchFamily="34" charset="-120"/>
              </a:rPr>
              <a:t>Real neurons involve timing, chemistry, and feedback. The artificial neuron keeps only the skeleton: weigh, sum, decide.</a:t>
            </a:r>
            <a:endParaRPr lang="en-US" sz="1600" dirty="0"/>
          </a:p>
        </p:txBody>
      </p:sp>
      <p:sp>
        <p:nvSpPr>
          <p:cNvPr id="10" name="Text 6"/>
          <p:cNvSpPr txBox="1"/>
          <p:nvPr/>
        </p:nvSpPr>
        <p:spPr>
          <a:xfrm>
            <a:off x="822960" y="5029200"/>
            <a:ext cx="10515600" cy="502920"/>
          </a:xfrm>
          <a:prstGeom prst="rect">
            <a:avLst/>
          </a:prstGeom>
          <a:noFill/>
          <a:ln/>
        </p:spPr>
        <p:txBody>
          <a:bodyPr wrap="square" lIns="0" tIns="0" rIns="0" bIns="0" rtlCol="0" anchor="ctr"/>
          <a:lstStyle/>
          <a:p>
            <a:pPr algn="ctr" indent="0" marL="0">
              <a:buNone/>
            </a:pPr>
            <a:r>
              <a:rPr lang="en-US" sz="2200" b="1" dirty="0">
                <a:solidFill>
                  <a:srgbClr val="0B2D55"/>
                </a:solidFill>
                <a:latin typeface="Aptos" pitchFamily="34" charset="0"/>
                <a:ea typeface="Aptos" pitchFamily="34" charset="-122"/>
                <a:cs typeface="Aptos" pitchFamily="34" charset="-120"/>
              </a:rPr>
              <a:t>A neuron is a weighted vote followed by a decision.</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indent="0" marL="0">
              <a:buNone/>
            </a:pPr>
            <a:r>
              <a:rPr lang="en-US" sz="3400" b="1" dirty="0">
                <a:solidFill>
                  <a:srgbClr val="0B2D55"/>
                </a:solidFill>
                <a:latin typeface="Aptos Display" pitchFamily="34" charset="0"/>
                <a:ea typeface="Aptos Display" pitchFamily="34" charset="-122"/>
                <a:cs typeface="Aptos Display" pitchFamily="34" charset="-120"/>
              </a:rPr>
              <a:t>Anatomy of an artificial neuron</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indent="0" marL="0">
              <a:buNone/>
            </a:pPr>
            <a:r>
              <a:rPr lang="en-US" sz="1500" dirty="0">
                <a:solidFill>
                  <a:srgbClr val="132033"/>
                </a:solidFill>
                <a:latin typeface="Aptos" pitchFamily="34" charset="0"/>
                <a:ea typeface="Aptos" pitchFamily="34" charset="-122"/>
                <a:cs typeface="Aptos" pitchFamily="34" charset="-120"/>
              </a:rPr>
              <a:t>Weigh each input, add them up, shift by the bias, then activate.</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indent="0" marL="0">
              <a:buNone/>
            </a:pPr>
            <a:r>
              <a:rPr lang="en-US" sz="850" dirty="0">
                <a:solidFill>
                  <a:srgbClr val="6D7C8F"/>
                </a:solidFill>
                <a:latin typeface="Aptos" pitchFamily="34" charset="0"/>
                <a:ea typeface="Aptos" pitchFamily="34" charset="-122"/>
                <a:cs typeface="Aptos" pitchFamily="34" charset="-120"/>
              </a:rPr>
              <a:t>CS 471  |  L28: Neural Networks I</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algn="r" indent="0" marL="0">
              <a:buNone/>
            </a:pPr>
            <a:r>
              <a:rPr lang="en-US" sz="850" dirty="0">
                <a:solidFill>
                  <a:srgbClr val="6D7C8F"/>
                </a:solidFill>
                <a:latin typeface="Aptos" pitchFamily="34" charset="0"/>
                <a:ea typeface="Aptos" pitchFamily="34" charset="-122"/>
                <a:cs typeface="Aptos" pitchFamily="34" charset="-120"/>
              </a:rPr>
              <a:t>6</a:t>
            </a:r>
            <a:endParaRPr lang="en-US" sz="850" dirty="0"/>
          </a:p>
        </p:txBody>
      </p:sp>
      <p:sp>
        <p:nvSpPr>
          <p:cNvPr id="7" name="Shape 4"/>
          <p:cNvSpPr/>
          <p:nvPr/>
        </p:nvSpPr>
        <p:spPr>
          <a:xfrm>
            <a:off x="576072" y="1508760"/>
            <a:ext cx="11036808" cy="2880360"/>
          </a:xfrm>
          <a:prstGeom prst="roundRect">
            <a:avLst>
              <a:gd name="adj" fmla="val 2540"/>
            </a:avLst>
          </a:prstGeom>
          <a:solidFill>
            <a:srgbClr val="FFFFFF"/>
          </a:solidFill>
          <a:ln w="12700">
            <a:solidFill>
              <a:srgbClr val="B8C7D8"/>
            </a:solidFill>
            <a:prstDash val="solid"/>
          </a:ln>
        </p:spPr>
      </p:sp>
      <p:sp>
        <p:nvSpPr>
          <p:cNvPr id="8" name="Shape 5"/>
          <p:cNvSpPr/>
          <p:nvPr/>
        </p:nvSpPr>
        <p:spPr>
          <a:xfrm>
            <a:off x="731520" y="1691640"/>
            <a:ext cx="731520" cy="731520"/>
          </a:xfrm>
          <a:prstGeom prst="ellipse">
            <a:avLst/>
          </a:prstGeom>
          <a:solidFill>
            <a:srgbClr val="EAF2F8"/>
          </a:solidFill>
          <a:ln w="19050">
            <a:solidFill>
              <a:srgbClr val="1F5D9B"/>
            </a:solidFill>
            <a:prstDash val="solid"/>
          </a:ln>
        </p:spPr>
      </p:sp>
      <p:sp>
        <p:nvSpPr>
          <p:cNvPr id="9" name="Text 6"/>
          <p:cNvSpPr txBox="1"/>
          <p:nvPr/>
        </p:nvSpPr>
        <p:spPr>
          <a:xfrm>
            <a:off x="640080" y="1691640"/>
            <a:ext cx="914400" cy="731520"/>
          </a:xfrm>
          <a:prstGeom prst="rect">
            <a:avLst/>
          </a:prstGeom>
          <a:noFill/>
          <a:ln/>
        </p:spPr>
        <p:txBody>
          <a:bodyPr wrap="square" lIns="0" tIns="0" rIns="0" bIns="0" rtlCol="0" anchor="ctr"/>
          <a:lstStyle/>
          <a:p>
            <a:pPr algn="ctr" indent="0" marL="0">
              <a:buNone/>
            </a:pPr>
            <a:r>
              <a:rPr lang="en-US" sz="1500" b="1" dirty="0">
                <a:solidFill>
                  <a:srgbClr val="0B2D55"/>
                </a:solidFill>
                <a:latin typeface="Aptos" pitchFamily="34" charset="0"/>
                <a:ea typeface="Aptos" pitchFamily="34" charset="-122"/>
                <a:cs typeface="Aptos" pitchFamily="34" charset="-120"/>
              </a:rPr>
              <a:t>x₁</a:t>
            </a:r>
            <a:endParaRPr lang="en-US" sz="1600" dirty="0"/>
          </a:p>
        </p:txBody>
      </p:sp>
      <p:sp>
        <p:nvSpPr>
          <p:cNvPr id="10" name="Shape 7"/>
          <p:cNvSpPr/>
          <p:nvPr/>
        </p:nvSpPr>
        <p:spPr>
          <a:xfrm>
            <a:off x="1463040" y="2057400"/>
            <a:ext cx="1965960" cy="868680"/>
          </a:xfrm>
          <a:prstGeom prst="line">
            <a:avLst/>
          </a:prstGeom>
          <a:noFill/>
          <a:ln w="19050">
            <a:solidFill>
              <a:srgbClr val="6D7C8F"/>
            </a:solidFill>
            <a:prstDash val="solid"/>
          </a:ln>
        </p:spPr>
      </p:sp>
      <p:sp>
        <p:nvSpPr>
          <p:cNvPr id="11" name="Text 8"/>
          <p:cNvSpPr txBox="1"/>
          <p:nvPr/>
        </p:nvSpPr>
        <p:spPr>
          <a:xfrm>
            <a:off x="2055114" y="2302002"/>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6D7C8F"/>
                </a:solidFill>
                <a:latin typeface="Aptos" pitchFamily="34" charset="0"/>
                <a:ea typeface="Aptos" pitchFamily="34" charset="-122"/>
                <a:cs typeface="Aptos" pitchFamily="34" charset="-120"/>
              </a:rPr>
              <a:t>w₁</a:t>
            </a:r>
            <a:endParaRPr lang="en-US" sz="1250" dirty="0"/>
          </a:p>
        </p:txBody>
      </p:sp>
      <p:sp>
        <p:nvSpPr>
          <p:cNvPr id="12" name="Shape 9"/>
          <p:cNvSpPr/>
          <p:nvPr/>
        </p:nvSpPr>
        <p:spPr>
          <a:xfrm>
            <a:off x="731520" y="2560320"/>
            <a:ext cx="731520" cy="731520"/>
          </a:xfrm>
          <a:prstGeom prst="ellipse">
            <a:avLst/>
          </a:prstGeom>
          <a:solidFill>
            <a:srgbClr val="EAF2F8"/>
          </a:solidFill>
          <a:ln w="19050">
            <a:solidFill>
              <a:srgbClr val="1F5D9B"/>
            </a:solidFill>
            <a:prstDash val="solid"/>
          </a:ln>
        </p:spPr>
      </p:sp>
      <p:sp>
        <p:nvSpPr>
          <p:cNvPr id="13" name="Text 10"/>
          <p:cNvSpPr txBox="1"/>
          <p:nvPr/>
        </p:nvSpPr>
        <p:spPr>
          <a:xfrm>
            <a:off x="640080" y="2560320"/>
            <a:ext cx="914400" cy="731520"/>
          </a:xfrm>
          <a:prstGeom prst="rect">
            <a:avLst/>
          </a:prstGeom>
          <a:noFill/>
          <a:ln/>
        </p:spPr>
        <p:txBody>
          <a:bodyPr wrap="square" lIns="0" tIns="0" rIns="0" bIns="0" rtlCol="0" anchor="ctr"/>
          <a:lstStyle/>
          <a:p>
            <a:pPr algn="ctr" indent="0" marL="0">
              <a:buNone/>
            </a:pPr>
            <a:r>
              <a:rPr lang="en-US" sz="1500" b="1" dirty="0">
                <a:solidFill>
                  <a:srgbClr val="0B2D55"/>
                </a:solidFill>
                <a:latin typeface="Aptos" pitchFamily="34" charset="0"/>
                <a:ea typeface="Aptos" pitchFamily="34" charset="-122"/>
                <a:cs typeface="Aptos" pitchFamily="34" charset="-120"/>
              </a:rPr>
              <a:t>x₂</a:t>
            </a:r>
            <a:endParaRPr lang="en-US" sz="1600" dirty="0"/>
          </a:p>
        </p:txBody>
      </p:sp>
      <p:sp>
        <p:nvSpPr>
          <p:cNvPr id="14" name="Shape 11"/>
          <p:cNvSpPr/>
          <p:nvPr/>
        </p:nvSpPr>
        <p:spPr>
          <a:xfrm>
            <a:off x="1463040" y="2926080"/>
            <a:ext cx="1965960" cy="914"/>
          </a:xfrm>
          <a:prstGeom prst="line">
            <a:avLst/>
          </a:prstGeom>
          <a:noFill/>
          <a:ln w="19050">
            <a:solidFill>
              <a:srgbClr val="6D7C8F"/>
            </a:solidFill>
            <a:prstDash val="solid"/>
          </a:ln>
        </p:spPr>
      </p:sp>
      <p:sp>
        <p:nvSpPr>
          <p:cNvPr id="15" name="Text 12"/>
          <p:cNvSpPr txBox="1"/>
          <p:nvPr/>
        </p:nvSpPr>
        <p:spPr>
          <a:xfrm>
            <a:off x="2055114" y="2779776"/>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6D7C8F"/>
                </a:solidFill>
                <a:latin typeface="Aptos" pitchFamily="34" charset="0"/>
                <a:ea typeface="Aptos" pitchFamily="34" charset="-122"/>
                <a:cs typeface="Aptos" pitchFamily="34" charset="-120"/>
              </a:rPr>
              <a:t>w₂</a:t>
            </a:r>
            <a:endParaRPr lang="en-US" sz="1250" dirty="0"/>
          </a:p>
        </p:txBody>
      </p:sp>
      <p:sp>
        <p:nvSpPr>
          <p:cNvPr id="16" name="Shape 13"/>
          <p:cNvSpPr/>
          <p:nvPr/>
        </p:nvSpPr>
        <p:spPr>
          <a:xfrm>
            <a:off x="731520" y="3429000"/>
            <a:ext cx="731520" cy="731520"/>
          </a:xfrm>
          <a:prstGeom prst="ellipse">
            <a:avLst/>
          </a:prstGeom>
          <a:solidFill>
            <a:srgbClr val="EAF2F8"/>
          </a:solidFill>
          <a:ln w="19050">
            <a:solidFill>
              <a:srgbClr val="1F5D9B"/>
            </a:solidFill>
            <a:prstDash val="solid"/>
          </a:ln>
        </p:spPr>
      </p:sp>
      <p:sp>
        <p:nvSpPr>
          <p:cNvPr id="17" name="Text 14"/>
          <p:cNvSpPr txBox="1"/>
          <p:nvPr/>
        </p:nvSpPr>
        <p:spPr>
          <a:xfrm>
            <a:off x="640080" y="3429000"/>
            <a:ext cx="914400" cy="731520"/>
          </a:xfrm>
          <a:prstGeom prst="rect">
            <a:avLst/>
          </a:prstGeom>
          <a:noFill/>
          <a:ln/>
        </p:spPr>
        <p:txBody>
          <a:bodyPr wrap="square" lIns="0" tIns="0" rIns="0" bIns="0" rtlCol="0" anchor="ctr"/>
          <a:lstStyle/>
          <a:p>
            <a:pPr algn="ctr" indent="0" marL="0">
              <a:buNone/>
            </a:pPr>
            <a:r>
              <a:rPr lang="en-US" sz="1500" b="1" dirty="0">
                <a:solidFill>
                  <a:srgbClr val="0B2D55"/>
                </a:solidFill>
                <a:latin typeface="Aptos" pitchFamily="34" charset="0"/>
                <a:ea typeface="Aptos" pitchFamily="34" charset="-122"/>
                <a:cs typeface="Aptos" pitchFamily="34" charset="-120"/>
              </a:rPr>
              <a:t>x₃</a:t>
            </a:r>
            <a:endParaRPr lang="en-US" sz="1600" dirty="0"/>
          </a:p>
        </p:txBody>
      </p:sp>
      <p:sp>
        <p:nvSpPr>
          <p:cNvPr id="18" name="Shape 15"/>
          <p:cNvSpPr/>
          <p:nvPr/>
        </p:nvSpPr>
        <p:spPr>
          <a:xfrm flipV="1">
            <a:off x="1463040" y="2926080"/>
            <a:ext cx="1965960" cy="868680"/>
          </a:xfrm>
          <a:prstGeom prst="line">
            <a:avLst/>
          </a:prstGeom>
          <a:noFill/>
          <a:ln w="19050">
            <a:solidFill>
              <a:srgbClr val="6D7C8F"/>
            </a:solidFill>
            <a:prstDash val="solid"/>
          </a:ln>
        </p:spPr>
      </p:sp>
      <p:sp>
        <p:nvSpPr>
          <p:cNvPr id="19" name="Text 16"/>
          <p:cNvSpPr txBox="1"/>
          <p:nvPr/>
        </p:nvSpPr>
        <p:spPr>
          <a:xfrm>
            <a:off x="2055114" y="3257550"/>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6D7C8F"/>
                </a:solidFill>
                <a:latin typeface="Aptos" pitchFamily="34" charset="0"/>
                <a:ea typeface="Aptos" pitchFamily="34" charset="-122"/>
                <a:cs typeface="Aptos" pitchFamily="34" charset="-120"/>
              </a:rPr>
              <a:t>w₃</a:t>
            </a:r>
            <a:endParaRPr lang="en-US" sz="1250" dirty="0"/>
          </a:p>
        </p:txBody>
      </p:sp>
      <p:sp>
        <p:nvSpPr>
          <p:cNvPr id="20" name="Shape 17"/>
          <p:cNvSpPr/>
          <p:nvPr/>
        </p:nvSpPr>
        <p:spPr>
          <a:xfrm>
            <a:off x="3429000" y="2514600"/>
            <a:ext cx="822960" cy="822960"/>
          </a:xfrm>
          <a:prstGeom prst="ellipse">
            <a:avLst/>
          </a:prstGeom>
          <a:solidFill>
            <a:srgbClr val="FFFFFF"/>
          </a:solidFill>
          <a:ln w="19050">
            <a:solidFill>
              <a:srgbClr val="0B2D55"/>
            </a:solidFill>
            <a:prstDash val="solid"/>
          </a:ln>
        </p:spPr>
      </p:sp>
      <p:sp>
        <p:nvSpPr>
          <p:cNvPr id="21" name="Text 18"/>
          <p:cNvSpPr txBox="1"/>
          <p:nvPr/>
        </p:nvSpPr>
        <p:spPr>
          <a:xfrm>
            <a:off x="3337560" y="2514600"/>
            <a:ext cx="1005840" cy="822960"/>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Σ wᵢxᵢ</a:t>
            </a:r>
            <a:endParaRPr lang="en-US" sz="1600" dirty="0"/>
          </a:p>
          <a:p>
            <a:pPr algn="ctr" indent="0" marL="0">
              <a:buNone/>
            </a:pPr>
            <a:r>
              <a:rPr lang="en-US" sz="1500" b="1" dirty="0">
                <a:solidFill>
                  <a:srgbClr val="0B2D55"/>
                </a:solidFill>
                <a:latin typeface="Aptos" pitchFamily="34" charset="0"/>
                <a:ea typeface="Aptos" pitchFamily="34" charset="-122"/>
                <a:cs typeface="Aptos" pitchFamily="34" charset="-120"/>
              </a:rPr>
              <a:t>sum</a:t>
            </a:r>
            <a:endParaRPr lang="en-US" sz="1600" dirty="0"/>
          </a:p>
        </p:txBody>
      </p:sp>
      <p:sp>
        <p:nvSpPr>
          <p:cNvPr id="22" name="Shape 19"/>
          <p:cNvSpPr/>
          <p:nvPr/>
        </p:nvSpPr>
        <p:spPr>
          <a:xfrm>
            <a:off x="4270248" y="2926080"/>
            <a:ext cx="457200" cy="0"/>
          </a:xfrm>
          <a:prstGeom prst="line">
            <a:avLst/>
          </a:prstGeom>
          <a:noFill/>
          <a:ln w="22225">
            <a:solidFill>
              <a:srgbClr val="0B2D55"/>
            </a:solidFill>
            <a:prstDash val="solid"/>
            <a:tailEnd type="triangle"/>
          </a:ln>
        </p:spPr>
      </p:sp>
      <p:sp>
        <p:nvSpPr>
          <p:cNvPr id="23" name="Shape 20"/>
          <p:cNvSpPr/>
          <p:nvPr/>
        </p:nvSpPr>
        <p:spPr>
          <a:xfrm>
            <a:off x="4773168" y="2514600"/>
            <a:ext cx="960120" cy="822960"/>
          </a:xfrm>
          <a:prstGeom prst="roundRect">
            <a:avLst>
              <a:gd name="adj" fmla="val 8889"/>
            </a:avLst>
          </a:prstGeom>
          <a:solidFill>
            <a:srgbClr val="FFF4CE"/>
          </a:solidFill>
          <a:ln w="12700">
            <a:solidFill>
              <a:srgbClr val="F2C14E"/>
            </a:solidFill>
            <a:prstDash val="solid"/>
          </a:ln>
        </p:spPr>
      </p:sp>
      <p:sp>
        <p:nvSpPr>
          <p:cNvPr id="24" name="Text 21"/>
          <p:cNvSpPr txBox="1"/>
          <p:nvPr/>
        </p:nvSpPr>
        <p:spPr>
          <a:xfrm>
            <a:off x="4773168" y="2514600"/>
            <a:ext cx="960120" cy="822960"/>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 b</a:t>
            </a:r>
            <a:endParaRPr lang="en-US" sz="1600" dirty="0"/>
          </a:p>
          <a:p>
            <a:pPr algn="ctr" indent="0" marL="0">
              <a:buNone/>
            </a:pPr>
            <a:r>
              <a:rPr lang="en-US" sz="1500" b="1" dirty="0">
                <a:solidFill>
                  <a:srgbClr val="0B2D55"/>
                </a:solidFill>
                <a:latin typeface="Aptos" pitchFamily="34" charset="0"/>
                <a:ea typeface="Aptos" pitchFamily="34" charset="-122"/>
                <a:cs typeface="Aptos" pitchFamily="34" charset="-120"/>
              </a:rPr>
              <a:t>b</a:t>
            </a:r>
            <a:endParaRPr lang="en-US" sz="1600" dirty="0"/>
          </a:p>
        </p:txBody>
      </p:sp>
      <p:sp>
        <p:nvSpPr>
          <p:cNvPr id="25" name="Shape 22"/>
          <p:cNvSpPr/>
          <p:nvPr/>
        </p:nvSpPr>
        <p:spPr>
          <a:xfrm>
            <a:off x="5760720" y="2926080"/>
            <a:ext cx="411480" cy="0"/>
          </a:xfrm>
          <a:prstGeom prst="line">
            <a:avLst/>
          </a:prstGeom>
          <a:noFill/>
          <a:ln w="22225">
            <a:solidFill>
              <a:srgbClr val="0B2D55"/>
            </a:solidFill>
            <a:prstDash val="solid"/>
            <a:tailEnd type="triangle"/>
          </a:ln>
        </p:spPr>
      </p:sp>
      <p:sp>
        <p:nvSpPr>
          <p:cNvPr id="26" name="Shape 23"/>
          <p:cNvSpPr/>
          <p:nvPr/>
        </p:nvSpPr>
        <p:spPr>
          <a:xfrm>
            <a:off x="6217920" y="2514600"/>
            <a:ext cx="1051560" cy="822960"/>
          </a:xfrm>
          <a:prstGeom prst="roundRect">
            <a:avLst>
              <a:gd name="adj" fmla="val 8889"/>
            </a:avLst>
          </a:prstGeom>
          <a:solidFill>
            <a:srgbClr val="FFFFFF"/>
          </a:solidFill>
          <a:ln w="12700">
            <a:solidFill>
              <a:srgbClr val="0B2D55"/>
            </a:solidFill>
            <a:prstDash val="solid"/>
          </a:ln>
        </p:spPr>
      </p:sp>
      <p:sp>
        <p:nvSpPr>
          <p:cNvPr id="27" name="Text 24"/>
          <p:cNvSpPr txBox="1"/>
          <p:nvPr/>
        </p:nvSpPr>
        <p:spPr>
          <a:xfrm>
            <a:off x="6217920" y="2514600"/>
            <a:ext cx="1051560" cy="822960"/>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z</a:t>
            </a:r>
            <a:endParaRPr lang="en-US" sz="1600" dirty="0"/>
          </a:p>
          <a:p>
            <a:pPr algn="ctr" indent="0" marL="0">
              <a:buNone/>
            </a:pPr>
            <a:r>
              <a:rPr lang="en-US" sz="1500" b="1" dirty="0">
                <a:solidFill>
                  <a:srgbClr val="0B2D55"/>
                </a:solidFill>
                <a:latin typeface="Aptos" pitchFamily="34" charset="0"/>
                <a:ea typeface="Aptos" pitchFamily="34" charset="-122"/>
                <a:cs typeface="Aptos" pitchFamily="34" charset="-120"/>
              </a:rPr>
              <a:t>z</a:t>
            </a:r>
            <a:endParaRPr lang="en-US" sz="1600" dirty="0"/>
          </a:p>
        </p:txBody>
      </p:sp>
      <p:sp>
        <p:nvSpPr>
          <p:cNvPr id="28" name="Shape 25"/>
          <p:cNvSpPr/>
          <p:nvPr/>
        </p:nvSpPr>
        <p:spPr>
          <a:xfrm>
            <a:off x="7296912" y="2926080"/>
            <a:ext cx="411480" cy="0"/>
          </a:xfrm>
          <a:prstGeom prst="line">
            <a:avLst/>
          </a:prstGeom>
          <a:noFill/>
          <a:ln w="22225">
            <a:solidFill>
              <a:srgbClr val="0B2D55"/>
            </a:solidFill>
            <a:prstDash val="solid"/>
            <a:tailEnd type="triangle"/>
          </a:ln>
        </p:spPr>
      </p:sp>
      <p:sp>
        <p:nvSpPr>
          <p:cNvPr id="29" name="Shape 26"/>
          <p:cNvSpPr/>
          <p:nvPr/>
        </p:nvSpPr>
        <p:spPr>
          <a:xfrm>
            <a:off x="7754112" y="2514600"/>
            <a:ext cx="914400" cy="822960"/>
          </a:xfrm>
          <a:prstGeom prst="roundRect">
            <a:avLst>
              <a:gd name="adj" fmla="val 8889"/>
            </a:avLst>
          </a:prstGeom>
          <a:solidFill>
            <a:srgbClr val="EAF2F8"/>
          </a:solidFill>
          <a:ln w="12700">
            <a:solidFill>
              <a:srgbClr val="1F5D9B"/>
            </a:solidFill>
            <a:prstDash val="solid"/>
          </a:ln>
        </p:spPr>
      </p:sp>
      <p:sp>
        <p:nvSpPr>
          <p:cNvPr id="30" name="Text 27"/>
          <p:cNvSpPr txBox="1"/>
          <p:nvPr/>
        </p:nvSpPr>
        <p:spPr>
          <a:xfrm>
            <a:off x="7754112" y="2514600"/>
            <a:ext cx="914400" cy="822960"/>
          </a:xfrm>
          <a:prstGeom prst="rect">
            <a:avLst/>
          </a:prstGeom>
          <a:noFill/>
          <a:ln/>
        </p:spPr>
        <p:txBody>
          <a:bodyPr wrap="square" lIns="0" tIns="0" rIns="0" bIns="0" rtlCol="0" anchor="ctr"/>
          <a:lstStyle/>
          <a:p>
            <a:pPr algn="ctr" indent="0" marL="0">
              <a:buNone/>
            </a:pPr>
            <a:r>
              <a:rPr lang="en-US" sz="1600" b="1" dirty="0">
                <a:solidFill>
                  <a:srgbClr val="1D5FA7"/>
                </a:solidFill>
                <a:latin typeface="Aptos" pitchFamily="34" charset="0"/>
                <a:ea typeface="Aptos" pitchFamily="34" charset="-122"/>
                <a:cs typeface="Aptos" pitchFamily="34" charset="-120"/>
              </a:rPr>
              <a:t>f</a:t>
            </a:r>
            <a:endParaRPr lang="en-US" sz="1600" dirty="0"/>
          </a:p>
        </p:txBody>
      </p:sp>
      <p:sp>
        <p:nvSpPr>
          <p:cNvPr id="31" name="Shape 28"/>
          <p:cNvSpPr/>
          <p:nvPr/>
        </p:nvSpPr>
        <p:spPr>
          <a:xfrm>
            <a:off x="8695944" y="2926080"/>
            <a:ext cx="411480" cy="0"/>
          </a:xfrm>
          <a:prstGeom prst="line">
            <a:avLst/>
          </a:prstGeom>
          <a:noFill/>
          <a:ln w="22225">
            <a:solidFill>
              <a:srgbClr val="0B2D55"/>
            </a:solidFill>
            <a:prstDash val="solid"/>
            <a:tailEnd type="triangle"/>
          </a:ln>
        </p:spPr>
      </p:sp>
      <p:sp>
        <p:nvSpPr>
          <p:cNvPr id="32" name="Shape 29"/>
          <p:cNvSpPr/>
          <p:nvPr/>
        </p:nvSpPr>
        <p:spPr>
          <a:xfrm>
            <a:off x="9144000" y="2514600"/>
            <a:ext cx="822960" cy="822960"/>
          </a:xfrm>
          <a:prstGeom prst="ellipse">
            <a:avLst/>
          </a:prstGeom>
          <a:solidFill>
            <a:srgbClr val="DFF0D8"/>
          </a:solidFill>
          <a:ln w="19050">
            <a:solidFill>
              <a:srgbClr val="2E7D32"/>
            </a:solidFill>
            <a:prstDash val="solid"/>
          </a:ln>
        </p:spPr>
      </p:sp>
      <p:sp>
        <p:nvSpPr>
          <p:cNvPr id="33" name="Text 30"/>
          <p:cNvSpPr txBox="1"/>
          <p:nvPr/>
        </p:nvSpPr>
        <p:spPr>
          <a:xfrm>
            <a:off x="9052560" y="2514600"/>
            <a:ext cx="1005840" cy="822960"/>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output</a:t>
            </a:r>
            <a:endParaRPr lang="en-US" sz="1600" dirty="0"/>
          </a:p>
          <a:p>
            <a:pPr algn="ctr" indent="0" marL="0">
              <a:buNone/>
            </a:pPr>
            <a:r>
              <a:rPr lang="en-US" sz="1600" b="1" dirty="0">
                <a:solidFill>
                  <a:srgbClr val="0B2D55"/>
                </a:solidFill>
                <a:latin typeface="Aptos" pitchFamily="34" charset="0"/>
                <a:ea typeface="Aptos" pitchFamily="34" charset="-122"/>
                <a:cs typeface="Aptos" pitchFamily="34" charset="-120"/>
              </a:rPr>
              <a:t>a</a:t>
            </a:r>
            <a:endParaRPr lang="en-US" sz="1600" dirty="0"/>
          </a:p>
        </p:txBody>
      </p:sp>
      <p:sp>
        <p:nvSpPr>
          <p:cNvPr id="34" name="Shape 31"/>
          <p:cNvSpPr/>
          <p:nvPr/>
        </p:nvSpPr>
        <p:spPr>
          <a:xfrm>
            <a:off x="576072" y="4572000"/>
            <a:ext cx="3566160" cy="1325880"/>
          </a:xfrm>
          <a:prstGeom prst="roundRect">
            <a:avLst>
              <a:gd name="adj" fmla="val 5517"/>
            </a:avLst>
          </a:prstGeom>
          <a:solidFill>
            <a:srgbClr val="EAF2F8"/>
          </a:solidFill>
          <a:ln w="12700">
            <a:solidFill>
              <a:srgbClr val="1F5D9B"/>
            </a:solidFill>
            <a:prstDash val="solid"/>
          </a:ln>
        </p:spPr>
      </p:sp>
      <p:sp>
        <p:nvSpPr>
          <p:cNvPr id="35" name="Text 32"/>
          <p:cNvSpPr txBox="1"/>
          <p:nvPr/>
        </p:nvSpPr>
        <p:spPr>
          <a:xfrm>
            <a:off x="576072" y="4572000"/>
            <a:ext cx="3566160" cy="1325880"/>
          </a:xfrm>
          <a:prstGeom prst="rect">
            <a:avLst/>
          </a:prstGeom>
          <a:noFill/>
          <a:ln/>
        </p:spPr>
        <p:txBody>
          <a:bodyPr wrap="square" lIns="0" tIns="0" rIns="0" bIns="0" rtlCol="0" anchor="ctr"/>
          <a:lstStyle/>
          <a:p>
            <a:pPr algn="ctr" indent="0" marL="0">
              <a:buNone/>
            </a:pPr>
            <a:r>
              <a:rPr lang="en-US" sz="2000" b="1" dirty="0">
                <a:solidFill>
                  <a:srgbClr val="0B2D55"/>
                </a:solidFill>
                <a:latin typeface="Aptos" pitchFamily="34" charset="0"/>
                <a:ea typeface="Aptos" pitchFamily="34" charset="-122"/>
                <a:cs typeface="Aptos" pitchFamily="34" charset="-120"/>
              </a:rPr>
              <a:t>z = Σ wᵢxᵢ + b</a:t>
            </a:r>
            <a:endParaRPr lang="en-US" sz="1600" dirty="0"/>
          </a:p>
          <a:p>
            <a:pPr algn="ctr" indent="0" marL="0">
              <a:buNone/>
            </a:pPr>
            <a:r>
              <a:rPr lang="en-US" sz="2000" b="1" dirty="0">
                <a:solidFill>
                  <a:srgbClr val="1D5FA7"/>
                </a:solidFill>
                <a:latin typeface="Aptos" pitchFamily="34" charset="0"/>
                <a:ea typeface="Aptos" pitchFamily="34" charset="-122"/>
                <a:cs typeface="Aptos" pitchFamily="34" charset="-120"/>
              </a:rPr>
              <a:t>a = f(z)</a:t>
            </a:r>
            <a:endParaRPr lang="en-US" sz="1600" dirty="0"/>
          </a:p>
        </p:txBody>
      </p:sp>
      <p:sp>
        <p:nvSpPr>
          <p:cNvPr id="36" name="Shape 33"/>
          <p:cNvSpPr/>
          <p:nvPr/>
        </p:nvSpPr>
        <p:spPr>
          <a:xfrm>
            <a:off x="4315968" y="4572000"/>
            <a:ext cx="3566160" cy="1325880"/>
          </a:xfrm>
          <a:prstGeom prst="roundRect">
            <a:avLst>
              <a:gd name="adj" fmla="val 5517"/>
            </a:avLst>
          </a:prstGeom>
          <a:solidFill>
            <a:srgbClr val="FFFFFF"/>
          </a:solidFill>
          <a:ln w="12700">
            <a:solidFill>
              <a:srgbClr val="B8C7D8"/>
            </a:solidFill>
            <a:prstDash val="solid"/>
          </a:ln>
        </p:spPr>
      </p:sp>
      <p:sp>
        <p:nvSpPr>
          <p:cNvPr id="37" name="Text 34"/>
          <p:cNvSpPr txBox="1"/>
          <p:nvPr/>
        </p:nvSpPr>
        <p:spPr>
          <a:xfrm>
            <a:off x="4498848" y="4681728"/>
            <a:ext cx="3200400" cy="292608"/>
          </a:xfrm>
          <a:prstGeom prst="rect">
            <a:avLst/>
          </a:prstGeom>
          <a:noFill/>
          <a:ln/>
        </p:spPr>
        <p:txBody>
          <a:bodyPr wrap="square" lIns="0" tIns="0" rIns="0" bIns="0" rtlCol="0" anchor="t"/>
          <a:lstStyle/>
          <a:p>
            <a:pPr indent="0" marL="0">
              <a:buNone/>
            </a:pPr>
            <a:r>
              <a:rPr lang="en-US" sz="1500" b="1" dirty="0">
                <a:solidFill>
                  <a:srgbClr val="0B2D55"/>
                </a:solidFill>
                <a:latin typeface="Aptos" pitchFamily="34" charset="0"/>
                <a:ea typeface="Aptos" pitchFamily="34" charset="-122"/>
                <a:cs typeface="Aptos" pitchFamily="34" charset="-120"/>
              </a:rPr>
              <a:t>Weight</a:t>
            </a:r>
            <a:endParaRPr lang="en-US" sz="1500" dirty="0"/>
          </a:p>
        </p:txBody>
      </p:sp>
      <p:sp>
        <p:nvSpPr>
          <p:cNvPr id="38" name="Text 35"/>
          <p:cNvSpPr txBox="1"/>
          <p:nvPr/>
        </p:nvSpPr>
        <p:spPr>
          <a:xfrm>
            <a:off x="4498848" y="5010912"/>
            <a:ext cx="3200400" cy="795528"/>
          </a:xfrm>
          <a:prstGeom prst="rect">
            <a:avLst/>
          </a:prstGeom>
          <a:noFill/>
          <a:ln/>
        </p:spPr>
        <p:txBody>
          <a:bodyPr wrap="square" lIns="0" tIns="0" rIns="0" bIns="0" rtlCol="0" anchor="t"/>
          <a:lstStyle/>
          <a:p>
            <a:pPr indent="0" marL="0">
              <a:buNone/>
            </a:pPr>
            <a:r>
              <a:rPr lang="en-US" sz="1500" dirty="0">
                <a:solidFill>
                  <a:srgbClr val="132033"/>
                </a:solidFill>
                <a:latin typeface="Aptos" pitchFamily="34" charset="0"/>
                <a:ea typeface="Aptos" pitchFamily="34" charset="-122"/>
                <a:cs typeface="Aptos" pitchFamily="34" charset="-120"/>
              </a:rPr>
              <a:t>Belongs to one input: how much it matters, and in which direction.</a:t>
            </a:r>
            <a:endParaRPr lang="en-US" sz="1500" dirty="0"/>
          </a:p>
        </p:txBody>
      </p:sp>
      <p:sp>
        <p:nvSpPr>
          <p:cNvPr id="39" name="Shape 36"/>
          <p:cNvSpPr/>
          <p:nvPr/>
        </p:nvSpPr>
        <p:spPr>
          <a:xfrm>
            <a:off x="8055864" y="4572000"/>
            <a:ext cx="3566160" cy="1325880"/>
          </a:xfrm>
          <a:prstGeom prst="roundRect">
            <a:avLst>
              <a:gd name="adj" fmla="val 5517"/>
            </a:avLst>
          </a:prstGeom>
          <a:solidFill>
            <a:srgbClr val="FFF4CE"/>
          </a:solidFill>
          <a:ln w="12700">
            <a:solidFill>
              <a:srgbClr val="F2C14E"/>
            </a:solidFill>
            <a:prstDash val="solid"/>
          </a:ln>
        </p:spPr>
      </p:sp>
      <p:sp>
        <p:nvSpPr>
          <p:cNvPr id="40" name="Text 37"/>
          <p:cNvSpPr txBox="1"/>
          <p:nvPr/>
        </p:nvSpPr>
        <p:spPr>
          <a:xfrm>
            <a:off x="8238744" y="4681728"/>
            <a:ext cx="3200400" cy="292608"/>
          </a:xfrm>
          <a:prstGeom prst="rect">
            <a:avLst/>
          </a:prstGeom>
          <a:noFill/>
          <a:ln/>
        </p:spPr>
        <p:txBody>
          <a:bodyPr wrap="square" lIns="0" tIns="0" rIns="0" bIns="0" rtlCol="0" anchor="t"/>
          <a:lstStyle/>
          <a:p>
            <a:pPr indent="0" marL="0">
              <a:buNone/>
            </a:pPr>
            <a:r>
              <a:rPr lang="en-US" sz="1500" b="1" dirty="0">
                <a:solidFill>
                  <a:srgbClr val="0B2D55"/>
                </a:solidFill>
                <a:latin typeface="Aptos" pitchFamily="34" charset="0"/>
                <a:ea typeface="Aptos" pitchFamily="34" charset="-122"/>
                <a:cs typeface="Aptos" pitchFamily="34" charset="-120"/>
              </a:rPr>
              <a:t>Bias</a:t>
            </a:r>
            <a:endParaRPr lang="en-US" sz="1500" dirty="0"/>
          </a:p>
        </p:txBody>
      </p:sp>
      <p:sp>
        <p:nvSpPr>
          <p:cNvPr id="41" name="Text 38"/>
          <p:cNvSpPr txBox="1"/>
          <p:nvPr/>
        </p:nvSpPr>
        <p:spPr>
          <a:xfrm>
            <a:off x="8238744" y="5010912"/>
            <a:ext cx="3200400" cy="795528"/>
          </a:xfrm>
          <a:prstGeom prst="rect">
            <a:avLst/>
          </a:prstGeom>
          <a:noFill/>
          <a:ln/>
        </p:spPr>
        <p:txBody>
          <a:bodyPr wrap="square" lIns="0" tIns="0" rIns="0" bIns="0" rtlCol="0" anchor="t"/>
          <a:lstStyle/>
          <a:p>
            <a:pPr indent="0" marL="0">
              <a:buNone/>
            </a:pPr>
            <a:r>
              <a:rPr lang="en-US" sz="1500" dirty="0">
                <a:solidFill>
                  <a:srgbClr val="132033"/>
                </a:solidFill>
                <a:latin typeface="Aptos" pitchFamily="34" charset="0"/>
                <a:ea typeface="Aptos" pitchFamily="34" charset="-122"/>
                <a:cs typeface="Aptos" pitchFamily="34" charset="-120"/>
              </a:rPr>
              <a:t>Belongs to the neuron: its default leaning when every input is 0.</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indent="0" marL="0">
              <a:buNone/>
            </a:pPr>
            <a:r>
              <a:rPr lang="en-US" sz="3400" b="1" dirty="0">
                <a:solidFill>
                  <a:srgbClr val="0B2D55"/>
                </a:solidFill>
                <a:latin typeface="Aptos Display" pitchFamily="34" charset="0"/>
                <a:ea typeface="Aptos Display" pitchFamily="34" charset="-122"/>
                <a:cs typeface="Aptos Display" pitchFamily="34" charset="-120"/>
              </a:rPr>
              <a:t>Worked example: one neuron</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indent="0" marL="0">
              <a:buNone/>
            </a:pPr>
            <a:r>
              <a:rPr lang="en-US" sz="1500" dirty="0">
                <a:solidFill>
                  <a:srgbClr val="132033"/>
                </a:solidFill>
                <a:latin typeface="Aptos" pitchFamily="34" charset="0"/>
                <a:ea typeface="Aptos" pitchFamily="34" charset="-122"/>
                <a:cs typeface="Aptos" pitchFamily="34" charset="-120"/>
              </a:rPr>
              <a:t>Compute: will server-07 crash in the next hour?</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indent="0" marL="0">
              <a:buNone/>
            </a:pPr>
            <a:r>
              <a:rPr lang="en-US" sz="850" dirty="0">
                <a:solidFill>
                  <a:srgbClr val="6D7C8F"/>
                </a:solidFill>
                <a:latin typeface="Aptos" pitchFamily="34" charset="0"/>
                <a:ea typeface="Aptos" pitchFamily="34" charset="-122"/>
                <a:cs typeface="Aptos" pitchFamily="34" charset="-120"/>
              </a:rPr>
              <a:t>CS 471  |  L28: Neural Networks I</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algn="r" indent="0" marL="0">
              <a:buNone/>
            </a:pPr>
            <a:r>
              <a:rPr lang="en-US" sz="850" dirty="0">
                <a:solidFill>
                  <a:srgbClr val="6D7C8F"/>
                </a:solidFill>
                <a:latin typeface="Aptos" pitchFamily="34" charset="0"/>
                <a:ea typeface="Aptos" pitchFamily="34" charset="-122"/>
                <a:cs typeface="Aptos" pitchFamily="34" charset="-120"/>
              </a:rPr>
              <a:t>7</a:t>
            </a:r>
            <a:endParaRPr lang="en-US" sz="850" dirty="0"/>
          </a:p>
        </p:txBody>
      </p:sp>
      <p:sp>
        <p:nvSpPr>
          <p:cNvPr id="7" name="Shape 4"/>
          <p:cNvSpPr/>
          <p:nvPr/>
        </p:nvSpPr>
        <p:spPr>
          <a:xfrm>
            <a:off x="576072" y="1508760"/>
            <a:ext cx="11036808" cy="2880360"/>
          </a:xfrm>
          <a:prstGeom prst="roundRect">
            <a:avLst>
              <a:gd name="adj" fmla="val 2540"/>
            </a:avLst>
          </a:prstGeom>
          <a:solidFill>
            <a:srgbClr val="FFFFFF"/>
          </a:solidFill>
          <a:ln w="12700">
            <a:solidFill>
              <a:srgbClr val="B8C7D8"/>
            </a:solidFill>
            <a:prstDash val="solid"/>
          </a:ln>
        </p:spPr>
      </p:sp>
      <p:sp>
        <p:nvSpPr>
          <p:cNvPr id="8" name="Shape 5"/>
          <p:cNvSpPr/>
          <p:nvPr/>
        </p:nvSpPr>
        <p:spPr>
          <a:xfrm>
            <a:off x="731520" y="1691640"/>
            <a:ext cx="731520" cy="731520"/>
          </a:xfrm>
          <a:prstGeom prst="ellipse">
            <a:avLst/>
          </a:prstGeom>
          <a:solidFill>
            <a:srgbClr val="EAF2F8"/>
          </a:solidFill>
          <a:ln w="19050">
            <a:solidFill>
              <a:srgbClr val="1F5D9B"/>
            </a:solidFill>
            <a:prstDash val="solid"/>
          </a:ln>
        </p:spPr>
      </p:sp>
      <p:sp>
        <p:nvSpPr>
          <p:cNvPr id="9" name="Text 6"/>
          <p:cNvSpPr txBox="1"/>
          <p:nvPr/>
        </p:nvSpPr>
        <p:spPr>
          <a:xfrm>
            <a:off x="640080" y="1691640"/>
            <a:ext cx="914400" cy="731520"/>
          </a:xfrm>
          <a:prstGeom prst="rect">
            <a:avLst/>
          </a:prstGeom>
          <a:noFill/>
          <a:ln/>
        </p:spPr>
        <p:txBody>
          <a:bodyPr wrap="square" lIns="0" tIns="0" rIns="0" bIns="0" rtlCol="0" anchor="ctr"/>
          <a:lstStyle/>
          <a:p>
            <a:pPr algn="ctr" indent="0" marL="0">
              <a:buNone/>
            </a:pPr>
            <a:r>
              <a:rPr lang="en-US" sz="1000" dirty="0">
                <a:solidFill>
                  <a:srgbClr val="6D7C8F"/>
                </a:solidFill>
                <a:latin typeface="Aptos" pitchFamily="34" charset="0"/>
                <a:ea typeface="Aptos" pitchFamily="34" charset="-122"/>
                <a:cs typeface="Aptos" pitchFamily="34" charset="-120"/>
              </a:rPr>
              <a:t>CPU</a:t>
            </a:r>
            <a:endParaRPr lang="en-US" sz="1600" dirty="0"/>
          </a:p>
          <a:p>
            <a:pPr algn="ctr" indent="0" marL="0">
              <a:buNone/>
            </a:pPr>
            <a:r>
              <a:rPr lang="en-US" sz="1500" b="1" dirty="0">
                <a:solidFill>
                  <a:srgbClr val="0B2D55"/>
                </a:solidFill>
                <a:latin typeface="Aptos" pitchFamily="34" charset="0"/>
                <a:ea typeface="Aptos" pitchFamily="34" charset="-122"/>
                <a:cs typeface="Aptos" pitchFamily="34" charset="-120"/>
              </a:rPr>
              <a:t>0.9</a:t>
            </a:r>
            <a:endParaRPr lang="en-US" sz="1600" dirty="0"/>
          </a:p>
        </p:txBody>
      </p:sp>
      <p:sp>
        <p:nvSpPr>
          <p:cNvPr id="10" name="Shape 7"/>
          <p:cNvSpPr/>
          <p:nvPr/>
        </p:nvSpPr>
        <p:spPr>
          <a:xfrm>
            <a:off x="1463040" y="2057400"/>
            <a:ext cx="1965960" cy="868680"/>
          </a:xfrm>
          <a:prstGeom prst="line">
            <a:avLst/>
          </a:prstGeom>
          <a:noFill/>
          <a:ln w="43180">
            <a:solidFill>
              <a:srgbClr val="1D5FA7"/>
            </a:solidFill>
            <a:prstDash val="solid"/>
          </a:ln>
        </p:spPr>
      </p:sp>
      <p:sp>
        <p:nvSpPr>
          <p:cNvPr id="11" name="Text 8"/>
          <p:cNvSpPr txBox="1"/>
          <p:nvPr/>
        </p:nvSpPr>
        <p:spPr>
          <a:xfrm>
            <a:off x="2055114" y="2302002"/>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1D5FA7"/>
                </a:solidFill>
                <a:latin typeface="Aptos" pitchFamily="34" charset="0"/>
                <a:ea typeface="Aptos" pitchFamily="34" charset="-122"/>
                <a:cs typeface="Aptos" pitchFamily="34" charset="-120"/>
              </a:rPr>
              <a:t>4</a:t>
            </a:r>
            <a:endParaRPr lang="en-US" sz="1250" dirty="0"/>
          </a:p>
        </p:txBody>
      </p:sp>
      <p:sp>
        <p:nvSpPr>
          <p:cNvPr id="12" name="Shape 9"/>
          <p:cNvSpPr/>
          <p:nvPr/>
        </p:nvSpPr>
        <p:spPr>
          <a:xfrm>
            <a:off x="731520" y="2560320"/>
            <a:ext cx="731520" cy="731520"/>
          </a:xfrm>
          <a:prstGeom prst="ellipse">
            <a:avLst/>
          </a:prstGeom>
          <a:solidFill>
            <a:srgbClr val="EAF2F8"/>
          </a:solidFill>
          <a:ln w="19050">
            <a:solidFill>
              <a:srgbClr val="1F5D9B"/>
            </a:solidFill>
            <a:prstDash val="solid"/>
          </a:ln>
        </p:spPr>
      </p:sp>
      <p:sp>
        <p:nvSpPr>
          <p:cNvPr id="13" name="Text 10"/>
          <p:cNvSpPr txBox="1"/>
          <p:nvPr/>
        </p:nvSpPr>
        <p:spPr>
          <a:xfrm>
            <a:off x="640080" y="2560320"/>
            <a:ext cx="914400" cy="731520"/>
          </a:xfrm>
          <a:prstGeom prst="rect">
            <a:avLst/>
          </a:prstGeom>
          <a:noFill/>
          <a:ln/>
        </p:spPr>
        <p:txBody>
          <a:bodyPr wrap="square" lIns="0" tIns="0" rIns="0" bIns="0" rtlCol="0" anchor="ctr"/>
          <a:lstStyle/>
          <a:p>
            <a:pPr algn="ctr" indent="0" marL="0">
              <a:buNone/>
            </a:pPr>
            <a:r>
              <a:rPr lang="en-US" sz="1000" dirty="0">
                <a:solidFill>
                  <a:srgbClr val="6D7C8F"/>
                </a:solidFill>
                <a:latin typeface="Aptos" pitchFamily="34" charset="0"/>
                <a:ea typeface="Aptos" pitchFamily="34" charset="-122"/>
                <a:cs typeface="Aptos" pitchFamily="34" charset="-120"/>
              </a:rPr>
              <a:t>memory</a:t>
            </a:r>
            <a:endParaRPr lang="en-US" sz="1600" dirty="0"/>
          </a:p>
          <a:p>
            <a:pPr algn="ctr" indent="0" marL="0">
              <a:buNone/>
            </a:pPr>
            <a:r>
              <a:rPr lang="en-US" sz="1500" b="1" dirty="0">
                <a:solidFill>
                  <a:srgbClr val="0B2D55"/>
                </a:solidFill>
                <a:latin typeface="Aptos" pitchFamily="34" charset="0"/>
                <a:ea typeface="Aptos" pitchFamily="34" charset="-122"/>
                <a:cs typeface="Aptos" pitchFamily="34" charset="-120"/>
              </a:rPr>
              <a:t>0.7</a:t>
            </a:r>
            <a:endParaRPr lang="en-US" sz="1600" dirty="0"/>
          </a:p>
        </p:txBody>
      </p:sp>
      <p:sp>
        <p:nvSpPr>
          <p:cNvPr id="14" name="Shape 11"/>
          <p:cNvSpPr/>
          <p:nvPr/>
        </p:nvSpPr>
        <p:spPr>
          <a:xfrm>
            <a:off x="1463040" y="2926080"/>
            <a:ext cx="1965960" cy="914"/>
          </a:xfrm>
          <a:prstGeom prst="line">
            <a:avLst/>
          </a:prstGeom>
          <a:noFill/>
          <a:ln w="27940">
            <a:solidFill>
              <a:srgbClr val="1D5FA7"/>
            </a:solidFill>
            <a:prstDash val="solid"/>
          </a:ln>
        </p:spPr>
      </p:sp>
      <p:sp>
        <p:nvSpPr>
          <p:cNvPr id="15" name="Text 12"/>
          <p:cNvSpPr txBox="1"/>
          <p:nvPr/>
        </p:nvSpPr>
        <p:spPr>
          <a:xfrm>
            <a:off x="2055114" y="2779776"/>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1D5FA7"/>
                </a:solidFill>
                <a:latin typeface="Aptos" pitchFamily="34" charset="0"/>
                <a:ea typeface="Aptos" pitchFamily="34" charset="-122"/>
                <a:cs typeface="Aptos" pitchFamily="34" charset="-120"/>
              </a:rPr>
              <a:t>2</a:t>
            </a:r>
            <a:endParaRPr lang="en-US" sz="1250" dirty="0"/>
          </a:p>
        </p:txBody>
      </p:sp>
      <p:sp>
        <p:nvSpPr>
          <p:cNvPr id="16" name="Shape 13"/>
          <p:cNvSpPr/>
          <p:nvPr/>
        </p:nvSpPr>
        <p:spPr>
          <a:xfrm>
            <a:off x="731520" y="3429000"/>
            <a:ext cx="731520" cy="731520"/>
          </a:xfrm>
          <a:prstGeom prst="ellipse">
            <a:avLst/>
          </a:prstGeom>
          <a:solidFill>
            <a:srgbClr val="EAF2F8"/>
          </a:solidFill>
          <a:ln w="19050">
            <a:solidFill>
              <a:srgbClr val="1F5D9B"/>
            </a:solidFill>
            <a:prstDash val="solid"/>
          </a:ln>
        </p:spPr>
      </p:sp>
      <p:sp>
        <p:nvSpPr>
          <p:cNvPr id="17" name="Text 14"/>
          <p:cNvSpPr txBox="1"/>
          <p:nvPr/>
        </p:nvSpPr>
        <p:spPr>
          <a:xfrm>
            <a:off x="640080" y="3429000"/>
            <a:ext cx="914400" cy="731520"/>
          </a:xfrm>
          <a:prstGeom prst="rect">
            <a:avLst/>
          </a:prstGeom>
          <a:noFill/>
          <a:ln/>
        </p:spPr>
        <p:txBody>
          <a:bodyPr wrap="square" lIns="0" tIns="0" rIns="0" bIns="0" rtlCol="0" anchor="ctr"/>
          <a:lstStyle/>
          <a:p>
            <a:pPr algn="ctr" indent="0" marL="0">
              <a:buNone/>
            </a:pPr>
            <a:r>
              <a:rPr lang="en-US" sz="1000" dirty="0">
                <a:solidFill>
                  <a:srgbClr val="6D7C8F"/>
                </a:solidFill>
                <a:latin typeface="Aptos" pitchFamily="34" charset="0"/>
                <a:ea typeface="Aptos" pitchFamily="34" charset="-122"/>
                <a:cs typeface="Aptos" pitchFamily="34" charset="-120"/>
              </a:rPr>
              <a:t>requests</a:t>
            </a:r>
            <a:endParaRPr lang="en-US" sz="1600" dirty="0"/>
          </a:p>
          <a:p>
            <a:pPr algn="ctr" indent="0" marL="0">
              <a:buNone/>
            </a:pPr>
            <a:r>
              <a:rPr lang="en-US" sz="1500" b="1" dirty="0">
                <a:solidFill>
                  <a:srgbClr val="0B2D55"/>
                </a:solidFill>
                <a:latin typeface="Aptos" pitchFamily="34" charset="0"/>
                <a:ea typeface="Aptos" pitchFamily="34" charset="-122"/>
                <a:cs typeface="Aptos" pitchFamily="34" charset="-120"/>
              </a:rPr>
              <a:t>3</a:t>
            </a:r>
            <a:endParaRPr lang="en-US" sz="1600" dirty="0"/>
          </a:p>
        </p:txBody>
      </p:sp>
      <p:sp>
        <p:nvSpPr>
          <p:cNvPr id="18" name="Shape 15"/>
          <p:cNvSpPr/>
          <p:nvPr/>
        </p:nvSpPr>
        <p:spPr>
          <a:xfrm flipV="1">
            <a:off x="1463040" y="2926080"/>
            <a:ext cx="1965960" cy="868680"/>
          </a:xfrm>
          <a:prstGeom prst="line">
            <a:avLst/>
          </a:prstGeom>
          <a:noFill/>
          <a:ln w="16510">
            <a:solidFill>
              <a:srgbClr val="1D5FA7"/>
            </a:solidFill>
            <a:prstDash val="solid"/>
          </a:ln>
        </p:spPr>
      </p:sp>
      <p:sp>
        <p:nvSpPr>
          <p:cNvPr id="19" name="Text 16"/>
          <p:cNvSpPr txBox="1"/>
          <p:nvPr/>
        </p:nvSpPr>
        <p:spPr>
          <a:xfrm>
            <a:off x="2055114" y="3257550"/>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1D5FA7"/>
                </a:solidFill>
                <a:latin typeface="Aptos" pitchFamily="34" charset="0"/>
                <a:ea typeface="Aptos" pitchFamily="34" charset="-122"/>
                <a:cs typeface="Aptos" pitchFamily="34" charset="-120"/>
              </a:rPr>
              <a:t>0.5</a:t>
            </a:r>
            <a:endParaRPr lang="en-US" sz="1250" dirty="0"/>
          </a:p>
        </p:txBody>
      </p:sp>
      <p:sp>
        <p:nvSpPr>
          <p:cNvPr id="20" name="Shape 17"/>
          <p:cNvSpPr/>
          <p:nvPr/>
        </p:nvSpPr>
        <p:spPr>
          <a:xfrm>
            <a:off x="3429000" y="2514600"/>
            <a:ext cx="822960" cy="822960"/>
          </a:xfrm>
          <a:prstGeom prst="ellipse">
            <a:avLst/>
          </a:prstGeom>
          <a:solidFill>
            <a:srgbClr val="FFFFFF"/>
          </a:solidFill>
          <a:ln w="19050">
            <a:solidFill>
              <a:srgbClr val="0B2D55"/>
            </a:solidFill>
            <a:prstDash val="solid"/>
          </a:ln>
        </p:spPr>
      </p:sp>
      <p:sp>
        <p:nvSpPr>
          <p:cNvPr id="21" name="Text 18"/>
          <p:cNvSpPr txBox="1"/>
          <p:nvPr/>
        </p:nvSpPr>
        <p:spPr>
          <a:xfrm>
            <a:off x="3337560" y="2514600"/>
            <a:ext cx="1005840" cy="822960"/>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Σ wᵢxᵢ</a:t>
            </a:r>
            <a:endParaRPr lang="en-US" sz="1600" dirty="0"/>
          </a:p>
          <a:p>
            <a:pPr algn="ctr" indent="0" marL="0">
              <a:buNone/>
            </a:pPr>
            <a:r>
              <a:rPr lang="en-US" sz="1500" b="1" dirty="0">
                <a:solidFill>
                  <a:srgbClr val="0B2D55"/>
                </a:solidFill>
                <a:latin typeface="Aptos" pitchFamily="34" charset="0"/>
                <a:ea typeface="Aptos" pitchFamily="34" charset="-122"/>
                <a:cs typeface="Aptos" pitchFamily="34" charset="-120"/>
              </a:rPr>
              <a:t>6.5</a:t>
            </a:r>
            <a:endParaRPr lang="en-US" sz="1600" dirty="0"/>
          </a:p>
        </p:txBody>
      </p:sp>
      <p:sp>
        <p:nvSpPr>
          <p:cNvPr id="22" name="Shape 19"/>
          <p:cNvSpPr/>
          <p:nvPr/>
        </p:nvSpPr>
        <p:spPr>
          <a:xfrm>
            <a:off x="4270248" y="2926080"/>
            <a:ext cx="457200" cy="0"/>
          </a:xfrm>
          <a:prstGeom prst="line">
            <a:avLst/>
          </a:prstGeom>
          <a:noFill/>
          <a:ln w="22225">
            <a:solidFill>
              <a:srgbClr val="0B2D55"/>
            </a:solidFill>
            <a:prstDash val="solid"/>
            <a:tailEnd type="triangle"/>
          </a:ln>
        </p:spPr>
      </p:sp>
      <p:sp>
        <p:nvSpPr>
          <p:cNvPr id="23" name="Shape 20"/>
          <p:cNvSpPr/>
          <p:nvPr/>
        </p:nvSpPr>
        <p:spPr>
          <a:xfrm>
            <a:off x="4773168" y="2514600"/>
            <a:ext cx="960120" cy="822960"/>
          </a:xfrm>
          <a:prstGeom prst="roundRect">
            <a:avLst>
              <a:gd name="adj" fmla="val 8889"/>
            </a:avLst>
          </a:prstGeom>
          <a:solidFill>
            <a:srgbClr val="FFF4CE"/>
          </a:solidFill>
          <a:ln w="12700">
            <a:solidFill>
              <a:srgbClr val="F2C14E"/>
            </a:solidFill>
            <a:prstDash val="solid"/>
          </a:ln>
        </p:spPr>
      </p:sp>
      <p:sp>
        <p:nvSpPr>
          <p:cNvPr id="24" name="Text 21"/>
          <p:cNvSpPr txBox="1"/>
          <p:nvPr/>
        </p:nvSpPr>
        <p:spPr>
          <a:xfrm>
            <a:off x="4773168" y="2514600"/>
            <a:ext cx="960120" cy="822960"/>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 b</a:t>
            </a:r>
            <a:endParaRPr lang="en-US" sz="1600" dirty="0"/>
          </a:p>
          <a:p>
            <a:pPr algn="ctr" indent="0" marL="0">
              <a:buNone/>
            </a:pPr>
            <a:r>
              <a:rPr lang="en-US" sz="1500" b="1" dirty="0">
                <a:solidFill>
                  <a:srgbClr val="0B2D55"/>
                </a:solidFill>
                <a:latin typeface="Aptos" pitchFamily="34" charset="0"/>
                <a:ea typeface="Aptos" pitchFamily="34" charset="-122"/>
                <a:cs typeface="Aptos" pitchFamily="34" charset="-120"/>
              </a:rPr>
              <a:t>−6</a:t>
            </a:r>
            <a:endParaRPr lang="en-US" sz="1600" dirty="0"/>
          </a:p>
        </p:txBody>
      </p:sp>
      <p:sp>
        <p:nvSpPr>
          <p:cNvPr id="25" name="Shape 22"/>
          <p:cNvSpPr/>
          <p:nvPr/>
        </p:nvSpPr>
        <p:spPr>
          <a:xfrm>
            <a:off x="5760720" y="2926080"/>
            <a:ext cx="411480" cy="0"/>
          </a:xfrm>
          <a:prstGeom prst="line">
            <a:avLst/>
          </a:prstGeom>
          <a:noFill/>
          <a:ln w="22225">
            <a:solidFill>
              <a:srgbClr val="0B2D55"/>
            </a:solidFill>
            <a:prstDash val="solid"/>
            <a:tailEnd type="triangle"/>
          </a:ln>
        </p:spPr>
      </p:sp>
      <p:sp>
        <p:nvSpPr>
          <p:cNvPr id="26" name="Shape 23"/>
          <p:cNvSpPr/>
          <p:nvPr/>
        </p:nvSpPr>
        <p:spPr>
          <a:xfrm>
            <a:off x="6217920" y="2514600"/>
            <a:ext cx="1051560" cy="822960"/>
          </a:xfrm>
          <a:prstGeom prst="roundRect">
            <a:avLst>
              <a:gd name="adj" fmla="val 8889"/>
            </a:avLst>
          </a:prstGeom>
          <a:solidFill>
            <a:srgbClr val="FFFFFF"/>
          </a:solidFill>
          <a:ln w="12700">
            <a:solidFill>
              <a:srgbClr val="0B2D55"/>
            </a:solidFill>
            <a:prstDash val="solid"/>
          </a:ln>
        </p:spPr>
      </p:sp>
      <p:sp>
        <p:nvSpPr>
          <p:cNvPr id="27" name="Text 24"/>
          <p:cNvSpPr txBox="1"/>
          <p:nvPr/>
        </p:nvSpPr>
        <p:spPr>
          <a:xfrm>
            <a:off x="6217920" y="2514600"/>
            <a:ext cx="1051560" cy="822960"/>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z</a:t>
            </a:r>
            <a:endParaRPr lang="en-US" sz="1600" dirty="0"/>
          </a:p>
          <a:p>
            <a:pPr algn="ctr" indent="0" marL="0">
              <a:buNone/>
            </a:pPr>
            <a:r>
              <a:rPr lang="en-US" sz="1500" b="1" dirty="0">
                <a:solidFill>
                  <a:srgbClr val="0B2D55"/>
                </a:solidFill>
                <a:latin typeface="Aptos" pitchFamily="34" charset="0"/>
                <a:ea typeface="Aptos" pitchFamily="34" charset="-122"/>
                <a:cs typeface="Aptos" pitchFamily="34" charset="-120"/>
              </a:rPr>
              <a:t>0.5</a:t>
            </a:r>
            <a:endParaRPr lang="en-US" sz="1600" dirty="0"/>
          </a:p>
        </p:txBody>
      </p:sp>
      <p:sp>
        <p:nvSpPr>
          <p:cNvPr id="28" name="Shape 25"/>
          <p:cNvSpPr/>
          <p:nvPr/>
        </p:nvSpPr>
        <p:spPr>
          <a:xfrm>
            <a:off x="7296912" y="2926080"/>
            <a:ext cx="411480" cy="0"/>
          </a:xfrm>
          <a:prstGeom prst="line">
            <a:avLst/>
          </a:prstGeom>
          <a:noFill/>
          <a:ln w="22225">
            <a:solidFill>
              <a:srgbClr val="0B2D55"/>
            </a:solidFill>
            <a:prstDash val="solid"/>
            <a:tailEnd type="triangle"/>
          </a:ln>
        </p:spPr>
      </p:sp>
      <p:sp>
        <p:nvSpPr>
          <p:cNvPr id="29" name="Shape 26"/>
          <p:cNvSpPr/>
          <p:nvPr/>
        </p:nvSpPr>
        <p:spPr>
          <a:xfrm>
            <a:off x="7754112" y="2514600"/>
            <a:ext cx="914400" cy="822960"/>
          </a:xfrm>
          <a:prstGeom prst="roundRect">
            <a:avLst>
              <a:gd name="adj" fmla="val 8889"/>
            </a:avLst>
          </a:prstGeom>
          <a:solidFill>
            <a:srgbClr val="EAF2F8"/>
          </a:solidFill>
          <a:ln w="12700">
            <a:solidFill>
              <a:srgbClr val="1F5D9B"/>
            </a:solidFill>
            <a:prstDash val="solid"/>
          </a:ln>
        </p:spPr>
      </p:sp>
      <p:sp>
        <p:nvSpPr>
          <p:cNvPr id="30" name="Text 27"/>
          <p:cNvSpPr txBox="1"/>
          <p:nvPr/>
        </p:nvSpPr>
        <p:spPr>
          <a:xfrm>
            <a:off x="7754112" y="2514600"/>
            <a:ext cx="914400" cy="822960"/>
          </a:xfrm>
          <a:prstGeom prst="rect">
            <a:avLst/>
          </a:prstGeom>
          <a:noFill/>
          <a:ln/>
        </p:spPr>
        <p:txBody>
          <a:bodyPr wrap="square" lIns="0" tIns="0" rIns="0" bIns="0" rtlCol="0" anchor="ctr"/>
          <a:lstStyle/>
          <a:p>
            <a:pPr algn="ctr" indent="0" marL="0">
              <a:buNone/>
            </a:pPr>
            <a:r>
              <a:rPr lang="en-US" sz="1600" b="1" dirty="0">
                <a:solidFill>
                  <a:srgbClr val="1D5FA7"/>
                </a:solidFill>
                <a:latin typeface="Aptos" pitchFamily="34" charset="0"/>
                <a:ea typeface="Aptos" pitchFamily="34" charset="-122"/>
                <a:cs typeface="Aptos" pitchFamily="34" charset="-120"/>
              </a:rPr>
              <a:t>σ</a:t>
            </a:r>
            <a:endParaRPr lang="en-US" sz="1600" dirty="0"/>
          </a:p>
        </p:txBody>
      </p:sp>
      <p:sp>
        <p:nvSpPr>
          <p:cNvPr id="31" name="Shape 28"/>
          <p:cNvSpPr/>
          <p:nvPr/>
        </p:nvSpPr>
        <p:spPr>
          <a:xfrm>
            <a:off x="8695944" y="2926080"/>
            <a:ext cx="411480" cy="0"/>
          </a:xfrm>
          <a:prstGeom prst="line">
            <a:avLst/>
          </a:prstGeom>
          <a:noFill/>
          <a:ln w="22225">
            <a:solidFill>
              <a:srgbClr val="0B2D55"/>
            </a:solidFill>
            <a:prstDash val="solid"/>
            <a:tailEnd type="triangle"/>
          </a:ln>
        </p:spPr>
      </p:sp>
      <p:sp>
        <p:nvSpPr>
          <p:cNvPr id="32" name="Shape 29"/>
          <p:cNvSpPr/>
          <p:nvPr/>
        </p:nvSpPr>
        <p:spPr>
          <a:xfrm>
            <a:off x="9144000" y="2514600"/>
            <a:ext cx="822960" cy="822960"/>
          </a:xfrm>
          <a:prstGeom prst="ellipse">
            <a:avLst/>
          </a:prstGeom>
          <a:solidFill>
            <a:srgbClr val="DFF0D8"/>
          </a:solidFill>
          <a:ln w="19050">
            <a:solidFill>
              <a:srgbClr val="2E7D32"/>
            </a:solidFill>
            <a:prstDash val="solid"/>
          </a:ln>
        </p:spPr>
      </p:sp>
      <p:sp>
        <p:nvSpPr>
          <p:cNvPr id="33" name="Text 30"/>
          <p:cNvSpPr txBox="1"/>
          <p:nvPr/>
        </p:nvSpPr>
        <p:spPr>
          <a:xfrm>
            <a:off x="9052560" y="2514600"/>
            <a:ext cx="1005840" cy="822960"/>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output</a:t>
            </a:r>
            <a:endParaRPr lang="en-US" sz="1600" dirty="0"/>
          </a:p>
          <a:p>
            <a:pPr algn="ctr" indent="0" marL="0">
              <a:buNone/>
            </a:pPr>
            <a:r>
              <a:rPr lang="en-US" sz="1600" b="1" dirty="0">
                <a:solidFill>
                  <a:srgbClr val="0B2D55"/>
                </a:solidFill>
                <a:latin typeface="Aptos" pitchFamily="34" charset="0"/>
                <a:ea typeface="Aptos" pitchFamily="34" charset="-122"/>
                <a:cs typeface="Aptos" pitchFamily="34" charset="-120"/>
              </a:rPr>
              <a:t>0.62</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76072" y="4526280"/>
          <a:ext cx="5394960" cy="914400"/>
        </p:xfrm>
        <a:graphic>
          <a:graphicData uri="http://schemas.openxmlformats.org/drawingml/2006/table">
            <a:tbl>
              <a:tblPr/>
              <a:tblGrid>
                <a:gridCol w="1645920"/>
                <a:gridCol w="1097280"/>
                <a:gridCol w="1097280"/>
                <a:gridCol w="1554480"/>
              </a:tblGrid>
              <a:tr h="338328">
                <a:tc>
                  <a:txBody>
                    <a:bodyPr/>
                    <a:lstStyle/>
                    <a:p>
                      <a:pPr algn="ctr" indent="0" marL="0">
                        <a:buNone/>
                      </a:pPr>
                      <a:r>
                        <a:rPr lang="en-US" sz="1500" b="1" dirty="0">
                          <a:solidFill>
                            <a:srgbClr val="0B2D55"/>
                          </a:solidFill>
                          <a:latin typeface="Aptos" pitchFamily="34" charset="0"/>
                          <a:ea typeface="Aptos" pitchFamily="34" charset="-122"/>
                          <a:cs typeface="Aptos" pitchFamily="34" charset="-120"/>
                        </a:rPr>
                        <a:t>Input</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algn="ctr" indent="0" marL="0">
                        <a:buNone/>
                      </a:pPr>
                      <a:r>
                        <a:rPr lang="en-US" sz="1500" b="1" dirty="0">
                          <a:solidFill>
                            <a:srgbClr val="0B2D55"/>
                          </a:solidFill>
                          <a:latin typeface="Aptos" pitchFamily="34" charset="0"/>
                          <a:ea typeface="Aptos" pitchFamily="34" charset="-122"/>
                          <a:cs typeface="Aptos" pitchFamily="34" charset="-120"/>
                        </a:rPr>
                        <a:t>x</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algn="ctr" indent="0" marL="0">
                        <a:buNone/>
                      </a:pPr>
                      <a:r>
                        <a:rPr lang="en-US" sz="1500" b="1" dirty="0">
                          <a:solidFill>
                            <a:srgbClr val="0B2D55"/>
                          </a:solidFill>
                          <a:latin typeface="Aptos" pitchFamily="34" charset="0"/>
                          <a:ea typeface="Aptos" pitchFamily="34" charset="-122"/>
                          <a:cs typeface="Aptos" pitchFamily="34" charset="-120"/>
                        </a:rPr>
                        <a:t>w</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algn="ctr" indent="0" marL="0">
                        <a:buNone/>
                      </a:pPr>
                      <a:r>
                        <a:rPr lang="en-US" sz="1500" b="1" dirty="0">
                          <a:solidFill>
                            <a:srgbClr val="0B2D55"/>
                          </a:solidFill>
                          <a:latin typeface="Aptos" pitchFamily="34" charset="0"/>
                          <a:ea typeface="Aptos" pitchFamily="34" charset="-122"/>
                          <a:cs typeface="Aptos" pitchFamily="34" charset="-120"/>
                        </a:rPr>
                        <a:t>w × x</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r>
              <a:tr h="338328">
                <a:tc>
                  <a:txBody>
                    <a:bodyPr/>
                    <a:lstStyle/>
                    <a:p>
                      <a:pPr algn="ctr" indent="0" marL="0">
                        <a:buNone/>
                      </a:pPr>
                      <a:r>
                        <a:rPr lang="en-US" sz="1500" b="1" dirty="0">
                          <a:solidFill>
                            <a:srgbClr val="0B2D55"/>
                          </a:solidFill>
                          <a:latin typeface="Aptos" pitchFamily="34" charset="0"/>
                          <a:ea typeface="Aptos" pitchFamily="34" charset="-122"/>
                          <a:cs typeface="Aptos" pitchFamily="34" charset="-120"/>
                        </a:rPr>
                        <a:t>CPU</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0.9</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4</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b="1" dirty="0">
                          <a:solidFill>
                            <a:srgbClr val="132033"/>
                          </a:solidFill>
                          <a:latin typeface="Aptos" pitchFamily="34" charset="0"/>
                          <a:ea typeface="Aptos" pitchFamily="34" charset="-122"/>
                          <a:cs typeface="Aptos" pitchFamily="34" charset="-120"/>
                        </a:rPr>
                        <a:t>3.6</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r>
              <a:tr h="338328">
                <a:tc>
                  <a:txBody>
                    <a:bodyPr/>
                    <a:lstStyle/>
                    <a:p>
                      <a:pPr algn="ctr" indent="0" marL="0">
                        <a:buNone/>
                      </a:pPr>
                      <a:r>
                        <a:rPr lang="en-US" sz="1500" b="1" dirty="0">
                          <a:solidFill>
                            <a:srgbClr val="0B2D55"/>
                          </a:solidFill>
                          <a:latin typeface="Aptos" pitchFamily="34" charset="0"/>
                          <a:ea typeface="Aptos" pitchFamily="34" charset="-122"/>
                          <a:cs typeface="Aptos" pitchFamily="34" charset="-120"/>
                        </a:rPr>
                        <a:t>Memory</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0.7</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2</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b="1" dirty="0">
                          <a:solidFill>
                            <a:srgbClr val="132033"/>
                          </a:solidFill>
                          <a:latin typeface="Aptos" pitchFamily="34" charset="0"/>
                          <a:ea typeface="Aptos" pitchFamily="34" charset="-122"/>
                          <a:cs typeface="Aptos" pitchFamily="34" charset="-120"/>
                        </a:rPr>
                        <a:t>1.4</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r>
              <a:tr h="338328">
                <a:tc>
                  <a:txBody>
                    <a:bodyPr/>
                    <a:lstStyle/>
                    <a:p>
                      <a:pPr algn="ctr" indent="0" marL="0">
                        <a:buNone/>
                      </a:pPr>
                      <a:r>
                        <a:rPr lang="en-US" sz="1500" b="1" dirty="0">
                          <a:solidFill>
                            <a:srgbClr val="0B2D55"/>
                          </a:solidFill>
                          <a:latin typeface="Aptos" pitchFamily="34" charset="0"/>
                          <a:ea typeface="Aptos" pitchFamily="34" charset="-122"/>
                          <a:cs typeface="Aptos" pitchFamily="34" charset="-120"/>
                        </a:rPr>
                        <a:t>Requests</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3</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0.5</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b="1" dirty="0">
                          <a:solidFill>
                            <a:srgbClr val="132033"/>
                          </a:solidFill>
                          <a:latin typeface="Aptos" pitchFamily="34" charset="0"/>
                          <a:ea typeface="Aptos" pitchFamily="34" charset="-122"/>
                          <a:cs typeface="Aptos" pitchFamily="34" charset="-120"/>
                        </a:rPr>
                        <a:t>1.5</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r>
            </a:tbl>
          </a:graphicData>
        </a:graphic>
      </p:graphicFrame>
      <p:sp>
        <p:nvSpPr>
          <p:cNvPr id="35" name="Shape 31"/>
          <p:cNvSpPr/>
          <p:nvPr/>
        </p:nvSpPr>
        <p:spPr>
          <a:xfrm>
            <a:off x="6217920" y="4526280"/>
            <a:ext cx="5394960" cy="1371600"/>
          </a:xfrm>
          <a:prstGeom prst="roundRect">
            <a:avLst>
              <a:gd name="adj" fmla="val 5333"/>
            </a:avLst>
          </a:prstGeom>
          <a:solidFill>
            <a:srgbClr val="DFF0D8"/>
          </a:solidFill>
          <a:ln w="12700">
            <a:solidFill>
              <a:srgbClr val="2E7D32"/>
            </a:solidFill>
            <a:prstDash val="solid"/>
          </a:ln>
        </p:spPr>
      </p:sp>
      <p:sp>
        <p:nvSpPr>
          <p:cNvPr id="36" name="Text 32"/>
          <p:cNvSpPr txBox="1"/>
          <p:nvPr/>
        </p:nvSpPr>
        <p:spPr>
          <a:xfrm>
            <a:off x="6400800" y="4526280"/>
            <a:ext cx="5029200" cy="1371600"/>
          </a:xfrm>
          <a:prstGeom prst="rect">
            <a:avLst/>
          </a:prstGeom>
          <a:noFill/>
          <a:ln/>
        </p:spPr>
        <p:txBody>
          <a:bodyPr wrap="square" lIns="0" tIns="0" rIns="0" bIns="0" rtlCol="0" anchor="ctr"/>
          <a:lstStyle/>
          <a:p>
            <a:pPr algn="ctr" indent="0" marL="0">
              <a:spcAft>
                <a:spcPts val="400"/>
              </a:spcAft>
              <a:buNone/>
            </a:pPr>
            <a:r>
              <a:rPr lang="en-US" sz="1900" b="1" dirty="0">
                <a:solidFill>
                  <a:srgbClr val="0B2D55"/>
                </a:solidFill>
                <a:latin typeface="Aptos" pitchFamily="34" charset="0"/>
                <a:ea typeface="Aptos" pitchFamily="34" charset="-122"/>
                <a:cs typeface="Aptos" pitchFamily="34" charset="-120"/>
              </a:rPr>
              <a:t>z = 6.5 + (−6) = 0.5</a:t>
            </a:r>
            <a:endParaRPr lang="en-US" sz="1900" dirty="0"/>
          </a:p>
          <a:p>
            <a:pPr algn="ctr" indent="0" marL="0">
              <a:spcAft>
                <a:spcPts val="400"/>
              </a:spcAft>
              <a:buNone/>
            </a:pPr>
            <a:r>
              <a:rPr lang="en-US" sz="1900" dirty="0">
                <a:solidFill>
                  <a:srgbClr val="132033"/>
                </a:solidFill>
                <a:latin typeface="Aptos" pitchFamily="34" charset="0"/>
                <a:ea typeface="Aptos" pitchFamily="34" charset="-122"/>
                <a:cs typeface="Aptos" pitchFamily="34" charset="-120"/>
              </a:rPr>
              <a:t>P = 1 / (1 + e</a:t>
            </a:r>
            <a:pPr algn="ctr" indent="0" marL="0">
              <a:spcAft>
                <a:spcPts val="400"/>
              </a:spcAft>
              <a:buNone/>
            </a:pPr>
            <a:r>
              <a:rPr lang="en-US" sz="1900" baseline="30000" dirty="0">
                <a:solidFill>
                  <a:srgbClr val="132033"/>
                </a:solidFill>
                <a:latin typeface="Aptos" pitchFamily="34" charset="0"/>
                <a:ea typeface="Aptos" pitchFamily="34" charset="-122"/>
                <a:cs typeface="Aptos" pitchFamily="34" charset="-120"/>
              </a:rPr>
              <a:t>−0.5</a:t>
            </a:r>
            <a:pPr algn="ctr" indent="0" marL="0">
              <a:spcAft>
                <a:spcPts val="400"/>
              </a:spcAft>
              <a:buNone/>
            </a:pPr>
            <a:r>
              <a:rPr lang="en-US" sz="1900" dirty="0">
                <a:solidFill>
                  <a:srgbClr val="132033"/>
                </a:solidFill>
                <a:latin typeface="Aptos" pitchFamily="34" charset="0"/>
                <a:ea typeface="Aptos" pitchFamily="34" charset="-122"/>
                <a:cs typeface="Aptos" pitchFamily="34" charset="-120"/>
              </a:rPr>
              <a:t>) = 1 / 1.607 ≈ </a:t>
            </a:r>
            <a:pPr algn="ctr" indent="0" marL="0">
              <a:spcAft>
                <a:spcPts val="400"/>
              </a:spcAft>
              <a:buNone/>
            </a:pPr>
            <a:r>
              <a:rPr lang="en-US" sz="1900" b="1" dirty="0">
                <a:solidFill>
                  <a:srgbClr val="2E7D32"/>
                </a:solidFill>
                <a:latin typeface="Aptos" pitchFamily="34" charset="0"/>
                <a:ea typeface="Aptos" pitchFamily="34" charset="-122"/>
                <a:cs typeface="Aptos" pitchFamily="34" charset="-120"/>
              </a:rPr>
              <a:t>0.62</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indent="0" marL="0">
              <a:buNone/>
            </a:pPr>
            <a:r>
              <a:rPr lang="en-US" sz="3400" b="1" dirty="0">
                <a:solidFill>
                  <a:srgbClr val="0B2D55"/>
                </a:solidFill>
                <a:latin typeface="Aptos Display" pitchFamily="34" charset="0"/>
                <a:ea typeface="Aptos Display" pitchFamily="34" charset="-122"/>
                <a:cs typeface="Aptos Display" pitchFamily="34" charset="-120"/>
              </a:rPr>
              <a:t>Interpret and predict</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indent="0" marL="0">
              <a:buNone/>
            </a:pPr>
            <a:r>
              <a:rPr lang="en-US" sz="1500" dirty="0">
                <a:solidFill>
                  <a:srgbClr val="132033"/>
                </a:solidFill>
                <a:latin typeface="Aptos" pitchFamily="34" charset="0"/>
                <a:ea typeface="Aptos" pitchFamily="34" charset="-122"/>
                <a:cs typeface="Aptos" pitchFamily="34" charset="-120"/>
              </a:rPr>
              <a:t>Each product is a vote; the bias sets the default.</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indent="0" marL="0">
              <a:buNone/>
            </a:pPr>
            <a:r>
              <a:rPr lang="en-US" sz="850" dirty="0">
                <a:solidFill>
                  <a:srgbClr val="6D7C8F"/>
                </a:solidFill>
                <a:latin typeface="Aptos" pitchFamily="34" charset="0"/>
                <a:ea typeface="Aptos" pitchFamily="34" charset="-122"/>
                <a:cs typeface="Aptos" pitchFamily="34" charset="-120"/>
              </a:rPr>
              <a:t>CS 471  |  L28: Neural Networks I</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algn="r" indent="0" marL="0">
              <a:buNone/>
            </a:pPr>
            <a:r>
              <a:rPr lang="en-US" sz="850" dirty="0">
                <a:solidFill>
                  <a:srgbClr val="6D7C8F"/>
                </a:solidFill>
                <a:latin typeface="Aptos" pitchFamily="34" charset="0"/>
                <a:ea typeface="Aptos" pitchFamily="34" charset="-122"/>
                <a:cs typeface="Aptos" pitchFamily="34" charset="-120"/>
              </a:rPr>
              <a:t>8</a:t>
            </a:r>
            <a:endParaRPr lang="en-US" sz="850" dirty="0"/>
          </a:p>
        </p:txBody>
      </p:sp>
      <p:sp>
        <p:nvSpPr>
          <p:cNvPr id="7" name="Shape 4"/>
          <p:cNvSpPr/>
          <p:nvPr/>
        </p:nvSpPr>
        <p:spPr>
          <a:xfrm>
            <a:off x="576072" y="1554480"/>
            <a:ext cx="11036808" cy="914400"/>
          </a:xfrm>
          <a:prstGeom prst="roundRect">
            <a:avLst>
              <a:gd name="adj" fmla="val 8000"/>
            </a:avLst>
          </a:prstGeom>
          <a:solidFill>
            <a:srgbClr val="EAF2F8"/>
          </a:solidFill>
          <a:ln w="12700">
            <a:solidFill>
              <a:srgbClr val="1F5D9B"/>
            </a:solidFill>
            <a:prstDash val="solid"/>
          </a:ln>
        </p:spPr>
      </p:sp>
      <p:sp>
        <p:nvSpPr>
          <p:cNvPr id="8" name="Text 5"/>
          <p:cNvSpPr txBox="1"/>
          <p:nvPr/>
        </p:nvSpPr>
        <p:spPr>
          <a:xfrm>
            <a:off x="731520" y="1554480"/>
            <a:ext cx="10698480" cy="914400"/>
          </a:xfrm>
          <a:prstGeom prst="rect">
            <a:avLst/>
          </a:prstGeom>
          <a:noFill/>
          <a:ln/>
        </p:spPr>
        <p:txBody>
          <a:bodyPr wrap="square" lIns="0" tIns="0" rIns="0" bIns="0" rtlCol="0" anchor="ctr"/>
          <a:lstStyle/>
          <a:p>
            <a:pPr algn="ctr" indent="0" marL="0">
              <a:buNone/>
            </a:pPr>
            <a:r>
              <a:rPr lang="en-US" sz="1800" b="1" dirty="0">
                <a:solidFill>
                  <a:srgbClr val="0B2D55"/>
                </a:solidFill>
                <a:latin typeface="Aptos" pitchFamily="34" charset="0"/>
                <a:ea typeface="Aptos" pitchFamily="34" charset="-122"/>
                <a:cs typeface="Aptos" pitchFamily="34" charset="-120"/>
              </a:rPr>
              <a:t>server-12:  x = [0.5, 0.4, 1]     </a:t>
            </a:r>
            <a:pPr algn="ctr" indent="0" marL="0">
              <a:buNone/>
            </a:pPr>
            <a:r>
              <a:rPr lang="en-US" sz="1800" dirty="0">
                <a:solidFill>
                  <a:srgbClr val="132033"/>
                </a:solidFill>
                <a:latin typeface="Aptos" pitchFamily="34" charset="0"/>
                <a:ea typeface="Aptos" pitchFamily="34" charset="-122"/>
                <a:cs typeface="Aptos" pitchFamily="34" charset="-120"/>
              </a:rPr>
              <a:t>z = 2 + 0.8 + 0.5 − 6 = −2.7     P = 1 / (1 + e</a:t>
            </a:r>
            <a:pPr algn="ctr" indent="0" marL="0">
              <a:buNone/>
            </a:pPr>
            <a:r>
              <a:rPr lang="en-US" sz="1800" baseline="30000" dirty="0">
                <a:solidFill>
                  <a:srgbClr val="132033"/>
                </a:solidFill>
                <a:latin typeface="Aptos" pitchFamily="34" charset="0"/>
                <a:ea typeface="Aptos" pitchFamily="34" charset="-122"/>
                <a:cs typeface="Aptos" pitchFamily="34" charset="-120"/>
              </a:rPr>
              <a:t>2.7</a:t>
            </a:r>
            <a:pPr algn="ctr" indent="0" marL="0">
              <a:buNone/>
            </a:pPr>
            <a:r>
              <a:rPr lang="en-US" sz="1800" dirty="0">
                <a:solidFill>
                  <a:srgbClr val="132033"/>
                </a:solidFill>
                <a:latin typeface="Aptos" pitchFamily="34" charset="0"/>
                <a:ea typeface="Aptos" pitchFamily="34" charset="-122"/>
                <a:cs typeface="Aptos" pitchFamily="34" charset="-120"/>
              </a:rPr>
              <a:t>) ≈ </a:t>
            </a:r>
            <a:pPr algn="ctr" indent="0" marL="0">
              <a:buNone/>
            </a:pPr>
            <a:r>
              <a:rPr lang="en-US" sz="1800" b="1" dirty="0">
                <a:solidFill>
                  <a:srgbClr val="2E7D32"/>
                </a:solidFill>
                <a:latin typeface="Aptos" pitchFamily="34" charset="0"/>
                <a:ea typeface="Aptos" pitchFamily="34" charset="-122"/>
                <a:cs typeface="Aptos" pitchFamily="34" charset="-120"/>
              </a:rPr>
              <a:t>0.06</a:t>
            </a:r>
            <a:endParaRPr lang="en-US" sz="1800" dirty="0"/>
          </a:p>
        </p:txBody>
      </p:sp>
      <p:sp>
        <p:nvSpPr>
          <p:cNvPr id="9" name="Shape 6"/>
          <p:cNvSpPr/>
          <p:nvPr/>
        </p:nvSpPr>
        <p:spPr>
          <a:xfrm>
            <a:off x="576072" y="2697480"/>
            <a:ext cx="5440680" cy="1417320"/>
          </a:xfrm>
          <a:prstGeom prst="roundRect">
            <a:avLst>
              <a:gd name="adj" fmla="val 5161"/>
            </a:avLst>
          </a:prstGeom>
          <a:solidFill>
            <a:srgbClr val="DFF0D8"/>
          </a:solidFill>
          <a:ln w="12700">
            <a:solidFill>
              <a:srgbClr val="2E7D32"/>
            </a:solidFill>
            <a:prstDash val="solid"/>
          </a:ln>
        </p:spPr>
      </p:sp>
      <p:sp>
        <p:nvSpPr>
          <p:cNvPr id="10" name="Text 7"/>
          <p:cNvSpPr txBox="1"/>
          <p:nvPr/>
        </p:nvSpPr>
        <p:spPr>
          <a:xfrm>
            <a:off x="758952" y="2807208"/>
            <a:ext cx="5074920" cy="292608"/>
          </a:xfrm>
          <a:prstGeom prst="rect">
            <a:avLst/>
          </a:prstGeom>
          <a:noFill/>
          <a:ln/>
        </p:spPr>
        <p:txBody>
          <a:bodyPr wrap="square" lIns="0" tIns="0" rIns="0" bIns="0" rtlCol="0" anchor="t"/>
          <a:lstStyle/>
          <a:p>
            <a:pPr indent="0" marL="0">
              <a:buNone/>
            </a:pPr>
            <a:r>
              <a:rPr lang="en-US" sz="1500" b="1" dirty="0">
                <a:solidFill>
                  <a:srgbClr val="0B2D55"/>
                </a:solidFill>
                <a:latin typeface="Aptos" pitchFamily="34" charset="0"/>
                <a:ea typeface="Aptos" pitchFamily="34" charset="-122"/>
                <a:cs typeface="Aptos" pitchFamily="34" charset="-120"/>
              </a:rPr>
              <a:t>Interpret: votes</a:t>
            </a:r>
            <a:endParaRPr lang="en-US" sz="1500" dirty="0"/>
          </a:p>
        </p:txBody>
      </p:sp>
      <p:sp>
        <p:nvSpPr>
          <p:cNvPr id="11" name="Text 8"/>
          <p:cNvSpPr txBox="1"/>
          <p:nvPr/>
        </p:nvSpPr>
        <p:spPr>
          <a:xfrm>
            <a:off x="758952" y="3136392"/>
            <a:ext cx="5074920" cy="886968"/>
          </a:xfrm>
          <a:prstGeom prst="rect">
            <a:avLst/>
          </a:prstGeom>
          <a:noFill/>
          <a:ln/>
        </p:spPr>
        <p:txBody>
          <a:bodyPr wrap="square" lIns="0" tIns="0" rIns="0" bIns="0" rtlCol="0" anchor="t"/>
          <a:lstStyle/>
          <a:p>
            <a:pPr indent="0" marL="0">
              <a:buNone/>
            </a:pPr>
            <a:r>
              <a:rPr lang="en-US" sz="1550" dirty="0">
                <a:solidFill>
                  <a:srgbClr val="132033"/>
                </a:solidFill>
                <a:latin typeface="Aptos" pitchFamily="34" charset="0"/>
                <a:ea typeface="Aptos" pitchFamily="34" charset="-122"/>
                <a:cs typeface="Aptos" pitchFamily="34" charset="-120"/>
              </a:rPr>
              <a:t>Each w × x is one input’s vote toward “crash.” On server-07, CPU cast the biggest vote (3.6).</a:t>
            </a:r>
            <a:endParaRPr lang="en-US" sz="1550" dirty="0"/>
          </a:p>
        </p:txBody>
      </p:sp>
      <p:sp>
        <p:nvSpPr>
          <p:cNvPr id="12" name="Shape 9"/>
          <p:cNvSpPr/>
          <p:nvPr/>
        </p:nvSpPr>
        <p:spPr>
          <a:xfrm>
            <a:off x="6172200" y="2697480"/>
            <a:ext cx="5440680" cy="1417320"/>
          </a:xfrm>
          <a:prstGeom prst="roundRect">
            <a:avLst>
              <a:gd name="adj" fmla="val 5161"/>
            </a:avLst>
          </a:prstGeom>
          <a:solidFill>
            <a:srgbClr val="FFF4CE"/>
          </a:solidFill>
          <a:ln w="12700">
            <a:solidFill>
              <a:srgbClr val="F2C14E"/>
            </a:solidFill>
            <a:prstDash val="solid"/>
          </a:ln>
        </p:spPr>
      </p:sp>
      <p:sp>
        <p:nvSpPr>
          <p:cNvPr id="13" name="Text 10"/>
          <p:cNvSpPr txBox="1"/>
          <p:nvPr/>
        </p:nvSpPr>
        <p:spPr>
          <a:xfrm>
            <a:off x="6355080" y="2807208"/>
            <a:ext cx="5074920" cy="292608"/>
          </a:xfrm>
          <a:prstGeom prst="rect">
            <a:avLst/>
          </a:prstGeom>
          <a:noFill/>
          <a:ln/>
        </p:spPr>
        <p:txBody>
          <a:bodyPr wrap="square" lIns="0" tIns="0" rIns="0" bIns="0" rtlCol="0" anchor="t"/>
          <a:lstStyle/>
          <a:p>
            <a:pPr indent="0" marL="0">
              <a:buNone/>
            </a:pPr>
            <a:r>
              <a:rPr lang="en-US" sz="1500" b="1" dirty="0">
                <a:solidFill>
                  <a:srgbClr val="0B2D55"/>
                </a:solidFill>
                <a:latin typeface="Aptos" pitchFamily="34" charset="0"/>
                <a:ea typeface="Aptos" pitchFamily="34" charset="-122"/>
                <a:cs typeface="Aptos" pitchFamily="34" charset="-120"/>
              </a:rPr>
              <a:t>Interpret: the bias</a:t>
            </a:r>
            <a:endParaRPr lang="en-US" sz="1500" dirty="0"/>
          </a:p>
        </p:txBody>
      </p:sp>
      <p:sp>
        <p:nvSpPr>
          <p:cNvPr id="14" name="Text 11"/>
          <p:cNvSpPr txBox="1"/>
          <p:nvPr/>
        </p:nvSpPr>
        <p:spPr>
          <a:xfrm>
            <a:off x="6355080" y="3136392"/>
            <a:ext cx="5074920" cy="886968"/>
          </a:xfrm>
          <a:prstGeom prst="rect">
            <a:avLst/>
          </a:prstGeom>
          <a:noFill/>
          <a:ln/>
        </p:spPr>
        <p:txBody>
          <a:bodyPr wrap="square" lIns="0" tIns="0" rIns="0" bIns="0" rtlCol="0" anchor="t"/>
          <a:lstStyle/>
          <a:p>
            <a:pPr indent="0" marL="0">
              <a:buNone/>
            </a:pPr>
            <a:r>
              <a:rPr lang="en-US" sz="1550" dirty="0">
                <a:solidFill>
                  <a:srgbClr val="132033"/>
                </a:solidFill>
                <a:latin typeface="Aptos" pitchFamily="34" charset="0"/>
                <a:ea typeface="Aptos" pitchFamily="34" charset="-122"/>
                <a:cs typeface="Aptos" pitchFamily="34" charset="-120"/>
              </a:rPr>
              <a:t>b = −6 makes “healthy” the default. The votes must total more than 6 to pass 50%.</a:t>
            </a:r>
            <a:endParaRPr lang="en-US" sz="1550" dirty="0"/>
          </a:p>
        </p:txBody>
      </p:sp>
      <p:sp>
        <p:nvSpPr>
          <p:cNvPr id="15" name="Shape 12"/>
          <p:cNvSpPr/>
          <p:nvPr/>
        </p:nvSpPr>
        <p:spPr>
          <a:xfrm>
            <a:off x="576072" y="4343400"/>
            <a:ext cx="5440680" cy="1417320"/>
          </a:xfrm>
          <a:prstGeom prst="roundRect">
            <a:avLst>
              <a:gd name="adj" fmla="val 5161"/>
            </a:avLst>
          </a:prstGeom>
          <a:solidFill>
            <a:srgbClr val="FFFFFF"/>
          </a:solidFill>
          <a:ln w="12700">
            <a:solidFill>
              <a:srgbClr val="B8C7D8"/>
            </a:solidFill>
            <a:prstDash val="solid"/>
          </a:ln>
        </p:spPr>
      </p:sp>
      <p:sp>
        <p:nvSpPr>
          <p:cNvPr id="16" name="Text 13"/>
          <p:cNvSpPr txBox="1"/>
          <p:nvPr/>
        </p:nvSpPr>
        <p:spPr>
          <a:xfrm>
            <a:off x="758952" y="4453128"/>
            <a:ext cx="5074920" cy="292608"/>
          </a:xfrm>
          <a:prstGeom prst="rect">
            <a:avLst/>
          </a:prstGeom>
          <a:noFill/>
          <a:ln/>
        </p:spPr>
        <p:txBody>
          <a:bodyPr wrap="square" lIns="0" tIns="0" rIns="0" bIns="0" rtlCol="0" anchor="t"/>
          <a:lstStyle/>
          <a:p>
            <a:pPr indent="0" marL="0">
              <a:buNone/>
            </a:pPr>
            <a:r>
              <a:rPr lang="en-US" sz="1500" b="1" dirty="0">
                <a:solidFill>
                  <a:srgbClr val="0B2D55"/>
                </a:solidFill>
                <a:latin typeface="Aptos" pitchFamily="34" charset="0"/>
                <a:ea typeface="Aptos" pitchFamily="34" charset="-122"/>
                <a:cs typeface="Aptos" pitchFamily="34" charset="-120"/>
              </a:rPr>
              <a:t>Predict (a)</a:t>
            </a:r>
            <a:endParaRPr lang="en-US" sz="1500" dirty="0"/>
          </a:p>
        </p:txBody>
      </p:sp>
      <p:sp>
        <p:nvSpPr>
          <p:cNvPr id="17" name="Text 14"/>
          <p:cNvSpPr txBox="1"/>
          <p:nvPr/>
        </p:nvSpPr>
        <p:spPr>
          <a:xfrm>
            <a:off x="758952" y="4782312"/>
            <a:ext cx="5074920" cy="886968"/>
          </a:xfrm>
          <a:prstGeom prst="rect">
            <a:avLst/>
          </a:prstGeom>
          <a:noFill/>
          <a:ln/>
        </p:spPr>
        <p:txBody>
          <a:bodyPr wrap="square" lIns="0" tIns="0" rIns="0" bIns="0" rtlCol="0" anchor="t"/>
          <a:lstStyle/>
          <a:p>
            <a:pPr indent="0" marL="0">
              <a:buNone/>
            </a:pPr>
            <a:r>
              <a:rPr lang="en-US" sz="1550" dirty="0">
                <a:solidFill>
                  <a:srgbClr val="132033"/>
                </a:solidFill>
                <a:latin typeface="Aptos" pitchFamily="34" charset="0"/>
                <a:ea typeface="Aptos" pitchFamily="34" charset="-122"/>
                <a:cs typeface="Aptos" pitchFamily="34" charset="-120"/>
              </a:rPr>
              <a:t>On server-12, which raises z more: CPU +0.1, or +100 requests per second?</a:t>
            </a:r>
            <a:endParaRPr lang="en-US" sz="1550" dirty="0"/>
          </a:p>
        </p:txBody>
      </p:sp>
      <p:sp>
        <p:nvSpPr>
          <p:cNvPr id="18" name="Shape 15"/>
          <p:cNvSpPr/>
          <p:nvPr/>
        </p:nvSpPr>
        <p:spPr>
          <a:xfrm>
            <a:off x="6172200" y="4343400"/>
            <a:ext cx="5440680" cy="1417320"/>
          </a:xfrm>
          <a:prstGeom prst="roundRect">
            <a:avLst>
              <a:gd name="adj" fmla="val 5161"/>
            </a:avLst>
          </a:prstGeom>
          <a:solidFill>
            <a:srgbClr val="FFFFFF"/>
          </a:solidFill>
          <a:ln w="12700">
            <a:solidFill>
              <a:srgbClr val="B8C7D8"/>
            </a:solidFill>
            <a:prstDash val="solid"/>
          </a:ln>
        </p:spPr>
      </p:sp>
      <p:sp>
        <p:nvSpPr>
          <p:cNvPr id="19" name="Text 16"/>
          <p:cNvSpPr txBox="1"/>
          <p:nvPr/>
        </p:nvSpPr>
        <p:spPr>
          <a:xfrm>
            <a:off x="6355080" y="4453128"/>
            <a:ext cx="5074920" cy="292608"/>
          </a:xfrm>
          <a:prstGeom prst="rect">
            <a:avLst/>
          </a:prstGeom>
          <a:noFill/>
          <a:ln/>
        </p:spPr>
        <p:txBody>
          <a:bodyPr wrap="square" lIns="0" tIns="0" rIns="0" bIns="0" rtlCol="0" anchor="t"/>
          <a:lstStyle/>
          <a:p>
            <a:pPr indent="0" marL="0">
              <a:buNone/>
            </a:pPr>
            <a:r>
              <a:rPr lang="en-US" sz="1500" b="1" dirty="0">
                <a:solidFill>
                  <a:srgbClr val="0B2D55"/>
                </a:solidFill>
                <a:latin typeface="Aptos" pitchFamily="34" charset="0"/>
                <a:ea typeface="Aptos" pitchFamily="34" charset="-122"/>
                <a:cs typeface="Aptos" pitchFamily="34" charset="-120"/>
              </a:rPr>
              <a:t>Predict (b)</a:t>
            </a:r>
            <a:endParaRPr lang="en-US" sz="1500" dirty="0"/>
          </a:p>
        </p:txBody>
      </p:sp>
      <p:sp>
        <p:nvSpPr>
          <p:cNvPr id="20" name="Text 17"/>
          <p:cNvSpPr txBox="1"/>
          <p:nvPr/>
        </p:nvSpPr>
        <p:spPr>
          <a:xfrm>
            <a:off x="6355080" y="4782312"/>
            <a:ext cx="5074920" cy="886968"/>
          </a:xfrm>
          <a:prstGeom prst="rect">
            <a:avLst/>
          </a:prstGeom>
          <a:noFill/>
          <a:ln/>
        </p:spPr>
        <p:txBody>
          <a:bodyPr wrap="square" lIns="0" tIns="0" rIns="0" bIns="0" rtlCol="0" anchor="t"/>
          <a:lstStyle/>
          <a:p>
            <a:pPr indent="0" marL="0">
              <a:buNone/>
            </a:pPr>
            <a:r>
              <a:rPr lang="en-US" sz="1550" dirty="0">
                <a:solidFill>
                  <a:srgbClr val="132033"/>
                </a:solidFill>
                <a:latin typeface="Aptos" pitchFamily="34" charset="0"/>
                <a:ea typeface="Aptos" pitchFamily="34" charset="-122"/>
                <a:cs typeface="Aptos" pitchFamily="34" charset="-120"/>
              </a:rPr>
              <a:t>If b were −4, what happens to server-07’s crash probability?</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indent="0" marL="0">
              <a:buNone/>
            </a:pPr>
            <a:r>
              <a:rPr lang="en-US" sz="3400" b="1" dirty="0">
                <a:solidFill>
                  <a:srgbClr val="0B2D55"/>
                </a:solidFill>
                <a:latin typeface="Aptos Display" pitchFamily="34" charset="0"/>
                <a:ea typeface="Aptos Display" pitchFamily="34" charset="-122"/>
                <a:cs typeface="Aptos Display" pitchFamily="34" charset="-120"/>
              </a:rPr>
              <a:t>One neuron = logistic regression</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indent="0" marL="0">
              <a:buNone/>
            </a:pPr>
            <a:r>
              <a:rPr lang="en-US" sz="1500" dirty="0">
                <a:solidFill>
                  <a:srgbClr val="132033"/>
                </a:solidFill>
                <a:latin typeface="Aptos" pitchFamily="34" charset="0"/>
                <a:ea typeface="Aptos" pitchFamily="34" charset="-122"/>
                <a:cs typeface="Aptos" pitchFamily="34" charset="-120"/>
              </a:rPr>
              <a:t>You have already met this neuron.</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indent="0" marL="0">
              <a:buNone/>
            </a:pPr>
            <a:r>
              <a:rPr lang="en-US" sz="850" dirty="0">
                <a:solidFill>
                  <a:srgbClr val="6D7C8F"/>
                </a:solidFill>
                <a:latin typeface="Aptos" pitchFamily="34" charset="0"/>
                <a:ea typeface="Aptos" pitchFamily="34" charset="-122"/>
                <a:cs typeface="Aptos" pitchFamily="34" charset="-120"/>
              </a:rPr>
              <a:t>CS 471  |  L28: Neural Networks I</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algn="r" indent="0" marL="0">
              <a:buNone/>
            </a:pPr>
            <a:r>
              <a:rPr lang="en-US" sz="850" dirty="0">
                <a:solidFill>
                  <a:srgbClr val="6D7C8F"/>
                </a:solidFill>
                <a:latin typeface="Aptos" pitchFamily="34" charset="0"/>
                <a:ea typeface="Aptos" pitchFamily="34" charset="-122"/>
                <a:cs typeface="Aptos" pitchFamily="34" charset="-120"/>
              </a:rPr>
              <a:t>9</a:t>
            </a:r>
            <a:endParaRPr lang="en-US" sz="850" dirty="0"/>
          </a:p>
        </p:txBody>
      </p:sp>
      <p:sp>
        <p:nvSpPr>
          <p:cNvPr id="7" name="Text 4"/>
          <p:cNvSpPr txBox="1"/>
          <p:nvPr/>
        </p:nvSpPr>
        <p:spPr>
          <a:xfrm>
            <a:off x="576072" y="1554480"/>
            <a:ext cx="5669280" cy="320040"/>
          </a:xfrm>
          <a:prstGeom prst="rect">
            <a:avLst/>
          </a:prstGeom>
          <a:noFill/>
          <a:ln/>
        </p:spPr>
        <p:txBody>
          <a:bodyPr wrap="square" lIns="0" tIns="0" rIns="0" bIns="0" rtlCol="0" anchor="t"/>
          <a:lstStyle/>
          <a:p>
            <a:pPr indent="0" marL="0">
              <a:buNone/>
            </a:pPr>
            <a:r>
              <a:rPr lang="en-US" sz="1500" b="1" dirty="0">
                <a:solidFill>
                  <a:srgbClr val="0B2D55"/>
                </a:solidFill>
                <a:latin typeface="Aptos" pitchFamily="34" charset="0"/>
                <a:ea typeface="Aptos" pitchFamily="34" charset="-122"/>
                <a:cs typeface="Aptos" pitchFamily="34" charset="-120"/>
              </a:rPr>
              <a:t>L26 logistic regression</a:t>
            </a:r>
            <a:endParaRPr lang="en-US" sz="1500" dirty="0"/>
          </a:p>
        </p:txBody>
      </p:sp>
      <p:sp>
        <p:nvSpPr>
          <p:cNvPr id="8" name="Shape 5"/>
          <p:cNvSpPr/>
          <p:nvPr/>
        </p:nvSpPr>
        <p:spPr>
          <a:xfrm>
            <a:off x="576072" y="1938528"/>
            <a:ext cx="1645920" cy="777240"/>
          </a:xfrm>
          <a:prstGeom prst="roundRect">
            <a:avLst>
              <a:gd name="adj" fmla="val 9412"/>
            </a:avLst>
          </a:prstGeom>
          <a:solidFill>
            <a:srgbClr val="EAF2F8"/>
          </a:solidFill>
          <a:ln w="12700">
            <a:solidFill>
              <a:srgbClr val="1F5D9B"/>
            </a:solidFill>
            <a:prstDash val="solid"/>
          </a:ln>
        </p:spPr>
      </p:sp>
      <p:sp>
        <p:nvSpPr>
          <p:cNvPr id="9" name="Text 6"/>
          <p:cNvSpPr txBox="1"/>
          <p:nvPr/>
        </p:nvSpPr>
        <p:spPr>
          <a:xfrm>
            <a:off x="576072" y="1938528"/>
            <a:ext cx="1645920" cy="777240"/>
          </a:xfrm>
          <a:prstGeom prst="rect">
            <a:avLst/>
          </a:prstGeom>
          <a:noFill/>
          <a:ln/>
        </p:spPr>
        <p:txBody>
          <a:bodyPr wrap="square" lIns="0" tIns="0" rIns="0" bIns="0" rtlCol="0" anchor="ctr"/>
          <a:lstStyle/>
          <a:p>
            <a:pPr algn="ctr" indent="0" marL="0">
              <a:buNone/>
            </a:pPr>
            <a:r>
              <a:rPr lang="en-US" sz="1400" b="1" dirty="0">
                <a:solidFill>
                  <a:srgbClr val="0B2D55"/>
                </a:solidFill>
                <a:latin typeface="Aptos" pitchFamily="34" charset="0"/>
                <a:ea typeface="Aptos" pitchFamily="34" charset="-122"/>
                <a:cs typeface="Aptos" pitchFamily="34" charset="-120"/>
              </a:rPr>
              <a:t>Linear score z</a:t>
            </a:r>
            <a:endParaRPr lang="en-US" sz="1400" dirty="0"/>
          </a:p>
        </p:txBody>
      </p:sp>
      <p:sp>
        <p:nvSpPr>
          <p:cNvPr id="10" name="Shape 7"/>
          <p:cNvSpPr/>
          <p:nvPr/>
        </p:nvSpPr>
        <p:spPr>
          <a:xfrm>
            <a:off x="2240280" y="2331720"/>
            <a:ext cx="237744" cy="0"/>
          </a:xfrm>
          <a:prstGeom prst="line">
            <a:avLst/>
          </a:prstGeom>
          <a:noFill/>
          <a:ln w="22225">
            <a:solidFill>
              <a:srgbClr val="1D5FA7"/>
            </a:solidFill>
            <a:prstDash val="solid"/>
            <a:tailEnd type="triangle"/>
          </a:ln>
        </p:spPr>
      </p:sp>
      <p:sp>
        <p:nvSpPr>
          <p:cNvPr id="11" name="Shape 8"/>
          <p:cNvSpPr/>
          <p:nvPr/>
        </p:nvSpPr>
        <p:spPr>
          <a:xfrm>
            <a:off x="2496312" y="1938528"/>
            <a:ext cx="1645920" cy="777240"/>
          </a:xfrm>
          <a:prstGeom prst="roundRect">
            <a:avLst>
              <a:gd name="adj" fmla="val 9412"/>
            </a:avLst>
          </a:prstGeom>
          <a:solidFill>
            <a:srgbClr val="EAF2F8"/>
          </a:solidFill>
          <a:ln w="12700">
            <a:solidFill>
              <a:srgbClr val="1F5D9B"/>
            </a:solidFill>
            <a:prstDash val="solid"/>
          </a:ln>
        </p:spPr>
      </p:sp>
      <p:sp>
        <p:nvSpPr>
          <p:cNvPr id="12" name="Text 9"/>
          <p:cNvSpPr txBox="1"/>
          <p:nvPr/>
        </p:nvSpPr>
        <p:spPr>
          <a:xfrm>
            <a:off x="2496312" y="1938528"/>
            <a:ext cx="1645920" cy="777240"/>
          </a:xfrm>
          <a:prstGeom prst="rect">
            <a:avLst/>
          </a:prstGeom>
          <a:noFill/>
          <a:ln/>
        </p:spPr>
        <p:txBody>
          <a:bodyPr wrap="square" lIns="0" tIns="0" rIns="0" bIns="0" rtlCol="0" anchor="ctr"/>
          <a:lstStyle/>
          <a:p>
            <a:pPr algn="ctr" indent="0" marL="0">
              <a:buNone/>
            </a:pPr>
            <a:r>
              <a:rPr lang="en-US" sz="1400" b="1" dirty="0">
                <a:solidFill>
                  <a:srgbClr val="0B2D55"/>
                </a:solidFill>
                <a:latin typeface="Aptos" pitchFamily="34" charset="0"/>
                <a:ea typeface="Aptos" pitchFamily="34" charset="-122"/>
                <a:cs typeface="Aptos" pitchFamily="34" charset="-120"/>
              </a:rPr>
              <a:t>Sigmoid</a:t>
            </a:r>
            <a:endParaRPr lang="en-US" sz="1400" dirty="0"/>
          </a:p>
        </p:txBody>
      </p:sp>
      <p:sp>
        <p:nvSpPr>
          <p:cNvPr id="13" name="Shape 10"/>
          <p:cNvSpPr/>
          <p:nvPr/>
        </p:nvSpPr>
        <p:spPr>
          <a:xfrm>
            <a:off x="4160520" y="2331720"/>
            <a:ext cx="237744" cy="0"/>
          </a:xfrm>
          <a:prstGeom prst="line">
            <a:avLst/>
          </a:prstGeom>
          <a:noFill/>
          <a:ln w="22225">
            <a:solidFill>
              <a:srgbClr val="1D5FA7"/>
            </a:solidFill>
            <a:prstDash val="solid"/>
            <a:tailEnd type="triangle"/>
          </a:ln>
        </p:spPr>
      </p:sp>
      <p:sp>
        <p:nvSpPr>
          <p:cNvPr id="14" name="Shape 11"/>
          <p:cNvSpPr/>
          <p:nvPr/>
        </p:nvSpPr>
        <p:spPr>
          <a:xfrm>
            <a:off x="4416552" y="1938528"/>
            <a:ext cx="1645920" cy="777240"/>
          </a:xfrm>
          <a:prstGeom prst="roundRect">
            <a:avLst>
              <a:gd name="adj" fmla="val 9412"/>
            </a:avLst>
          </a:prstGeom>
          <a:solidFill>
            <a:srgbClr val="EAF2F8"/>
          </a:solidFill>
          <a:ln w="12700">
            <a:solidFill>
              <a:srgbClr val="1F5D9B"/>
            </a:solidFill>
            <a:prstDash val="solid"/>
          </a:ln>
        </p:spPr>
      </p:sp>
      <p:sp>
        <p:nvSpPr>
          <p:cNvPr id="15" name="Text 12"/>
          <p:cNvSpPr txBox="1"/>
          <p:nvPr/>
        </p:nvSpPr>
        <p:spPr>
          <a:xfrm>
            <a:off x="4416552" y="1938528"/>
            <a:ext cx="1645920" cy="777240"/>
          </a:xfrm>
          <a:prstGeom prst="rect">
            <a:avLst/>
          </a:prstGeom>
          <a:noFill/>
          <a:ln/>
        </p:spPr>
        <p:txBody>
          <a:bodyPr wrap="square" lIns="0" tIns="0" rIns="0" bIns="0" rtlCol="0" anchor="ctr"/>
          <a:lstStyle/>
          <a:p>
            <a:pPr algn="ctr" indent="0" marL="0">
              <a:buNone/>
            </a:pPr>
            <a:r>
              <a:rPr lang="en-US" sz="1400" b="1" dirty="0">
                <a:solidFill>
                  <a:srgbClr val="0B2D55"/>
                </a:solidFill>
                <a:latin typeface="Aptos" pitchFamily="34" charset="0"/>
                <a:ea typeface="Aptos" pitchFamily="34" charset="-122"/>
                <a:cs typeface="Aptos" pitchFamily="34" charset="-120"/>
              </a:rPr>
              <a:t>Threshold</a:t>
            </a:r>
            <a:endParaRPr lang="en-US" sz="1400" dirty="0"/>
          </a:p>
        </p:txBody>
      </p:sp>
      <p:sp>
        <p:nvSpPr>
          <p:cNvPr id="16" name="Text 13"/>
          <p:cNvSpPr txBox="1"/>
          <p:nvPr/>
        </p:nvSpPr>
        <p:spPr>
          <a:xfrm>
            <a:off x="576072" y="2788920"/>
            <a:ext cx="5669280" cy="457200"/>
          </a:xfrm>
          <a:prstGeom prst="rect">
            <a:avLst/>
          </a:prstGeom>
          <a:noFill/>
          <a:ln/>
        </p:spPr>
        <p:txBody>
          <a:bodyPr wrap="square" lIns="0" tIns="0" rIns="0" bIns="0" rtlCol="0" anchor="ctr"/>
          <a:lstStyle/>
          <a:p>
            <a:pPr algn="ctr" indent="0" marL="0">
              <a:buNone/>
            </a:pPr>
            <a:r>
              <a:rPr lang="en-US" sz="3000" b="1" dirty="0">
                <a:solidFill>
                  <a:srgbClr val="6D7C8F"/>
                </a:solidFill>
                <a:latin typeface="Aptos" pitchFamily="34" charset="0"/>
                <a:ea typeface="Aptos" pitchFamily="34" charset="-122"/>
                <a:cs typeface="Aptos" pitchFamily="34" charset="-120"/>
              </a:rPr>
              <a:t>=</a:t>
            </a:r>
            <a:endParaRPr lang="en-US" sz="3000" dirty="0"/>
          </a:p>
        </p:txBody>
      </p:sp>
      <p:sp>
        <p:nvSpPr>
          <p:cNvPr id="17" name="Text 14"/>
          <p:cNvSpPr txBox="1"/>
          <p:nvPr/>
        </p:nvSpPr>
        <p:spPr>
          <a:xfrm>
            <a:off x="576072" y="3246120"/>
            <a:ext cx="5669280" cy="320040"/>
          </a:xfrm>
          <a:prstGeom prst="rect">
            <a:avLst/>
          </a:prstGeom>
          <a:noFill/>
          <a:ln/>
        </p:spPr>
        <p:txBody>
          <a:bodyPr wrap="square" lIns="0" tIns="0" rIns="0" bIns="0" rtlCol="0" anchor="t"/>
          <a:lstStyle/>
          <a:p>
            <a:pPr indent="0" marL="0">
              <a:buNone/>
            </a:pPr>
            <a:r>
              <a:rPr lang="en-US" sz="1500" b="1" dirty="0">
                <a:solidFill>
                  <a:srgbClr val="0B2D55"/>
                </a:solidFill>
                <a:latin typeface="Aptos" pitchFamily="34" charset="0"/>
                <a:ea typeface="Aptos" pitchFamily="34" charset="-122"/>
                <a:cs typeface="Aptos" pitchFamily="34" charset="-120"/>
              </a:rPr>
              <a:t>L28 artificial neuron</a:t>
            </a:r>
            <a:endParaRPr lang="en-US" sz="1500" dirty="0"/>
          </a:p>
        </p:txBody>
      </p:sp>
      <p:sp>
        <p:nvSpPr>
          <p:cNvPr id="18" name="Shape 15"/>
          <p:cNvSpPr/>
          <p:nvPr/>
        </p:nvSpPr>
        <p:spPr>
          <a:xfrm>
            <a:off x="576072" y="3630168"/>
            <a:ext cx="1645920" cy="777240"/>
          </a:xfrm>
          <a:prstGeom prst="roundRect">
            <a:avLst>
              <a:gd name="adj" fmla="val 9412"/>
            </a:avLst>
          </a:prstGeom>
          <a:solidFill>
            <a:srgbClr val="FFF4CE"/>
          </a:solidFill>
          <a:ln w="12700">
            <a:solidFill>
              <a:srgbClr val="F2C14E"/>
            </a:solidFill>
            <a:prstDash val="solid"/>
          </a:ln>
        </p:spPr>
      </p:sp>
      <p:sp>
        <p:nvSpPr>
          <p:cNvPr id="19" name="Text 16"/>
          <p:cNvSpPr txBox="1"/>
          <p:nvPr/>
        </p:nvSpPr>
        <p:spPr>
          <a:xfrm>
            <a:off x="576072" y="3630168"/>
            <a:ext cx="1645920" cy="777240"/>
          </a:xfrm>
          <a:prstGeom prst="rect">
            <a:avLst/>
          </a:prstGeom>
          <a:noFill/>
          <a:ln/>
        </p:spPr>
        <p:txBody>
          <a:bodyPr wrap="square" lIns="0" tIns="0" rIns="0" bIns="0" rtlCol="0" anchor="ctr"/>
          <a:lstStyle/>
          <a:p>
            <a:pPr algn="ctr" indent="0" marL="0">
              <a:buNone/>
            </a:pPr>
            <a:r>
              <a:rPr lang="en-US" sz="1400" b="1" dirty="0">
                <a:solidFill>
                  <a:srgbClr val="0B2D55"/>
                </a:solidFill>
                <a:latin typeface="Aptos" pitchFamily="34" charset="0"/>
                <a:ea typeface="Aptos" pitchFamily="34" charset="-122"/>
                <a:cs typeface="Aptos" pitchFamily="34" charset="-120"/>
              </a:rPr>
              <a:t>Σ wᵢxᵢ + b</a:t>
            </a:r>
            <a:endParaRPr lang="en-US" sz="1400" dirty="0"/>
          </a:p>
        </p:txBody>
      </p:sp>
      <p:sp>
        <p:nvSpPr>
          <p:cNvPr id="20" name="Shape 17"/>
          <p:cNvSpPr/>
          <p:nvPr/>
        </p:nvSpPr>
        <p:spPr>
          <a:xfrm>
            <a:off x="2240280" y="4023360"/>
            <a:ext cx="237744" cy="0"/>
          </a:xfrm>
          <a:prstGeom prst="line">
            <a:avLst/>
          </a:prstGeom>
          <a:noFill/>
          <a:ln w="22225">
            <a:solidFill>
              <a:srgbClr val="1D5FA7"/>
            </a:solidFill>
            <a:prstDash val="solid"/>
            <a:tailEnd type="triangle"/>
          </a:ln>
        </p:spPr>
      </p:sp>
      <p:sp>
        <p:nvSpPr>
          <p:cNvPr id="21" name="Shape 18"/>
          <p:cNvSpPr/>
          <p:nvPr/>
        </p:nvSpPr>
        <p:spPr>
          <a:xfrm>
            <a:off x="2496312" y="3630168"/>
            <a:ext cx="1645920" cy="777240"/>
          </a:xfrm>
          <a:prstGeom prst="roundRect">
            <a:avLst>
              <a:gd name="adj" fmla="val 9412"/>
            </a:avLst>
          </a:prstGeom>
          <a:solidFill>
            <a:srgbClr val="FFF4CE"/>
          </a:solidFill>
          <a:ln w="12700">
            <a:solidFill>
              <a:srgbClr val="F2C14E"/>
            </a:solidFill>
            <a:prstDash val="solid"/>
          </a:ln>
        </p:spPr>
      </p:sp>
      <p:sp>
        <p:nvSpPr>
          <p:cNvPr id="22" name="Text 19"/>
          <p:cNvSpPr txBox="1"/>
          <p:nvPr/>
        </p:nvSpPr>
        <p:spPr>
          <a:xfrm>
            <a:off x="2496312" y="3630168"/>
            <a:ext cx="1645920" cy="777240"/>
          </a:xfrm>
          <a:prstGeom prst="rect">
            <a:avLst/>
          </a:prstGeom>
          <a:noFill/>
          <a:ln/>
        </p:spPr>
        <p:txBody>
          <a:bodyPr wrap="square" lIns="0" tIns="0" rIns="0" bIns="0" rtlCol="0" anchor="ctr"/>
          <a:lstStyle/>
          <a:p>
            <a:pPr algn="ctr" indent="0" marL="0">
              <a:buNone/>
            </a:pPr>
            <a:r>
              <a:rPr lang="en-US" sz="1400" b="1" dirty="0">
                <a:solidFill>
                  <a:srgbClr val="0B2D55"/>
                </a:solidFill>
                <a:latin typeface="Aptos" pitchFamily="34" charset="0"/>
                <a:ea typeface="Aptos" pitchFamily="34" charset="-122"/>
                <a:cs typeface="Aptos" pitchFamily="34" charset="-120"/>
              </a:rPr>
              <a:t>Activation σ</a:t>
            </a:r>
            <a:endParaRPr lang="en-US" sz="1400" dirty="0"/>
          </a:p>
        </p:txBody>
      </p:sp>
      <p:sp>
        <p:nvSpPr>
          <p:cNvPr id="23" name="Shape 20"/>
          <p:cNvSpPr/>
          <p:nvPr/>
        </p:nvSpPr>
        <p:spPr>
          <a:xfrm>
            <a:off x="4160520" y="4023360"/>
            <a:ext cx="237744" cy="0"/>
          </a:xfrm>
          <a:prstGeom prst="line">
            <a:avLst/>
          </a:prstGeom>
          <a:noFill/>
          <a:ln w="22225">
            <a:solidFill>
              <a:srgbClr val="1D5FA7"/>
            </a:solidFill>
            <a:prstDash val="solid"/>
            <a:tailEnd type="triangle"/>
          </a:ln>
        </p:spPr>
      </p:sp>
      <p:sp>
        <p:nvSpPr>
          <p:cNvPr id="24" name="Shape 21"/>
          <p:cNvSpPr/>
          <p:nvPr/>
        </p:nvSpPr>
        <p:spPr>
          <a:xfrm>
            <a:off x="4416552" y="3630168"/>
            <a:ext cx="1645920" cy="777240"/>
          </a:xfrm>
          <a:prstGeom prst="roundRect">
            <a:avLst>
              <a:gd name="adj" fmla="val 9412"/>
            </a:avLst>
          </a:prstGeom>
          <a:solidFill>
            <a:srgbClr val="FFF4CE"/>
          </a:solidFill>
          <a:ln w="12700">
            <a:solidFill>
              <a:srgbClr val="F2C14E"/>
            </a:solidFill>
            <a:prstDash val="solid"/>
          </a:ln>
        </p:spPr>
      </p:sp>
      <p:sp>
        <p:nvSpPr>
          <p:cNvPr id="25" name="Text 22"/>
          <p:cNvSpPr txBox="1"/>
          <p:nvPr/>
        </p:nvSpPr>
        <p:spPr>
          <a:xfrm>
            <a:off x="4416552" y="3630168"/>
            <a:ext cx="1645920" cy="777240"/>
          </a:xfrm>
          <a:prstGeom prst="rect">
            <a:avLst/>
          </a:prstGeom>
          <a:noFill/>
          <a:ln/>
        </p:spPr>
        <p:txBody>
          <a:bodyPr wrap="square" lIns="0" tIns="0" rIns="0" bIns="0" rtlCol="0" anchor="ctr"/>
          <a:lstStyle/>
          <a:p>
            <a:pPr algn="ctr" indent="0" marL="0">
              <a:buNone/>
            </a:pPr>
            <a:r>
              <a:rPr lang="en-US" sz="1400" b="1" dirty="0">
                <a:solidFill>
                  <a:srgbClr val="0B2D55"/>
                </a:solidFill>
                <a:latin typeface="Aptos" pitchFamily="34" charset="0"/>
                <a:ea typeface="Aptos" pitchFamily="34" charset="-122"/>
                <a:cs typeface="Aptos" pitchFamily="34" charset="-120"/>
              </a:rPr>
              <a:t>Output &gt; 0.5?</a:t>
            </a:r>
            <a:endParaRPr lang="en-US" sz="1400" dirty="0"/>
          </a:p>
        </p:txBody>
      </p:sp>
      <p:sp>
        <p:nvSpPr>
          <p:cNvPr id="26" name="Shape 23"/>
          <p:cNvSpPr/>
          <p:nvPr/>
        </p:nvSpPr>
        <p:spPr>
          <a:xfrm>
            <a:off x="576072" y="4892040"/>
            <a:ext cx="5669280" cy="914400"/>
          </a:xfrm>
          <a:prstGeom prst="roundRect">
            <a:avLst>
              <a:gd name="adj" fmla="val 8000"/>
            </a:avLst>
          </a:prstGeom>
          <a:solidFill>
            <a:srgbClr val="DFF0D8"/>
          </a:solidFill>
          <a:ln w="12700">
            <a:solidFill>
              <a:srgbClr val="2E7D32"/>
            </a:solidFill>
            <a:prstDash val="solid"/>
          </a:ln>
        </p:spPr>
      </p:sp>
      <p:sp>
        <p:nvSpPr>
          <p:cNvPr id="27" name="Text 24"/>
          <p:cNvSpPr txBox="1"/>
          <p:nvPr/>
        </p:nvSpPr>
        <p:spPr>
          <a:xfrm>
            <a:off x="731520" y="4892040"/>
            <a:ext cx="5394960" cy="914400"/>
          </a:xfrm>
          <a:prstGeom prst="rect">
            <a:avLst/>
          </a:prstGeom>
          <a:noFill/>
          <a:ln/>
        </p:spPr>
        <p:txBody>
          <a:bodyPr wrap="square" lIns="0" tIns="0" rIns="0" bIns="0" rtlCol="0" anchor="ctr"/>
          <a:lstStyle/>
          <a:p>
            <a:pPr algn="ctr" indent="0" marL="0">
              <a:buNone/>
            </a:pPr>
            <a:r>
              <a:rPr lang="en-US" sz="1700" b="1" dirty="0">
                <a:solidFill>
                  <a:srgbClr val="0B2D55"/>
                </a:solidFill>
                <a:latin typeface="Aptos" pitchFamily="34" charset="0"/>
                <a:ea typeface="Aptos" pitchFamily="34" charset="-122"/>
                <a:cs typeface="Aptos" pitchFamily="34" charset="-120"/>
              </a:rPr>
              <a:t>Same math, new names. One neuron draws one straight boundary.</a:t>
            </a:r>
            <a:endParaRPr lang="en-US" sz="1700" dirty="0"/>
          </a:p>
        </p:txBody>
      </p:sp>
      <p:sp>
        <p:nvSpPr>
          <p:cNvPr id="28" name="Shape 25"/>
          <p:cNvSpPr/>
          <p:nvPr/>
        </p:nvSpPr>
        <p:spPr>
          <a:xfrm>
            <a:off x="6537960" y="1508760"/>
            <a:ext cx="5074920" cy="4297680"/>
          </a:xfrm>
          <a:prstGeom prst="roundRect">
            <a:avLst>
              <a:gd name="adj" fmla="val 1702"/>
            </a:avLst>
          </a:prstGeom>
          <a:solidFill>
            <a:srgbClr val="FFFFFF"/>
          </a:solidFill>
          <a:ln w="12700">
            <a:solidFill>
              <a:srgbClr val="B8C7D8"/>
            </a:solidFill>
            <a:prstDash val="solid"/>
          </a:ln>
        </p:spPr>
      </p:sp>
      <p:pic>
        <p:nvPicPr>
          <p:cNvPr id="29" name="Image 0" descr="figs/boundary.png">    </p:cNvPr>
          <p:cNvPicPr>
            <a:picLocks noChangeAspect="1"/>
          </p:cNvPicPr>
          <p:nvPr/>
        </p:nvPicPr>
        <p:blipFill>
          <a:blip r:embed="rId1"/>
          <a:stretch>
            <a:fillRect/>
          </a:stretch>
        </p:blipFill>
        <p:spPr>
          <a:xfrm>
            <a:off x="6821730" y="1600200"/>
            <a:ext cx="4507379" cy="3749040"/>
          </a:xfrm>
          <a:prstGeom prst="rect">
            <a:avLst/>
          </a:prstGeom>
        </p:spPr>
      </p:pic>
      <p:sp>
        <p:nvSpPr>
          <p:cNvPr id="30" name="Text 26"/>
          <p:cNvSpPr txBox="1"/>
          <p:nvPr/>
        </p:nvSpPr>
        <p:spPr>
          <a:xfrm>
            <a:off x="6537960" y="5394960"/>
            <a:ext cx="5074920" cy="365760"/>
          </a:xfrm>
          <a:prstGeom prst="rect">
            <a:avLst/>
          </a:prstGeom>
          <a:noFill/>
          <a:ln/>
        </p:spPr>
        <p:txBody>
          <a:bodyPr wrap="square" lIns="0" tIns="0" rIns="0" bIns="0" rtlCol="0" anchor="t"/>
          <a:lstStyle/>
          <a:p>
            <a:pPr algn="ctr" indent="0" marL="0">
              <a:buNone/>
            </a:pPr>
            <a:r>
              <a:rPr lang="en-US" sz="1300" i="1" dirty="0">
                <a:solidFill>
                  <a:srgbClr val="6D7C8F"/>
                </a:solidFill>
                <a:latin typeface="Aptos" pitchFamily="34" charset="0"/>
                <a:ea typeface="Aptos" pitchFamily="34" charset="-122"/>
                <a:cs typeface="Aptos" pitchFamily="34" charset="-120"/>
              </a:rPr>
              <a:t>L26’s logistic-regression boundary: one neuron’s z = 0 line.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indent="0" marL="0">
              <a:buNone/>
            </a:pPr>
            <a:r>
              <a:rPr lang="en-US" sz="3400" b="1" dirty="0">
                <a:solidFill>
                  <a:srgbClr val="0B2D55"/>
                </a:solidFill>
                <a:latin typeface="Aptos Display" pitchFamily="34" charset="0"/>
                <a:ea typeface="Aptos Display" pitchFamily="34" charset="-122"/>
                <a:cs typeface="Aptos Display" pitchFamily="34" charset="-120"/>
              </a:rPr>
              <a:t>Practice: engine bearing monitor</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indent="0" marL="0">
              <a:buNone/>
            </a:pPr>
            <a:r>
              <a:rPr lang="en-US" sz="1500" dirty="0">
                <a:solidFill>
                  <a:srgbClr val="132033"/>
                </a:solidFill>
                <a:latin typeface="Aptos" pitchFamily="34" charset="0"/>
                <a:ea typeface="Aptos" pitchFamily="34" charset="-122"/>
                <a:cs typeface="Aptos" pitchFamily="34" charset="-120"/>
              </a:rPr>
              <a:t>Pairs, 2 minutes. Should maintenance pull this engine for inspection?</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indent="0" marL="0">
              <a:buNone/>
            </a:pPr>
            <a:r>
              <a:rPr lang="en-US" sz="850" dirty="0">
                <a:solidFill>
                  <a:srgbClr val="6D7C8F"/>
                </a:solidFill>
                <a:latin typeface="Aptos" pitchFamily="34" charset="0"/>
                <a:ea typeface="Aptos" pitchFamily="34" charset="-122"/>
                <a:cs typeface="Aptos" pitchFamily="34" charset="-120"/>
              </a:rPr>
              <a:t>CS 471  |  L28: Neural Networks I</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algn="r" indent="0" marL="0">
              <a:buNone/>
            </a:pPr>
            <a:r>
              <a:rPr lang="en-US" sz="850" dirty="0">
                <a:solidFill>
                  <a:srgbClr val="6D7C8F"/>
                </a:solidFill>
                <a:latin typeface="Aptos" pitchFamily="34" charset="0"/>
                <a:ea typeface="Aptos" pitchFamily="34" charset="-122"/>
                <a:cs typeface="Aptos" pitchFamily="34" charset="-120"/>
              </a:rPr>
              <a:t>10</a:t>
            </a:r>
            <a:endParaRPr lang="en-US" sz="850" dirty="0"/>
          </a:p>
        </p:txBody>
      </p:sp>
      <p:sp>
        <p:nvSpPr>
          <p:cNvPr id="7" name="Shape 4"/>
          <p:cNvSpPr/>
          <p:nvPr/>
        </p:nvSpPr>
        <p:spPr>
          <a:xfrm>
            <a:off x="576072" y="1508760"/>
            <a:ext cx="11036808" cy="2331720"/>
          </a:xfrm>
          <a:prstGeom prst="roundRect">
            <a:avLst>
              <a:gd name="adj" fmla="val 3137"/>
            </a:avLst>
          </a:prstGeom>
          <a:solidFill>
            <a:srgbClr val="FFFFFF"/>
          </a:solidFill>
          <a:ln w="12700">
            <a:solidFill>
              <a:srgbClr val="B8C7D8"/>
            </a:solidFill>
            <a:prstDash val="solid"/>
          </a:ln>
        </p:spPr>
      </p:sp>
      <p:sp>
        <p:nvSpPr>
          <p:cNvPr id="8" name="Shape 5"/>
          <p:cNvSpPr/>
          <p:nvPr/>
        </p:nvSpPr>
        <p:spPr>
          <a:xfrm>
            <a:off x="731520" y="1874520"/>
            <a:ext cx="731520" cy="731520"/>
          </a:xfrm>
          <a:prstGeom prst="ellipse">
            <a:avLst/>
          </a:prstGeom>
          <a:solidFill>
            <a:srgbClr val="EAF2F8"/>
          </a:solidFill>
          <a:ln w="19050">
            <a:solidFill>
              <a:srgbClr val="1F5D9B"/>
            </a:solidFill>
            <a:prstDash val="solid"/>
          </a:ln>
        </p:spPr>
      </p:sp>
      <p:sp>
        <p:nvSpPr>
          <p:cNvPr id="9" name="Text 6"/>
          <p:cNvSpPr txBox="1"/>
          <p:nvPr/>
        </p:nvSpPr>
        <p:spPr>
          <a:xfrm>
            <a:off x="640080" y="1874520"/>
            <a:ext cx="914400" cy="731520"/>
          </a:xfrm>
          <a:prstGeom prst="rect">
            <a:avLst/>
          </a:prstGeom>
          <a:noFill/>
          <a:ln/>
        </p:spPr>
        <p:txBody>
          <a:bodyPr wrap="square" lIns="0" tIns="0" rIns="0" bIns="0" rtlCol="0" anchor="ctr"/>
          <a:lstStyle/>
          <a:p>
            <a:pPr algn="ctr" indent="0" marL="0">
              <a:buNone/>
            </a:pPr>
            <a:r>
              <a:rPr lang="en-US" sz="1000" dirty="0">
                <a:solidFill>
                  <a:srgbClr val="6D7C8F"/>
                </a:solidFill>
                <a:latin typeface="Aptos" pitchFamily="34" charset="0"/>
                <a:ea typeface="Aptos" pitchFamily="34" charset="-122"/>
                <a:cs typeface="Aptos" pitchFamily="34" charset="-120"/>
              </a:rPr>
              <a:t>vibration</a:t>
            </a:r>
            <a:endParaRPr lang="en-US" sz="1600" dirty="0"/>
          </a:p>
          <a:p>
            <a:pPr algn="ctr" indent="0" marL="0">
              <a:buNone/>
            </a:pPr>
            <a:r>
              <a:rPr lang="en-US" sz="1500" b="1" dirty="0">
                <a:solidFill>
                  <a:srgbClr val="0B2D55"/>
                </a:solidFill>
                <a:latin typeface="Aptos" pitchFamily="34" charset="0"/>
                <a:ea typeface="Aptos" pitchFamily="34" charset="-122"/>
                <a:cs typeface="Aptos" pitchFamily="34" charset="-120"/>
              </a:rPr>
              <a:t>2.0</a:t>
            </a:r>
            <a:endParaRPr lang="en-US" sz="1600" dirty="0"/>
          </a:p>
        </p:txBody>
      </p:sp>
      <p:sp>
        <p:nvSpPr>
          <p:cNvPr id="10" name="Shape 7"/>
          <p:cNvSpPr/>
          <p:nvPr/>
        </p:nvSpPr>
        <p:spPr>
          <a:xfrm>
            <a:off x="1463040" y="2240280"/>
            <a:ext cx="1965960" cy="480060"/>
          </a:xfrm>
          <a:prstGeom prst="line">
            <a:avLst/>
          </a:prstGeom>
          <a:noFill/>
          <a:ln w="21844">
            <a:solidFill>
              <a:srgbClr val="1D5FA7"/>
            </a:solidFill>
            <a:prstDash val="solid"/>
          </a:ln>
        </p:spPr>
      </p:sp>
      <p:sp>
        <p:nvSpPr>
          <p:cNvPr id="11" name="Text 8"/>
          <p:cNvSpPr txBox="1"/>
          <p:nvPr/>
        </p:nvSpPr>
        <p:spPr>
          <a:xfrm>
            <a:off x="2055114" y="2310003"/>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1D5FA7"/>
                </a:solidFill>
                <a:latin typeface="Aptos" pitchFamily="34" charset="0"/>
                <a:ea typeface="Aptos" pitchFamily="34" charset="-122"/>
                <a:cs typeface="Aptos" pitchFamily="34" charset="-120"/>
              </a:rPr>
              <a:t>1.2</a:t>
            </a:r>
            <a:endParaRPr lang="en-US" sz="1250" dirty="0"/>
          </a:p>
        </p:txBody>
      </p:sp>
      <p:sp>
        <p:nvSpPr>
          <p:cNvPr id="12" name="Shape 9"/>
          <p:cNvSpPr/>
          <p:nvPr/>
        </p:nvSpPr>
        <p:spPr>
          <a:xfrm>
            <a:off x="731520" y="2834640"/>
            <a:ext cx="731520" cy="731520"/>
          </a:xfrm>
          <a:prstGeom prst="ellipse">
            <a:avLst/>
          </a:prstGeom>
          <a:solidFill>
            <a:srgbClr val="EAF2F8"/>
          </a:solidFill>
          <a:ln w="19050">
            <a:solidFill>
              <a:srgbClr val="1F5D9B"/>
            </a:solidFill>
            <a:prstDash val="solid"/>
          </a:ln>
        </p:spPr>
      </p:sp>
      <p:sp>
        <p:nvSpPr>
          <p:cNvPr id="13" name="Text 10"/>
          <p:cNvSpPr txBox="1"/>
          <p:nvPr/>
        </p:nvSpPr>
        <p:spPr>
          <a:xfrm>
            <a:off x="640080" y="2834640"/>
            <a:ext cx="914400" cy="731520"/>
          </a:xfrm>
          <a:prstGeom prst="rect">
            <a:avLst/>
          </a:prstGeom>
          <a:noFill/>
          <a:ln/>
        </p:spPr>
        <p:txBody>
          <a:bodyPr wrap="square" lIns="0" tIns="0" rIns="0" bIns="0" rtlCol="0" anchor="ctr"/>
          <a:lstStyle/>
          <a:p>
            <a:pPr algn="ctr" indent="0" marL="0">
              <a:buNone/>
            </a:pPr>
            <a:r>
              <a:rPr lang="en-US" sz="1000" dirty="0">
                <a:solidFill>
                  <a:srgbClr val="6D7C8F"/>
                </a:solidFill>
                <a:latin typeface="Aptos" pitchFamily="34" charset="0"/>
                <a:ea typeface="Aptos" pitchFamily="34" charset="-122"/>
                <a:cs typeface="Aptos" pitchFamily="34" charset="-120"/>
              </a:rPr>
              <a:t>oil temp</a:t>
            </a:r>
            <a:endParaRPr lang="en-US" sz="1600" dirty="0"/>
          </a:p>
          <a:p>
            <a:pPr algn="ctr" indent="0" marL="0">
              <a:buNone/>
            </a:pPr>
            <a:r>
              <a:rPr lang="en-US" sz="1500" b="1" dirty="0">
                <a:solidFill>
                  <a:srgbClr val="0B2D55"/>
                </a:solidFill>
                <a:latin typeface="Aptos" pitchFamily="34" charset="0"/>
                <a:ea typeface="Aptos" pitchFamily="34" charset="-122"/>
                <a:cs typeface="Aptos" pitchFamily="34" charset="-120"/>
              </a:rPr>
              <a:t>1.5</a:t>
            </a:r>
            <a:endParaRPr lang="en-US" sz="1600" dirty="0"/>
          </a:p>
        </p:txBody>
      </p:sp>
      <p:sp>
        <p:nvSpPr>
          <p:cNvPr id="14" name="Shape 11"/>
          <p:cNvSpPr/>
          <p:nvPr/>
        </p:nvSpPr>
        <p:spPr>
          <a:xfrm flipV="1">
            <a:off x="1463040" y="2720340"/>
            <a:ext cx="1965960" cy="480060"/>
          </a:xfrm>
          <a:prstGeom prst="line">
            <a:avLst/>
          </a:prstGeom>
          <a:noFill/>
          <a:ln w="18796">
            <a:solidFill>
              <a:srgbClr val="1D5FA7"/>
            </a:solidFill>
            <a:prstDash val="solid"/>
          </a:ln>
        </p:spPr>
      </p:sp>
      <p:sp>
        <p:nvSpPr>
          <p:cNvPr id="15" name="Text 12"/>
          <p:cNvSpPr txBox="1"/>
          <p:nvPr/>
        </p:nvSpPr>
        <p:spPr>
          <a:xfrm>
            <a:off x="2055114" y="2838069"/>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1D5FA7"/>
                </a:solidFill>
                <a:latin typeface="Aptos" pitchFamily="34" charset="0"/>
                <a:ea typeface="Aptos" pitchFamily="34" charset="-122"/>
                <a:cs typeface="Aptos" pitchFamily="34" charset="-120"/>
              </a:rPr>
              <a:t>0.8</a:t>
            </a:r>
            <a:endParaRPr lang="en-US" sz="1250" dirty="0"/>
          </a:p>
        </p:txBody>
      </p:sp>
      <p:sp>
        <p:nvSpPr>
          <p:cNvPr id="16" name="Shape 13"/>
          <p:cNvSpPr/>
          <p:nvPr/>
        </p:nvSpPr>
        <p:spPr>
          <a:xfrm>
            <a:off x="3429000" y="2308860"/>
            <a:ext cx="822960" cy="822960"/>
          </a:xfrm>
          <a:prstGeom prst="ellipse">
            <a:avLst/>
          </a:prstGeom>
          <a:solidFill>
            <a:srgbClr val="FFFFFF"/>
          </a:solidFill>
          <a:ln w="19050">
            <a:solidFill>
              <a:srgbClr val="0B2D55"/>
            </a:solidFill>
            <a:prstDash val="solid"/>
          </a:ln>
        </p:spPr>
      </p:sp>
      <p:sp>
        <p:nvSpPr>
          <p:cNvPr id="17" name="Text 14"/>
          <p:cNvSpPr txBox="1"/>
          <p:nvPr/>
        </p:nvSpPr>
        <p:spPr>
          <a:xfrm>
            <a:off x="3337560" y="2308860"/>
            <a:ext cx="1005840" cy="822960"/>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Σ wᵢxᵢ</a:t>
            </a:r>
            <a:endParaRPr lang="en-US" sz="1600" dirty="0"/>
          </a:p>
          <a:p>
            <a:pPr algn="ctr" indent="0" marL="0">
              <a:buNone/>
            </a:pPr>
            <a:r>
              <a:rPr lang="en-US" sz="1500" b="1" dirty="0">
                <a:solidFill>
                  <a:srgbClr val="0B2D55"/>
                </a:solidFill>
                <a:latin typeface="Aptos" pitchFamily="34" charset="0"/>
                <a:ea typeface="Aptos" pitchFamily="34" charset="-122"/>
                <a:cs typeface="Aptos" pitchFamily="34" charset="-120"/>
              </a:rPr>
              <a:t>?</a:t>
            </a:r>
            <a:endParaRPr lang="en-US" sz="1600" dirty="0"/>
          </a:p>
        </p:txBody>
      </p:sp>
      <p:sp>
        <p:nvSpPr>
          <p:cNvPr id="18" name="Shape 15"/>
          <p:cNvSpPr/>
          <p:nvPr/>
        </p:nvSpPr>
        <p:spPr>
          <a:xfrm>
            <a:off x="4270248" y="2720340"/>
            <a:ext cx="457200" cy="0"/>
          </a:xfrm>
          <a:prstGeom prst="line">
            <a:avLst/>
          </a:prstGeom>
          <a:noFill/>
          <a:ln w="22225">
            <a:solidFill>
              <a:srgbClr val="0B2D55"/>
            </a:solidFill>
            <a:prstDash val="solid"/>
            <a:tailEnd type="triangle"/>
          </a:ln>
        </p:spPr>
      </p:sp>
      <p:sp>
        <p:nvSpPr>
          <p:cNvPr id="19" name="Shape 16"/>
          <p:cNvSpPr/>
          <p:nvPr/>
        </p:nvSpPr>
        <p:spPr>
          <a:xfrm>
            <a:off x="4773168" y="2308860"/>
            <a:ext cx="960120" cy="822960"/>
          </a:xfrm>
          <a:prstGeom prst="roundRect">
            <a:avLst>
              <a:gd name="adj" fmla="val 8889"/>
            </a:avLst>
          </a:prstGeom>
          <a:solidFill>
            <a:srgbClr val="FFF4CE"/>
          </a:solidFill>
          <a:ln w="12700">
            <a:solidFill>
              <a:srgbClr val="F2C14E"/>
            </a:solidFill>
            <a:prstDash val="solid"/>
          </a:ln>
        </p:spPr>
      </p:sp>
      <p:sp>
        <p:nvSpPr>
          <p:cNvPr id="20" name="Text 17"/>
          <p:cNvSpPr txBox="1"/>
          <p:nvPr/>
        </p:nvSpPr>
        <p:spPr>
          <a:xfrm>
            <a:off x="4773168" y="2308860"/>
            <a:ext cx="960120" cy="822960"/>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 b</a:t>
            </a:r>
            <a:endParaRPr lang="en-US" sz="1600" dirty="0"/>
          </a:p>
          <a:p>
            <a:pPr algn="ctr" indent="0" marL="0">
              <a:buNone/>
            </a:pPr>
            <a:r>
              <a:rPr lang="en-US" sz="1500" b="1" dirty="0">
                <a:solidFill>
                  <a:srgbClr val="0B2D55"/>
                </a:solidFill>
                <a:latin typeface="Aptos" pitchFamily="34" charset="0"/>
                <a:ea typeface="Aptos" pitchFamily="34" charset="-122"/>
                <a:cs typeface="Aptos" pitchFamily="34" charset="-120"/>
              </a:rPr>
              <a:t>−3</a:t>
            </a:r>
            <a:endParaRPr lang="en-US" sz="1600" dirty="0"/>
          </a:p>
        </p:txBody>
      </p:sp>
      <p:sp>
        <p:nvSpPr>
          <p:cNvPr id="21" name="Shape 18"/>
          <p:cNvSpPr/>
          <p:nvPr/>
        </p:nvSpPr>
        <p:spPr>
          <a:xfrm>
            <a:off x="5760720" y="2720340"/>
            <a:ext cx="411480" cy="0"/>
          </a:xfrm>
          <a:prstGeom prst="line">
            <a:avLst/>
          </a:prstGeom>
          <a:noFill/>
          <a:ln w="22225">
            <a:solidFill>
              <a:srgbClr val="0B2D55"/>
            </a:solidFill>
            <a:prstDash val="solid"/>
            <a:tailEnd type="triangle"/>
          </a:ln>
        </p:spPr>
      </p:sp>
      <p:sp>
        <p:nvSpPr>
          <p:cNvPr id="22" name="Shape 19"/>
          <p:cNvSpPr/>
          <p:nvPr/>
        </p:nvSpPr>
        <p:spPr>
          <a:xfrm>
            <a:off x="6217920" y="2308860"/>
            <a:ext cx="1051560" cy="822960"/>
          </a:xfrm>
          <a:prstGeom prst="roundRect">
            <a:avLst>
              <a:gd name="adj" fmla="val 8889"/>
            </a:avLst>
          </a:prstGeom>
          <a:solidFill>
            <a:srgbClr val="FFFFFF"/>
          </a:solidFill>
          <a:ln w="12700">
            <a:solidFill>
              <a:srgbClr val="0B2D55"/>
            </a:solidFill>
            <a:prstDash val="solid"/>
          </a:ln>
        </p:spPr>
      </p:sp>
      <p:sp>
        <p:nvSpPr>
          <p:cNvPr id="23" name="Text 20"/>
          <p:cNvSpPr txBox="1"/>
          <p:nvPr/>
        </p:nvSpPr>
        <p:spPr>
          <a:xfrm>
            <a:off x="6217920" y="2308860"/>
            <a:ext cx="1051560" cy="822960"/>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z</a:t>
            </a:r>
            <a:endParaRPr lang="en-US" sz="1600" dirty="0"/>
          </a:p>
          <a:p>
            <a:pPr algn="ctr" indent="0" marL="0">
              <a:buNone/>
            </a:pPr>
            <a:r>
              <a:rPr lang="en-US" sz="1500" b="1" dirty="0">
                <a:solidFill>
                  <a:srgbClr val="0B2D55"/>
                </a:solidFill>
                <a:latin typeface="Aptos" pitchFamily="34" charset="0"/>
                <a:ea typeface="Aptos" pitchFamily="34" charset="-122"/>
                <a:cs typeface="Aptos" pitchFamily="34" charset="-120"/>
              </a:rPr>
              <a:t>?</a:t>
            </a:r>
            <a:endParaRPr lang="en-US" sz="1600" dirty="0"/>
          </a:p>
        </p:txBody>
      </p:sp>
      <p:sp>
        <p:nvSpPr>
          <p:cNvPr id="24" name="Shape 21"/>
          <p:cNvSpPr/>
          <p:nvPr/>
        </p:nvSpPr>
        <p:spPr>
          <a:xfrm>
            <a:off x="7296912" y="2720340"/>
            <a:ext cx="411480" cy="0"/>
          </a:xfrm>
          <a:prstGeom prst="line">
            <a:avLst/>
          </a:prstGeom>
          <a:noFill/>
          <a:ln w="22225">
            <a:solidFill>
              <a:srgbClr val="0B2D55"/>
            </a:solidFill>
            <a:prstDash val="solid"/>
            <a:tailEnd type="triangle"/>
          </a:ln>
        </p:spPr>
      </p:sp>
      <p:sp>
        <p:nvSpPr>
          <p:cNvPr id="25" name="Shape 22"/>
          <p:cNvSpPr/>
          <p:nvPr/>
        </p:nvSpPr>
        <p:spPr>
          <a:xfrm>
            <a:off x="7754112" y="2308860"/>
            <a:ext cx="914400" cy="822960"/>
          </a:xfrm>
          <a:prstGeom prst="roundRect">
            <a:avLst>
              <a:gd name="adj" fmla="val 8889"/>
            </a:avLst>
          </a:prstGeom>
          <a:solidFill>
            <a:srgbClr val="EAF2F8"/>
          </a:solidFill>
          <a:ln w="12700">
            <a:solidFill>
              <a:srgbClr val="1F5D9B"/>
            </a:solidFill>
            <a:prstDash val="solid"/>
          </a:ln>
        </p:spPr>
      </p:sp>
      <p:sp>
        <p:nvSpPr>
          <p:cNvPr id="26" name="Text 23"/>
          <p:cNvSpPr txBox="1"/>
          <p:nvPr/>
        </p:nvSpPr>
        <p:spPr>
          <a:xfrm>
            <a:off x="7754112" y="2308860"/>
            <a:ext cx="914400" cy="822960"/>
          </a:xfrm>
          <a:prstGeom prst="rect">
            <a:avLst/>
          </a:prstGeom>
          <a:noFill/>
          <a:ln/>
        </p:spPr>
        <p:txBody>
          <a:bodyPr wrap="square" lIns="0" tIns="0" rIns="0" bIns="0" rtlCol="0" anchor="ctr"/>
          <a:lstStyle/>
          <a:p>
            <a:pPr algn="ctr" indent="0" marL="0">
              <a:buNone/>
            </a:pPr>
            <a:r>
              <a:rPr lang="en-US" sz="1600" b="1" dirty="0">
                <a:solidFill>
                  <a:srgbClr val="1D5FA7"/>
                </a:solidFill>
                <a:latin typeface="Aptos" pitchFamily="34" charset="0"/>
                <a:ea typeface="Aptos" pitchFamily="34" charset="-122"/>
                <a:cs typeface="Aptos" pitchFamily="34" charset="-120"/>
              </a:rPr>
              <a:t>σ</a:t>
            </a:r>
            <a:endParaRPr lang="en-US" sz="1600" dirty="0"/>
          </a:p>
        </p:txBody>
      </p:sp>
      <p:sp>
        <p:nvSpPr>
          <p:cNvPr id="27" name="Shape 24"/>
          <p:cNvSpPr/>
          <p:nvPr/>
        </p:nvSpPr>
        <p:spPr>
          <a:xfrm>
            <a:off x="8695944" y="2720340"/>
            <a:ext cx="411480" cy="0"/>
          </a:xfrm>
          <a:prstGeom prst="line">
            <a:avLst/>
          </a:prstGeom>
          <a:noFill/>
          <a:ln w="22225">
            <a:solidFill>
              <a:srgbClr val="0B2D55"/>
            </a:solidFill>
            <a:prstDash val="solid"/>
            <a:tailEnd type="triangle"/>
          </a:ln>
        </p:spPr>
      </p:sp>
      <p:sp>
        <p:nvSpPr>
          <p:cNvPr id="28" name="Shape 25"/>
          <p:cNvSpPr/>
          <p:nvPr/>
        </p:nvSpPr>
        <p:spPr>
          <a:xfrm>
            <a:off x="9144000" y="2308860"/>
            <a:ext cx="822960" cy="822960"/>
          </a:xfrm>
          <a:prstGeom prst="ellipse">
            <a:avLst/>
          </a:prstGeom>
          <a:solidFill>
            <a:srgbClr val="DFF0D8"/>
          </a:solidFill>
          <a:ln w="19050">
            <a:solidFill>
              <a:srgbClr val="2E7D32"/>
            </a:solidFill>
            <a:prstDash val="solid"/>
          </a:ln>
        </p:spPr>
      </p:sp>
      <p:sp>
        <p:nvSpPr>
          <p:cNvPr id="29" name="Text 26"/>
          <p:cNvSpPr txBox="1"/>
          <p:nvPr/>
        </p:nvSpPr>
        <p:spPr>
          <a:xfrm>
            <a:off x="9052560" y="2308860"/>
            <a:ext cx="1005840" cy="822960"/>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output</a:t>
            </a:r>
            <a:endParaRPr lang="en-US" sz="1600" dirty="0"/>
          </a:p>
          <a:p>
            <a:pPr algn="ctr" indent="0" marL="0">
              <a:buNone/>
            </a:pPr>
            <a:r>
              <a:rPr lang="en-US" sz="1600" b="1" dirty="0">
                <a:solidFill>
                  <a:srgbClr val="0B2D55"/>
                </a:solidFill>
                <a:latin typeface="Aptos" pitchFamily="34" charset="0"/>
                <a:ea typeface="Aptos" pitchFamily="34" charset="-122"/>
                <a:cs typeface="Aptos" pitchFamily="34" charset="-120"/>
              </a:rPr>
              <a:t>?</a:t>
            </a:r>
            <a:endParaRPr lang="en-US" sz="1600" dirty="0"/>
          </a:p>
        </p:txBody>
      </p:sp>
      <p:sp>
        <p:nvSpPr>
          <p:cNvPr id="30" name="Shape 27"/>
          <p:cNvSpPr/>
          <p:nvPr/>
        </p:nvSpPr>
        <p:spPr>
          <a:xfrm>
            <a:off x="576072" y="4069080"/>
            <a:ext cx="6583680" cy="512064"/>
          </a:xfrm>
          <a:prstGeom prst="roundRect">
            <a:avLst>
              <a:gd name="adj" fmla="val 14286"/>
            </a:avLst>
          </a:prstGeom>
          <a:solidFill>
            <a:srgbClr val="FFFFFF"/>
          </a:solidFill>
          <a:ln w="12700">
            <a:solidFill>
              <a:srgbClr val="B8C7D8"/>
            </a:solidFill>
            <a:prstDash val="solid"/>
          </a:ln>
        </p:spPr>
      </p:sp>
      <p:sp>
        <p:nvSpPr>
          <p:cNvPr id="31" name="Text 28"/>
          <p:cNvSpPr txBox="1"/>
          <p:nvPr/>
        </p:nvSpPr>
        <p:spPr>
          <a:xfrm>
            <a:off x="777240" y="4069080"/>
            <a:ext cx="6309360" cy="512064"/>
          </a:xfrm>
          <a:prstGeom prst="rect">
            <a:avLst/>
          </a:prstGeom>
          <a:noFill/>
          <a:ln/>
        </p:spPr>
        <p:txBody>
          <a:bodyPr wrap="square" lIns="0" tIns="0" rIns="0" bIns="0" rtlCol="0" anchor="ctr"/>
          <a:lstStyle/>
          <a:p>
            <a:pPr indent="0" marL="0">
              <a:buNone/>
            </a:pPr>
            <a:r>
              <a:rPr lang="en-US" sz="1800" b="1" dirty="0">
                <a:solidFill>
                  <a:srgbClr val="0B2D55"/>
                </a:solidFill>
                <a:latin typeface="Aptos" pitchFamily="34" charset="0"/>
                <a:ea typeface="Aptos" pitchFamily="34" charset="-122"/>
                <a:cs typeface="Aptos" pitchFamily="34" charset="-120"/>
              </a:rPr>
              <a:t>Weighted sum  Σ wᵢxᵢ  =  </a:t>
            </a:r>
            <a:pPr indent="0" marL="0">
              <a:buNone/>
            </a:pPr>
            <a:r>
              <a:rPr lang="en-US" sz="1800" b="1" dirty="0">
                <a:solidFill>
                  <a:srgbClr val="1D5FA7"/>
                </a:solidFill>
                <a:latin typeface="Aptos" pitchFamily="34" charset="0"/>
                <a:ea typeface="Aptos" pitchFamily="34" charset="-122"/>
                <a:cs typeface="Aptos" pitchFamily="34" charset="-120"/>
              </a:rPr>
              <a:t>?</a:t>
            </a:r>
            <a:endParaRPr lang="en-US" sz="1800" dirty="0"/>
          </a:p>
        </p:txBody>
      </p:sp>
      <p:sp>
        <p:nvSpPr>
          <p:cNvPr id="32" name="Shape 29"/>
          <p:cNvSpPr/>
          <p:nvPr/>
        </p:nvSpPr>
        <p:spPr>
          <a:xfrm>
            <a:off x="576072" y="4690872"/>
            <a:ext cx="6583680" cy="512064"/>
          </a:xfrm>
          <a:prstGeom prst="roundRect">
            <a:avLst>
              <a:gd name="adj" fmla="val 14286"/>
            </a:avLst>
          </a:prstGeom>
          <a:solidFill>
            <a:srgbClr val="FFFFFF"/>
          </a:solidFill>
          <a:ln w="12700">
            <a:solidFill>
              <a:srgbClr val="B8C7D8"/>
            </a:solidFill>
            <a:prstDash val="solid"/>
          </a:ln>
        </p:spPr>
      </p:sp>
      <p:sp>
        <p:nvSpPr>
          <p:cNvPr id="33" name="Text 30"/>
          <p:cNvSpPr txBox="1"/>
          <p:nvPr/>
        </p:nvSpPr>
        <p:spPr>
          <a:xfrm>
            <a:off x="777240" y="4690872"/>
            <a:ext cx="6309360" cy="512064"/>
          </a:xfrm>
          <a:prstGeom prst="rect">
            <a:avLst/>
          </a:prstGeom>
          <a:noFill/>
          <a:ln/>
        </p:spPr>
        <p:txBody>
          <a:bodyPr wrap="square" lIns="0" tIns="0" rIns="0" bIns="0" rtlCol="0" anchor="ctr"/>
          <a:lstStyle/>
          <a:p>
            <a:pPr indent="0" marL="0">
              <a:buNone/>
            </a:pPr>
            <a:r>
              <a:rPr lang="en-US" sz="1800" b="1" dirty="0">
                <a:solidFill>
                  <a:srgbClr val="0B2D55"/>
                </a:solidFill>
                <a:latin typeface="Aptos" pitchFamily="34" charset="0"/>
                <a:ea typeface="Aptos" pitchFamily="34" charset="-122"/>
                <a:cs typeface="Aptos" pitchFamily="34" charset="-120"/>
              </a:rPr>
              <a:t>z  =  </a:t>
            </a:r>
            <a:pPr indent="0" marL="0">
              <a:buNone/>
            </a:pPr>
            <a:r>
              <a:rPr lang="en-US" sz="1800" b="1" dirty="0">
                <a:solidFill>
                  <a:srgbClr val="1D5FA7"/>
                </a:solidFill>
                <a:latin typeface="Aptos" pitchFamily="34" charset="0"/>
                <a:ea typeface="Aptos" pitchFamily="34" charset="-122"/>
                <a:cs typeface="Aptos" pitchFamily="34" charset="-120"/>
              </a:rPr>
              <a:t>?</a:t>
            </a:r>
            <a:endParaRPr lang="en-US" sz="1800" dirty="0"/>
          </a:p>
        </p:txBody>
      </p:sp>
      <p:sp>
        <p:nvSpPr>
          <p:cNvPr id="34" name="Shape 31"/>
          <p:cNvSpPr/>
          <p:nvPr/>
        </p:nvSpPr>
        <p:spPr>
          <a:xfrm>
            <a:off x="576072" y="5312664"/>
            <a:ext cx="6583680" cy="512064"/>
          </a:xfrm>
          <a:prstGeom prst="roundRect">
            <a:avLst>
              <a:gd name="adj" fmla="val 14286"/>
            </a:avLst>
          </a:prstGeom>
          <a:solidFill>
            <a:srgbClr val="FFFFFF"/>
          </a:solidFill>
          <a:ln w="12700">
            <a:solidFill>
              <a:srgbClr val="B8C7D8"/>
            </a:solidFill>
            <a:prstDash val="solid"/>
          </a:ln>
        </p:spPr>
      </p:sp>
      <p:sp>
        <p:nvSpPr>
          <p:cNvPr id="35" name="Text 32"/>
          <p:cNvSpPr txBox="1"/>
          <p:nvPr/>
        </p:nvSpPr>
        <p:spPr>
          <a:xfrm>
            <a:off x="777240" y="5312664"/>
            <a:ext cx="6309360" cy="512064"/>
          </a:xfrm>
          <a:prstGeom prst="rect">
            <a:avLst/>
          </a:prstGeom>
          <a:noFill/>
          <a:ln/>
        </p:spPr>
        <p:txBody>
          <a:bodyPr wrap="square" lIns="0" tIns="0" rIns="0" bIns="0" rtlCol="0" anchor="ctr"/>
          <a:lstStyle/>
          <a:p>
            <a:pPr indent="0" marL="0">
              <a:buNone/>
            </a:pPr>
            <a:r>
              <a:rPr lang="en-US" sz="1800" b="1" dirty="0">
                <a:solidFill>
                  <a:srgbClr val="0B2D55"/>
                </a:solidFill>
                <a:latin typeface="Aptos" pitchFamily="34" charset="0"/>
                <a:ea typeface="Aptos" pitchFamily="34" charset="-122"/>
                <a:cs typeface="Aptos" pitchFamily="34" charset="-120"/>
              </a:rPr>
              <a:t>P(inspect)  =  </a:t>
            </a:r>
            <a:pPr indent="0" marL="0">
              <a:buNone/>
            </a:pPr>
            <a:r>
              <a:rPr lang="en-US" sz="1800" b="1" dirty="0">
                <a:solidFill>
                  <a:srgbClr val="1D5FA7"/>
                </a:solidFill>
                <a:latin typeface="Aptos" pitchFamily="34" charset="0"/>
                <a:ea typeface="Aptos" pitchFamily="34" charset="-122"/>
                <a:cs typeface="Aptos" pitchFamily="34" charset="-120"/>
              </a:rPr>
              <a:t>?</a:t>
            </a:r>
            <a:endParaRPr lang="en-US" sz="1800" dirty="0"/>
          </a:p>
        </p:txBody>
      </p:sp>
      <p:sp>
        <p:nvSpPr>
          <p:cNvPr id="36" name="Shape 33"/>
          <p:cNvSpPr/>
          <p:nvPr/>
        </p:nvSpPr>
        <p:spPr>
          <a:xfrm>
            <a:off x="7406640" y="4069080"/>
            <a:ext cx="4206240" cy="1755648"/>
          </a:xfrm>
          <a:prstGeom prst="roundRect">
            <a:avLst>
              <a:gd name="adj" fmla="val 4167"/>
            </a:avLst>
          </a:prstGeom>
          <a:solidFill>
            <a:srgbClr val="FFF4CE"/>
          </a:solidFill>
          <a:ln w="12700">
            <a:solidFill>
              <a:srgbClr val="F2C14E"/>
            </a:solidFill>
            <a:prstDash val="solid"/>
          </a:ln>
        </p:spPr>
      </p:sp>
      <p:sp>
        <p:nvSpPr>
          <p:cNvPr id="37" name="Text 34"/>
          <p:cNvSpPr txBox="1"/>
          <p:nvPr/>
        </p:nvSpPr>
        <p:spPr>
          <a:xfrm>
            <a:off x="7589520" y="4069080"/>
            <a:ext cx="3840480" cy="1755648"/>
          </a:xfrm>
          <a:prstGeom prst="rect">
            <a:avLst/>
          </a:prstGeom>
          <a:noFill/>
          <a:ln/>
        </p:spPr>
        <p:txBody>
          <a:bodyPr wrap="square" lIns="0" tIns="0" rIns="0" bIns="0" rtlCol="0" anchor="ctr"/>
          <a:lstStyle/>
          <a:p>
            <a:pPr algn="ctr" indent="0" marL="0">
              <a:buNone/>
            </a:pPr>
            <a:r>
              <a:rPr lang="en-US" sz="1800" b="1" dirty="0">
                <a:solidFill>
                  <a:srgbClr val="0B2D55"/>
                </a:solidFill>
                <a:latin typeface="Aptos" pitchFamily="34" charset="0"/>
                <a:ea typeface="Aptos" pitchFamily="34" charset="-122"/>
                <a:cs typeface="Aptos" pitchFamily="34" charset="-120"/>
              </a:rPr>
              <a:t>Which input matters more per unit, and how can you tell?</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indent="0" marL="0">
              <a:buNone/>
            </a:pPr>
            <a:r>
              <a:rPr lang="en-US" sz="3400" b="1" dirty="0">
                <a:solidFill>
                  <a:srgbClr val="0B2D55"/>
                </a:solidFill>
                <a:latin typeface="Aptos Display" pitchFamily="34" charset="0"/>
                <a:ea typeface="Aptos Display" pitchFamily="34" charset="-122"/>
                <a:cs typeface="Aptos Display" pitchFamily="34" charset="-120"/>
              </a:rPr>
              <a:t>Feedforward architecture</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indent="0" marL="0">
              <a:buNone/>
            </a:pPr>
            <a:r>
              <a:rPr lang="en-US" sz="1500" dirty="0">
                <a:solidFill>
                  <a:srgbClr val="132033"/>
                </a:solidFill>
                <a:latin typeface="Aptos" pitchFamily="34" charset="0"/>
                <a:ea typeface="Aptos" pitchFamily="34" charset="-122"/>
                <a:cs typeface="Aptos" pitchFamily="34" charset="-120"/>
              </a:rPr>
              <a:t>Neurons arranged in layers; data flows one way, input to output.</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indent="0" marL="0">
              <a:buNone/>
            </a:pPr>
            <a:r>
              <a:rPr lang="en-US" sz="850" dirty="0">
                <a:solidFill>
                  <a:srgbClr val="6D7C8F"/>
                </a:solidFill>
                <a:latin typeface="Aptos" pitchFamily="34" charset="0"/>
                <a:ea typeface="Aptos" pitchFamily="34" charset="-122"/>
                <a:cs typeface="Aptos" pitchFamily="34" charset="-120"/>
              </a:rPr>
              <a:t>CS 471  |  L28: Neural Networks I</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algn="r" indent="0" marL="0">
              <a:buNone/>
            </a:pPr>
            <a:r>
              <a:rPr lang="en-US" sz="850" dirty="0">
                <a:solidFill>
                  <a:srgbClr val="6D7C8F"/>
                </a:solidFill>
                <a:latin typeface="Aptos" pitchFamily="34" charset="0"/>
                <a:ea typeface="Aptos" pitchFamily="34" charset="-122"/>
                <a:cs typeface="Aptos" pitchFamily="34" charset="-120"/>
              </a:rPr>
              <a:t>11</a:t>
            </a:r>
            <a:endParaRPr lang="en-US" sz="850" dirty="0"/>
          </a:p>
        </p:txBody>
      </p:sp>
      <p:sp>
        <p:nvSpPr>
          <p:cNvPr id="7" name="Shape 4"/>
          <p:cNvSpPr/>
          <p:nvPr/>
        </p:nvSpPr>
        <p:spPr>
          <a:xfrm>
            <a:off x="576072" y="1508760"/>
            <a:ext cx="6309360" cy="4343400"/>
          </a:xfrm>
          <a:prstGeom prst="roundRect">
            <a:avLst>
              <a:gd name="adj" fmla="val 1684"/>
            </a:avLst>
          </a:prstGeom>
          <a:solidFill>
            <a:srgbClr val="FFFFFF"/>
          </a:solidFill>
          <a:ln w="12700">
            <a:solidFill>
              <a:srgbClr val="B8C7D8"/>
            </a:solidFill>
            <a:prstDash val="solid"/>
          </a:ln>
        </p:spPr>
      </p:sp>
      <p:sp>
        <p:nvSpPr>
          <p:cNvPr id="8" name="Shape 5"/>
          <p:cNvSpPr/>
          <p:nvPr/>
        </p:nvSpPr>
        <p:spPr>
          <a:xfrm flipV="1">
            <a:off x="1837944" y="2114550"/>
            <a:ext cx="1627632" cy="140970"/>
          </a:xfrm>
          <a:prstGeom prst="line">
            <a:avLst/>
          </a:prstGeom>
          <a:noFill/>
          <a:ln w="12700">
            <a:solidFill>
              <a:srgbClr val="B0BCCB"/>
            </a:solidFill>
            <a:prstDash val="solid"/>
          </a:ln>
        </p:spPr>
      </p:sp>
      <p:sp>
        <p:nvSpPr>
          <p:cNvPr id="9" name="Shape 6"/>
          <p:cNvSpPr/>
          <p:nvPr/>
        </p:nvSpPr>
        <p:spPr>
          <a:xfrm>
            <a:off x="1837944" y="2255520"/>
            <a:ext cx="1627632" cy="704850"/>
          </a:xfrm>
          <a:prstGeom prst="line">
            <a:avLst/>
          </a:prstGeom>
          <a:noFill/>
          <a:ln w="12700">
            <a:solidFill>
              <a:srgbClr val="B0BCCB"/>
            </a:solidFill>
            <a:prstDash val="solid"/>
          </a:ln>
        </p:spPr>
      </p:sp>
      <p:sp>
        <p:nvSpPr>
          <p:cNvPr id="10" name="Shape 7"/>
          <p:cNvSpPr/>
          <p:nvPr/>
        </p:nvSpPr>
        <p:spPr>
          <a:xfrm>
            <a:off x="1837944" y="2255520"/>
            <a:ext cx="1627632" cy="1550670"/>
          </a:xfrm>
          <a:prstGeom prst="line">
            <a:avLst/>
          </a:prstGeom>
          <a:noFill/>
          <a:ln w="12700">
            <a:solidFill>
              <a:srgbClr val="B0BCCB"/>
            </a:solidFill>
            <a:prstDash val="solid"/>
          </a:ln>
        </p:spPr>
      </p:sp>
      <p:sp>
        <p:nvSpPr>
          <p:cNvPr id="11" name="Shape 8"/>
          <p:cNvSpPr/>
          <p:nvPr/>
        </p:nvSpPr>
        <p:spPr>
          <a:xfrm>
            <a:off x="1837944" y="2255520"/>
            <a:ext cx="1627632" cy="2396490"/>
          </a:xfrm>
          <a:prstGeom prst="line">
            <a:avLst/>
          </a:prstGeom>
          <a:noFill/>
          <a:ln w="12700">
            <a:solidFill>
              <a:srgbClr val="B0BCCB"/>
            </a:solidFill>
            <a:prstDash val="solid"/>
          </a:ln>
        </p:spPr>
      </p:sp>
      <p:sp>
        <p:nvSpPr>
          <p:cNvPr id="12" name="Shape 9"/>
          <p:cNvSpPr/>
          <p:nvPr/>
        </p:nvSpPr>
        <p:spPr>
          <a:xfrm flipV="1">
            <a:off x="1837944" y="2114550"/>
            <a:ext cx="1627632" cy="1268730"/>
          </a:xfrm>
          <a:prstGeom prst="line">
            <a:avLst/>
          </a:prstGeom>
          <a:noFill/>
          <a:ln w="12700">
            <a:solidFill>
              <a:srgbClr val="B0BCCB"/>
            </a:solidFill>
            <a:prstDash val="solid"/>
          </a:ln>
        </p:spPr>
      </p:sp>
      <p:sp>
        <p:nvSpPr>
          <p:cNvPr id="13" name="Shape 10"/>
          <p:cNvSpPr/>
          <p:nvPr/>
        </p:nvSpPr>
        <p:spPr>
          <a:xfrm flipV="1">
            <a:off x="1837944" y="2960370"/>
            <a:ext cx="1627632" cy="422910"/>
          </a:xfrm>
          <a:prstGeom prst="line">
            <a:avLst/>
          </a:prstGeom>
          <a:noFill/>
          <a:ln w="12700">
            <a:solidFill>
              <a:srgbClr val="B0BCCB"/>
            </a:solidFill>
            <a:prstDash val="solid"/>
          </a:ln>
        </p:spPr>
      </p:sp>
      <p:sp>
        <p:nvSpPr>
          <p:cNvPr id="14" name="Shape 11"/>
          <p:cNvSpPr/>
          <p:nvPr/>
        </p:nvSpPr>
        <p:spPr>
          <a:xfrm>
            <a:off x="1837944" y="3383280"/>
            <a:ext cx="1627632" cy="422910"/>
          </a:xfrm>
          <a:prstGeom prst="line">
            <a:avLst/>
          </a:prstGeom>
          <a:noFill/>
          <a:ln w="12700">
            <a:solidFill>
              <a:srgbClr val="B0BCCB"/>
            </a:solidFill>
            <a:prstDash val="solid"/>
          </a:ln>
        </p:spPr>
      </p:sp>
      <p:sp>
        <p:nvSpPr>
          <p:cNvPr id="15" name="Shape 12"/>
          <p:cNvSpPr/>
          <p:nvPr/>
        </p:nvSpPr>
        <p:spPr>
          <a:xfrm>
            <a:off x="1837944" y="3383280"/>
            <a:ext cx="1627632" cy="1268730"/>
          </a:xfrm>
          <a:prstGeom prst="line">
            <a:avLst/>
          </a:prstGeom>
          <a:noFill/>
          <a:ln w="12700">
            <a:solidFill>
              <a:srgbClr val="B0BCCB"/>
            </a:solidFill>
            <a:prstDash val="solid"/>
          </a:ln>
        </p:spPr>
      </p:sp>
      <p:sp>
        <p:nvSpPr>
          <p:cNvPr id="16" name="Shape 13"/>
          <p:cNvSpPr/>
          <p:nvPr/>
        </p:nvSpPr>
        <p:spPr>
          <a:xfrm flipV="1">
            <a:off x="1837944" y="2114550"/>
            <a:ext cx="1627632" cy="2396490"/>
          </a:xfrm>
          <a:prstGeom prst="line">
            <a:avLst/>
          </a:prstGeom>
          <a:noFill/>
          <a:ln w="12700">
            <a:solidFill>
              <a:srgbClr val="B0BCCB"/>
            </a:solidFill>
            <a:prstDash val="solid"/>
          </a:ln>
        </p:spPr>
      </p:sp>
      <p:sp>
        <p:nvSpPr>
          <p:cNvPr id="17" name="Shape 14"/>
          <p:cNvSpPr/>
          <p:nvPr/>
        </p:nvSpPr>
        <p:spPr>
          <a:xfrm flipV="1">
            <a:off x="1837944" y="2960370"/>
            <a:ext cx="1627632" cy="1550670"/>
          </a:xfrm>
          <a:prstGeom prst="line">
            <a:avLst/>
          </a:prstGeom>
          <a:noFill/>
          <a:ln w="12700">
            <a:solidFill>
              <a:srgbClr val="B0BCCB"/>
            </a:solidFill>
            <a:prstDash val="solid"/>
          </a:ln>
        </p:spPr>
      </p:sp>
      <p:sp>
        <p:nvSpPr>
          <p:cNvPr id="18" name="Shape 15"/>
          <p:cNvSpPr/>
          <p:nvPr/>
        </p:nvSpPr>
        <p:spPr>
          <a:xfrm flipV="1">
            <a:off x="1837944" y="3806190"/>
            <a:ext cx="1627632" cy="704850"/>
          </a:xfrm>
          <a:prstGeom prst="line">
            <a:avLst/>
          </a:prstGeom>
          <a:noFill/>
          <a:ln w="12700">
            <a:solidFill>
              <a:srgbClr val="B0BCCB"/>
            </a:solidFill>
            <a:prstDash val="solid"/>
          </a:ln>
        </p:spPr>
      </p:sp>
      <p:sp>
        <p:nvSpPr>
          <p:cNvPr id="19" name="Shape 16"/>
          <p:cNvSpPr/>
          <p:nvPr/>
        </p:nvSpPr>
        <p:spPr>
          <a:xfrm>
            <a:off x="1837944" y="4511040"/>
            <a:ext cx="1627632" cy="140970"/>
          </a:xfrm>
          <a:prstGeom prst="line">
            <a:avLst/>
          </a:prstGeom>
          <a:noFill/>
          <a:ln w="12700">
            <a:solidFill>
              <a:srgbClr val="B0BCCB"/>
            </a:solidFill>
            <a:prstDash val="solid"/>
          </a:ln>
        </p:spPr>
      </p:sp>
      <p:sp>
        <p:nvSpPr>
          <p:cNvPr id="20" name="Shape 17"/>
          <p:cNvSpPr/>
          <p:nvPr/>
        </p:nvSpPr>
        <p:spPr>
          <a:xfrm>
            <a:off x="4032504" y="2114550"/>
            <a:ext cx="1627632" cy="1268730"/>
          </a:xfrm>
          <a:prstGeom prst="line">
            <a:avLst/>
          </a:prstGeom>
          <a:noFill/>
          <a:ln w="12700">
            <a:solidFill>
              <a:srgbClr val="B0BCCB"/>
            </a:solidFill>
            <a:prstDash val="solid"/>
          </a:ln>
        </p:spPr>
      </p:sp>
      <p:sp>
        <p:nvSpPr>
          <p:cNvPr id="21" name="Shape 18"/>
          <p:cNvSpPr/>
          <p:nvPr/>
        </p:nvSpPr>
        <p:spPr>
          <a:xfrm>
            <a:off x="4032504" y="2960370"/>
            <a:ext cx="1627632" cy="422910"/>
          </a:xfrm>
          <a:prstGeom prst="line">
            <a:avLst/>
          </a:prstGeom>
          <a:noFill/>
          <a:ln w="12700">
            <a:solidFill>
              <a:srgbClr val="B0BCCB"/>
            </a:solidFill>
            <a:prstDash val="solid"/>
          </a:ln>
        </p:spPr>
      </p:sp>
      <p:sp>
        <p:nvSpPr>
          <p:cNvPr id="22" name="Shape 19"/>
          <p:cNvSpPr/>
          <p:nvPr/>
        </p:nvSpPr>
        <p:spPr>
          <a:xfrm flipV="1">
            <a:off x="4032504" y="3383280"/>
            <a:ext cx="1627632" cy="422910"/>
          </a:xfrm>
          <a:prstGeom prst="line">
            <a:avLst/>
          </a:prstGeom>
          <a:noFill/>
          <a:ln w="12700">
            <a:solidFill>
              <a:srgbClr val="B0BCCB"/>
            </a:solidFill>
            <a:prstDash val="solid"/>
          </a:ln>
        </p:spPr>
      </p:sp>
      <p:sp>
        <p:nvSpPr>
          <p:cNvPr id="23" name="Shape 20"/>
          <p:cNvSpPr/>
          <p:nvPr/>
        </p:nvSpPr>
        <p:spPr>
          <a:xfrm flipV="1">
            <a:off x="4032504" y="3383280"/>
            <a:ext cx="1627632" cy="1268730"/>
          </a:xfrm>
          <a:prstGeom prst="line">
            <a:avLst/>
          </a:prstGeom>
          <a:noFill/>
          <a:ln w="12700">
            <a:solidFill>
              <a:srgbClr val="B0BCCB"/>
            </a:solidFill>
            <a:prstDash val="solid"/>
          </a:ln>
        </p:spPr>
      </p:sp>
      <p:sp>
        <p:nvSpPr>
          <p:cNvPr id="24" name="Shape 21"/>
          <p:cNvSpPr/>
          <p:nvPr/>
        </p:nvSpPr>
        <p:spPr>
          <a:xfrm>
            <a:off x="1271016" y="1972056"/>
            <a:ext cx="566928" cy="566928"/>
          </a:xfrm>
          <a:prstGeom prst="ellipse">
            <a:avLst/>
          </a:prstGeom>
          <a:solidFill>
            <a:srgbClr val="EAF2F8"/>
          </a:solidFill>
          <a:ln w="19050">
            <a:solidFill>
              <a:srgbClr val="1F5D9B"/>
            </a:solidFill>
            <a:prstDash val="solid"/>
          </a:ln>
        </p:spPr>
      </p:sp>
      <p:sp>
        <p:nvSpPr>
          <p:cNvPr id="25" name="Text 22"/>
          <p:cNvSpPr txBox="1"/>
          <p:nvPr/>
        </p:nvSpPr>
        <p:spPr>
          <a:xfrm>
            <a:off x="1179576" y="1972056"/>
            <a:ext cx="749808" cy="566928"/>
          </a:xfrm>
          <a:prstGeom prst="rect">
            <a:avLst/>
          </a:prstGeom>
          <a:noFill/>
          <a:ln/>
        </p:spPr>
        <p:txBody>
          <a:bodyPr wrap="square" lIns="0" tIns="0" rIns="0" bIns="0" rtlCol="0" anchor="ctr"/>
          <a:lstStyle/>
          <a:p>
            <a:pPr algn="ctr" indent="0" marL="0">
              <a:buNone/>
            </a:pPr>
            <a:endParaRPr lang="en-US" sz="1600" dirty="0"/>
          </a:p>
        </p:txBody>
      </p:sp>
      <p:sp>
        <p:nvSpPr>
          <p:cNvPr id="26" name="Shape 23"/>
          <p:cNvSpPr/>
          <p:nvPr/>
        </p:nvSpPr>
        <p:spPr>
          <a:xfrm>
            <a:off x="1271016" y="3099816"/>
            <a:ext cx="566928" cy="566928"/>
          </a:xfrm>
          <a:prstGeom prst="ellipse">
            <a:avLst/>
          </a:prstGeom>
          <a:solidFill>
            <a:srgbClr val="EAF2F8"/>
          </a:solidFill>
          <a:ln w="19050">
            <a:solidFill>
              <a:srgbClr val="1F5D9B"/>
            </a:solidFill>
            <a:prstDash val="solid"/>
          </a:ln>
        </p:spPr>
      </p:sp>
      <p:sp>
        <p:nvSpPr>
          <p:cNvPr id="27" name="Text 24"/>
          <p:cNvSpPr txBox="1"/>
          <p:nvPr/>
        </p:nvSpPr>
        <p:spPr>
          <a:xfrm>
            <a:off x="1179576" y="3099816"/>
            <a:ext cx="749808" cy="566928"/>
          </a:xfrm>
          <a:prstGeom prst="rect">
            <a:avLst/>
          </a:prstGeom>
          <a:noFill/>
          <a:ln/>
        </p:spPr>
        <p:txBody>
          <a:bodyPr wrap="square" lIns="0" tIns="0" rIns="0" bIns="0" rtlCol="0" anchor="ctr"/>
          <a:lstStyle/>
          <a:p>
            <a:pPr algn="ctr" indent="0" marL="0">
              <a:buNone/>
            </a:pPr>
            <a:endParaRPr lang="en-US" sz="1600" dirty="0"/>
          </a:p>
        </p:txBody>
      </p:sp>
      <p:sp>
        <p:nvSpPr>
          <p:cNvPr id="28" name="Shape 25"/>
          <p:cNvSpPr/>
          <p:nvPr/>
        </p:nvSpPr>
        <p:spPr>
          <a:xfrm>
            <a:off x="1271016" y="4227576"/>
            <a:ext cx="566928" cy="566928"/>
          </a:xfrm>
          <a:prstGeom prst="ellipse">
            <a:avLst/>
          </a:prstGeom>
          <a:solidFill>
            <a:srgbClr val="EAF2F8"/>
          </a:solidFill>
          <a:ln w="19050">
            <a:solidFill>
              <a:srgbClr val="1F5D9B"/>
            </a:solidFill>
            <a:prstDash val="solid"/>
          </a:ln>
        </p:spPr>
      </p:sp>
      <p:sp>
        <p:nvSpPr>
          <p:cNvPr id="29" name="Text 26"/>
          <p:cNvSpPr txBox="1"/>
          <p:nvPr/>
        </p:nvSpPr>
        <p:spPr>
          <a:xfrm>
            <a:off x="1179576" y="4227576"/>
            <a:ext cx="749808" cy="566928"/>
          </a:xfrm>
          <a:prstGeom prst="rect">
            <a:avLst/>
          </a:prstGeom>
          <a:noFill/>
          <a:ln/>
        </p:spPr>
        <p:txBody>
          <a:bodyPr wrap="square" lIns="0" tIns="0" rIns="0" bIns="0" rtlCol="0" anchor="ctr"/>
          <a:lstStyle/>
          <a:p>
            <a:pPr algn="ctr" indent="0" marL="0">
              <a:buNone/>
            </a:pPr>
            <a:endParaRPr lang="en-US" sz="1600" dirty="0"/>
          </a:p>
        </p:txBody>
      </p:sp>
      <p:sp>
        <p:nvSpPr>
          <p:cNvPr id="30" name="Shape 27"/>
          <p:cNvSpPr/>
          <p:nvPr/>
        </p:nvSpPr>
        <p:spPr>
          <a:xfrm>
            <a:off x="3465576" y="1831086"/>
            <a:ext cx="566928" cy="566928"/>
          </a:xfrm>
          <a:prstGeom prst="ellipse">
            <a:avLst/>
          </a:prstGeom>
          <a:solidFill>
            <a:srgbClr val="FFFFFF"/>
          </a:solidFill>
          <a:ln w="19050">
            <a:solidFill>
              <a:srgbClr val="0B2D55"/>
            </a:solidFill>
            <a:prstDash val="solid"/>
          </a:ln>
        </p:spPr>
      </p:sp>
      <p:sp>
        <p:nvSpPr>
          <p:cNvPr id="31" name="Text 28"/>
          <p:cNvSpPr txBox="1"/>
          <p:nvPr/>
        </p:nvSpPr>
        <p:spPr>
          <a:xfrm>
            <a:off x="3374136" y="1831086"/>
            <a:ext cx="749808" cy="566928"/>
          </a:xfrm>
          <a:prstGeom prst="rect">
            <a:avLst/>
          </a:prstGeom>
          <a:noFill/>
          <a:ln/>
        </p:spPr>
        <p:txBody>
          <a:bodyPr wrap="square" lIns="0" tIns="0" rIns="0" bIns="0" rtlCol="0" anchor="ctr"/>
          <a:lstStyle/>
          <a:p>
            <a:pPr algn="ctr" indent="0" marL="0">
              <a:buNone/>
            </a:pPr>
            <a:endParaRPr lang="en-US" sz="1600" dirty="0"/>
          </a:p>
        </p:txBody>
      </p:sp>
      <p:sp>
        <p:nvSpPr>
          <p:cNvPr id="32" name="Shape 29"/>
          <p:cNvSpPr/>
          <p:nvPr/>
        </p:nvSpPr>
        <p:spPr>
          <a:xfrm>
            <a:off x="3465576" y="2676906"/>
            <a:ext cx="566928" cy="566928"/>
          </a:xfrm>
          <a:prstGeom prst="ellipse">
            <a:avLst/>
          </a:prstGeom>
          <a:solidFill>
            <a:srgbClr val="FFFFFF"/>
          </a:solidFill>
          <a:ln w="19050">
            <a:solidFill>
              <a:srgbClr val="0B2D55"/>
            </a:solidFill>
            <a:prstDash val="solid"/>
          </a:ln>
        </p:spPr>
      </p:sp>
      <p:sp>
        <p:nvSpPr>
          <p:cNvPr id="33" name="Text 30"/>
          <p:cNvSpPr txBox="1"/>
          <p:nvPr/>
        </p:nvSpPr>
        <p:spPr>
          <a:xfrm>
            <a:off x="3374136" y="2676906"/>
            <a:ext cx="749808" cy="566928"/>
          </a:xfrm>
          <a:prstGeom prst="rect">
            <a:avLst/>
          </a:prstGeom>
          <a:noFill/>
          <a:ln/>
        </p:spPr>
        <p:txBody>
          <a:bodyPr wrap="square" lIns="0" tIns="0" rIns="0" bIns="0" rtlCol="0" anchor="ctr"/>
          <a:lstStyle/>
          <a:p>
            <a:pPr algn="ctr" indent="0" marL="0">
              <a:buNone/>
            </a:pPr>
            <a:endParaRPr lang="en-US" sz="1600" dirty="0"/>
          </a:p>
        </p:txBody>
      </p:sp>
      <p:sp>
        <p:nvSpPr>
          <p:cNvPr id="34" name="Shape 31"/>
          <p:cNvSpPr/>
          <p:nvPr/>
        </p:nvSpPr>
        <p:spPr>
          <a:xfrm>
            <a:off x="3465576" y="3522726"/>
            <a:ext cx="566928" cy="566928"/>
          </a:xfrm>
          <a:prstGeom prst="ellipse">
            <a:avLst/>
          </a:prstGeom>
          <a:solidFill>
            <a:srgbClr val="FFFFFF"/>
          </a:solidFill>
          <a:ln w="19050">
            <a:solidFill>
              <a:srgbClr val="0B2D55"/>
            </a:solidFill>
            <a:prstDash val="solid"/>
          </a:ln>
        </p:spPr>
      </p:sp>
      <p:sp>
        <p:nvSpPr>
          <p:cNvPr id="35" name="Text 32"/>
          <p:cNvSpPr txBox="1"/>
          <p:nvPr/>
        </p:nvSpPr>
        <p:spPr>
          <a:xfrm>
            <a:off x="3374136" y="3522726"/>
            <a:ext cx="749808" cy="566928"/>
          </a:xfrm>
          <a:prstGeom prst="rect">
            <a:avLst/>
          </a:prstGeom>
          <a:noFill/>
          <a:ln/>
        </p:spPr>
        <p:txBody>
          <a:bodyPr wrap="square" lIns="0" tIns="0" rIns="0" bIns="0" rtlCol="0" anchor="ctr"/>
          <a:lstStyle/>
          <a:p>
            <a:pPr algn="ctr" indent="0" marL="0">
              <a:buNone/>
            </a:pPr>
            <a:endParaRPr lang="en-US" sz="1600" dirty="0"/>
          </a:p>
        </p:txBody>
      </p:sp>
      <p:sp>
        <p:nvSpPr>
          <p:cNvPr id="36" name="Shape 33"/>
          <p:cNvSpPr/>
          <p:nvPr/>
        </p:nvSpPr>
        <p:spPr>
          <a:xfrm>
            <a:off x="3465576" y="4368546"/>
            <a:ext cx="566928" cy="566928"/>
          </a:xfrm>
          <a:prstGeom prst="ellipse">
            <a:avLst/>
          </a:prstGeom>
          <a:solidFill>
            <a:srgbClr val="FFFFFF"/>
          </a:solidFill>
          <a:ln w="19050">
            <a:solidFill>
              <a:srgbClr val="0B2D55"/>
            </a:solidFill>
            <a:prstDash val="solid"/>
          </a:ln>
        </p:spPr>
      </p:sp>
      <p:sp>
        <p:nvSpPr>
          <p:cNvPr id="37" name="Text 34"/>
          <p:cNvSpPr txBox="1"/>
          <p:nvPr/>
        </p:nvSpPr>
        <p:spPr>
          <a:xfrm>
            <a:off x="3374136" y="4368546"/>
            <a:ext cx="749808" cy="566928"/>
          </a:xfrm>
          <a:prstGeom prst="rect">
            <a:avLst/>
          </a:prstGeom>
          <a:noFill/>
          <a:ln/>
        </p:spPr>
        <p:txBody>
          <a:bodyPr wrap="square" lIns="0" tIns="0" rIns="0" bIns="0" rtlCol="0" anchor="ctr"/>
          <a:lstStyle/>
          <a:p>
            <a:pPr algn="ctr" indent="0" marL="0">
              <a:buNone/>
            </a:pPr>
            <a:endParaRPr lang="en-US" sz="1600" dirty="0"/>
          </a:p>
        </p:txBody>
      </p:sp>
      <p:sp>
        <p:nvSpPr>
          <p:cNvPr id="38" name="Shape 35"/>
          <p:cNvSpPr/>
          <p:nvPr/>
        </p:nvSpPr>
        <p:spPr>
          <a:xfrm>
            <a:off x="5660136" y="3099816"/>
            <a:ext cx="566928" cy="566928"/>
          </a:xfrm>
          <a:prstGeom prst="ellipse">
            <a:avLst/>
          </a:prstGeom>
          <a:solidFill>
            <a:srgbClr val="DFF0D8"/>
          </a:solidFill>
          <a:ln w="19050">
            <a:solidFill>
              <a:srgbClr val="2E7D32"/>
            </a:solidFill>
            <a:prstDash val="solid"/>
          </a:ln>
        </p:spPr>
      </p:sp>
      <p:sp>
        <p:nvSpPr>
          <p:cNvPr id="39" name="Text 36"/>
          <p:cNvSpPr txBox="1"/>
          <p:nvPr/>
        </p:nvSpPr>
        <p:spPr>
          <a:xfrm>
            <a:off x="5568696" y="3099816"/>
            <a:ext cx="749808" cy="566928"/>
          </a:xfrm>
          <a:prstGeom prst="rect">
            <a:avLst/>
          </a:prstGeom>
          <a:noFill/>
          <a:ln/>
        </p:spPr>
        <p:txBody>
          <a:bodyPr wrap="square" lIns="0" tIns="0" rIns="0" bIns="0" rtlCol="0" anchor="ctr"/>
          <a:lstStyle/>
          <a:p>
            <a:pPr algn="ctr" indent="0" marL="0">
              <a:buNone/>
            </a:pPr>
            <a:endParaRPr lang="en-US" sz="1600" dirty="0"/>
          </a:p>
        </p:txBody>
      </p:sp>
      <p:sp>
        <p:nvSpPr>
          <p:cNvPr id="40" name="Text 37"/>
          <p:cNvSpPr txBox="1"/>
          <p:nvPr/>
        </p:nvSpPr>
        <p:spPr>
          <a:xfrm>
            <a:off x="640080" y="5166360"/>
            <a:ext cx="1828800" cy="457200"/>
          </a:xfrm>
          <a:prstGeom prst="rect">
            <a:avLst/>
          </a:prstGeom>
          <a:noFill/>
          <a:ln/>
        </p:spPr>
        <p:txBody>
          <a:bodyPr wrap="square" lIns="0" tIns="0" rIns="0" bIns="0" rtlCol="0" anchor="t"/>
          <a:lstStyle/>
          <a:p>
            <a:pPr algn="ctr" indent="0" marL="0">
              <a:buNone/>
            </a:pPr>
            <a:r>
              <a:rPr lang="en-US" sz="1300" b="1" dirty="0">
                <a:solidFill>
                  <a:srgbClr val="0B2D55"/>
                </a:solidFill>
                <a:latin typeface="Aptos" pitchFamily="34" charset="0"/>
                <a:ea typeface="Aptos" pitchFamily="34" charset="-122"/>
                <a:cs typeface="Aptos" pitchFamily="34" charset="-120"/>
              </a:rPr>
              <a:t>Input layer</a:t>
            </a:r>
            <a:endParaRPr lang="en-US" sz="1300" dirty="0"/>
          </a:p>
        </p:txBody>
      </p:sp>
      <p:sp>
        <p:nvSpPr>
          <p:cNvPr id="41" name="Text 38"/>
          <p:cNvSpPr txBox="1"/>
          <p:nvPr/>
        </p:nvSpPr>
        <p:spPr>
          <a:xfrm>
            <a:off x="2834640" y="5166360"/>
            <a:ext cx="1828800" cy="457200"/>
          </a:xfrm>
          <a:prstGeom prst="rect">
            <a:avLst/>
          </a:prstGeom>
          <a:noFill/>
          <a:ln/>
        </p:spPr>
        <p:txBody>
          <a:bodyPr wrap="square" lIns="0" tIns="0" rIns="0" bIns="0" rtlCol="0" anchor="t"/>
          <a:lstStyle/>
          <a:p>
            <a:pPr algn="ctr" indent="0" marL="0">
              <a:buNone/>
            </a:pPr>
            <a:r>
              <a:rPr lang="en-US" sz="1300" b="1" dirty="0">
                <a:solidFill>
                  <a:srgbClr val="0B2D55"/>
                </a:solidFill>
                <a:latin typeface="Aptos" pitchFamily="34" charset="0"/>
                <a:ea typeface="Aptos" pitchFamily="34" charset="-122"/>
                <a:cs typeface="Aptos" pitchFamily="34" charset="-120"/>
              </a:rPr>
              <a:t>Hidden layer (ReLU)</a:t>
            </a:r>
            <a:endParaRPr lang="en-US" sz="1300" dirty="0"/>
          </a:p>
        </p:txBody>
      </p:sp>
      <p:sp>
        <p:nvSpPr>
          <p:cNvPr id="42" name="Text 39"/>
          <p:cNvSpPr txBox="1"/>
          <p:nvPr/>
        </p:nvSpPr>
        <p:spPr>
          <a:xfrm>
            <a:off x="5029200" y="5166360"/>
            <a:ext cx="1828800" cy="457200"/>
          </a:xfrm>
          <a:prstGeom prst="rect">
            <a:avLst/>
          </a:prstGeom>
          <a:noFill/>
          <a:ln/>
        </p:spPr>
        <p:txBody>
          <a:bodyPr wrap="square" lIns="0" tIns="0" rIns="0" bIns="0" rtlCol="0" anchor="t"/>
          <a:lstStyle/>
          <a:p>
            <a:pPr algn="ctr" indent="0" marL="0">
              <a:buNone/>
            </a:pPr>
            <a:r>
              <a:rPr lang="en-US" sz="1300" b="1" dirty="0">
                <a:solidFill>
                  <a:srgbClr val="0B2D55"/>
                </a:solidFill>
                <a:latin typeface="Aptos" pitchFamily="34" charset="0"/>
                <a:ea typeface="Aptos" pitchFamily="34" charset="-122"/>
                <a:cs typeface="Aptos" pitchFamily="34" charset="-120"/>
              </a:rPr>
              <a:t>Output (sigmoid)</a:t>
            </a:r>
            <a:endParaRPr lang="en-US" sz="1300" dirty="0"/>
          </a:p>
        </p:txBody>
      </p:sp>
      <p:sp>
        <p:nvSpPr>
          <p:cNvPr id="43" name="Shape 40"/>
          <p:cNvSpPr/>
          <p:nvPr/>
        </p:nvSpPr>
        <p:spPr>
          <a:xfrm>
            <a:off x="7132320" y="1508760"/>
            <a:ext cx="4480560" cy="914400"/>
          </a:xfrm>
          <a:prstGeom prst="roundRect">
            <a:avLst>
              <a:gd name="adj" fmla="val 8000"/>
            </a:avLst>
          </a:prstGeom>
          <a:solidFill>
            <a:srgbClr val="EAF2F8"/>
          </a:solidFill>
          <a:ln w="12700">
            <a:solidFill>
              <a:srgbClr val="1F5D9B"/>
            </a:solidFill>
            <a:prstDash val="solid"/>
          </a:ln>
        </p:spPr>
      </p:sp>
      <p:sp>
        <p:nvSpPr>
          <p:cNvPr id="44" name="Text 41"/>
          <p:cNvSpPr txBox="1"/>
          <p:nvPr/>
        </p:nvSpPr>
        <p:spPr>
          <a:xfrm>
            <a:off x="7315200" y="1618488"/>
            <a:ext cx="4114800" cy="292608"/>
          </a:xfrm>
          <a:prstGeom prst="rect">
            <a:avLst/>
          </a:prstGeom>
          <a:noFill/>
          <a:ln/>
        </p:spPr>
        <p:txBody>
          <a:bodyPr wrap="square" lIns="0" tIns="0" rIns="0" bIns="0" rtlCol="0" anchor="t"/>
          <a:lstStyle/>
          <a:p>
            <a:pPr indent="0" marL="0">
              <a:buNone/>
            </a:pPr>
            <a:r>
              <a:rPr lang="en-US" sz="1500" b="1" dirty="0">
                <a:solidFill>
                  <a:srgbClr val="0B2D55"/>
                </a:solidFill>
                <a:latin typeface="Aptos" pitchFamily="34" charset="0"/>
                <a:ea typeface="Aptos" pitchFamily="34" charset="-122"/>
                <a:cs typeface="Aptos" pitchFamily="34" charset="-120"/>
              </a:rPr>
              <a:t>Feedforward</a:t>
            </a:r>
            <a:endParaRPr lang="en-US" sz="1500" dirty="0"/>
          </a:p>
        </p:txBody>
      </p:sp>
      <p:sp>
        <p:nvSpPr>
          <p:cNvPr id="45" name="Text 42"/>
          <p:cNvSpPr txBox="1"/>
          <p:nvPr/>
        </p:nvSpPr>
        <p:spPr>
          <a:xfrm>
            <a:off x="7315200" y="1947672"/>
            <a:ext cx="4114800" cy="384048"/>
          </a:xfrm>
          <a:prstGeom prst="rect">
            <a:avLst/>
          </a:prstGeom>
          <a:noFill/>
          <a:ln/>
        </p:spPr>
        <p:txBody>
          <a:bodyPr wrap="square" lIns="0" tIns="0" rIns="0" bIns="0" rtlCol="0" anchor="t"/>
          <a:lstStyle/>
          <a:p>
            <a:pPr indent="0" marL="0">
              <a:buNone/>
            </a:pPr>
            <a:r>
              <a:rPr lang="en-US" sz="1450" dirty="0">
                <a:solidFill>
                  <a:srgbClr val="132033"/>
                </a:solidFill>
                <a:latin typeface="Aptos" pitchFamily="34" charset="0"/>
                <a:ea typeface="Aptos" pitchFamily="34" charset="-122"/>
                <a:cs typeface="Aptos" pitchFamily="34" charset="-120"/>
              </a:rPr>
              <a:t>Values flow left to right, no loops.</a:t>
            </a:r>
            <a:endParaRPr lang="en-US" sz="1450" dirty="0"/>
          </a:p>
        </p:txBody>
      </p:sp>
      <p:sp>
        <p:nvSpPr>
          <p:cNvPr id="46" name="Shape 43"/>
          <p:cNvSpPr/>
          <p:nvPr/>
        </p:nvSpPr>
        <p:spPr>
          <a:xfrm>
            <a:off x="7132320" y="2532888"/>
            <a:ext cx="4480560" cy="914400"/>
          </a:xfrm>
          <a:prstGeom prst="roundRect">
            <a:avLst>
              <a:gd name="adj" fmla="val 8000"/>
            </a:avLst>
          </a:prstGeom>
          <a:solidFill>
            <a:srgbClr val="FFFFFF"/>
          </a:solidFill>
          <a:ln w="12700">
            <a:solidFill>
              <a:srgbClr val="B8C7D8"/>
            </a:solidFill>
            <a:prstDash val="solid"/>
          </a:ln>
        </p:spPr>
      </p:sp>
      <p:sp>
        <p:nvSpPr>
          <p:cNvPr id="47" name="Text 44"/>
          <p:cNvSpPr txBox="1"/>
          <p:nvPr/>
        </p:nvSpPr>
        <p:spPr>
          <a:xfrm>
            <a:off x="7315200" y="2642616"/>
            <a:ext cx="4114800" cy="292608"/>
          </a:xfrm>
          <a:prstGeom prst="rect">
            <a:avLst/>
          </a:prstGeom>
          <a:noFill/>
          <a:ln/>
        </p:spPr>
        <p:txBody>
          <a:bodyPr wrap="square" lIns="0" tIns="0" rIns="0" bIns="0" rtlCol="0" anchor="t"/>
          <a:lstStyle/>
          <a:p>
            <a:pPr indent="0" marL="0">
              <a:buNone/>
            </a:pPr>
            <a:r>
              <a:rPr lang="en-US" sz="1500" b="1" dirty="0">
                <a:solidFill>
                  <a:srgbClr val="0B2D55"/>
                </a:solidFill>
                <a:latin typeface="Aptos" pitchFamily="34" charset="0"/>
                <a:ea typeface="Aptos" pitchFamily="34" charset="-122"/>
                <a:cs typeface="Aptos" pitchFamily="34" charset="-120"/>
              </a:rPr>
              <a:t>Fully connected</a:t>
            </a:r>
            <a:endParaRPr lang="en-US" sz="1500" dirty="0"/>
          </a:p>
        </p:txBody>
      </p:sp>
      <p:sp>
        <p:nvSpPr>
          <p:cNvPr id="48" name="Text 45"/>
          <p:cNvSpPr txBox="1"/>
          <p:nvPr/>
        </p:nvSpPr>
        <p:spPr>
          <a:xfrm>
            <a:off x="7315200" y="2971800"/>
            <a:ext cx="4114800" cy="384048"/>
          </a:xfrm>
          <a:prstGeom prst="rect">
            <a:avLst/>
          </a:prstGeom>
          <a:noFill/>
          <a:ln/>
        </p:spPr>
        <p:txBody>
          <a:bodyPr wrap="square" lIns="0" tIns="0" rIns="0" bIns="0" rtlCol="0" anchor="t"/>
          <a:lstStyle/>
          <a:p>
            <a:pPr indent="0" marL="0">
              <a:buNone/>
            </a:pPr>
            <a:r>
              <a:rPr lang="en-US" sz="1450" dirty="0">
                <a:solidFill>
                  <a:srgbClr val="132033"/>
                </a:solidFill>
                <a:latin typeface="Aptos" pitchFamily="34" charset="0"/>
                <a:ea typeface="Aptos" pitchFamily="34" charset="-122"/>
                <a:cs typeface="Aptos" pitchFamily="34" charset="-120"/>
              </a:rPr>
              <a:t>Each neuron takes every value from the layer before.</a:t>
            </a:r>
            <a:endParaRPr lang="en-US" sz="1450" dirty="0"/>
          </a:p>
        </p:txBody>
      </p:sp>
      <p:sp>
        <p:nvSpPr>
          <p:cNvPr id="49" name="Shape 46"/>
          <p:cNvSpPr/>
          <p:nvPr/>
        </p:nvSpPr>
        <p:spPr>
          <a:xfrm>
            <a:off x="7132320" y="3557016"/>
            <a:ext cx="4480560" cy="914400"/>
          </a:xfrm>
          <a:prstGeom prst="roundRect">
            <a:avLst>
              <a:gd name="adj" fmla="val 8000"/>
            </a:avLst>
          </a:prstGeom>
          <a:solidFill>
            <a:srgbClr val="FFFFFF"/>
          </a:solidFill>
          <a:ln w="12700">
            <a:solidFill>
              <a:srgbClr val="B8C7D8"/>
            </a:solidFill>
            <a:prstDash val="solid"/>
          </a:ln>
        </p:spPr>
      </p:sp>
      <p:sp>
        <p:nvSpPr>
          <p:cNvPr id="50" name="Text 47"/>
          <p:cNvSpPr txBox="1"/>
          <p:nvPr/>
        </p:nvSpPr>
        <p:spPr>
          <a:xfrm>
            <a:off x="7315200" y="3666744"/>
            <a:ext cx="4114800" cy="292608"/>
          </a:xfrm>
          <a:prstGeom prst="rect">
            <a:avLst/>
          </a:prstGeom>
          <a:noFill/>
          <a:ln/>
        </p:spPr>
        <p:txBody>
          <a:bodyPr wrap="square" lIns="0" tIns="0" rIns="0" bIns="0" rtlCol="0" anchor="t"/>
          <a:lstStyle/>
          <a:p>
            <a:pPr indent="0" marL="0">
              <a:buNone/>
            </a:pPr>
            <a:r>
              <a:rPr lang="en-US" sz="1500" b="1" dirty="0">
                <a:solidFill>
                  <a:srgbClr val="0B2D55"/>
                </a:solidFill>
                <a:latin typeface="Aptos" pitchFamily="34" charset="0"/>
                <a:ea typeface="Aptos" pitchFamily="34" charset="-122"/>
                <a:cs typeface="Aptos" pitchFamily="34" charset="-120"/>
              </a:rPr>
              <a:t>Depth / width</a:t>
            </a:r>
            <a:endParaRPr lang="en-US" sz="1500" dirty="0"/>
          </a:p>
        </p:txBody>
      </p:sp>
      <p:sp>
        <p:nvSpPr>
          <p:cNvPr id="51" name="Text 48"/>
          <p:cNvSpPr txBox="1"/>
          <p:nvPr/>
        </p:nvSpPr>
        <p:spPr>
          <a:xfrm>
            <a:off x="7315200" y="3995928"/>
            <a:ext cx="4114800" cy="384048"/>
          </a:xfrm>
          <a:prstGeom prst="rect">
            <a:avLst/>
          </a:prstGeom>
          <a:noFill/>
          <a:ln/>
        </p:spPr>
        <p:txBody>
          <a:bodyPr wrap="square" lIns="0" tIns="0" rIns="0" bIns="0" rtlCol="0" anchor="t"/>
          <a:lstStyle/>
          <a:p>
            <a:pPr indent="0" marL="0">
              <a:buNone/>
            </a:pPr>
            <a:r>
              <a:rPr lang="en-US" sz="1450" dirty="0">
                <a:solidFill>
                  <a:srgbClr val="132033"/>
                </a:solidFill>
                <a:latin typeface="Aptos" pitchFamily="34" charset="0"/>
                <a:ea typeface="Aptos" pitchFamily="34" charset="-122"/>
                <a:cs typeface="Aptos" pitchFamily="34" charset="-120"/>
              </a:rPr>
              <a:t>Number of weight layers / neurons per layer.</a:t>
            </a:r>
            <a:endParaRPr lang="en-US" sz="1450" dirty="0"/>
          </a:p>
        </p:txBody>
      </p:sp>
      <p:sp>
        <p:nvSpPr>
          <p:cNvPr id="52" name="Shape 49"/>
          <p:cNvSpPr/>
          <p:nvPr/>
        </p:nvSpPr>
        <p:spPr>
          <a:xfrm>
            <a:off x="7132320" y="4617720"/>
            <a:ext cx="4480560" cy="1234440"/>
          </a:xfrm>
          <a:prstGeom prst="roundRect">
            <a:avLst>
              <a:gd name="adj" fmla="val 5926"/>
            </a:avLst>
          </a:prstGeom>
          <a:solidFill>
            <a:srgbClr val="FFF4CE"/>
          </a:solidFill>
          <a:ln w="12700">
            <a:solidFill>
              <a:srgbClr val="F2C14E"/>
            </a:solidFill>
            <a:prstDash val="solid"/>
          </a:ln>
        </p:spPr>
      </p:sp>
      <p:sp>
        <p:nvSpPr>
          <p:cNvPr id="53" name="Text 50"/>
          <p:cNvSpPr txBox="1"/>
          <p:nvPr/>
        </p:nvSpPr>
        <p:spPr>
          <a:xfrm>
            <a:off x="7223760" y="4617720"/>
            <a:ext cx="4297680" cy="1234440"/>
          </a:xfrm>
          <a:prstGeom prst="rect">
            <a:avLst/>
          </a:prstGeom>
          <a:noFill/>
          <a:ln/>
        </p:spPr>
        <p:txBody>
          <a:bodyPr wrap="square" lIns="0" tIns="0" rIns="0" bIns="0" rtlCol="0" anchor="ctr"/>
          <a:lstStyle/>
          <a:p>
            <a:pPr algn="ctr" indent="0" marL="0">
              <a:buNone/>
            </a:pPr>
            <a:r>
              <a:rPr lang="en-US" sz="1500" b="1" dirty="0">
                <a:solidFill>
                  <a:srgbClr val="0B2D55"/>
                </a:solidFill>
                <a:latin typeface="Aptos" pitchFamily="34" charset="0"/>
                <a:ea typeface="Aptos" pitchFamily="34" charset="-122"/>
                <a:cs typeface="Aptos" pitchFamily="34" charset="-120"/>
              </a:rPr>
              <a:t>Parameters in a 3-4-1 network</a:t>
            </a:r>
            <a:endParaRPr lang="en-US" sz="1500" dirty="0"/>
          </a:p>
          <a:p>
            <a:pPr algn="ctr" indent="0" marL="0">
              <a:buNone/>
            </a:pPr>
            <a:r>
              <a:rPr lang="en-US" sz="1900" b="1" dirty="0">
                <a:solidFill>
                  <a:srgbClr val="1D5FA7"/>
                </a:solidFill>
                <a:latin typeface="Aptos" pitchFamily="34" charset="0"/>
                <a:ea typeface="Aptos" pitchFamily="34" charset="-122"/>
                <a:cs typeface="Aptos" pitchFamily="34" charset="-120"/>
              </a:rPr>
              <a:t>(3×4 + 4) + (4×1 + 1) = 21</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indent="0" marL="0">
              <a:buNone/>
            </a:pPr>
            <a:r>
              <a:rPr lang="en-US" sz="3400" b="1" dirty="0">
                <a:solidFill>
                  <a:srgbClr val="0B2D55"/>
                </a:solidFill>
                <a:latin typeface="Aptos Display" pitchFamily="34" charset="0"/>
                <a:ea typeface="Aptos Display" pitchFamily="34" charset="-122"/>
                <a:cs typeface="Aptos Display" pitchFamily="34" charset="-120"/>
              </a:rPr>
              <a:t>Activation functions</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indent="0" marL="0">
              <a:buNone/>
            </a:pPr>
            <a:r>
              <a:rPr lang="en-US" sz="1500" dirty="0">
                <a:solidFill>
                  <a:srgbClr val="132033"/>
                </a:solidFill>
                <a:latin typeface="Aptos" pitchFamily="34" charset="0"/>
                <a:ea typeface="Aptos" pitchFamily="34" charset="-122"/>
                <a:cs typeface="Aptos" pitchFamily="34" charset="-120"/>
              </a:rPr>
              <a:t>ReLU in the hidden layers; sigmoid when the output is a probability.</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indent="0" marL="0">
              <a:buNone/>
            </a:pPr>
            <a:r>
              <a:rPr lang="en-US" sz="850" dirty="0">
                <a:solidFill>
                  <a:srgbClr val="6D7C8F"/>
                </a:solidFill>
                <a:latin typeface="Aptos" pitchFamily="34" charset="0"/>
                <a:ea typeface="Aptos" pitchFamily="34" charset="-122"/>
                <a:cs typeface="Aptos" pitchFamily="34" charset="-120"/>
              </a:rPr>
              <a:t>CS 471  |  L28: Neural Networks I</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algn="r" indent="0" marL="0">
              <a:buNone/>
            </a:pPr>
            <a:r>
              <a:rPr lang="en-US" sz="850" dirty="0">
                <a:solidFill>
                  <a:srgbClr val="6D7C8F"/>
                </a:solidFill>
                <a:latin typeface="Aptos" pitchFamily="34" charset="0"/>
                <a:ea typeface="Aptos" pitchFamily="34" charset="-122"/>
                <a:cs typeface="Aptos" pitchFamily="34" charset="-120"/>
              </a:rPr>
              <a:t>12</a:t>
            </a:r>
            <a:endParaRPr lang="en-US" sz="850" dirty="0"/>
          </a:p>
        </p:txBody>
      </p:sp>
      <p:sp>
        <p:nvSpPr>
          <p:cNvPr id="7" name="Shape 4"/>
          <p:cNvSpPr/>
          <p:nvPr/>
        </p:nvSpPr>
        <p:spPr>
          <a:xfrm>
            <a:off x="576072" y="1463040"/>
            <a:ext cx="5440680" cy="2606040"/>
          </a:xfrm>
          <a:prstGeom prst="roundRect">
            <a:avLst>
              <a:gd name="adj" fmla="val 2807"/>
            </a:avLst>
          </a:prstGeom>
          <a:solidFill>
            <a:srgbClr val="FFFFFF"/>
          </a:solidFill>
          <a:ln w="12700">
            <a:solidFill>
              <a:srgbClr val="B8C7D8"/>
            </a:solidFill>
            <a:prstDash val="solid"/>
          </a:ln>
        </p:spPr>
      </p:sp>
      <p:graphicFrame>
        <p:nvGraphicFramePr>
          <p:cNvPr id="8" name="Chart 0" descr=""/>
          <p:cNvGraphicFramePr/>
          <p:nvPr/>
        </p:nvGraphicFramePr>
        <p:xfrm>
          <a:off x="667512" y="1508760"/>
          <a:ext cx="5257800" cy="251460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6172200" y="1463040"/>
            <a:ext cx="5440680" cy="2606040"/>
          </a:xfrm>
          <a:prstGeom prst="roundRect">
            <a:avLst>
              <a:gd name="adj" fmla="val 2807"/>
            </a:avLst>
          </a:prstGeom>
          <a:solidFill>
            <a:srgbClr val="FFFFFF"/>
          </a:solidFill>
          <a:ln w="12700">
            <a:solidFill>
              <a:srgbClr val="B8C7D8"/>
            </a:solidFill>
            <a:prstDash val="solid"/>
          </a:ln>
        </p:spPr>
      </p:sp>
      <p:graphicFrame>
        <p:nvGraphicFramePr>
          <p:cNvPr id="10" name="Chart 1" descr=""/>
          <p:cNvGraphicFramePr/>
          <p:nvPr/>
        </p:nvGraphicFramePr>
        <p:xfrm>
          <a:off x="6263640" y="1508760"/>
          <a:ext cx="5257800" cy="2514600"/>
        </p:xfrm>
        <a:graphic xmlns:a="http://schemas.openxmlformats.org/drawingml/2006/main">
          <a:graphicData uri="http://schemas.openxmlformats.org/drawingml/2006/chart">
            <c:chart xmlns:c="http://schemas.openxmlformats.org/drawingml/2006/chart" r:id="rId2"/>
          </a:graphicData>
        </a:graphic>
      </p:graphicFrame>
      <p:sp>
        <p:nvSpPr>
          <p:cNvPr id="11" name="Shape 6"/>
          <p:cNvSpPr/>
          <p:nvPr/>
        </p:nvSpPr>
        <p:spPr>
          <a:xfrm>
            <a:off x="576072" y="4206240"/>
            <a:ext cx="5440680" cy="960120"/>
          </a:xfrm>
          <a:prstGeom prst="roundRect">
            <a:avLst>
              <a:gd name="adj" fmla="val 7619"/>
            </a:avLst>
          </a:prstGeom>
          <a:solidFill>
            <a:srgbClr val="EAF2F8"/>
          </a:solidFill>
          <a:ln w="12700">
            <a:solidFill>
              <a:srgbClr val="1F5D9B"/>
            </a:solidFill>
            <a:prstDash val="solid"/>
          </a:ln>
        </p:spPr>
      </p:sp>
      <p:sp>
        <p:nvSpPr>
          <p:cNvPr id="12" name="Text 7"/>
          <p:cNvSpPr txBox="1"/>
          <p:nvPr/>
        </p:nvSpPr>
        <p:spPr>
          <a:xfrm>
            <a:off x="758952" y="4315968"/>
            <a:ext cx="5074920" cy="292608"/>
          </a:xfrm>
          <a:prstGeom prst="rect">
            <a:avLst/>
          </a:prstGeom>
          <a:noFill/>
          <a:ln/>
        </p:spPr>
        <p:txBody>
          <a:bodyPr wrap="square" lIns="0" tIns="0" rIns="0" bIns="0" rtlCol="0" anchor="t"/>
          <a:lstStyle/>
          <a:p>
            <a:pPr indent="0" marL="0">
              <a:buNone/>
            </a:pPr>
            <a:r>
              <a:rPr lang="en-US" sz="1500" b="1" dirty="0">
                <a:solidFill>
                  <a:srgbClr val="0B2D55"/>
                </a:solidFill>
                <a:latin typeface="Aptos" pitchFamily="34" charset="0"/>
                <a:ea typeface="Aptos" pitchFamily="34" charset="-122"/>
                <a:cs typeface="Aptos" pitchFamily="34" charset="-120"/>
              </a:rPr>
              <a:t>ReLU</a:t>
            </a:r>
            <a:endParaRPr lang="en-US" sz="1500" dirty="0"/>
          </a:p>
        </p:txBody>
      </p:sp>
      <p:sp>
        <p:nvSpPr>
          <p:cNvPr id="13" name="Text 8"/>
          <p:cNvSpPr txBox="1"/>
          <p:nvPr/>
        </p:nvSpPr>
        <p:spPr>
          <a:xfrm>
            <a:off x="758952" y="4645152"/>
            <a:ext cx="5074920" cy="429768"/>
          </a:xfrm>
          <a:prstGeom prst="rect">
            <a:avLst/>
          </a:prstGeom>
          <a:noFill/>
          <a:ln/>
        </p:spPr>
        <p:txBody>
          <a:bodyPr wrap="square" lIns="0" tIns="0" rIns="0" bIns="0" rtlCol="0" anchor="t"/>
          <a:lstStyle/>
          <a:p>
            <a:pPr indent="0" marL="0">
              <a:buNone/>
            </a:pPr>
            <a:r>
              <a:rPr lang="en-US" sz="1450" dirty="0">
                <a:solidFill>
                  <a:srgbClr val="132033"/>
                </a:solidFill>
                <a:latin typeface="Aptos" pitchFamily="34" charset="0"/>
                <a:ea typeface="Aptos" pitchFamily="34" charset="-122"/>
                <a:cs typeface="Aptos" pitchFamily="34" charset="-120"/>
              </a:rPr>
              <a:t>Output range 0 to ∞. Negative sums become exactly 0. Default for hidden layers.</a:t>
            </a:r>
            <a:endParaRPr lang="en-US" sz="1450" dirty="0"/>
          </a:p>
        </p:txBody>
      </p:sp>
      <p:sp>
        <p:nvSpPr>
          <p:cNvPr id="14" name="Shape 9"/>
          <p:cNvSpPr/>
          <p:nvPr/>
        </p:nvSpPr>
        <p:spPr>
          <a:xfrm>
            <a:off x="6172200" y="4206240"/>
            <a:ext cx="5440680" cy="960120"/>
          </a:xfrm>
          <a:prstGeom prst="roundRect">
            <a:avLst>
              <a:gd name="adj" fmla="val 7619"/>
            </a:avLst>
          </a:prstGeom>
          <a:solidFill>
            <a:srgbClr val="FCE9D8"/>
          </a:solidFill>
          <a:ln w="12700">
            <a:solidFill>
              <a:srgbClr val="D9731A"/>
            </a:solidFill>
            <a:prstDash val="solid"/>
          </a:ln>
        </p:spPr>
      </p:sp>
      <p:sp>
        <p:nvSpPr>
          <p:cNvPr id="15" name="Text 10"/>
          <p:cNvSpPr txBox="1"/>
          <p:nvPr/>
        </p:nvSpPr>
        <p:spPr>
          <a:xfrm>
            <a:off x="6355080" y="4315968"/>
            <a:ext cx="5074920" cy="292608"/>
          </a:xfrm>
          <a:prstGeom prst="rect">
            <a:avLst/>
          </a:prstGeom>
          <a:noFill/>
          <a:ln/>
        </p:spPr>
        <p:txBody>
          <a:bodyPr wrap="square" lIns="0" tIns="0" rIns="0" bIns="0" rtlCol="0" anchor="t"/>
          <a:lstStyle/>
          <a:p>
            <a:pPr indent="0" marL="0">
              <a:buNone/>
            </a:pPr>
            <a:r>
              <a:rPr lang="en-US" sz="1500" b="1" dirty="0">
                <a:solidFill>
                  <a:srgbClr val="0B2D55"/>
                </a:solidFill>
                <a:latin typeface="Aptos" pitchFamily="34" charset="0"/>
                <a:ea typeface="Aptos" pitchFamily="34" charset="-122"/>
                <a:cs typeface="Aptos" pitchFamily="34" charset="-120"/>
              </a:rPr>
              <a:t>Sigmoid</a:t>
            </a:r>
            <a:endParaRPr lang="en-US" sz="1500" dirty="0"/>
          </a:p>
        </p:txBody>
      </p:sp>
      <p:sp>
        <p:nvSpPr>
          <p:cNvPr id="16" name="Text 11"/>
          <p:cNvSpPr txBox="1"/>
          <p:nvPr/>
        </p:nvSpPr>
        <p:spPr>
          <a:xfrm>
            <a:off x="6355080" y="4645152"/>
            <a:ext cx="5074920" cy="429768"/>
          </a:xfrm>
          <a:prstGeom prst="rect">
            <a:avLst/>
          </a:prstGeom>
          <a:noFill/>
          <a:ln/>
        </p:spPr>
        <p:txBody>
          <a:bodyPr wrap="square" lIns="0" tIns="0" rIns="0" bIns="0" rtlCol="0" anchor="t"/>
          <a:lstStyle/>
          <a:p>
            <a:pPr indent="0" marL="0">
              <a:buNone/>
            </a:pPr>
            <a:r>
              <a:rPr lang="en-US" sz="1450" dirty="0">
                <a:solidFill>
                  <a:srgbClr val="132033"/>
                </a:solidFill>
                <a:latin typeface="Aptos" pitchFamily="34" charset="0"/>
                <a:ea typeface="Aptos" pitchFamily="34" charset="-122"/>
                <a:cs typeface="Aptos" pitchFamily="34" charset="-120"/>
              </a:rPr>
              <a:t>Output range 0 to 1. Used at the output for a probability.</a:t>
            </a:r>
            <a:endParaRPr lang="en-US" sz="1450" dirty="0"/>
          </a:p>
        </p:txBody>
      </p:sp>
      <p:sp>
        <p:nvSpPr>
          <p:cNvPr id="17" name="Shape 12"/>
          <p:cNvSpPr/>
          <p:nvPr/>
        </p:nvSpPr>
        <p:spPr>
          <a:xfrm>
            <a:off x="576072" y="5349240"/>
            <a:ext cx="3566160" cy="548640"/>
          </a:xfrm>
          <a:prstGeom prst="roundRect">
            <a:avLst>
              <a:gd name="adj" fmla="val 13333"/>
            </a:avLst>
          </a:prstGeom>
          <a:solidFill>
            <a:srgbClr val="FFFFFF"/>
          </a:solidFill>
          <a:ln w="12700">
            <a:solidFill>
              <a:srgbClr val="B8C7D8"/>
            </a:solidFill>
            <a:prstDash val="solid"/>
          </a:ln>
        </p:spPr>
      </p:sp>
      <p:sp>
        <p:nvSpPr>
          <p:cNvPr id="18" name="Text 13"/>
          <p:cNvSpPr txBox="1"/>
          <p:nvPr/>
        </p:nvSpPr>
        <p:spPr>
          <a:xfrm>
            <a:off x="576072" y="5349240"/>
            <a:ext cx="3566160" cy="548640"/>
          </a:xfrm>
          <a:prstGeom prst="rect">
            <a:avLst/>
          </a:prstGeom>
          <a:noFill/>
          <a:ln/>
        </p:spPr>
        <p:txBody>
          <a:bodyPr wrap="square" lIns="0" tIns="0" rIns="0" bIns="0" rtlCol="0" anchor="ctr"/>
          <a:lstStyle/>
          <a:p>
            <a:pPr algn="ctr" indent="0" marL="0">
              <a:buNone/>
            </a:pPr>
            <a:r>
              <a:rPr lang="en-US" sz="1700" b="1" dirty="0">
                <a:solidFill>
                  <a:srgbClr val="0B2D55"/>
                </a:solidFill>
                <a:latin typeface="Aptos" pitchFamily="34" charset="0"/>
                <a:ea typeface="Aptos" pitchFamily="34" charset="-122"/>
                <a:cs typeface="Aptos" pitchFamily="34" charset="-120"/>
              </a:rPr>
              <a:t>ReLU(−3.7)  =  </a:t>
            </a:r>
            <a:pPr algn="ctr" indent="0" marL="0">
              <a:buNone/>
            </a:pPr>
            <a:r>
              <a:rPr lang="en-US" sz="1700" b="1" dirty="0">
                <a:solidFill>
                  <a:srgbClr val="2E7D32"/>
                </a:solidFill>
                <a:latin typeface="Aptos" pitchFamily="34" charset="0"/>
                <a:ea typeface="Aptos" pitchFamily="34" charset="-122"/>
                <a:cs typeface="Aptos" pitchFamily="34" charset="-120"/>
              </a:rPr>
              <a:t>0</a:t>
            </a:r>
            <a:endParaRPr lang="en-US" sz="1700" dirty="0"/>
          </a:p>
        </p:txBody>
      </p:sp>
      <p:sp>
        <p:nvSpPr>
          <p:cNvPr id="19" name="Shape 14"/>
          <p:cNvSpPr/>
          <p:nvPr/>
        </p:nvSpPr>
        <p:spPr>
          <a:xfrm>
            <a:off x="4361688" y="5349240"/>
            <a:ext cx="3566160" cy="548640"/>
          </a:xfrm>
          <a:prstGeom prst="roundRect">
            <a:avLst>
              <a:gd name="adj" fmla="val 13333"/>
            </a:avLst>
          </a:prstGeom>
          <a:solidFill>
            <a:srgbClr val="FFFFFF"/>
          </a:solidFill>
          <a:ln w="12700">
            <a:solidFill>
              <a:srgbClr val="B8C7D8"/>
            </a:solidFill>
            <a:prstDash val="solid"/>
          </a:ln>
        </p:spPr>
      </p:sp>
      <p:sp>
        <p:nvSpPr>
          <p:cNvPr id="20" name="Text 15"/>
          <p:cNvSpPr txBox="1"/>
          <p:nvPr/>
        </p:nvSpPr>
        <p:spPr>
          <a:xfrm>
            <a:off x="4361688" y="5349240"/>
            <a:ext cx="3566160" cy="548640"/>
          </a:xfrm>
          <a:prstGeom prst="rect">
            <a:avLst/>
          </a:prstGeom>
          <a:noFill/>
          <a:ln/>
        </p:spPr>
        <p:txBody>
          <a:bodyPr wrap="square" lIns="0" tIns="0" rIns="0" bIns="0" rtlCol="0" anchor="ctr"/>
          <a:lstStyle/>
          <a:p>
            <a:pPr algn="ctr" indent="0" marL="0">
              <a:buNone/>
            </a:pPr>
            <a:r>
              <a:rPr lang="en-US" sz="1700" b="1" dirty="0">
                <a:solidFill>
                  <a:srgbClr val="0B2D55"/>
                </a:solidFill>
                <a:latin typeface="Aptos" pitchFamily="34" charset="0"/>
                <a:ea typeface="Aptos" pitchFamily="34" charset="-122"/>
                <a:cs typeface="Aptos" pitchFamily="34" charset="-120"/>
              </a:rPr>
              <a:t>ReLU(2.5)  =  </a:t>
            </a:r>
            <a:pPr algn="ctr" indent="0" marL="0">
              <a:buNone/>
            </a:pPr>
            <a:r>
              <a:rPr lang="en-US" sz="1700" b="1" dirty="0">
                <a:solidFill>
                  <a:srgbClr val="2E7D32"/>
                </a:solidFill>
                <a:latin typeface="Aptos" pitchFamily="34" charset="0"/>
                <a:ea typeface="Aptos" pitchFamily="34" charset="-122"/>
                <a:cs typeface="Aptos" pitchFamily="34" charset="-120"/>
              </a:rPr>
              <a:t>2.5</a:t>
            </a:r>
            <a:endParaRPr lang="en-US" sz="1700" dirty="0"/>
          </a:p>
        </p:txBody>
      </p:sp>
      <p:sp>
        <p:nvSpPr>
          <p:cNvPr id="21" name="Shape 16"/>
          <p:cNvSpPr/>
          <p:nvPr/>
        </p:nvSpPr>
        <p:spPr>
          <a:xfrm>
            <a:off x="8147304" y="5349240"/>
            <a:ext cx="3566160" cy="548640"/>
          </a:xfrm>
          <a:prstGeom prst="roundRect">
            <a:avLst>
              <a:gd name="adj" fmla="val 13333"/>
            </a:avLst>
          </a:prstGeom>
          <a:solidFill>
            <a:srgbClr val="FFFFFF"/>
          </a:solidFill>
          <a:ln w="12700">
            <a:solidFill>
              <a:srgbClr val="B8C7D8"/>
            </a:solidFill>
            <a:prstDash val="solid"/>
          </a:ln>
        </p:spPr>
      </p:sp>
      <p:sp>
        <p:nvSpPr>
          <p:cNvPr id="22" name="Text 17"/>
          <p:cNvSpPr txBox="1"/>
          <p:nvPr/>
        </p:nvSpPr>
        <p:spPr>
          <a:xfrm>
            <a:off x="8147304" y="5349240"/>
            <a:ext cx="3566160" cy="548640"/>
          </a:xfrm>
          <a:prstGeom prst="rect">
            <a:avLst/>
          </a:prstGeom>
          <a:noFill/>
          <a:ln/>
        </p:spPr>
        <p:txBody>
          <a:bodyPr wrap="square" lIns="0" tIns="0" rIns="0" bIns="0" rtlCol="0" anchor="ctr"/>
          <a:lstStyle/>
          <a:p>
            <a:pPr algn="ctr" indent="0" marL="0">
              <a:buNone/>
            </a:pPr>
            <a:r>
              <a:rPr lang="en-US" sz="1700" b="1" dirty="0">
                <a:solidFill>
                  <a:srgbClr val="0B2D55"/>
                </a:solidFill>
                <a:latin typeface="Aptos" pitchFamily="34" charset="0"/>
                <a:ea typeface="Aptos" pitchFamily="34" charset="-122"/>
                <a:cs typeface="Aptos" pitchFamily="34" charset="-120"/>
              </a:rPr>
              <a:t>σ(0)  =  </a:t>
            </a:r>
            <a:pPr algn="ctr" indent="0" marL="0">
              <a:buNone/>
            </a:pPr>
            <a:r>
              <a:rPr lang="en-US" sz="1700" b="1" dirty="0">
                <a:solidFill>
                  <a:srgbClr val="2E7D32"/>
                </a:solidFill>
                <a:latin typeface="Aptos" pitchFamily="34" charset="0"/>
                <a:ea typeface="Aptos" pitchFamily="34" charset="-122"/>
                <a:cs typeface="Aptos" pitchFamily="34" charset="-120"/>
              </a:rPr>
              <a:t>0.5</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indent="0" marL="0">
              <a:buNone/>
            </a:pPr>
            <a:r>
              <a:rPr lang="en-US" sz="3400" b="1" dirty="0">
                <a:solidFill>
                  <a:srgbClr val="0B2D55"/>
                </a:solidFill>
                <a:latin typeface="Aptos Display" pitchFamily="34" charset="0"/>
                <a:ea typeface="Aptos Display" pitchFamily="34" charset="-122"/>
                <a:cs typeface="Aptos Display" pitchFamily="34" charset="-120"/>
              </a:rPr>
              <a:t>Step 1: hidden neuron 1</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indent="0" marL="0">
              <a:buNone/>
            </a:pPr>
            <a:r>
              <a:rPr lang="en-US" sz="1500" dirty="0">
                <a:solidFill>
                  <a:srgbClr val="132033"/>
                </a:solidFill>
                <a:latin typeface="Aptos" pitchFamily="34" charset="0"/>
                <a:ea typeface="Aptos" pitchFamily="34" charset="-122"/>
                <a:cs typeface="Aptos" pitchFamily="34" charset="-120"/>
              </a:rPr>
              <a:t>Forward propagation computes layer by layer, left to right. Start with h₁.</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indent="0" marL="0">
              <a:buNone/>
            </a:pPr>
            <a:r>
              <a:rPr lang="en-US" sz="850" dirty="0">
                <a:solidFill>
                  <a:srgbClr val="6D7C8F"/>
                </a:solidFill>
                <a:latin typeface="Aptos" pitchFamily="34" charset="0"/>
                <a:ea typeface="Aptos" pitchFamily="34" charset="-122"/>
                <a:cs typeface="Aptos" pitchFamily="34" charset="-120"/>
              </a:rPr>
              <a:t>CS 471  |  L28: Neural Networks I</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algn="r" indent="0" marL="0">
              <a:buNone/>
            </a:pPr>
            <a:r>
              <a:rPr lang="en-US" sz="850" dirty="0">
                <a:solidFill>
                  <a:srgbClr val="6D7C8F"/>
                </a:solidFill>
                <a:latin typeface="Aptos" pitchFamily="34" charset="0"/>
                <a:ea typeface="Aptos" pitchFamily="34" charset="-122"/>
                <a:cs typeface="Aptos" pitchFamily="34" charset="-120"/>
              </a:rPr>
              <a:t>13</a:t>
            </a:r>
            <a:endParaRPr lang="en-US" sz="850" dirty="0"/>
          </a:p>
        </p:txBody>
      </p:sp>
      <p:sp>
        <p:nvSpPr>
          <p:cNvPr id="7" name="Shape 4"/>
          <p:cNvSpPr/>
          <p:nvPr/>
        </p:nvSpPr>
        <p:spPr>
          <a:xfrm>
            <a:off x="576072" y="1508760"/>
            <a:ext cx="6583680" cy="4389120"/>
          </a:xfrm>
          <a:prstGeom prst="roundRect">
            <a:avLst>
              <a:gd name="adj" fmla="val 1667"/>
            </a:avLst>
          </a:prstGeom>
          <a:solidFill>
            <a:srgbClr val="FFFFFF"/>
          </a:solidFill>
          <a:ln w="12700">
            <a:solidFill>
              <a:srgbClr val="B8C7D8"/>
            </a:solidFill>
            <a:prstDash val="solid"/>
          </a:ln>
        </p:spPr>
      </p:sp>
      <p:sp>
        <p:nvSpPr>
          <p:cNvPr id="8" name="Shape 5"/>
          <p:cNvSpPr/>
          <p:nvPr/>
        </p:nvSpPr>
        <p:spPr>
          <a:xfrm>
            <a:off x="1760220" y="2331720"/>
            <a:ext cx="1600200" cy="914"/>
          </a:xfrm>
          <a:prstGeom prst="line">
            <a:avLst/>
          </a:prstGeom>
          <a:noFill/>
          <a:ln w="24130">
            <a:solidFill>
              <a:srgbClr val="1D5FA7"/>
            </a:solidFill>
            <a:prstDash val="solid"/>
          </a:ln>
        </p:spPr>
      </p:sp>
      <p:sp>
        <p:nvSpPr>
          <p:cNvPr id="9" name="Text 6"/>
          <p:cNvSpPr txBox="1"/>
          <p:nvPr/>
        </p:nvSpPr>
        <p:spPr>
          <a:xfrm>
            <a:off x="1899666" y="2185416"/>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1D5FA7"/>
                </a:solidFill>
                <a:latin typeface="Aptos" pitchFamily="34" charset="0"/>
                <a:ea typeface="Aptos" pitchFamily="34" charset="-122"/>
                <a:cs typeface="Aptos" pitchFamily="34" charset="-120"/>
              </a:rPr>
              <a:t>1</a:t>
            </a:r>
            <a:endParaRPr lang="en-US" sz="1250" dirty="0"/>
          </a:p>
        </p:txBody>
      </p:sp>
      <p:sp>
        <p:nvSpPr>
          <p:cNvPr id="10" name="Shape 7"/>
          <p:cNvSpPr/>
          <p:nvPr/>
        </p:nvSpPr>
        <p:spPr>
          <a:xfrm>
            <a:off x="1760220" y="2331720"/>
            <a:ext cx="1600200" cy="2103120"/>
          </a:xfrm>
          <a:prstGeom prst="line">
            <a:avLst/>
          </a:prstGeom>
          <a:noFill/>
          <a:ln w="12700">
            <a:solidFill>
              <a:srgbClr val="D4DEE8"/>
            </a:solidFill>
            <a:prstDash val="solid"/>
          </a:ln>
        </p:spPr>
      </p:sp>
      <p:sp>
        <p:nvSpPr>
          <p:cNvPr id="11" name="Text 8"/>
          <p:cNvSpPr txBox="1"/>
          <p:nvPr/>
        </p:nvSpPr>
        <p:spPr>
          <a:xfrm>
            <a:off x="1899666" y="2753258"/>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B0BCCB"/>
                </a:solidFill>
                <a:latin typeface="Aptos" pitchFamily="34" charset="0"/>
                <a:ea typeface="Aptos" pitchFamily="34" charset="-122"/>
                <a:cs typeface="Aptos" pitchFamily="34" charset="-120"/>
              </a:rPr>
              <a:t>−1</a:t>
            </a:r>
            <a:endParaRPr lang="en-US" sz="1250" dirty="0"/>
          </a:p>
        </p:txBody>
      </p:sp>
      <p:sp>
        <p:nvSpPr>
          <p:cNvPr id="12" name="Shape 9"/>
          <p:cNvSpPr/>
          <p:nvPr/>
        </p:nvSpPr>
        <p:spPr>
          <a:xfrm flipV="1">
            <a:off x="1760220" y="2331720"/>
            <a:ext cx="1600200" cy="2103120"/>
          </a:xfrm>
          <a:prstGeom prst="line">
            <a:avLst/>
          </a:prstGeom>
          <a:noFill/>
          <a:ln w="35560">
            <a:solidFill>
              <a:srgbClr val="D9731A"/>
            </a:solidFill>
            <a:prstDash val="solid"/>
          </a:ln>
        </p:spPr>
      </p:sp>
      <p:sp>
        <p:nvSpPr>
          <p:cNvPr id="13" name="Text 10"/>
          <p:cNvSpPr txBox="1"/>
          <p:nvPr/>
        </p:nvSpPr>
        <p:spPr>
          <a:xfrm>
            <a:off x="1899666" y="3720694"/>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D9731A"/>
                </a:solidFill>
                <a:latin typeface="Aptos" pitchFamily="34" charset="0"/>
                <a:ea typeface="Aptos" pitchFamily="34" charset="-122"/>
                <a:cs typeface="Aptos" pitchFamily="34" charset="-120"/>
              </a:rPr>
              <a:t>−2</a:t>
            </a:r>
            <a:endParaRPr lang="en-US" sz="1250" dirty="0"/>
          </a:p>
        </p:txBody>
      </p:sp>
      <p:sp>
        <p:nvSpPr>
          <p:cNvPr id="14" name="Shape 11"/>
          <p:cNvSpPr/>
          <p:nvPr/>
        </p:nvSpPr>
        <p:spPr>
          <a:xfrm>
            <a:off x="1760220" y="4434840"/>
            <a:ext cx="1600200" cy="914"/>
          </a:xfrm>
          <a:prstGeom prst="line">
            <a:avLst/>
          </a:prstGeom>
          <a:noFill/>
          <a:ln w="12700">
            <a:solidFill>
              <a:srgbClr val="D4DEE8"/>
            </a:solidFill>
            <a:prstDash val="solid"/>
          </a:ln>
        </p:spPr>
      </p:sp>
      <p:sp>
        <p:nvSpPr>
          <p:cNvPr id="15" name="Text 12"/>
          <p:cNvSpPr txBox="1"/>
          <p:nvPr/>
        </p:nvSpPr>
        <p:spPr>
          <a:xfrm>
            <a:off x="1899666" y="4288536"/>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B0BCCB"/>
                </a:solidFill>
                <a:latin typeface="Aptos" pitchFamily="34" charset="0"/>
                <a:ea typeface="Aptos" pitchFamily="34" charset="-122"/>
                <a:cs typeface="Aptos" pitchFamily="34" charset="-120"/>
              </a:rPr>
              <a:t>1</a:t>
            </a:r>
            <a:endParaRPr lang="en-US" sz="1250" dirty="0"/>
          </a:p>
        </p:txBody>
      </p:sp>
      <p:sp>
        <p:nvSpPr>
          <p:cNvPr id="16" name="Shape 13"/>
          <p:cNvSpPr/>
          <p:nvPr/>
        </p:nvSpPr>
        <p:spPr>
          <a:xfrm>
            <a:off x="4229100" y="2331720"/>
            <a:ext cx="1600200" cy="1051560"/>
          </a:xfrm>
          <a:prstGeom prst="line">
            <a:avLst/>
          </a:prstGeom>
          <a:noFill/>
          <a:ln w="12700">
            <a:solidFill>
              <a:srgbClr val="D4DEE8"/>
            </a:solidFill>
            <a:prstDash val="solid"/>
          </a:ln>
        </p:spPr>
      </p:sp>
      <p:sp>
        <p:nvSpPr>
          <p:cNvPr id="17" name="Text 14"/>
          <p:cNvSpPr txBox="1"/>
          <p:nvPr/>
        </p:nvSpPr>
        <p:spPr>
          <a:xfrm>
            <a:off x="4496562" y="2553462"/>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B0BCCB"/>
                </a:solidFill>
                <a:latin typeface="Aptos" pitchFamily="34" charset="0"/>
                <a:ea typeface="Aptos" pitchFamily="34" charset="-122"/>
                <a:cs typeface="Aptos" pitchFamily="34" charset="-120"/>
              </a:rPr>
              <a:t>1.5</a:t>
            </a:r>
            <a:endParaRPr lang="en-US" sz="1250" dirty="0"/>
          </a:p>
        </p:txBody>
      </p:sp>
      <p:sp>
        <p:nvSpPr>
          <p:cNvPr id="18" name="Shape 15"/>
          <p:cNvSpPr/>
          <p:nvPr/>
        </p:nvSpPr>
        <p:spPr>
          <a:xfrm flipV="1">
            <a:off x="4229100" y="3383280"/>
            <a:ext cx="1600200" cy="1051560"/>
          </a:xfrm>
          <a:prstGeom prst="line">
            <a:avLst/>
          </a:prstGeom>
          <a:noFill/>
          <a:ln w="12700">
            <a:solidFill>
              <a:srgbClr val="D4DEE8"/>
            </a:solidFill>
            <a:prstDash val="solid"/>
          </a:ln>
        </p:spPr>
      </p:sp>
      <p:sp>
        <p:nvSpPr>
          <p:cNvPr id="19" name="Text 16"/>
          <p:cNvSpPr txBox="1"/>
          <p:nvPr/>
        </p:nvSpPr>
        <p:spPr>
          <a:xfrm>
            <a:off x="4496562" y="3920490"/>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B0BCCB"/>
                </a:solidFill>
                <a:latin typeface="Aptos" pitchFamily="34" charset="0"/>
                <a:ea typeface="Aptos" pitchFamily="34" charset="-122"/>
                <a:cs typeface="Aptos" pitchFamily="34" charset="-120"/>
              </a:rPr>
              <a:t>2</a:t>
            </a:r>
            <a:endParaRPr lang="en-US" sz="1250" dirty="0"/>
          </a:p>
        </p:txBody>
      </p:sp>
      <p:sp>
        <p:nvSpPr>
          <p:cNvPr id="20" name="Shape 17"/>
          <p:cNvSpPr/>
          <p:nvPr/>
        </p:nvSpPr>
        <p:spPr>
          <a:xfrm>
            <a:off x="891540" y="1897380"/>
            <a:ext cx="868680" cy="868680"/>
          </a:xfrm>
          <a:prstGeom prst="ellipse">
            <a:avLst/>
          </a:prstGeom>
          <a:solidFill>
            <a:srgbClr val="EAF2F8"/>
          </a:solidFill>
          <a:ln w="19050">
            <a:solidFill>
              <a:srgbClr val="1F5D9B"/>
            </a:solidFill>
            <a:prstDash val="solid"/>
          </a:ln>
        </p:spPr>
      </p:sp>
      <p:sp>
        <p:nvSpPr>
          <p:cNvPr id="21" name="Text 18"/>
          <p:cNvSpPr txBox="1"/>
          <p:nvPr/>
        </p:nvSpPr>
        <p:spPr>
          <a:xfrm>
            <a:off x="800100" y="1897380"/>
            <a:ext cx="1051560" cy="868680"/>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x₁</a:t>
            </a:r>
            <a:endParaRPr lang="en-US" sz="1600" dirty="0"/>
          </a:p>
          <a:p>
            <a:pPr algn="ctr" indent="0" marL="0">
              <a:buNone/>
            </a:pPr>
            <a:r>
              <a:rPr lang="en-US" sz="1700" b="1" dirty="0">
                <a:solidFill>
                  <a:srgbClr val="0B2D55"/>
                </a:solidFill>
                <a:latin typeface="Aptos" pitchFamily="34" charset="0"/>
                <a:ea typeface="Aptos" pitchFamily="34" charset="-122"/>
                <a:cs typeface="Aptos" pitchFamily="34" charset="-120"/>
              </a:rPr>
              <a:t>3</a:t>
            </a:r>
            <a:endParaRPr lang="en-US" sz="1600" dirty="0"/>
          </a:p>
        </p:txBody>
      </p:sp>
      <p:sp>
        <p:nvSpPr>
          <p:cNvPr id="22" name="Shape 19"/>
          <p:cNvSpPr/>
          <p:nvPr/>
        </p:nvSpPr>
        <p:spPr>
          <a:xfrm>
            <a:off x="891540" y="4000500"/>
            <a:ext cx="868680" cy="868680"/>
          </a:xfrm>
          <a:prstGeom prst="ellipse">
            <a:avLst/>
          </a:prstGeom>
          <a:solidFill>
            <a:srgbClr val="EAF2F8"/>
          </a:solidFill>
          <a:ln w="19050">
            <a:solidFill>
              <a:srgbClr val="1F5D9B"/>
            </a:solidFill>
            <a:prstDash val="solid"/>
          </a:ln>
        </p:spPr>
      </p:sp>
      <p:sp>
        <p:nvSpPr>
          <p:cNvPr id="23" name="Text 20"/>
          <p:cNvSpPr txBox="1"/>
          <p:nvPr/>
        </p:nvSpPr>
        <p:spPr>
          <a:xfrm>
            <a:off x="800100" y="4000500"/>
            <a:ext cx="1051560" cy="868680"/>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x₂</a:t>
            </a:r>
            <a:endParaRPr lang="en-US" sz="1600" dirty="0"/>
          </a:p>
          <a:p>
            <a:pPr algn="ctr" indent="0" marL="0">
              <a:buNone/>
            </a:pPr>
            <a:r>
              <a:rPr lang="en-US" sz="1700" b="1" dirty="0">
                <a:solidFill>
                  <a:srgbClr val="0B2D55"/>
                </a:solidFill>
                <a:latin typeface="Aptos" pitchFamily="34" charset="0"/>
                <a:ea typeface="Aptos" pitchFamily="34" charset="-122"/>
                <a:cs typeface="Aptos" pitchFamily="34" charset="-120"/>
              </a:rPr>
              <a:t>1</a:t>
            </a:r>
            <a:endParaRPr lang="en-US" sz="1600" dirty="0"/>
          </a:p>
        </p:txBody>
      </p:sp>
      <p:sp>
        <p:nvSpPr>
          <p:cNvPr id="24" name="Shape 21"/>
          <p:cNvSpPr/>
          <p:nvPr/>
        </p:nvSpPr>
        <p:spPr>
          <a:xfrm>
            <a:off x="3360420" y="1897380"/>
            <a:ext cx="868680" cy="868680"/>
          </a:xfrm>
          <a:prstGeom prst="ellipse">
            <a:avLst/>
          </a:prstGeom>
          <a:solidFill>
            <a:srgbClr val="FFF4CE"/>
          </a:solidFill>
          <a:ln w="38100">
            <a:solidFill>
              <a:srgbClr val="F2C14E"/>
            </a:solidFill>
            <a:prstDash val="solid"/>
          </a:ln>
        </p:spPr>
      </p:sp>
      <p:sp>
        <p:nvSpPr>
          <p:cNvPr id="25" name="Text 22"/>
          <p:cNvSpPr txBox="1"/>
          <p:nvPr/>
        </p:nvSpPr>
        <p:spPr>
          <a:xfrm>
            <a:off x="3268980" y="1897380"/>
            <a:ext cx="1051560" cy="868680"/>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h₁ ReLU</a:t>
            </a:r>
            <a:endParaRPr lang="en-US" sz="1600" dirty="0"/>
          </a:p>
          <a:p>
            <a:pPr algn="ctr" indent="0" marL="0">
              <a:buNone/>
            </a:pPr>
            <a:r>
              <a:rPr lang="en-US" sz="1700" b="1" dirty="0">
                <a:solidFill>
                  <a:srgbClr val="0B2D55"/>
                </a:solidFill>
                <a:latin typeface="Aptos" pitchFamily="34" charset="0"/>
                <a:ea typeface="Aptos" pitchFamily="34" charset="-122"/>
                <a:cs typeface="Aptos" pitchFamily="34" charset="-120"/>
              </a:rPr>
              <a:t>?</a:t>
            </a:r>
            <a:endParaRPr lang="en-US" sz="1600" dirty="0"/>
          </a:p>
        </p:txBody>
      </p:sp>
      <p:sp>
        <p:nvSpPr>
          <p:cNvPr id="26" name="Shape 23"/>
          <p:cNvSpPr/>
          <p:nvPr/>
        </p:nvSpPr>
        <p:spPr>
          <a:xfrm>
            <a:off x="3360420" y="4000500"/>
            <a:ext cx="868680" cy="868680"/>
          </a:xfrm>
          <a:prstGeom prst="ellipse">
            <a:avLst/>
          </a:prstGeom>
          <a:solidFill>
            <a:srgbClr val="FFFFFF"/>
          </a:solidFill>
          <a:ln w="19050">
            <a:solidFill>
              <a:srgbClr val="0B2D55"/>
            </a:solidFill>
            <a:prstDash val="solid"/>
          </a:ln>
        </p:spPr>
      </p:sp>
      <p:sp>
        <p:nvSpPr>
          <p:cNvPr id="27" name="Text 24"/>
          <p:cNvSpPr txBox="1"/>
          <p:nvPr/>
        </p:nvSpPr>
        <p:spPr>
          <a:xfrm>
            <a:off x="3268980" y="4000500"/>
            <a:ext cx="1051560" cy="868680"/>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h₂ ReLU</a:t>
            </a:r>
            <a:endParaRPr lang="en-US" sz="1600" dirty="0"/>
          </a:p>
          <a:p>
            <a:pPr algn="ctr" indent="0" marL="0">
              <a:buNone/>
            </a:pPr>
            <a:r>
              <a:rPr lang="en-US" sz="1700" b="1" dirty="0">
                <a:solidFill>
                  <a:srgbClr val="0B2D55"/>
                </a:solidFill>
                <a:latin typeface="Aptos" pitchFamily="34" charset="0"/>
                <a:ea typeface="Aptos" pitchFamily="34" charset="-122"/>
                <a:cs typeface="Aptos" pitchFamily="34" charset="-120"/>
              </a:rPr>
              <a:t>?</a:t>
            </a:r>
            <a:endParaRPr lang="en-US" sz="1600" dirty="0"/>
          </a:p>
        </p:txBody>
      </p:sp>
      <p:sp>
        <p:nvSpPr>
          <p:cNvPr id="28" name="Shape 25"/>
          <p:cNvSpPr/>
          <p:nvPr/>
        </p:nvSpPr>
        <p:spPr>
          <a:xfrm>
            <a:off x="5829300" y="2948940"/>
            <a:ext cx="868680" cy="868680"/>
          </a:xfrm>
          <a:prstGeom prst="ellipse">
            <a:avLst/>
          </a:prstGeom>
          <a:solidFill>
            <a:srgbClr val="DFF0D8"/>
          </a:solidFill>
          <a:ln w="19050">
            <a:solidFill>
              <a:srgbClr val="2E7D32"/>
            </a:solidFill>
            <a:prstDash val="solid"/>
          </a:ln>
        </p:spPr>
      </p:sp>
      <p:sp>
        <p:nvSpPr>
          <p:cNvPr id="29" name="Text 26"/>
          <p:cNvSpPr txBox="1"/>
          <p:nvPr/>
        </p:nvSpPr>
        <p:spPr>
          <a:xfrm>
            <a:off x="5737860" y="2948940"/>
            <a:ext cx="1051560" cy="868680"/>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out σ</a:t>
            </a:r>
            <a:endParaRPr lang="en-US" sz="1600" dirty="0"/>
          </a:p>
          <a:p>
            <a:pPr algn="ctr" indent="0" marL="0">
              <a:buNone/>
            </a:pPr>
            <a:r>
              <a:rPr lang="en-US" sz="1700" b="1" dirty="0">
                <a:solidFill>
                  <a:srgbClr val="0B2D55"/>
                </a:solidFill>
                <a:latin typeface="Aptos" pitchFamily="34" charset="0"/>
                <a:ea typeface="Aptos" pitchFamily="34" charset="-122"/>
                <a:cs typeface="Aptos" pitchFamily="34" charset="-120"/>
              </a:rPr>
              <a:t>?</a:t>
            </a:r>
            <a:endParaRPr lang="en-US" sz="1600" dirty="0"/>
          </a:p>
        </p:txBody>
      </p:sp>
      <p:sp>
        <p:nvSpPr>
          <p:cNvPr id="30" name="Text 27"/>
          <p:cNvSpPr txBox="1"/>
          <p:nvPr/>
        </p:nvSpPr>
        <p:spPr>
          <a:xfrm>
            <a:off x="3337560" y="1604772"/>
            <a:ext cx="914400" cy="256032"/>
          </a:xfrm>
          <a:prstGeom prst="rect">
            <a:avLst/>
          </a:prstGeom>
          <a:noFill/>
          <a:ln/>
        </p:spPr>
        <p:txBody>
          <a:bodyPr wrap="square" lIns="0" tIns="0" rIns="0" bIns="0" rtlCol="0" anchor="t"/>
          <a:lstStyle/>
          <a:p>
            <a:pPr algn="ctr" indent="0" marL="0">
              <a:buNone/>
            </a:pPr>
            <a:r>
              <a:rPr lang="en-US" sz="1200" dirty="0">
                <a:solidFill>
                  <a:srgbClr val="6D7C8F"/>
                </a:solidFill>
                <a:latin typeface="Aptos" pitchFamily="34" charset="0"/>
                <a:ea typeface="Aptos" pitchFamily="34" charset="-122"/>
                <a:cs typeface="Aptos" pitchFamily="34" charset="-120"/>
              </a:rPr>
              <a:t>b = 0</a:t>
            </a:r>
            <a:endParaRPr lang="en-US" sz="1200" dirty="0"/>
          </a:p>
        </p:txBody>
      </p:sp>
      <p:sp>
        <p:nvSpPr>
          <p:cNvPr id="31" name="Text 28"/>
          <p:cNvSpPr txBox="1"/>
          <p:nvPr/>
        </p:nvSpPr>
        <p:spPr>
          <a:xfrm>
            <a:off x="3337560" y="4905756"/>
            <a:ext cx="914400" cy="256032"/>
          </a:xfrm>
          <a:prstGeom prst="rect">
            <a:avLst/>
          </a:prstGeom>
          <a:noFill/>
          <a:ln/>
        </p:spPr>
        <p:txBody>
          <a:bodyPr wrap="square" lIns="0" tIns="0" rIns="0" bIns="0" rtlCol="0" anchor="t"/>
          <a:lstStyle/>
          <a:p>
            <a:pPr algn="ctr" indent="0" marL="0">
              <a:buNone/>
            </a:pPr>
            <a:r>
              <a:rPr lang="en-US" sz="1200" dirty="0">
                <a:solidFill>
                  <a:srgbClr val="6D7C8F"/>
                </a:solidFill>
                <a:latin typeface="Aptos" pitchFamily="34" charset="0"/>
                <a:ea typeface="Aptos" pitchFamily="34" charset="-122"/>
                <a:cs typeface="Aptos" pitchFamily="34" charset="-120"/>
              </a:rPr>
              <a:t>b = 1</a:t>
            </a:r>
            <a:endParaRPr lang="en-US" sz="1200" dirty="0"/>
          </a:p>
        </p:txBody>
      </p:sp>
      <p:sp>
        <p:nvSpPr>
          <p:cNvPr id="32" name="Text 29"/>
          <p:cNvSpPr txBox="1"/>
          <p:nvPr/>
        </p:nvSpPr>
        <p:spPr>
          <a:xfrm>
            <a:off x="5806440" y="3854196"/>
            <a:ext cx="914400" cy="256032"/>
          </a:xfrm>
          <a:prstGeom prst="rect">
            <a:avLst/>
          </a:prstGeom>
          <a:noFill/>
          <a:ln/>
        </p:spPr>
        <p:txBody>
          <a:bodyPr wrap="square" lIns="0" tIns="0" rIns="0" bIns="0" rtlCol="0" anchor="t"/>
          <a:lstStyle/>
          <a:p>
            <a:pPr algn="ctr" indent="0" marL="0">
              <a:buNone/>
            </a:pPr>
            <a:r>
              <a:rPr lang="en-US" sz="1200" dirty="0">
                <a:solidFill>
                  <a:srgbClr val="6D7C8F"/>
                </a:solidFill>
                <a:latin typeface="Aptos" pitchFamily="34" charset="0"/>
                <a:ea typeface="Aptos" pitchFamily="34" charset="-122"/>
                <a:cs typeface="Aptos" pitchFamily="34" charset="-120"/>
              </a:rPr>
              <a:t>b = 0.5</a:t>
            </a:r>
            <a:endParaRPr lang="en-US" sz="1200" dirty="0"/>
          </a:p>
        </p:txBody>
      </p:sp>
      <p:sp>
        <p:nvSpPr>
          <p:cNvPr id="33" name="Shape 30"/>
          <p:cNvSpPr/>
          <p:nvPr/>
        </p:nvSpPr>
        <p:spPr>
          <a:xfrm>
            <a:off x="7406640" y="1508760"/>
            <a:ext cx="4206240" cy="4389120"/>
          </a:xfrm>
          <a:prstGeom prst="roundRect">
            <a:avLst>
              <a:gd name="adj" fmla="val 1739"/>
            </a:avLst>
          </a:prstGeom>
          <a:solidFill>
            <a:srgbClr val="FFF4CE"/>
          </a:solidFill>
          <a:ln w="12700">
            <a:solidFill>
              <a:srgbClr val="F2C14E"/>
            </a:solidFill>
            <a:prstDash val="solid"/>
          </a:ln>
        </p:spPr>
      </p:sp>
      <p:sp>
        <p:nvSpPr>
          <p:cNvPr id="34" name="Text 31"/>
          <p:cNvSpPr txBox="1"/>
          <p:nvPr/>
        </p:nvSpPr>
        <p:spPr>
          <a:xfrm>
            <a:off x="7635240" y="1645920"/>
            <a:ext cx="3749040" cy="4114800"/>
          </a:xfrm>
          <a:prstGeom prst="rect">
            <a:avLst/>
          </a:prstGeom>
          <a:noFill/>
          <a:ln/>
        </p:spPr>
        <p:txBody>
          <a:bodyPr wrap="square" lIns="0" tIns="0" rIns="0" bIns="0" rtlCol="0" anchor="ctr"/>
          <a:lstStyle/>
          <a:p>
            <a:pPr indent="0" marL="0">
              <a:buNone/>
            </a:pPr>
            <a:r>
              <a:rPr lang="en-US" sz="2000" b="1" dirty="0">
                <a:solidFill>
                  <a:srgbClr val="0B2D55"/>
                </a:solidFill>
                <a:latin typeface="Aptos" pitchFamily="34" charset="0"/>
                <a:ea typeface="Aptos" pitchFamily="34" charset="-122"/>
                <a:cs typeface="Aptos" pitchFamily="34" charset="-120"/>
              </a:rPr>
              <a:t>Hidden neuron h₁</a:t>
            </a:r>
            <a:endParaRPr lang="en-US" sz="1700" dirty="0"/>
          </a:p>
          <a:p>
            <a:pPr indent="0" marL="0">
              <a:buNone/>
            </a:pPr>
            <a:r>
              <a:rPr lang="en-US" sz="800" dirty="0">
                <a:solidFill>
                  <a:srgbClr val="132033"/>
                </a:solidFill>
                <a:latin typeface="Aptos" pitchFamily="34" charset="0"/>
                <a:ea typeface="Aptos" pitchFamily="34" charset="-122"/>
                <a:cs typeface="Aptos" pitchFamily="34" charset="-120"/>
              </a:rPr>
              <a:t> </a:t>
            </a:r>
            <a:endParaRPr lang="en-US" sz="1700" dirty="0"/>
          </a:p>
          <a:p>
            <a:pPr indent="0" marL="0">
              <a:buNone/>
            </a:pPr>
            <a:r>
              <a:rPr lang="en-US" sz="1700" dirty="0">
                <a:solidFill>
                  <a:srgbClr val="132033"/>
                </a:solidFill>
                <a:latin typeface="Aptos" pitchFamily="34" charset="0"/>
                <a:ea typeface="Aptos" pitchFamily="34" charset="-122"/>
                <a:cs typeface="Aptos" pitchFamily="34" charset="-120"/>
              </a:rPr>
              <a:t>weights [1, −2],  bias 0</a:t>
            </a:r>
            <a:endParaRPr lang="en-US" sz="1700" dirty="0"/>
          </a:p>
          <a:p>
            <a:pPr indent="0" marL="0">
              <a:buNone/>
            </a:pPr>
            <a:r>
              <a:rPr lang="en-US" sz="800" dirty="0">
                <a:solidFill>
                  <a:srgbClr val="132033"/>
                </a:solidFill>
                <a:latin typeface="Aptos" pitchFamily="34" charset="0"/>
                <a:ea typeface="Aptos" pitchFamily="34" charset="-122"/>
                <a:cs typeface="Aptos" pitchFamily="34" charset="-120"/>
              </a:rPr>
              <a:t> </a:t>
            </a:r>
            <a:endParaRPr lang="en-US" sz="1700" dirty="0"/>
          </a:p>
          <a:p>
            <a:pPr indent="0" marL="0">
              <a:buNone/>
            </a:pPr>
            <a:r>
              <a:rPr lang="en-US" sz="1700" dirty="0">
                <a:solidFill>
                  <a:srgbClr val="132033"/>
                </a:solidFill>
                <a:latin typeface="Aptos" pitchFamily="34" charset="0"/>
                <a:ea typeface="Aptos" pitchFamily="34" charset="-122"/>
                <a:cs typeface="Aptos" pitchFamily="34" charset="-120"/>
              </a:rPr>
              <a:t>z₁ = 1(3) + (−2)(1) + 0</a:t>
            </a:r>
            <a:endParaRPr lang="en-US" sz="1700" dirty="0"/>
          </a:p>
          <a:p>
            <a:pPr indent="0" marL="0">
              <a:buNone/>
            </a:pPr>
            <a:r>
              <a:rPr lang="en-US" sz="1700" b="1" dirty="0">
                <a:solidFill>
                  <a:srgbClr val="0B2D55"/>
                </a:solidFill>
                <a:latin typeface="Aptos" pitchFamily="34" charset="0"/>
                <a:ea typeface="Aptos" pitchFamily="34" charset="-122"/>
                <a:cs typeface="Aptos" pitchFamily="34" charset="-120"/>
              </a:rPr>
              <a:t>z₁ = 1</a:t>
            </a:r>
            <a:endParaRPr lang="en-US" sz="1700" dirty="0"/>
          </a:p>
          <a:p>
            <a:pPr indent="0" marL="0">
              <a:buNone/>
            </a:pPr>
            <a:r>
              <a:rPr lang="en-US" sz="800" dirty="0">
                <a:solidFill>
                  <a:srgbClr val="132033"/>
                </a:solidFill>
                <a:latin typeface="Aptos" pitchFamily="34" charset="0"/>
                <a:ea typeface="Aptos" pitchFamily="34" charset="-122"/>
                <a:cs typeface="Aptos" pitchFamily="34" charset="-120"/>
              </a:rPr>
              <a:t> </a:t>
            </a:r>
            <a:endParaRPr lang="en-US" sz="1700" dirty="0"/>
          </a:p>
          <a:p>
            <a:pPr indent="0" marL="0">
              <a:buNone/>
            </a:pPr>
            <a:r>
              <a:rPr lang="en-US" sz="1700" dirty="0">
                <a:solidFill>
                  <a:srgbClr val="132033"/>
                </a:solidFill>
                <a:latin typeface="Aptos" pitchFamily="34" charset="0"/>
                <a:ea typeface="Aptos" pitchFamily="34" charset="-122"/>
                <a:cs typeface="Aptos" pitchFamily="34" charset="-120"/>
              </a:rPr>
              <a:t>h₁ = ReLU(1) = </a:t>
            </a:r>
            <a:pPr indent="0" marL="0">
              <a:buNone/>
            </a:pPr>
            <a:r>
              <a:rPr lang="en-US" sz="2400" b="1" dirty="0">
                <a:solidFill>
                  <a:srgbClr val="2E7D32"/>
                </a:solidFill>
                <a:latin typeface="Aptos" pitchFamily="34" charset="0"/>
                <a:ea typeface="Aptos" pitchFamily="34" charset="-122"/>
                <a:cs typeface="Aptos" pitchFamily="34" charset="-120"/>
              </a:rPr>
              <a:t>1</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indent="0" marL="0">
              <a:buNone/>
            </a:pPr>
            <a:r>
              <a:rPr lang="en-US" sz="3400" b="1" dirty="0">
                <a:solidFill>
                  <a:srgbClr val="0B2D55"/>
                </a:solidFill>
                <a:latin typeface="Aptos Display" pitchFamily="34" charset="0"/>
                <a:ea typeface="Aptos Display" pitchFamily="34" charset="-122"/>
                <a:cs typeface="Aptos Display" pitchFamily="34" charset="-120"/>
              </a:rPr>
              <a:t>Step 2: hidden neuron 2</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indent="0" marL="0">
              <a:buNone/>
            </a:pPr>
            <a:r>
              <a:rPr lang="en-US" sz="1500" dirty="0">
                <a:solidFill>
                  <a:srgbClr val="132033"/>
                </a:solidFill>
                <a:latin typeface="Aptos" pitchFamily="34" charset="0"/>
                <a:ea typeface="Aptos" pitchFamily="34" charset="-122"/>
                <a:cs typeface="Aptos" pitchFamily="34" charset="-120"/>
              </a:rPr>
              <a:t>Same inputs, different weights, a very different result.</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indent="0" marL="0">
              <a:buNone/>
            </a:pPr>
            <a:r>
              <a:rPr lang="en-US" sz="850" dirty="0">
                <a:solidFill>
                  <a:srgbClr val="6D7C8F"/>
                </a:solidFill>
                <a:latin typeface="Aptos" pitchFamily="34" charset="0"/>
                <a:ea typeface="Aptos" pitchFamily="34" charset="-122"/>
                <a:cs typeface="Aptos" pitchFamily="34" charset="-120"/>
              </a:rPr>
              <a:t>CS 471  |  L28: Neural Networks I</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algn="r" indent="0" marL="0">
              <a:buNone/>
            </a:pPr>
            <a:r>
              <a:rPr lang="en-US" sz="850" dirty="0">
                <a:solidFill>
                  <a:srgbClr val="6D7C8F"/>
                </a:solidFill>
                <a:latin typeface="Aptos" pitchFamily="34" charset="0"/>
                <a:ea typeface="Aptos" pitchFamily="34" charset="-122"/>
                <a:cs typeface="Aptos" pitchFamily="34" charset="-120"/>
              </a:rPr>
              <a:t>14</a:t>
            </a:r>
            <a:endParaRPr lang="en-US" sz="850" dirty="0"/>
          </a:p>
        </p:txBody>
      </p:sp>
      <p:sp>
        <p:nvSpPr>
          <p:cNvPr id="7" name="Shape 4"/>
          <p:cNvSpPr/>
          <p:nvPr/>
        </p:nvSpPr>
        <p:spPr>
          <a:xfrm>
            <a:off x="576072" y="1508760"/>
            <a:ext cx="6583680" cy="4389120"/>
          </a:xfrm>
          <a:prstGeom prst="roundRect">
            <a:avLst>
              <a:gd name="adj" fmla="val 1667"/>
            </a:avLst>
          </a:prstGeom>
          <a:solidFill>
            <a:srgbClr val="FFFFFF"/>
          </a:solidFill>
          <a:ln w="12700">
            <a:solidFill>
              <a:srgbClr val="B8C7D8"/>
            </a:solidFill>
            <a:prstDash val="solid"/>
          </a:ln>
        </p:spPr>
      </p:sp>
      <p:sp>
        <p:nvSpPr>
          <p:cNvPr id="8" name="Shape 5"/>
          <p:cNvSpPr/>
          <p:nvPr/>
        </p:nvSpPr>
        <p:spPr>
          <a:xfrm>
            <a:off x="1760220" y="2331720"/>
            <a:ext cx="1600200" cy="914"/>
          </a:xfrm>
          <a:prstGeom prst="line">
            <a:avLst/>
          </a:prstGeom>
          <a:noFill/>
          <a:ln w="12700">
            <a:solidFill>
              <a:srgbClr val="D4DEE8"/>
            </a:solidFill>
            <a:prstDash val="solid"/>
          </a:ln>
        </p:spPr>
      </p:sp>
      <p:sp>
        <p:nvSpPr>
          <p:cNvPr id="9" name="Text 6"/>
          <p:cNvSpPr txBox="1"/>
          <p:nvPr/>
        </p:nvSpPr>
        <p:spPr>
          <a:xfrm>
            <a:off x="1899666" y="2185416"/>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B0BCCB"/>
                </a:solidFill>
                <a:latin typeface="Aptos" pitchFamily="34" charset="0"/>
                <a:ea typeface="Aptos" pitchFamily="34" charset="-122"/>
                <a:cs typeface="Aptos" pitchFamily="34" charset="-120"/>
              </a:rPr>
              <a:t>1</a:t>
            </a:r>
            <a:endParaRPr lang="en-US" sz="1250" dirty="0"/>
          </a:p>
        </p:txBody>
      </p:sp>
      <p:sp>
        <p:nvSpPr>
          <p:cNvPr id="10" name="Shape 7"/>
          <p:cNvSpPr/>
          <p:nvPr/>
        </p:nvSpPr>
        <p:spPr>
          <a:xfrm>
            <a:off x="1760220" y="2331720"/>
            <a:ext cx="1600200" cy="2103120"/>
          </a:xfrm>
          <a:prstGeom prst="line">
            <a:avLst/>
          </a:prstGeom>
          <a:noFill/>
          <a:ln w="24130">
            <a:solidFill>
              <a:srgbClr val="D9731A"/>
            </a:solidFill>
            <a:prstDash val="solid"/>
          </a:ln>
        </p:spPr>
      </p:sp>
      <p:sp>
        <p:nvSpPr>
          <p:cNvPr id="11" name="Text 8"/>
          <p:cNvSpPr txBox="1"/>
          <p:nvPr/>
        </p:nvSpPr>
        <p:spPr>
          <a:xfrm>
            <a:off x="1899666" y="2753258"/>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D9731A"/>
                </a:solidFill>
                <a:latin typeface="Aptos" pitchFamily="34" charset="0"/>
                <a:ea typeface="Aptos" pitchFamily="34" charset="-122"/>
                <a:cs typeface="Aptos" pitchFamily="34" charset="-120"/>
              </a:rPr>
              <a:t>−1</a:t>
            </a:r>
            <a:endParaRPr lang="en-US" sz="1250" dirty="0"/>
          </a:p>
        </p:txBody>
      </p:sp>
      <p:sp>
        <p:nvSpPr>
          <p:cNvPr id="12" name="Shape 9"/>
          <p:cNvSpPr/>
          <p:nvPr/>
        </p:nvSpPr>
        <p:spPr>
          <a:xfrm flipV="1">
            <a:off x="1760220" y="2331720"/>
            <a:ext cx="1600200" cy="2103120"/>
          </a:xfrm>
          <a:prstGeom prst="line">
            <a:avLst/>
          </a:prstGeom>
          <a:noFill/>
          <a:ln w="12700">
            <a:solidFill>
              <a:srgbClr val="D4DEE8"/>
            </a:solidFill>
            <a:prstDash val="solid"/>
          </a:ln>
        </p:spPr>
      </p:sp>
      <p:sp>
        <p:nvSpPr>
          <p:cNvPr id="13" name="Text 10"/>
          <p:cNvSpPr txBox="1"/>
          <p:nvPr/>
        </p:nvSpPr>
        <p:spPr>
          <a:xfrm>
            <a:off x="1899666" y="3720694"/>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B0BCCB"/>
                </a:solidFill>
                <a:latin typeface="Aptos" pitchFamily="34" charset="0"/>
                <a:ea typeface="Aptos" pitchFamily="34" charset="-122"/>
                <a:cs typeface="Aptos" pitchFamily="34" charset="-120"/>
              </a:rPr>
              <a:t>−2</a:t>
            </a:r>
            <a:endParaRPr lang="en-US" sz="1250" dirty="0"/>
          </a:p>
        </p:txBody>
      </p:sp>
      <p:sp>
        <p:nvSpPr>
          <p:cNvPr id="14" name="Shape 11"/>
          <p:cNvSpPr/>
          <p:nvPr/>
        </p:nvSpPr>
        <p:spPr>
          <a:xfrm>
            <a:off x="1760220" y="4434840"/>
            <a:ext cx="1600200" cy="914"/>
          </a:xfrm>
          <a:prstGeom prst="line">
            <a:avLst/>
          </a:prstGeom>
          <a:noFill/>
          <a:ln w="24130">
            <a:solidFill>
              <a:srgbClr val="1D5FA7"/>
            </a:solidFill>
            <a:prstDash val="solid"/>
          </a:ln>
        </p:spPr>
      </p:sp>
      <p:sp>
        <p:nvSpPr>
          <p:cNvPr id="15" name="Text 12"/>
          <p:cNvSpPr txBox="1"/>
          <p:nvPr/>
        </p:nvSpPr>
        <p:spPr>
          <a:xfrm>
            <a:off x="1899666" y="4288536"/>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1D5FA7"/>
                </a:solidFill>
                <a:latin typeface="Aptos" pitchFamily="34" charset="0"/>
                <a:ea typeface="Aptos" pitchFamily="34" charset="-122"/>
                <a:cs typeface="Aptos" pitchFamily="34" charset="-120"/>
              </a:rPr>
              <a:t>1</a:t>
            </a:r>
            <a:endParaRPr lang="en-US" sz="1250" dirty="0"/>
          </a:p>
        </p:txBody>
      </p:sp>
      <p:sp>
        <p:nvSpPr>
          <p:cNvPr id="16" name="Shape 13"/>
          <p:cNvSpPr/>
          <p:nvPr/>
        </p:nvSpPr>
        <p:spPr>
          <a:xfrm>
            <a:off x="4229100" y="2331720"/>
            <a:ext cx="1600200" cy="1051560"/>
          </a:xfrm>
          <a:prstGeom prst="line">
            <a:avLst/>
          </a:prstGeom>
          <a:noFill/>
          <a:ln w="12700">
            <a:solidFill>
              <a:srgbClr val="D4DEE8"/>
            </a:solidFill>
            <a:prstDash val="solid"/>
          </a:ln>
        </p:spPr>
      </p:sp>
      <p:sp>
        <p:nvSpPr>
          <p:cNvPr id="17" name="Text 14"/>
          <p:cNvSpPr txBox="1"/>
          <p:nvPr/>
        </p:nvSpPr>
        <p:spPr>
          <a:xfrm>
            <a:off x="4496562" y="2553462"/>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B0BCCB"/>
                </a:solidFill>
                <a:latin typeface="Aptos" pitchFamily="34" charset="0"/>
                <a:ea typeface="Aptos" pitchFamily="34" charset="-122"/>
                <a:cs typeface="Aptos" pitchFamily="34" charset="-120"/>
              </a:rPr>
              <a:t>1.5</a:t>
            </a:r>
            <a:endParaRPr lang="en-US" sz="1250" dirty="0"/>
          </a:p>
        </p:txBody>
      </p:sp>
      <p:sp>
        <p:nvSpPr>
          <p:cNvPr id="18" name="Shape 15"/>
          <p:cNvSpPr/>
          <p:nvPr/>
        </p:nvSpPr>
        <p:spPr>
          <a:xfrm flipV="1">
            <a:off x="4229100" y="3383280"/>
            <a:ext cx="1600200" cy="1051560"/>
          </a:xfrm>
          <a:prstGeom prst="line">
            <a:avLst/>
          </a:prstGeom>
          <a:noFill/>
          <a:ln w="12700">
            <a:solidFill>
              <a:srgbClr val="D4DEE8"/>
            </a:solidFill>
            <a:prstDash val="solid"/>
          </a:ln>
        </p:spPr>
      </p:sp>
      <p:sp>
        <p:nvSpPr>
          <p:cNvPr id="19" name="Text 16"/>
          <p:cNvSpPr txBox="1"/>
          <p:nvPr/>
        </p:nvSpPr>
        <p:spPr>
          <a:xfrm>
            <a:off x="4496562" y="3920490"/>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B0BCCB"/>
                </a:solidFill>
                <a:latin typeface="Aptos" pitchFamily="34" charset="0"/>
                <a:ea typeface="Aptos" pitchFamily="34" charset="-122"/>
                <a:cs typeface="Aptos" pitchFamily="34" charset="-120"/>
              </a:rPr>
              <a:t>2</a:t>
            </a:r>
            <a:endParaRPr lang="en-US" sz="1250" dirty="0"/>
          </a:p>
        </p:txBody>
      </p:sp>
      <p:sp>
        <p:nvSpPr>
          <p:cNvPr id="20" name="Shape 17"/>
          <p:cNvSpPr/>
          <p:nvPr/>
        </p:nvSpPr>
        <p:spPr>
          <a:xfrm>
            <a:off x="891540" y="1897380"/>
            <a:ext cx="868680" cy="868680"/>
          </a:xfrm>
          <a:prstGeom prst="ellipse">
            <a:avLst/>
          </a:prstGeom>
          <a:solidFill>
            <a:srgbClr val="EAF2F8"/>
          </a:solidFill>
          <a:ln w="19050">
            <a:solidFill>
              <a:srgbClr val="1F5D9B"/>
            </a:solidFill>
            <a:prstDash val="solid"/>
          </a:ln>
        </p:spPr>
      </p:sp>
      <p:sp>
        <p:nvSpPr>
          <p:cNvPr id="21" name="Text 18"/>
          <p:cNvSpPr txBox="1"/>
          <p:nvPr/>
        </p:nvSpPr>
        <p:spPr>
          <a:xfrm>
            <a:off x="800100" y="1897380"/>
            <a:ext cx="1051560" cy="868680"/>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x₁</a:t>
            </a:r>
            <a:endParaRPr lang="en-US" sz="1600" dirty="0"/>
          </a:p>
          <a:p>
            <a:pPr algn="ctr" indent="0" marL="0">
              <a:buNone/>
            </a:pPr>
            <a:r>
              <a:rPr lang="en-US" sz="1700" b="1" dirty="0">
                <a:solidFill>
                  <a:srgbClr val="0B2D55"/>
                </a:solidFill>
                <a:latin typeface="Aptos" pitchFamily="34" charset="0"/>
                <a:ea typeface="Aptos" pitchFamily="34" charset="-122"/>
                <a:cs typeface="Aptos" pitchFamily="34" charset="-120"/>
              </a:rPr>
              <a:t>3</a:t>
            </a:r>
            <a:endParaRPr lang="en-US" sz="1600" dirty="0"/>
          </a:p>
        </p:txBody>
      </p:sp>
      <p:sp>
        <p:nvSpPr>
          <p:cNvPr id="22" name="Shape 19"/>
          <p:cNvSpPr/>
          <p:nvPr/>
        </p:nvSpPr>
        <p:spPr>
          <a:xfrm>
            <a:off x="891540" y="4000500"/>
            <a:ext cx="868680" cy="868680"/>
          </a:xfrm>
          <a:prstGeom prst="ellipse">
            <a:avLst/>
          </a:prstGeom>
          <a:solidFill>
            <a:srgbClr val="EAF2F8"/>
          </a:solidFill>
          <a:ln w="19050">
            <a:solidFill>
              <a:srgbClr val="1F5D9B"/>
            </a:solidFill>
            <a:prstDash val="solid"/>
          </a:ln>
        </p:spPr>
      </p:sp>
      <p:sp>
        <p:nvSpPr>
          <p:cNvPr id="23" name="Text 20"/>
          <p:cNvSpPr txBox="1"/>
          <p:nvPr/>
        </p:nvSpPr>
        <p:spPr>
          <a:xfrm>
            <a:off x="800100" y="4000500"/>
            <a:ext cx="1051560" cy="868680"/>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x₂</a:t>
            </a:r>
            <a:endParaRPr lang="en-US" sz="1600" dirty="0"/>
          </a:p>
          <a:p>
            <a:pPr algn="ctr" indent="0" marL="0">
              <a:buNone/>
            </a:pPr>
            <a:r>
              <a:rPr lang="en-US" sz="1700" b="1" dirty="0">
                <a:solidFill>
                  <a:srgbClr val="0B2D55"/>
                </a:solidFill>
                <a:latin typeface="Aptos" pitchFamily="34" charset="0"/>
                <a:ea typeface="Aptos" pitchFamily="34" charset="-122"/>
                <a:cs typeface="Aptos" pitchFamily="34" charset="-120"/>
              </a:rPr>
              <a:t>1</a:t>
            </a:r>
            <a:endParaRPr lang="en-US" sz="1600" dirty="0"/>
          </a:p>
        </p:txBody>
      </p:sp>
      <p:sp>
        <p:nvSpPr>
          <p:cNvPr id="24" name="Shape 21"/>
          <p:cNvSpPr/>
          <p:nvPr/>
        </p:nvSpPr>
        <p:spPr>
          <a:xfrm>
            <a:off x="3360420" y="1897380"/>
            <a:ext cx="868680" cy="868680"/>
          </a:xfrm>
          <a:prstGeom prst="ellipse">
            <a:avLst/>
          </a:prstGeom>
          <a:solidFill>
            <a:srgbClr val="FFFFFF"/>
          </a:solidFill>
          <a:ln w="19050">
            <a:solidFill>
              <a:srgbClr val="0B2D55"/>
            </a:solidFill>
            <a:prstDash val="solid"/>
          </a:ln>
        </p:spPr>
      </p:sp>
      <p:sp>
        <p:nvSpPr>
          <p:cNvPr id="25" name="Text 22"/>
          <p:cNvSpPr txBox="1"/>
          <p:nvPr/>
        </p:nvSpPr>
        <p:spPr>
          <a:xfrm>
            <a:off x="3268980" y="1897380"/>
            <a:ext cx="1051560" cy="868680"/>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h₁ ReLU</a:t>
            </a:r>
            <a:endParaRPr lang="en-US" sz="1600" dirty="0"/>
          </a:p>
          <a:p>
            <a:pPr algn="ctr" indent="0" marL="0">
              <a:buNone/>
            </a:pPr>
            <a:r>
              <a:rPr lang="en-US" sz="1700" b="1" dirty="0">
                <a:solidFill>
                  <a:srgbClr val="0B2D55"/>
                </a:solidFill>
                <a:latin typeface="Aptos" pitchFamily="34" charset="0"/>
                <a:ea typeface="Aptos" pitchFamily="34" charset="-122"/>
                <a:cs typeface="Aptos" pitchFamily="34" charset="-120"/>
              </a:rPr>
              <a:t>1</a:t>
            </a:r>
            <a:endParaRPr lang="en-US" sz="1600" dirty="0"/>
          </a:p>
        </p:txBody>
      </p:sp>
      <p:sp>
        <p:nvSpPr>
          <p:cNvPr id="26" name="Shape 23"/>
          <p:cNvSpPr/>
          <p:nvPr/>
        </p:nvSpPr>
        <p:spPr>
          <a:xfrm>
            <a:off x="3360420" y="4000500"/>
            <a:ext cx="868680" cy="868680"/>
          </a:xfrm>
          <a:prstGeom prst="ellipse">
            <a:avLst/>
          </a:prstGeom>
          <a:solidFill>
            <a:srgbClr val="FFF4CE"/>
          </a:solidFill>
          <a:ln w="38100">
            <a:solidFill>
              <a:srgbClr val="F2C14E"/>
            </a:solidFill>
            <a:prstDash val="solid"/>
          </a:ln>
        </p:spPr>
      </p:sp>
      <p:sp>
        <p:nvSpPr>
          <p:cNvPr id="27" name="Text 24"/>
          <p:cNvSpPr txBox="1"/>
          <p:nvPr/>
        </p:nvSpPr>
        <p:spPr>
          <a:xfrm>
            <a:off x="3268980" y="4000500"/>
            <a:ext cx="1051560" cy="868680"/>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h₂ ReLU</a:t>
            </a:r>
            <a:endParaRPr lang="en-US" sz="1600" dirty="0"/>
          </a:p>
          <a:p>
            <a:pPr algn="ctr" indent="0" marL="0">
              <a:buNone/>
            </a:pPr>
            <a:r>
              <a:rPr lang="en-US" sz="1700" b="1" dirty="0">
                <a:solidFill>
                  <a:srgbClr val="0B2D55"/>
                </a:solidFill>
                <a:latin typeface="Aptos" pitchFamily="34" charset="0"/>
                <a:ea typeface="Aptos" pitchFamily="34" charset="-122"/>
                <a:cs typeface="Aptos" pitchFamily="34" charset="-120"/>
              </a:rPr>
              <a:t>?</a:t>
            </a:r>
            <a:endParaRPr lang="en-US" sz="1600" dirty="0"/>
          </a:p>
        </p:txBody>
      </p:sp>
      <p:sp>
        <p:nvSpPr>
          <p:cNvPr id="28" name="Shape 25"/>
          <p:cNvSpPr/>
          <p:nvPr/>
        </p:nvSpPr>
        <p:spPr>
          <a:xfrm>
            <a:off x="5829300" y="2948940"/>
            <a:ext cx="868680" cy="868680"/>
          </a:xfrm>
          <a:prstGeom prst="ellipse">
            <a:avLst/>
          </a:prstGeom>
          <a:solidFill>
            <a:srgbClr val="DFF0D8"/>
          </a:solidFill>
          <a:ln w="19050">
            <a:solidFill>
              <a:srgbClr val="2E7D32"/>
            </a:solidFill>
            <a:prstDash val="solid"/>
          </a:ln>
        </p:spPr>
      </p:sp>
      <p:sp>
        <p:nvSpPr>
          <p:cNvPr id="29" name="Text 26"/>
          <p:cNvSpPr txBox="1"/>
          <p:nvPr/>
        </p:nvSpPr>
        <p:spPr>
          <a:xfrm>
            <a:off x="5737860" y="2948940"/>
            <a:ext cx="1051560" cy="868680"/>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out σ</a:t>
            </a:r>
            <a:endParaRPr lang="en-US" sz="1600" dirty="0"/>
          </a:p>
          <a:p>
            <a:pPr algn="ctr" indent="0" marL="0">
              <a:buNone/>
            </a:pPr>
            <a:r>
              <a:rPr lang="en-US" sz="1700" b="1" dirty="0">
                <a:solidFill>
                  <a:srgbClr val="0B2D55"/>
                </a:solidFill>
                <a:latin typeface="Aptos" pitchFamily="34" charset="0"/>
                <a:ea typeface="Aptos" pitchFamily="34" charset="-122"/>
                <a:cs typeface="Aptos" pitchFamily="34" charset="-120"/>
              </a:rPr>
              <a:t>?</a:t>
            </a:r>
            <a:endParaRPr lang="en-US" sz="1600" dirty="0"/>
          </a:p>
        </p:txBody>
      </p:sp>
      <p:sp>
        <p:nvSpPr>
          <p:cNvPr id="30" name="Text 27"/>
          <p:cNvSpPr txBox="1"/>
          <p:nvPr/>
        </p:nvSpPr>
        <p:spPr>
          <a:xfrm>
            <a:off x="3337560" y="1604772"/>
            <a:ext cx="914400" cy="256032"/>
          </a:xfrm>
          <a:prstGeom prst="rect">
            <a:avLst/>
          </a:prstGeom>
          <a:noFill/>
          <a:ln/>
        </p:spPr>
        <p:txBody>
          <a:bodyPr wrap="square" lIns="0" tIns="0" rIns="0" bIns="0" rtlCol="0" anchor="t"/>
          <a:lstStyle/>
          <a:p>
            <a:pPr algn="ctr" indent="0" marL="0">
              <a:buNone/>
            </a:pPr>
            <a:r>
              <a:rPr lang="en-US" sz="1200" dirty="0">
                <a:solidFill>
                  <a:srgbClr val="6D7C8F"/>
                </a:solidFill>
                <a:latin typeface="Aptos" pitchFamily="34" charset="0"/>
                <a:ea typeface="Aptos" pitchFamily="34" charset="-122"/>
                <a:cs typeface="Aptos" pitchFamily="34" charset="-120"/>
              </a:rPr>
              <a:t>b = 0</a:t>
            </a:r>
            <a:endParaRPr lang="en-US" sz="1200" dirty="0"/>
          </a:p>
        </p:txBody>
      </p:sp>
      <p:sp>
        <p:nvSpPr>
          <p:cNvPr id="31" name="Text 28"/>
          <p:cNvSpPr txBox="1"/>
          <p:nvPr/>
        </p:nvSpPr>
        <p:spPr>
          <a:xfrm>
            <a:off x="3337560" y="4905756"/>
            <a:ext cx="914400" cy="256032"/>
          </a:xfrm>
          <a:prstGeom prst="rect">
            <a:avLst/>
          </a:prstGeom>
          <a:noFill/>
          <a:ln/>
        </p:spPr>
        <p:txBody>
          <a:bodyPr wrap="square" lIns="0" tIns="0" rIns="0" bIns="0" rtlCol="0" anchor="t"/>
          <a:lstStyle/>
          <a:p>
            <a:pPr algn="ctr" indent="0" marL="0">
              <a:buNone/>
            </a:pPr>
            <a:r>
              <a:rPr lang="en-US" sz="1200" dirty="0">
                <a:solidFill>
                  <a:srgbClr val="6D7C8F"/>
                </a:solidFill>
                <a:latin typeface="Aptos" pitchFamily="34" charset="0"/>
                <a:ea typeface="Aptos" pitchFamily="34" charset="-122"/>
                <a:cs typeface="Aptos" pitchFamily="34" charset="-120"/>
              </a:rPr>
              <a:t>b = 1</a:t>
            </a:r>
            <a:endParaRPr lang="en-US" sz="1200" dirty="0"/>
          </a:p>
        </p:txBody>
      </p:sp>
      <p:sp>
        <p:nvSpPr>
          <p:cNvPr id="32" name="Text 29"/>
          <p:cNvSpPr txBox="1"/>
          <p:nvPr/>
        </p:nvSpPr>
        <p:spPr>
          <a:xfrm>
            <a:off x="5806440" y="3854196"/>
            <a:ext cx="914400" cy="256032"/>
          </a:xfrm>
          <a:prstGeom prst="rect">
            <a:avLst/>
          </a:prstGeom>
          <a:noFill/>
          <a:ln/>
        </p:spPr>
        <p:txBody>
          <a:bodyPr wrap="square" lIns="0" tIns="0" rIns="0" bIns="0" rtlCol="0" anchor="t"/>
          <a:lstStyle/>
          <a:p>
            <a:pPr algn="ctr" indent="0" marL="0">
              <a:buNone/>
            </a:pPr>
            <a:r>
              <a:rPr lang="en-US" sz="1200" dirty="0">
                <a:solidFill>
                  <a:srgbClr val="6D7C8F"/>
                </a:solidFill>
                <a:latin typeface="Aptos" pitchFamily="34" charset="0"/>
                <a:ea typeface="Aptos" pitchFamily="34" charset="-122"/>
                <a:cs typeface="Aptos" pitchFamily="34" charset="-120"/>
              </a:rPr>
              <a:t>b = 0.5</a:t>
            </a:r>
            <a:endParaRPr lang="en-US" sz="1200" dirty="0"/>
          </a:p>
        </p:txBody>
      </p:sp>
      <p:sp>
        <p:nvSpPr>
          <p:cNvPr id="33" name="Shape 30"/>
          <p:cNvSpPr/>
          <p:nvPr/>
        </p:nvSpPr>
        <p:spPr>
          <a:xfrm>
            <a:off x="7406640" y="1508760"/>
            <a:ext cx="4206240" cy="4389120"/>
          </a:xfrm>
          <a:prstGeom prst="roundRect">
            <a:avLst>
              <a:gd name="adj" fmla="val 1739"/>
            </a:avLst>
          </a:prstGeom>
          <a:solidFill>
            <a:srgbClr val="FFF4CE"/>
          </a:solidFill>
          <a:ln w="12700">
            <a:solidFill>
              <a:srgbClr val="F2C14E"/>
            </a:solidFill>
            <a:prstDash val="solid"/>
          </a:ln>
        </p:spPr>
      </p:sp>
      <p:sp>
        <p:nvSpPr>
          <p:cNvPr id="34" name="Text 31"/>
          <p:cNvSpPr txBox="1"/>
          <p:nvPr/>
        </p:nvSpPr>
        <p:spPr>
          <a:xfrm>
            <a:off x="7635240" y="1645920"/>
            <a:ext cx="3749040" cy="4114800"/>
          </a:xfrm>
          <a:prstGeom prst="rect">
            <a:avLst/>
          </a:prstGeom>
          <a:noFill/>
          <a:ln/>
        </p:spPr>
        <p:txBody>
          <a:bodyPr wrap="square" lIns="0" tIns="0" rIns="0" bIns="0" rtlCol="0" anchor="ctr"/>
          <a:lstStyle/>
          <a:p>
            <a:pPr indent="0" marL="0">
              <a:buNone/>
            </a:pPr>
            <a:r>
              <a:rPr lang="en-US" sz="2000" b="1" dirty="0">
                <a:solidFill>
                  <a:srgbClr val="0B2D55"/>
                </a:solidFill>
                <a:latin typeface="Aptos" pitchFamily="34" charset="0"/>
                <a:ea typeface="Aptos" pitchFamily="34" charset="-122"/>
                <a:cs typeface="Aptos" pitchFamily="34" charset="-120"/>
              </a:rPr>
              <a:t>Hidden neuron h₂</a:t>
            </a:r>
            <a:endParaRPr lang="en-US" sz="1700" dirty="0"/>
          </a:p>
          <a:p>
            <a:pPr indent="0" marL="0">
              <a:buNone/>
            </a:pPr>
            <a:r>
              <a:rPr lang="en-US" sz="800" dirty="0">
                <a:solidFill>
                  <a:srgbClr val="132033"/>
                </a:solidFill>
                <a:latin typeface="Aptos" pitchFamily="34" charset="0"/>
                <a:ea typeface="Aptos" pitchFamily="34" charset="-122"/>
                <a:cs typeface="Aptos" pitchFamily="34" charset="-120"/>
              </a:rPr>
              <a:t> </a:t>
            </a:r>
            <a:endParaRPr lang="en-US" sz="1700" dirty="0"/>
          </a:p>
          <a:p>
            <a:pPr indent="0" marL="0">
              <a:buNone/>
            </a:pPr>
            <a:r>
              <a:rPr lang="en-US" sz="1700" dirty="0">
                <a:solidFill>
                  <a:srgbClr val="132033"/>
                </a:solidFill>
                <a:latin typeface="Aptos" pitchFamily="34" charset="0"/>
                <a:ea typeface="Aptos" pitchFamily="34" charset="-122"/>
                <a:cs typeface="Aptos" pitchFamily="34" charset="-120"/>
              </a:rPr>
              <a:t>weights [−1, 1],  bias 1</a:t>
            </a:r>
            <a:endParaRPr lang="en-US" sz="1700" dirty="0"/>
          </a:p>
          <a:p>
            <a:pPr indent="0" marL="0">
              <a:buNone/>
            </a:pPr>
            <a:r>
              <a:rPr lang="en-US" sz="800" dirty="0">
                <a:solidFill>
                  <a:srgbClr val="132033"/>
                </a:solidFill>
                <a:latin typeface="Aptos" pitchFamily="34" charset="0"/>
                <a:ea typeface="Aptos" pitchFamily="34" charset="-122"/>
                <a:cs typeface="Aptos" pitchFamily="34" charset="-120"/>
              </a:rPr>
              <a:t> </a:t>
            </a:r>
            <a:endParaRPr lang="en-US" sz="1700" dirty="0"/>
          </a:p>
          <a:p>
            <a:pPr indent="0" marL="0">
              <a:buNone/>
            </a:pPr>
            <a:r>
              <a:rPr lang="en-US" sz="1700" dirty="0">
                <a:solidFill>
                  <a:srgbClr val="132033"/>
                </a:solidFill>
                <a:latin typeface="Aptos" pitchFamily="34" charset="0"/>
                <a:ea typeface="Aptos" pitchFamily="34" charset="-122"/>
                <a:cs typeface="Aptos" pitchFamily="34" charset="-120"/>
              </a:rPr>
              <a:t>z₂ = (−1)(3) + 1(1) + 1</a:t>
            </a:r>
            <a:endParaRPr lang="en-US" sz="1700" dirty="0"/>
          </a:p>
          <a:p>
            <a:pPr indent="0" marL="0">
              <a:buNone/>
            </a:pPr>
            <a:r>
              <a:rPr lang="en-US" sz="1700" b="1" dirty="0">
                <a:solidFill>
                  <a:srgbClr val="0B2D55"/>
                </a:solidFill>
                <a:latin typeface="Aptos" pitchFamily="34" charset="0"/>
                <a:ea typeface="Aptos" pitchFamily="34" charset="-122"/>
                <a:cs typeface="Aptos" pitchFamily="34" charset="-120"/>
              </a:rPr>
              <a:t>z₂ = −1</a:t>
            </a:r>
            <a:endParaRPr lang="en-US" sz="1700" dirty="0"/>
          </a:p>
          <a:p>
            <a:pPr indent="0" marL="0">
              <a:buNone/>
            </a:pPr>
            <a:r>
              <a:rPr lang="en-US" sz="800" dirty="0">
                <a:solidFill>
                  <a:srgbClr val="132033"/>
                </a:solidFill>
                <a:latin typeface="Aptos" pitchFamily="34" charset="0"/>
                <a:ea typeface="Aptos" pitchFamily="34" charset="-122"/>
                <a:cs typeface="Aptos" pitchFamily="34" charset="-120"/>
              </a:rPr>
              <a:t> </a:t>
            </a:r>
            <a:endParaRPr lang="en-US" sz="1700" dirty="0"/>
          </a:p>
          <a:p>
            <a:pPr indent="0" marL="0">
              <a:buNone/>
            </a:pPr>
            <a:r>
              <a:rPr lang="en-US" sz="1700" dirty="0">
                <a:solidFill>
                  <a:srgbClr val="132033"/>
                </a:solidFill>
                <a:latin typeface="Aptos" pitchFamily="34" charset="0"/>
                <a:ea typeface="Aptos" pitchFamily="34" charset="-122"/>
                <a:cs typeface="Aptos" pitchFamily="34" charset="-120"/>
              </a:rPr>
              <a:t>h₂ = ReLU(−1) = </a:t>
            </a:r>
            <a:pPr indent="0" marL="0">
              <a:buNone/>
            </a:pPr>
            <a:r>
              <a:rPr lang="en-US" sz="2400" b="1" dirty="0">
                <a:solidFill>
                  <a:srgbClr val="B43A3A"/>
                </a:solidFill>
                <a:latin typeface="Aptos" pitchFamily="34" charset="0"/>
                <a:ea typeface="Aptos" pitchFamily="34" charset="-122"/>
                <a:cs typeface="Aptos" pitchFamily="34" charset="-120"/>
              </a:rPr>
              <a:t>0</a:t>
            </a:r>
            <a:endParaRPr lang="en-US" sz="1700" dirty="0"/>
          </a:p>
          <a:p>
            <a:pPr indent="0" marL="0">
              <a:buNone/>
            </a:pPr>
            <a:r>
              <a:rPr lang="en-US" sz="800" dirty="0">
                <a:solidFill>
                  <a:srgbClr val="132033"/>
                </a:solidFill>
                <a:latin typeface="Aptos" pitchFamily="34" charset="0"/>
                <a:ea typeface="Aptos" pitchFamily="34" charset="-122"/>
                <a:cs typeface="Aptos" pitchFamily="34" charset="-120"/>
              </a:rPr>
              <a:t> </a:t>
            </a:r>
            <a:endParaRPr lang="en-US" sz="1700" dirty="0"/>
          </a:p>
          <a:p>
            <a:pPr indent="0" marL="0">
              <a:buNone/>
            </a:pPr>
            <a:r>
              <a:rPr lang="en-US" sz="1500" i="1" dirty="0">
                <a:solidFill>
                  <a:srgbClr val="6D7C8F"/>
                </a:solidFill>
                <a:latin typeface="Aptos" pitchFamily="34" charset="0"/>
                <a:ea typeface="Aptos" pitchFamily="34" charset="-122"/>
                <a:cs typeface="Aptos" pitchFamily="34" charset="-120"/>
              </a:rPr>
              <a:t>Switched off for this input.</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indent="0" marL="0">
              <a:buNone/>
            </a:pPr>
            <a:r>
              <a:rPr lang="en-US" sz="3400" b="1" dirty="0">
                <a:solidFill>
                  <a:srgbClr val="0B2D55"/>
                </a:solidFill>
                <a:latin typeface="Aptos Display" pitchFamily="34" charset="0"/>
                <a:ea typeface="Aptos Display" pitchFamily="34" charset="-122"/>
                <a:cs typeface="Aptos Display" pitchFamily="34" charset="-120"/>
              </a:rPr>
              <a:t>Step 3: the output neuron</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indent="0" marL="0">
              <a:buNone/>
            </a:pPr>
            <a:r>
              <a:rPr lang="en-US" sz="1500" dirty="0">
                <a:solidFill>
                  <a:srgbClr val="132033"/>
                </a:solidFill>
                <a:latin typeface="Aptos" pitchFamily="34" charset="0"/>
                <a:ea typeface="Aptos" pitchFamily="34" charset="-122"/>
                <a:cs typeface="Aptos" pitchFamily="34" charset="-120"/>
              </a:rPr>
              <a:t>The hidden values become the output neuron’s inputs.</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indent="0" marL="0">
              <a:buNone/>
            </a:pPr>
            <a:r>
              <a:rPr lang="en-US" sz="850" dirty="0">
                <a:solidFill>
                  <a:srgbClr val="6D7C8F"/>
                </a:solidFill>
                <a:latin typeface="Aptos" pitchFamily="34" charset="0"/>
                <a:ea typeface="Aptos" pitchFamily="34" charset="-122"/>
                <a:cs typeface="Aptos" pitchFamily="34" charset="-120"/>
              </a:rPr>
              <a:t>CS 471  |  L28: Neural Networks I</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algn="r" indent="0" marL="0">
              <a:buNone/>
            </a:pPr>
            <a:r>
              <a:rPr lang="en-US" sz="850" dirty="0">
                <a:solidFill>
                  <a:srgbClr val="6D7C8F"/>
                </a:solidFill>
                <a:latin typeface="Aptos" pitchFamily="34" charset="0"/>
                <a:ea typeface="Aptos" pitchFamily="34" charset="-122"/>
                <a:cs typeface="Aptos" pitchFamily="34" charset="-120"/>
              </a:rPr>
              <a:t>15</a:t>
            </a:r>
            <a:endParaRPr lang="en-US" sz="850" dirty="0"/>
          </a:p>
        </p:txBody>
      </p:sp>
      <p:sp>
        <p:nvSpPr>
          <p:cNvPr id="7" name="Shape 4"/>
          <p:cNvSpPr/>
          <p:nvPr/>
        </p:nvSpPr>
        <p:spPr>
          <a:xfrm>
            <a:off x="576072" y="1508760"/>
            <a:ext cx="6583680" cy="3246120"/>
          </a:xfrm>
          <a:prstGeom prst="roundRect">
            <a:avLst>
              <a:gd name="adj" fmla="val 2254"/>
            </a:avLst>
          </a:prstGeom>
          <a:solidFill>
            <a:srgbClr val="FFFFFF"/>
          </a:solidFill>
          <a:ln w="12700">
            <a:solidFill>
              <a:srgbClr val="B8C7D8"/>
            </a:solidFill>
            <a:prstDash val="solid"/>
          </a:ln>
        </p:spPr>
      </p:sp>
      <p:sp>
        <p:nvSpPr>
          <p:cNvPr id="8" name="Shape 5"/>
          <p:cNvSpPr/>
          <p:nvPr/>
        </p:nvSpPr>
        <p:spPr>
          <a:xfrm>
            <a:off x="1764792" y="2194560"/>
            <a:ext cx="1280160" cy="914"/>
          </a:xfrm>
          <a:prstGeom prst="line">
            <a:avLst/>
          </a:prstGeom>
          <a:noFill/>
          <a:ln w="12700">
            <a:solidFill>
              <a:srgbClr val="D4DEE8"/>
            </a:solidFill>
            <a:prstDash val="solid"/>
          </a:ln>
        </p:spPr>
      </p:sp>
      <p:sp>
        <p:nvSpPr>
          <p:cNvPr id="9" name="Text 6"/>
          <p:cNvSpPr txBox="1"/>
          <p:nvPr/>
        </p:nvSpPr>
        <p:spPr>
          <a:xfrm>
            <a:off x="1817827" y="2048256"/>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B0BCCB"/>
                </a:solidFill>
                <a:latin typeface="Aptos" pitchFamily="34" charset="0"/>
                <a:ea typeface="Aptos" pitchFamily="34" charset="-122"/>
                <a:cs typeface="Aptos" pitchFamily="34" charset="-120"/>
              </a:rPr>
              <a:t>1</a:t>
            </a:r>
            <a:endParaRPr lang="en-US" sz="1250" dirty="0"/>
          </a:p>
        </p:txBody>
      </p:sp>
      <p:sp>
        <p:nvSpPr>
          <p:cNvPr id="10" name="Shape 7"/>
          <p:cNvSpPr/>
          <p:nvPr/>
        </p:nvSpPr>
        <p:spPr>
          <a:xfrm>
            <a:off x="1764792" y="2194560"/>
            <a:ext cx="1280160" cy="1682496"/>
          </a:xfrm>
          <a:prstGeom prst="line">
            <a:avLst/>
          </a:prstGeom>
          <a:noFill/>
          <a:ln w="12700">
            <a:solidFill>
              <a:srgbClr val="D4DEE8"/>
            </a:solidFill>
            <a:prstDash val="solid"/>
          </a:ln>
        </p:spPr>
      </p:sp>
      <p:sp>
        <p:nvSpPr>
          <p:cNvPr id="11" name="Text 8"/>
          <p:cNvSpPr txBox="1"/>
          <p:nvPr/>
        </p:nvSpPr>
        <p:spPr>
          <a:xfrm>
            <a:off x="1817827" y="2502530"/>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B0BCCB"/>
                </a:solidFill>
                <a:latin typeface="Aptos" pitchFamily="34" charset="0"/>
                <a:ea typeface="Aptos" pitchFamily="34" charset="-122"/>
                <a:cs typeface="Aptos" pitchFamily="34" charset="-120"/>
              </a:rPr>
              <a:t>−1</a:t>
            </a:r>
            <a:endParaRPr lang="en-US" sz="1250" dirty="0"/>
          </a:p>
        </p:txBody>
      </p:sp>
      <p:sp>
        <p:nvSpPr>
          <p:cNvPr id="12" name="Shape 9"/>
          <p:cNvSpPr/>
          <p:nvPr/>
        </p:nvSpPr>
        <p:spPr>
          <a:xfrm flipV="1">
            <a:off x="1764792" y="2194560"/>
            <a:ext cx="1280160" cy="1682496"/>
          </a:xfrm>
          <a:prstGeom prst="line">
            <a:avLst/>
          </a:prstGeom>
          <a:noFill/>
          <a:ln w="12700">
            <a:solidFill>
              <a:srgbClr val="D4DEE8"/>
            </a:solidFill>
            <a:prstDash val="solid"/>
          </a:ln>
        </p:spPr>
      </p:sp>
      <p:sp>
        <p:nvSpPr>
          <p:cNvPr id="13" name="Text 10"/>
          <p:cNvSpPr txBox="1"/>
          <p:nvPr/>
        </p:nvSpPr>
        <p:spPr>
          <a:xfrm>
            <a:off x="1817827" y="3276478"/>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B0BCCB"/>
                </a:solidFill>
                <a:latin typeface="Aptos" pitchFamily="34" charset="0"/>
                <a:ea typeface="Aptos" pitchFamily="34" charset="-122"/>
                <a:cs typeface="Aptos" pitchFamily="34" charset="-120"/>
              </a:rPr>
              <a:t>−2</a:t>
            </a:r>
            <a:endParaRPr lang="en-US" sz="1250" dirty="0"/>
          </a:p>
        </p:txBody>
      </p:sp>
      <p:sp>
        <p:nvSpPr>
          <p:cNvPr id="14" name="Shape 11"/>
          <p:cNvSpPr/>
          <p:nvPr/>
        </p:nvSpPr>
        <p:spPr>
          <a:xfrm>
            <a:off x="1764792" y="3877056"/>
            <a:ext cx="1280160" cy="914"/>
          </a:xfrm>
          <a:prstGeom prst="line">
            <a:avLst/>
          </a:prstGeom>
          <a:noFill/>
          <a:ln w="12700">
            <a:solidFill>
              <a:srgbClr val="D4DEE8"/>
            </a:solidFill>
            <a:prstDash val="solid"/>
          </a:ln>
        </p:spPr>
      </p:sp>
      <p:sp>
        <p:nvSpPr>
          <p:cNvPr id="15" name="Text 12"/>
          <p:cNvSpPr txBox="1"/>
          <p:nvPr/>
        </p:nvSpPr>
        <p:spPr>
          <a:xfrm>
            <a:off x="1817827" y="3730752"/>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B0BCCB"/>
                </a:solidFill>
                <a:latin typeface="Aptos" pitchFamily="34" charset="0"/>
                <a:ea typeface="Aptos" pitchFamily="34" charset="-122"/>
                <a:cs typeface="Aptos" pitchFamily="34" charset="-120"/>
              </a:rPr>
              <a:t>1</a:t>
            </a:r>
            <a:endParaRPr lang="en-US" sz="1250" dirty="0"/>
          </a:p>
        </p:txBody>
      </p:sp>
      <p:sp>
        <p:nvSpPr>
          <p:cNvPr id="16" name="Shape 13"/>
          <p:cNvSpPr/>
          <p:nvPr/>
        </p:nvSpPr>
        <p:spPr>
          <a:xfrm>
            <a:off x="3739896" y="2194560"/>
            <a:ext cx="1280160" cy="841248"/>
          </a:xfrm>
          <a:prstGeom prst="line">
            <a:avLst/>
          </a:prstGeom>
          <a:noFill/>
          <a:ln w="29845">
            <a:solidFill>
              <a:srgbClr val="1D5FA7"/>
            </a:solidFill>
            <a:prstDash val="solid"/>
          </a:ln>
        </p:spPr>
      </p:sp>
      <p:sp>
        <p:nvSpPr>
          <p:cNvPr id="17" name="Text 14"/>
          <p:cNvSpPr txBox="1"/>
          <p:nvPr/>
        </p:nvSpPr>
        <p:spPr>
          <a:xfrm>
            <a:off x="3895344" y="2342693"/>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1D5FA7"/>
                </a:solidFill>
                <a:latin typeface="Aptos" pitchFamily="34" charset="0"/>
                <a:ea typeface="Aptos" pitchFamily="34" charset="-122"/>
                <a:cs typeface="Aptos" pitchFamily="34" charset="-120"/>
              </a:rPr>
              <a:t>1.5</a:t>
            </a:r>
            <a:endParaRPr lang="en-US" sz="1250" dirty="0"/>
          </a:p>
        </p:txBody>
      </p:sp>
      <p:sp>
        <p:nvSpPr>
          <p:cNvPr id="18" name="Shape 15"/>
          <p:cNvSpPr/>
          <p:nvPr/>
        </p:nvSpPr>
        <p:spPr>
          <a:xfrm flipV="1">
            <a:off x="3739896" y="3035808"/>
            <a:ext cx="1280160" cy="841248"/>
          </a:xfrm>
          <a:prstGeom prst="line">
            <a:avLst/>
          </a:prstGeom>
          <a:noFill/>
          <a:ln w="35560">
            <a:solidFill>
              <a:srgbClr val="1D5FA7"/>
            </a:solidFill>
            <a:prstDash val="solid"/>
          </a:ln>
        </p:spPr>
      </p:sp>
      <p:sp>
        <p:nvSpPr>
          <p:cNvPr id="19" name="Text 16"/>
          <p:cNvSpPr txBox="1"/>
          <p:nvPr/>
        </p:nvSpPr>
        <p:spPr>
          <a:xfrm>
            <a:off x="3895344" y="3436315"/>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1D5FA7"/>
                </a:solidFill>
                <a:latin typeface="Aptos" pitchFamily="34" charset="0"/>
                <a:ea typeface="Aptos" pitchFamily="34" charset="-122"/>
                <a:cs typeface="Aptos" pitchFamily="34" charset="-120"/>
              </a:rPr>
              <a:t>2</a:t>
            </a:r>
            <a:endParaRPr lang="en-US" sz="1250" dirty="0"/>
          </a:p>
        </p:txBody>
      </p:sp>
      <p:sp>
        <p:nvSpPr>
          <p:cNvPr id="20" name="Shape 17"/>
          <p:cNvSpPr/>
          <p:nvPr/>
        </p:nvSpPr>
        <p:spPr>
          <a:xfrm>
            <a:off x="1069848" y="1847088"/>
            <a:ext cx="694944" cy="694944"/>
          </a:xfrm>
          <a:prstGeom prst="ellipse">
            <a:avLst/>
          </a:prstGeom>
          <a:solidFill>
            <a:srgbClr val="EAF2F8"/>
          </a:solidFill>
          <a:ln w="19050">
            <a:solidFill>
              <a:srgbClr val="1F5D9B"/>
            </a:solidFill>
            <a:prstDash val="solid"/>
          </a:ln>
        </p:spPr>
      </p:sp>
      <p:sp>
        <p:nvSpPr>
          <p:cNvPr id="21" name="Text 18"/>
          <p:cNvSpPr txBox="1"/>
          <p:nvPr/>
        </p:nvSpPr>
        <p:spPr>
          <a:xfrm>
            <a:off x="978408" y="1847088"/>
            <a:ext cx="877824" cy="694944"/>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x₁</a:t>
            </a:r>
            <a:endParaRPr lang="en-US" sz="1600" dirty="0"/>
          </a:p>
          <a:p>
            <a:pPr algn="ctr" indent="0" marL="0">
              <a:buNone/>
            </a:pPr>
            <a:r>
              <a:rPr lang="en-US" sz="1700" b="1" dirty="0">
                <a:solidFill>
                  <a:srgbClr val="0B2D55"/>
                </a:solidFill>
                <a:latin typeface="Aptos" pitchFamily="34" charset="0"/>
                <a:ea typeface="Aptos" pitchFamily="34" charset="-122"/>
                <a:cs typeface="Aptos" pitchFamily="34" charset="-120"/>
              </a:rPr>
              <a:t>3</a:t>
            </a:r>
            <a:endParaRPr lang="en-US" sz="1600" dirty="0"/>
          </a:p>
        </p:txBody>
      </p:sp>
      <p:sp>
        <p:nvSpPr>
          <p:cNvPr id="22" name="Shape 19"/>
          <p:cNvSpPr/>
          <p:nvPr/>
        </p:nvSpPr>
        <p:spPr>
          <a:xfrm>
            <a:off x="1069848" y="3529584"/>
            <a:ext cx="694944" cy="694944"/>
          </a:xfrm>
          <a:prstGeom prst="ellipse">
            <a:avLst/>
          </a:prstGeom>
          <a:solidFill>
            <a:srgbClr val="EAF2F8"/>
          </a:solidFill>
          <a:ln w="19050">
            <a:solidFill>
              <a:srgbClr val="1F5D9B"/>
            </a:solidFill>
            <a:prstDash val="solid"/>
          </a:ln>
        </p:spPr>
      </p:sp>
      <p:sp>
        <p:nvSpPr>
          <p:cNvPr id="23" name="Text 20"/>
          <p:cNvSpPr txBox="1"/>
          <p:nvPr/>
        </p:nvSpPr>
        <p:spPr>
          <a:xfrm>
            <a:off x="978408" y="3529584"/>
            <a:ext cx="877824" cy="694944"/>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x₂</a:t>
            </a:r>
            <a:endParaRPr lang="en-US" sz="1600" dirty="0"/>
          </a:p>
          <a:p>
            <a:pPr algn="ctr" indent="0" marL="0">
              <a:buNone/>
            </a:pPr>
            <a:r>
              <a:rPr lang="en-US" sz="1700" b="1" dirty="0">
                <a:solidFill>
                  <a:srgbClr val="0B2D55"/>
                </a:solidFill>
                <a:latin typeface="Aptos" pitchFamily="34" charset="0"/>
                <a:ea typeface="Aptos" pitchFamily="34" charset="-122"/>
                <a:cs typeface="Aptos" pitchFamily="34" charset="-120"/>
              </a:rPr>
              <a:t>1</a:t>
            </a:r>
            <a:endParaRPr lang="en-US" sz="1600" dirty="0"/>
          </a:p>
        </p:txBody>
      </p:sp>
      <p:sp>
        <p:nvSpPr>
          <p:cNvPr id="24" name="Shape 21"/>
          <p:cNvSpPr/>
          <p:nvPr/>
        </p:nvSpPr>
        <p:spPr>
          <a:xfrm>
            <a:off x="3044952" y="1847088"/>
            <a:ext cx="694944" cy="694944"/>
          </a:xfrm>
          <a:prstGeom prst="ellipse">
            <a:avLst/>
          </a:prstGeom>
          <a:solidFill>
            <a:srgbClr val="FFFFFF"/>
          </a:solidFill>
          <a:ln w="19050">
            <a:solidFill>
              <a:srgbClr val="0B2D55"/>
            </a:solidFill>
            <a:prstDash val="solid"/>
          </a:ln>
        </p:spPr>
      </p:sp>
      <p:sp>
        <p:nvSpPr>
          <p:cNvPr id="25" name="Text 22"/>
          <p:cNvSpPr txBox="1"/>
          <p:nvPr/>
        </p:nvSpPr>
        <p:spPr>
          <a:xfrm>
            <a:off x="2953512" y="1847088"/>
            <a:ext cx="877824" cy="694944"/>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h₁ ReLU</a:t>
            </a:r>
            <a:endParaRPr lang="en-US" sz="1600" dirty="0"/>
          </a:p>
          <a:p>
            <a:pPr algn="ctr" indent="0" marL="0">
              <a:buNone/>
            </a:pPr>
            <a:r>
              <a:rPr lang="en-US" sz="1700" b="1" dirty="0">
                <a:solidFill>
                  <a:srgbClr val="0B2D55"/>
                </a:solidFill>
                <a:latin typeface="Aptos" pitchFamily="34" charset="0"/>
                <a:ea typeface="Aptos" pitchFamily="34" charset="-122"/>
                <a:cs typeface="Aptos" pitchFamily="34" charset="-120"/>
              </a:rPr>
              <a:t>1</a:t>
            </a:r>
            <a:endParaRPr lang="en-US" sz="1600" dirty="0"/>
          </a:p>
        </p:txBody>
      </p:sp>
      <p:sp>
        <p:nvSpPr>
          <p:cNvPr id="26" name="Shape 23"/>
          <p:cNvSpPr/>
          <p:nvPr/>
        </p:nvSpPr>
        <p:spPr>
          <a:xfrm>
            <a:off x="3044952" y="3529584"/>
            <a:ext cx="694944" cy="694944"/>
          </a:xfrm>
          <a:prstGeom prst="ellipse">
            <a:avLst/>
          </a:prstGeom>
          <a:solidFill>
            <a:srgbClr val="FFFFFF"/>
          </a:solidFill>
          <a:ln w="19050">
            <a:solidFill>
              <a:srgbClr val="0B2D55"/>
            </a:solidFill>
            <a:prstDash val="solid"/>
          </a:ln>
        </p:spPr>
      </p:sp>
      <p:sp>
        <p:nvSpPr>
          <p:cNvPr id="27" name="Text 24"/>
          <p:cNvSpPr txBox="1"/>
          <p:nvPr/>
        </p:nvSpPr>
        <p:spPr>
          <a:xfrm>
            <a:off x="2953512" y="3529584"/>
            <a:ext cx="877824" cy="694944"/>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h₂ ReLU</a:t>
            </a:r>
            <a:endParaRPr lang="en-US" sz="1600" dirty="0"/>
          </a:p>
          <a:p>
            <a:pPr algn="ctr" indent="0" marL="0">
              <a:buNone/>
            </a:pPr>
            <a:r>
              <a:rPr lang="en-US" sz="1700" b="1" dirty="0">
                <a:solidFill>
                  <a:srgbClr val="0B2D55"/>
                </a:solidFill>
                <a:latin typeface="Aptos" pitchFamily="34" charset="0"/>
                <a:ea typeface="Aptos" pitchFamily="34" charset="-122"/>
                <a:cs typeface="Aptos" pitchFamily="34" charset="-120"/>
              </a:rPr>
              <a:t>0</a:t>
            </a:r>
            <a:endParaRPr lang="en-US" sz="1600" dirty="0"/>
          </a:p>
        </p:txBody>
      </p:sp>
      <p:sp>
        <p:nvSpPr>
          <p:cNvPr id="28" name="Shape 25"/>
          <p:cNvSpPr/>
          <p:nvPr/>
        </p:nvSpPr>
        <p:spPr>
          <a:xfrm>
            <a:off x="5020056" y="2688336"/>
            <a:ext cx="694944" cy="694944"/>
          </a:xfrm>
          <a:prstGeom prst="ellipse">
            <a:avLst/>
          </a:prstGeom>
          <a:solidFill>
            <a:srgbClr val="FFF4CE"/>
          </a:solidFill>
          <a:ln w="38100">
            <a:solidFill>
              <a:srgbClr val="F2C14E"/>
            </a:solidFill>
            <a:prstDash val="solid"/>
          </a:ln>
        </p:spPr>
      </p:sp>
      <p:sp>
        <p:nvSpPr>
          <p:cNvPr id="29" name="Text 26"/>
          <p:cNvSpPr txBox="1"/>
          <p:nvPr/>
        </p:nvSpPr>
        <p:spPr>
          <a:xfrm>
            <a:off x="4928616" y="2688336"/>
            <a:ext cx="877824" cy="694944"/>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out σ</a:t>
            </a:r>
            <a:endParaRPr lang="en-US" sz="1600" dirty="0"/>
          </a:p>
          <a:p>
            <a:pPr algn="ctr" indent="0" marL="0">
              <a:buNone/>
            </a:pPr>
            <a:r>
              <a:rPr lang="en-US" sz="1700" b="1" dirty="0">
                <a:solidFill>
                  <a:srgbClr val="0B2D55"/>
                </a:solidFill>
                <a:latin typeface="Aptos" pitchFamily="34" charset="0"/>
                <a:ea typeface="Aptos" pitchFamily="34" charset="-122"/>
                <a:cs typeface="Aptos" pitchFamily="34" charset="-120"/>
              </a:rPr>
              <a:t>?</a:t>
            </a:r>
            <a:endParaRPr lang="en-US" sz="1600" dirty="0"/>
          </a:p>
        </p:txBody>
      </p:sp>
      <p:sp>
        <p:nvSpPr>
          <p:cNvPr id="30" name="Text 27"/>
          <p:cNvSpPr txBox="1"/>
          <p:nvPr/>
        </p:nvSpPr>
        <p:spPr>
          <a:xfrm>
            <a:off x="2935224" y="1554480"/>
            <a:ext cx="914400" cy="256032"/>
          </a:xfrm>
          <a:prstGeom prst="rect">
            <a:avLst/>
          </a:prstGeom>
          <a:noFill/>
          <a:ln/>
        </p:spPr>
        <p:txBody>
          <a:bodyPr wrap="square" lIns="0" tIns="0" rIns="0" bIns="0" rtlCol="0" anchor="t"/>
          <a:lstStyle/>
          <a:p>
            <a:pPr algn="ctr" indent="0" marL="0">
              <a:buNone/>
            </a:pPr>
            <a:r>
              <a:rPr lang="en-US" sz="1200" dirty="0">
                <a:solidFill>
                  <a:srgbClr val="6D7C8F"/>
                </a:solidFill>
                <a:latin typeface="Aptos" pitchFamily="34" charset="0"/>
                <a:ea typeface="Aptos" pitchFamily="34" charset="-122"/>
                <a:cs typeface="Aptos" pitchFamily="34" charset="-120"/>
              </a:rPr>
              <a:t>b = 0</a:t>
            </a:r>
            <a:endParaRPr lang="en-US" sz="1200" dirty="0"/>
          </a:p>
        </p:txBody>
      </p:sp>
      <p:sp>
        <p:nvSpPr>
          <p:cNvPr id="31" name="Text 28"/>
          <p:cNvSpPr txBox="1"/>
          <p:nvPr/>
        </p:nvSpPr>
        <p:spPr>
          <a:xfrm>
            <a:off x="2935224" y="4261104"/>
            <a:ext cx="914400" cy="256032"/>
          </a:xfrm>
          <a:prstGeom prst="rect">
            <a:avLst/>
          </a:prstGeom>
          <a:noFill/>
          <a:ln/>
        </p:spPr>
        <p:txBody>
          <a:bodyPr wrap="square" lIns="0" tIns="0" rIns="0" bIns="0" rtlCol="0" anchor="t"/>
          <a:lstStyle/>
          <a:p>
            <a:pPr algn="ctr" indent="0" marL="0">
              <a:buNone/>
            </a:pPr>
            <a:r>
              <a:rPr lang="en-US" sz="1200" dirty="0">
                <a:solidFill>
                  <a:srgbClr val="6D7C8F"/>
                </a:solidFill>
                <a:latin typeface="Aptos" pitchFamily="34" charset="0"/>
                <a:ea typeface="Aptos" pitchFamily="34" charset="-122"/>
                <a:cs typeface="Aptos" pitchFamily="34" charset="-120"/>
              </a:rPr>
              <a:t>b = 1</a:t>
            </a:r>
            <a:endParaRPr lang="en-US" sz="1200" dirty="0"/>
          </a:p>
        </p:txBody>
      </p:sp>
      <p:sp>
        <p:nvSpPr>
          <p:cNvPr id="32" name="Text 29"/>
          <p:cNvSpPr txBox="1"/>
          <p:nvPr/>
        </p:nvSpPr>
        <p:spPr>
          <a:xfrm>
            <a:off x="4910328" y="3419856"/>
            <a:ext cx="914400" cy="256032"/>
          </a:xfrm>
          <a:prstGeom prst="rect">
            <a:avLst/>
          </a:prstGeom>
          <a:noFill/>
          <a:ln/>
        </p:spPr>
        <p:txBody>
          <a:bodyPr wrap="square" lIns="0" tIns="0" rIns="0" bIns="0" rtlCol="0" anchor="t"/>
          <a:lstStyle/>
          <a:p>
            <a:pPr algn="ctr" indent="0" marL="0">
              <a:buNone/>
            </a:pPr>
            <a:r>
              <a:rPr lang="en-US" sz="1200" dirty="0">
                <a:solidFill>
                  <a:srgbClr val="6D7C8F"/>
                </a:solidFill>
                <a:latin typeface="Aptos" pitchFamily="34" charset="0"/>
                <a:ea typeface="Aptos" pitchFamily="34" charset="-122"/>
                <a:cs typeface="Aptos" pitchFamily="34" charset="-120"/>
              </a:rPr>
              <a:t>b = 0.5</a:t>
            </a:r>
            <a:endParaRPr lang="en-US" sz="1200" dirty="0"/>
          </a:p>
        </p:txBody>
      </p:sp>
      <p:sp>
        <p:nvSpPr>
          <p:cNvPr id="33" name="Shape 30"/>
          <p:cNvSpPr/>
          <p:nvPr/>
        </p:nvSpPr>
        <p:spPr>
          <a:xfrm>
            <a:off x="7406640" y="1508760"/>
            <a:ext cx="4206240" cy="3246120"/>
          </a:xfrm>
          <a:prstGeom prst="roundRect">
            <a:avLst>
              <a:gd name="adj" fmla="val 2254"/>
            </a:avLst>
          </a:prstGeom>
          <a:solidFill>
            <a:srgbClr val="FFF4CE"/>
          </a:solidFill>
          <a:ln w="12700">
            <a:solidFill>
              <a:srgbClr val="F2C14E"/>
            </a:solidFill>
            <a:prstDash val="solid"/>
          </a:ln>
        </p:spPr>
      </p:sp>
      <p:sp>
        <p:nvSpPr>
          <p:cNvPr id="34" name="Text 31"/>
          <p:cNvSpPr txBox="1"/>
          <p:nvPr/>
        </p:nvSpPr>
        <p:spPr>
          <a:xfrm>
            <a:off x="7635240" y="1600200"/>
            <a:ext cx="3749040" cy="3063240"/>
          </a:xfrm>
          <a:prstGeom prst="rect">
            <a:avLst/>
          </a:prstGeom>
          <a:noFill/>
          <a:ln/>
        </p:spPr>
        <p:txBody>
          <a:bodyPr wrap="square" lIns="0" tIns="0" rIns="0" bIns="0" rtlCol="0" anchor="ctr"/>
          <a:lstStyle/>
          <a:p>
            <a:pPr indent="0" marL="0">
              <a:spcAft>
                <a:spcPts val="600"/>
              </a:spcAft>
              <a:buNone/>
            </a:pPr>
            <a:r>
              <a:rPr lang="en-US" sz="2000" b="1" dirty="0">
                <a:solidFill>
                  <a:srgbClr val="0B2D55"/>
                </a:solidFill>
                <a:latin typeface="Aptos" pitchFamily="34" charset="0"/>
                <a:ea typeface="Aptos" pitchFamily="34" charset="-122"/>
                <a:cs typeface="Aptos" pitchFamily="34" charset="-120"/>
              </a:rPr>
              <a:t>Output neuron</a:t>
            </a:r>
            <a:endParaRPr lang="en-US" sz="1700" dirty="0"/>
          </a:p>
          <a:p>
            <a:pPr indent="0" marL="0">
              <a:spcAft>
                <a:spcPts val="600"/>
              </a:spcAft>
              <a:buNone/>
            </a:pPr>
            <a:r>
              <a:rPr lang="en-US" sz="1700" dirty="0">
                <a:solidFill>
                  <a:srgbClr val="132033"/>
                </a:solidFill>
                <a:latin typeface="Aptos" pitchFamily="34" charset="0"/>
                <a:ea typeface="Aptos" pitchFamily="34" charset="-122"/>
                <a:cs typeface="Aptos" pitchFamily="34" charset="-120"/>
              </a:rPr>
              <a:t>inputs [h₁, h₂] = [1, 0]</a:t>
            </a:r>
            <a:endParaRPr lang="en-US" sz="1700" dirty="0"/>
          </a:p>
          <a:p>
            <a:pPr indent="0" marL="0">
              <a:spcAft>
                <a:spcPts val="600"/>
              </a:spcAft>
              <a:buNone/>
            </a:pPr>
            <a:r>
              <a:rPr lang="en-US" sz="1700" b="1" dirty="0">
                <a:solidFill>
                  <a:srgbClr val="0B2D55"/>
                </a:solidFill>
                <a:latin typeface="Aptos" pitchFamily="34" charset="0"/>
                <a:ea typeface="Aptos" pitchFamily="34" charset="-122"/>
                <a:cs typeface="Aptos" pitchFamily="34" charset="-120"/>
              </a:rPr>
              <a:t>z = 1.5(1) + 2(0) + 0.5 = 2</a:t>
            </a:r>
            <a:endParaRPr lang="en-US" sz="1700" dirty="0"/>
          </a:p>
          <a:p>
            <a:pPr indent="0" marL="0">
              <a:spcAft>
                <a:spcPts val="600"/>
              </a:spcAft>
              <a:buNone/>
            </a:pPr>
            <a:r>
              <a:rPr lang="en-US" sz="1700" dirty="0">
                <a:solidFill>
                  <a:srgbClr val="132033"/>
                </a:solidFill>
                <a:latin typeface="Aptos" pitchFamily="34" charset="0"/>
                <a:ea typeface="Aptos" pitchFamily="34" charset="-122"/>
                <a:cs typeface="Aptos" pitchFamily="34" charset="-120"/>
              </a:rPr>
              <a:t>P = σ(2) ≈ </a:t>
            </a:r>
            <a:pPr indent="0" marL="0">
              <a:spcAft>
                <a:spcPts val="600"/>
              </a:spcAft>
              <a:buNone/>
            </a:pPr>
            <a:r>
              <a:rPr lang="en-US" sz="2400" b="1" dirty="0">
                <a:solidFill>
                  <a:srgbClr val="2E7D32"/>
                </a:solidFill>
                <a:latin typeface="Aptos" pitchFamily="34" charset="0"/>
                <a:ea typeface="Aptos" pitchFamily="34" charset="-122"/>
                <a:cs typeface="Aptos" pitchFamily="34" charset="-120"/>
              </a:rPr>
              <a:t>0.88</a:t>
            </a:r>
            <a:endParaRPr lang="en-US" sz="1700" dirty="0"/>
          </a:p>
        </p:txBody>
      </p:sp>
      <p:sp>
        <p:nvSpPr>
          <p:cNvPr id="35" name="Shape 32"/>
          <p:cNvSpPr/>
          <p:nvPr/>
        </p:nvSpPr>
        <p:spPr>
          <a:xfrm>
            <a:off x="576072" y="4937760"/>
            <a:ext cx="5440680" cy="960120"/>
          </a:xfrm>
          <a:prstGeom prst="roundRect">
            <a:avLst>
              <a:gd name="adj" fmla="val 7619"/>
            </a:avLst>
          </a:prstGeom>
          <a:solidFill>
            <a:srgbClr val="DFF0D8"/>
          </a:solidFill>
          <a:ln w="12700">
            <a:solidFill>
              <a:srgbClr val="2E7D32"/>
            </a:solidFill>
            <a:prstDash val="solid"/>
          </a:ln>
        </p:spPr>
      </p:sp>
      <p:sp>
        <p:nvSpPr>
          <p:cNvPr id="36" name="Text 33"/>
          <p:cNvSpPr txBox="1"/>
          <p:nvPr/>
        </p:nvSpPr>
        <p:spPr>
          <a:xfrm>
            <a:off x="758952" y="5047488"/>
            <a:ext cx="5074920" cy="292608"/>
          </a:xfrm>
          <a:prstGeom prst="rect">
            <a:avLst/>
          </a:prstGeom>
          <a:noFill/>
          <a:ln/>
        </p:spPr>
        <p:txBody>
          <a:bodyPr wrap="square" lIns="0" tIns="0" rIns="0" bIns="0" rtlCol="0" anchor="t"/>
          <a:lstStyle/>
          <a:p>
            <a:pPr indent="0" marL="0">
              <a:buNone/>
            </a:pPr>
            <a:r>
              <a:rPr lang="en-US" sz="1500" b="1" dirty="0">
                <a:solidFill>
                  <a:srgbClr val="0B2D55"/>
                </a:solidFill>
                <a:latin typeface="Aptos" pitchFamily="34" charset="0"/>
                <a:ea typeface="Aptos" pitchFamily="34" charset="-122"/>
                <a:cs typeface="Aptos" pitchFamily="34" charset="-120"/>
              </a:rPr>
              <a:t>Interpret</a:t>
            </a:r>
            <a:endParaRPr lang="en-US" sz="1500" dirty="0"/>
          </a:p>
        </p:txBody>
      </p:sp>
      <p:sp>
        <p:nvSpPr>
          <p:cNvPr id="37" name="Text 34"/>
          <p:cNvSpPr txBox="1"/>
          <p:nvPr/>
        </p:nvSpPr>
        <p:spPr>
          <a:xfrm>
            <a:off x="758952" y="5376672"/>
            <a:ext cx="5074920" cy="429768"/>
          </a:xfrm>
          <a:prstGeom prst="rect">
            <a:avLst/>
          </a:prstGeom>
          <a:noFill/>
          <a:ln/>
        </p:spPr>
        <p:txBody>
          <a:bodyPr wrap="square" lIns="0" tIns="0" rIns="0" bIns="0" rtlCol="0" anchor="t"/>
          <a:lstStyle/>
          <a:p>
            <a:pPr indent="0" marL="0">
              <a:buNone/>
            </a:pPr>
            <a:r>
              <a:rPr lang="en-US" sz="1500" dirty="0">
                <a:solidFill>
                  <a:srgbClr val="132033"/>
                </a:solidFill>
                <a:latin typeface="Aptos" pitchFamily="34" charset="0"/>
                <a:ea typeface="Aptos" pitchFamily="34" charset="-122"/>
                <a:cs typeface="Aptos" pitchFamily="34" charset="-120"/>
              </a:rPr>
              <a:t>h₂ contributed nothing (0 × 2). The prediction flowed entirely through h₁.</a:t>
            </a:r>
            <a:endParaRPr lang="en-US" sz="1500" dirty="0"/>
          </a:p>
        </p:txBody>
      </p:sp>
      <p:sp>
        <p:nvSpPr>
          <p:cNvPr id="38" name="Shape 35"/>
          <p:cNvSpPr/>
          <p:nvPr/>
        </p:nvSpPr>
        <p:spPr>
          <a:xfrm>
            <a:off x="6172200" y="4937760"/>
            <a:ext cx="5440680" cy="960120"/>
          </a:xfrm>
          <a:prstGeom prst="roundRect">
            <a:avLst>
              <a:gd name="adj" fmla="val 7619"/>
            </a:avLst>
          </a:prstGeom>
          <a:solidFill>
            <a:srgbClr val="FFFFFF"/>
          </a:solidFill>
          <a:ln w="12700">
            <a:solidFill>
              <a:srgbClr val="B8C7D8"/>
            </a:solidFill>
            <a:prstDash val="solid"/>
          </a:ln>
        </p:spPr>
      </p:sp>
      <p:sp>
        <p:nvSpPr>
          <p:cNvPr id="39" name="Text 36"/>
          <p:cNvSpPr txBox="1"/>
          <p:nvPr/>
        </p:nvSpPr>
        <p:spPr>
          <a:xfrm>
            <a:off x="6355080" y="5047488"/>
            <a:ext cx="5074920" cy="292608"/>
          </a:xfrm>
          <a:prstGeom prst="rect">
            <a:avLst/>
          </a:prstGeom>
          <a:noFill/>
          <a:ln/>
        </p:spPr>
        <p:txBody>
          <a:bodyPr wrap="square" lIns="0" tIns="0" rIns="0" bIns="0" rtlCol="0" anchor="t"/>
          <a:lstStyle/>
          <a:p>
            <a:pPr indent="0" marL="0">
              <a:buNone/>
            </a:pPr>
            <a:r>
              <a:rPr lang="en-US" sz="1500" b="1" dirty="0">
                <a:solidFill>
                  <a:srgbClr val="0B2D55"/>
                </a:solidFill>
                <a:latin typeface="Aptos" pitchFamily="34" charset="0"/>
                <a:ea typeface="Aptos" pitchFamily="34" charset="-122"/>
                <a:cs typeface="Aptos" pitchFamily="34" charset="-120"/>
              </a:rPr>
              <a:t>Predict</a:t>
            </a:r>
            <a:endParaRPr lang="en-US" sz="1500" dirty="0"/>
          </a:p>
        </p:txBody>
      </p:sp>
      <p:sp>
        <p:nvSpPr>
          <p:cNvPr id="40" name="Text 37"/>
          <p:cNvSpPr txBox="1"/>
          <p:nvPr/>
        </p:nvSpPr>
        <p:spPr>
          <a:xfrm>
            <a:off x="6355080" y="5376672"/>
            <a:ext cx="5074920" cy="429768"/>
          </a:xfrm>
          <a:prstGeom prst="rect">
            <a:avLst/>
          </a:prstGeom>
          <a:noFill/>
          <a:ln/>
        </p:spPr>
        <p:txBody>
          <a:bodyPr wrap="square" lIns="0" tIns="0" rIns="0" bIns="0" rtlCol="0" anchor="t"/>
          <a:lstStyle/>
          <a:p>
            <a:pPr indent="0" marL="0">
              <a:buNone/>
            </a:pPr>
            <a:r>
              <a:rPr lang="en-US" sz="1500" dirty="0">
                <a:solidFill>
                  <a:srgbClr val="132033"/>
                </a:solidFill>
                <a:latin typeface="Aptos" pitchFamily="34" charset="0"/>
                <a:ea typeface="Aptos" pitchFamily="34" charset="-122"/>
                <a:cs typeface="Aptos" pitchFamily="34" charset="-120"/>
              </a:rPr>
              <a:t>For x = [1, 2], which hidden neuron will fire? Check on the next slide.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indent="0" marL="0">
              <a:buNone/>
            </a:pPr>
            <a:r>
              <a:rPr lang="en-US" sz="3400" b="1" dirty="0">
                <a:solidFill>
                  <a:srgbClr val="0B2D55"/>
                </a:solidFill>
                <a:latin typeface="Aptos Display" pitchFamily="34" charset="0"/>
                <a:ea typeface="Aptos Display" pitchFamily="34" charset="-122"/>
                <a:cs typeface="Aptos Display" pitchFamily="34" charset="-120"/>
              </a:rPr>
              <a:t>Practice: forward pass for x = [1, 2]</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indent="0" marL="0">
              <a:buNone/>
            </a:pPr>
            <a:r>
              <a:rPr lang="en-US" sz="1500" dirty="0">
                <a:solidFill>
                  <a:srgbClr val="132033"/>
                </a:solidFill>
                <a:latin typeface="Aptos" pitchFamily="34" charset="0"/>
                <a:ea typeface="Aptos" pitchFamily="34" charset="-122"/>
                <a:cs typeface="Aptos" pitchFamily="34" charset="-120"/>
              </a:rPr>
              <a:t>Pairs, 3 minutes. Same network, new input.</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indent="0" marL="0">
              <a:buNone/>
            </a:pPr>
            <a:r>
              <a:rPr lang="en-US" sz="850" dirty="0">
                <a:solidFill>
                  <a:srgbClr val="6D7C8F"/>
                </a:solidFill>
                <a:latin typeface="Aptos" pitchFamily="34" charset="0"/>
                <a:ea typeface="Aptos" pitchFamily="34" charset="-122"/>
                <a:cs typeface="Aptos" pitchFamily="34" charset="-120"/>
              </a:rPr>
              <a:t>CS 471  |  L28: Neural Networks I</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algn="r" indent="0" marL="0">
              <a:buNone/>
            </a:pPr>
            <a:r>
              <a:rPr lang="en-US" sz="850" dirty="0">
                <a:solidFill>
                  <a:srgbClr val="6D7C8F"/>
                </a:solidFill>
                <a:latin typeface="Aptos" pitchFamily="34" charset="0"/>
                <a:ea typeface="Aptos" pitchFamily="34" charset="-122"/>
                <a:cs typeface="Aptos" pitchFamily="34" charset="-120"/>
              </a:rPr>
              <a:t>16</a:t>
            </a:r>
            <a:endParaRPr lang="en-US" sz="850" dirty="0"/>
          </a:p>
        </p:txBody>
      </p:sp>
      <p:sp>
        <p:nvSpPr>
          <p:cNvPr id="7" name="Shape 4"/>
          <p:cNvSpPr/>
          <p:nvPr/>
        </p:nvSpPr>
        <p:spPr>
          <a:xfrm>
            <a:off x="576072" y="1508760"/>
            <a:ext cx="6583680" cy="4389120"/>
          </a:xfrm>
          <a:prstGeom prst="roundRect">
            <a:avLst>
              <a:gd name="adj" fmla="val 1667"/>
            </a:avLst>
          </a:prstGeom>
          <a:solidFill>
            <a:srgbClr val="FFFFFF"/>
          </a:solidFill>
          <a:ln w="12700">
            <a:solidFill>
              <a:srgbClr val="B8C7D8"/>
            </a:solidFill>
            <a:prstDash val="solid"/>
          </a:ln>
        </p:spPr>
      </p:sp>
      <p:sp>
        <p:nvSpPr>
          <p:cNvPr id="8" name="Shape 5"/>
          <p:cNvSpPr/>
          <p:nvPr/>
        </p:nvSpPr>
        <p:spPr>
          <a:xfrm>
            <a:off x="1760220" y="2331720"/>
            <a:ext cx="1600200" cy="914"/>
          </a:xfrm>
          <a:prstGeom prst="line">
            <a:avLst/>
          </a:prstGeom>
          <a:noFill/>
          <a:ln w="24130">
            <a:solidFill>
              <a:srgbClr val="1D5FA7"/>
            </a:solidFill>
            <a:prstDash val="solid"/>
          </a:ln>
        </p:spPr>
      </p:sp>
      <p:sp>
        <p:nvSpPr>
          <p:cNvPr id="9" name="Text 6"/>
          <p:cNvSpPr txBox="1"/>
          <p:nvPr/>
        </p:nvSpPr>
        <p:spPr>
          <a:xfrm>
            <a:off x="1899666" y="2185416"/>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1D5FA7"/>
                </a:solidFill>
                <a:latin typeface="Aptos" pitchFamily="34" charset="0"/>
                <a:ea typeface="Aptos" pitchFamily="34" charset="-122"/>
                <a:cs typeface="Aptos" pitchFamily="34" charset="-120"/>
              </a:rPr>
              <a:t>1</a:t>
            </a:r>
            <a:endParaRPr lang="en-US" sz="1250" dirty="0"/>
          </a:p>
        </p:txBody>
      </p:sp>
      <p:sp>
        <p:nvSpPr>
          <p:cNvPr id="10" name="Shape 7"/>
          <p:cNvSpPr/>
          <p:nvPr/>
        </p:nvSpPr>
        <p:spPr>
          <a:xfrm>
            <a:off x="1760220" y="2331720"/>
            <a:ext cx="1600200" cy="2103120"/>
          </a:xfrm>
          <a:prstGeom prst="line">
            <a:avLst/>
          </a:prstGeom>
          <a:noFill/>
          <a:ln w="24130">
            <a:solidFill>
              <a:srgbClr val="D9731A"/>
            </a:solidFill>
            <a:prstDash val="solid"/>
          </a:ln>
        </p:spPr>
      </p:sp>
      <p:sp>
        <p:nvSpPr>
          <p:cNvPr id="11" name="Text 8"/>
          <p:cNvSpPr txBox="1"/>
          <p:nvPr/>
        </p:nvSpPr>
        <p:spPr>
          <a:xfrm>
            <a:off x="1899666" y="2753258"/>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D9731A"/>
                </a:solidFill>
                <a:latin typeface="Aptos" pitchFamily="34" charset="0"/>
                <a:ea typeface="Aptos" pitchFamily="34" charset="-122"/>
                <a:cs typeface="Aptos" pitchFamily="34" charset="-120"/>
              </a:rPr>
              <a:t>−1</a:t>
            </a:r>
            <a:endParaRPr lang="en-US" sz="1250" dirty="0"/>
          </a:p>
        </p:txBody>
      </p:sp>
      <p:sp>
        <p:nvSpPr>
          <p:cNvPr id="12" name="Shape 9"/>
          <p:cNvSpPr/>
          <p:nvPr/>
        </p:nvSpPr>
        <p:spPr>
          <a:xfrm flipV="1">
            <a:off x="1760220" y="2331720"/>
            <a:ext cx="1600200" cy="2103120"/>
          </a:xfrm>
          <a:prstGeom prst="line">
            <a:avLst/>
          </a:prstGeom>
          <a:noFill/>
          <a:ln w="35560">
            <a:solidFill>
              <a:srgbClr val="D9731A"/>
            </a:solidFill>
            <a:prstDash val="solid"/>
          </a:ln>
        </p:spPr>
      </p:sp>
      <p:sp>
        <p:nvSpPr>
          <p:cNvPr id="13" name="Text 10"/>
          <p:cNvSpPr txBox="1"/>
          <p:nvPr/>
        </p:nvSpPr>
        <p:spPr>
          <a:xfrm>
            <a:off x="1899666" y="3720694"/>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D9731A"/>
                </a:solidFill>
                <a:latin typeface="Aptos" pitchFamily="34" charset="0"/>
                <a:ea typeface="Aptos" pitchFamily="34" charset="-122"/>
                <a:cs typeface="Aptos" pitchFamily="34" charset="-120"/>
              </a:rPr>
              <a:t>−2</a:t>
            </a:r>
            <a:endParaRPr lang="en-US" sz="1250" dirty="0"/>
          </a:p>
        </p:txBody>
      </p:sp>
      <p:sp>
        <p:nvSpPr>
          <p:cNvPr id="14" name="Shape 11"/>
          <p:cNvSpPr/>
          <p:nvPr/>
        </p:nvSpPr>
        <p:spPr>
          <a:xfrm>
            <a:off x="1760220" y="4434840"/>
            <a:ext cx="1600200" cy="914"/>
          </a:xfrm>
          <a:prstGeom prst="line">
            <a:avLst/>
          </a:prstGeom>
          <a:noFill/>
          <a:ln w="24130">
            <a:solidFill>
              <a:srgbClr val="1D5FA7"/>
            </a:solidFill>
            <a:prstDash val="solid"/>
          </a:ln>
        </p:spPr>
      </p:sp>
      <p:sp>
        <p:nvSpPr>
          <p:cNvPr id="15" name="Text 12"/>
          <p:cNvSpPr txBox="1"/>
          <p:nvPr/>
        </p:nvSpPr>
        <p:spPr>
          <a:xfrm>
            <a:off x="1899666" y="4288536"/>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1D5FA7"/>
                </a:solidFill>
                <a:latin typeface="Aptos" pitchFamily="34" charset="0"/>
                <a:ea typeface="Aptos" pitchFamily="34" charset="-122"/>
                <a:cs typeface="Aptos" pitchFamily="34" charset="-120"/>
              </a:rPr>
              <a:t>1</a:t>
            </a:r>
            <a:endParaRPr lang="en-US" sz="1250" dirty="0"/>
          </a:p>
        </p:txBody>
      </p:sp>
      <p:sp>
        <p:nvSpPr>
          <p:cNvPr id="16" name="Shape 13"/>
          <p:cNvSpPr/>
          <p:nvPr/>
        </p:nvSpPr>
        <p:spPr>
          <a:xfrm>
            <a:off x="4229100" y="2331720"/>
            <a:ext cx="1600200" cy="1051560"/>
          </a:xfrm>
          <a:prstGeom prst="line">
            <a:avLst/>
          </a:prstGeom>
          <a:noFill/>
          <a:ln w="29845">
            <a:solidFill>
              <a:srgbClr val="1D5FA7"/>
            </a:solidFill>
            <a:prstDash val="solid"/>
          </a:ln>
        </p:spPr>
      </p:sp>
      <p:sp>
        <p:nvSpPr>
          <p:cNvPr id="17" name="Text 14"/>
          <p:cNvSpPr txBox="1"/>
          <p:nvPr/>
        </p:nvSpPr>
        <p:spPr>
          <a:xfrm>
            <a:off x="4496562" y="2553462"/>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1D5FA7"/>
                </a:solidFill>
                <a:latin typeface="Aptos" pitchFamily="34" charset="0"/>
                <a:ea typeface="Aptos" pitchFamily="34" charset="-122"/>
                <a:cs typeface="Aptos" pitchFamily="34" charset="-120"/>
              </a:rPr>
              <a:t>1.5</a:t>
            </a:r>
            <a:endParaRPr lang="en-US" sz="1250" dirty="0"/>
          </a:p>
        </p:txBody>
      </p:sp>
      <p:sp>
        <p:nvSpPr>
          <p:cNvPr id="18" name="Shape 15"/>
          <p:cNvSpPr/>
          <p:nvPr/>
        </p:nvSpPr>
        <p:spPr>
          <a:xfrm flipV="1">
            <a:off x="4229100" y="3383280"/>
            <a:ext cx="1600200" cy="1051560"/>
          </a:xfrm>
          <a:prstGeom prst="line">
            <a:avLst/>
          </a:prstGeom>
          <a:noFill/>
          <a:ln w="35560">
            <a:solidFill>
              <a:srgbClr val="1D5FA7"/>
            </a:solidFill>
            <a:prstDash val="solid"/>
          </a:ln>
        </p:spPr>
      </p:sp>
      <p:sp>
        <p:nvSpPr>
          <p:cNvPr id="19" name="Text 16"/>
          <p:cNvSpPr txBox="1"/>
          <p:nvPr/>
        </p:nvSpPr>
        <p:spPr>
          <a:xfrm>
            <a:off x="4496562" y="3920490"/>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1D5FA7"/>
                </a:solidFill>
                <a:latin typeface="Aptos" pitchFamily="34" charset="0"/>
                <a:ea typeface="Aptos" pitchFamily="34" charset="-122"/>
                <a:cs typeface="Aptos" pitchFamily="34" charset="-120"/>
              </a:rPr>
              <a:t>2</a:t>
            </a:r>
            <a:endParaRPr lang="en-US" sz="1250" dirty="0"/>
          </a:p>
        </p:txBody>
      </p:sp>
      <p:sp>
        <p:nvSpPr>
          <p:cNvPr id="20" name="Shape 17"/>
          <p:cNvSpPr/>
          <p:nvPr/>
        </p:nvSpPr>
        <p:spPr>
          <a:xfrm>
            <a:off x="891540" y="1897380"/>
            <a:ext cx="868680" cy="868680"/>
          </a:xfrm>
          <a:prstGeom prst="ellipse">
            <a:avLst/>
          </a:prstGeom>
          <a:solidFill>
            <a:srgbClr val="EAF2F8"/>
          </a:solidFill>
          <a:ln w="19050">
            <a:solidFill>
              <a:srgbClr val="1F5D9B"/>
            </a:solidFill>
            <a:prstDash val="solid"/>
          </a:ln>
        </p:spPr>
      </p:sp>
      <p:sp>
        <p:nvSpPr>
          <p:cNvPr id="21" name="Text 18"/>
          <p:cNvSpPr txBox="1"/>
          <p:nvPr/>
        </p:nvSpPr>
        <p:spPr>
          <a:xfrm>
            <a:off x="800100" y="1897380"/>
            <a:ext cx="1051560" cy="868680"/>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x₁</a:t>
            </a:r>
            <a:endParaRPr lang="en-US" sz="1600" dirty="0"/>
          </a:p>
          <a:p>
            <a:pPr algn="ctr" indent="0" marL="0">
              <a:buNone/>
            </a:pPr>
            <a:r>
              <a:rPr lang="en-US" sz="1700" b="1" dirty="0">
                <a:solidFill>
                  <a:srgbClr val="0B2D55"/>
                </a:solidFill>
                <a:latin typeface="Aptos" pitchFamily="34" charset="0"/>
                <a:ea typeface="Aptos" pitchFamily="34" charset="-122"/>
                <a:cs typeface="Aptos" pitchFamily="34" charset="-120"/>
              </a:rPr>
              <a:t>1</a:t>
            </a:r>
            <a:endParaRPr lang="en-US" sz="1600" dirty="0"/>
          </a:p>
        </p:txBody>
      </p:sp>
      <p:sp>
        <p:nvSpPr>
          <p:cNvPr id="22" name="Shape 19"/>
          <p:cNvSpPr/>
          <p:nvPr/>
        </p:nvSpPr>
        <p:spPr>
          <a:xfrm>
            <a:off x="891540" y="4000500"/>
            <a:ext cx="868680" cy="868680"/>
          </a:xfrm>
          <a:prstGeom prst="ellipse">
            <a:avLst/>
          </a:prstGeom>
          <a:solidFill>
            <a:srgbClr val="EAF2F8"/>
          </a:solidFill>
          <a:ln w="19050">
            <a:solidFill>
              <a:srgbClr val="1F5D9B"/>
            </a:solidFill>
            <a:prstDash val="solid"/>
          </a:ln>
        </p:spPr>
      </p:sp>
      <p:sp>
        <p:nvSpPr>
          <p:cNvPr id="23" name="Text 20"/>
          <p:cNvSpPr txBox="1"/>
          <p:nvPr/>
        </p:nvSpPr>
        <p:spPr>
          <a:xfrm>
            <a:off x="800100" y="4000500"/>
            <a:ext cx="1051560" cy="868680"/>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x₂</a:t>
            </a:r>
            <a:endParaRPr lang="en-US" sz="1600" dirty="0"/>
          </a:p>
          <a:p>
            <a:pPr algn="ctr" indent="0" marL="0">
              <a:buNone/>
            </a:pPr>
            <a:r>
              <a:rPr lang="en-US" sz="1700" b="1" dirty="0">
                <a:solidFill>
                  <a:srgbClr val="0B2D55"/>
                </a:solidFill>
                <a:latin typeface="Aptos" pitchFamily="34" charset="0"/>
                <a:ea typeface="Aptos" pitchFamily="34" charset="-122"/>
                <a:cs typeface="Aptos" pitchFamily="34" charset="-120"/>
              </a:rPr>
              <a:t>2</a:t>
            </a:r>
            <a:endParaRPr lang="en-US" sz="1600" dirty="0"/>
          </a:p>
        </p:txBody>
      </p:sp>
      <p:sp>
        <p:nvSpPr>
          <p:cNvPr id="24" name="Shape 21"/>
          <p:cNvSpPr/>
          <p:nvPr/>
        </p:nvSpPr>
        <p:spPr>
          <a:xfrm>
            <a:off x="3360420" y="1897380"/>
            <a:ext cx="868680" cy="868680"/>
          </a:xfrm>
          <a:prstGeom prst="ellipse">
            <a:avLst/>
          </a:prstGeom>
          <a:solidFill>
            <a:srgbClr val="FFFFFF"/>
          </a:solidFill>
          <a:ln w="19050">
            <a:solidFill>
              <a:srgbClr val="0B2D55"/>
            </a:solidFill>
            <a:prstDash val="solid"/>
          </a:ln>
        </p:spPr>
      </p:sp>
      <p:sp>
        <p:nvSpPr>
          <p:cNvPr id="25" name="Text 22"/>
          <p:cNvSpPr txBox="1"/>
          <p:nvPr/>
        </p:nvSpPr>
        <p:spPr>
          <a:xfrm>
            <a:off x="3268980" y="1897380"/>
            <a:ext cx="1051560" cy="868680"/>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h₁ ReLU</a:t>
            </a:r>
            <a:endParaRPr lang="en-US" sz="1600" dirty="0"/>
          </a:p>
          <a:p>
            <a:pPr algn="ctr" indent="0" marL="0">
              <a:buNone/>
            </a:pPr>
            <a:r>
              <a:rPr lang="en-US" sz="1700" b="1" dirty="0">
                <a:solidFill>
                  <a:srgbClr val="0B2D55"/>
                </a:solidFill>
                <a:latin typeface="Aptos" pitchFamily="34" charset="0"/>
                <a:ea typeface="Aptos" pitchFamily="34" charset="-122"/>
                <a:cs typeface="Aptos" pitchFamily="34" charset="-120"/>
              </a:rPr>
              <a:t>?</a:t>
            </a:r>
            <a:endParaRPr lang="en-US" sz="1600" dirty="0"/>
          </a:p>
        </p:txBody>
      </p:sp>
      <p:sp>
        <p:nvSpPr>
          <p:cNvPr id="26" name="Shape 23"/>
          <p:cNvSpPr/>
          <p:nvPr/>
        </p:nvSpPr>
        <p:spPr>
          <a:xfrm>
            <a:off x="3360420" y="4000500"/>
            <a:ext cx="868680" cy="868680"/>
          </a:xfrm>
          <a:prstGeom prst="ellipse">
            <a:avLst/>
          </a:prstGeom>
          <a:solidFill>
            <a:srgbClr val="FFFFFF"/>
          </a:solidFill>
          <a:ln w="19050">
            <a:solidFill>
              <a:srgbClr val="0B2D55"/>
            </a:solidFill>
            <a:prstDash val="solid"/>
          </a:ln>
        </p:spPr>
      </p:sp>
      <p:sp>
        <p:nvSpPr>
          <p:cNvPr id="27" name="Text 24"/>
          <p:cNvSpPr txBox="1"/>
          <p:nvPr/>
        </p:nvSpPr>
        <p:spPr>
          <a:xfrm>
            <a:off x="3268980" y="4000500"/>
            <a:ext cx="1051560" cy="868680"/>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h₂ ReLU</a:t>
            </a:r>
            <a:endParaRPr lang="en-US" sz="1600" dirty="0"/>
          </a:p>
          <a:p>
            <a:pPr algn="ctr" indent="0" marL="0">
              <a:buNone/>
            </a:pPr>
            <a:r>
              <a:rPr lang="en-US" sz="1700" b="1" dirty="0">
                <a:solidFill>
                  <a:srgbClr val="0B2D55"/>
                </a:solidFill>
                <a:latin typeface="Aptos" pitchFamily="34" charset="0"/>
                <a:ea typeface="Aptos" pitchFamily="34" charset="-122"/>
                <a:cs typeface="Aptos" pitchFamily="34" charset="-120"/>
              </a:rPr>
              <a:t>?</a:t>
            </a:r>
            <a:endParaRPr lang="en-US" sz="1600" dirty="0"/>
          </a:p>
        </p:txBody>
      </p:sp>
      <p:sp>
        <p:nvSpPr>
          <p:cNvPr id="28" name="Shape 25"/>
          <p:cNvSpPr/>
          <p:nvPr/>
        </p:nvSpPr>
        <p:spPr>
          <a:xfrm>
            <a:off x="5829300" y="2948940"/>
            <a:ext cx="868680" cy="868680"/>
          </a:xfrm>
          <a:prstGeom prst="ellipse">
            <a:avLst/>
          </a:prstGeom>
          <a:solidFill>
            <a:srgbClr val="DFF0D8"/>
          </a:solidFill>
          <a:ln w="19050">
            <a:solidFill>
              <a:srgbClr val="2E7D32"/>
            </a:solidFill>
            <a:prstDash val="solid"/>
          </a:ln>
        </p:spPr>
      </p:sp>
      <p:sp>
        <p:nvSpPr>
          <p:cNvPr id="29" name="Text 26"/>
          <p:cNvSpPr txBox="1"/>
          <p:nvPr/>
        </p:nvSpPr>
        <p:spPr>
          <a:xfrm>
            <a:off x="5737860" y="2948940"/>
            <a:ext cx="1051560" cy="868680"/>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out σ</a:t>
            </a:r>
            <a:endParaRPr lang="en-US" sz="1600" dirty="0"/>
          </a:p>
          <a:p>
            <a:pPr algn="ctr" indent="0" marL="0">
              <a:buNone/>
            </a:pPr>
            <a:r>
              <a:rPr lang="en-US" sz="1700" b="1" dirty="0">
                <a:solidFill>
                  <a:srgbClr val="0B2D55"/>
                </a:solidFill>
                <a:latin typeface="Aptos" pitchFamily="34" charset="0"/>
                <a:ea typeface="Aptos" pitchFamily="34" charset="-122"/>
                <a:cs typeface="Aptos" pitchFamily="34" charset="-120"/>
              </a:rPr>
              <a:t>?</a:t>
            </a:r>
            <a:endParaRPr lang="en-US" sz="1600" dirty="0"/>
          </a:p>
        </p:txBody>
      </p:sp>
      <p:sp>
        <p:nvSpPr>
          <p:cNvPr id="30" name="Text 27"/>
          <p:cNvSpPr txBox="1"/>
          <p:nvPr/>
        </p:nvSpPr>
        <p:spPr>
          <a:xfrm>
            <a:off x="3337560" y="1604772"/>
            <a:ext cx="914400" cy="256032"/>
          </a:xfrm>
          <a:prstGeom prst="rect">
            <a:avLst/>
          </a:prstGeom>
          <a:noFill/>
          <a:ln/>
        </p:spPr>
        <p:txBody>
          <a:bodyPr wrap="square" lIns="0" tIns="0" rIns="0" bIns="0" rtlCol="0" anchor="t"/>
          <a:lstStyle/>
          <a:p>
            <a:pPr algn="ctr" indent="0" marL="0">
              <a:buNone/>
            </a:pPr>
            <a:r>
              <a:rPr lang="en-US" sz="1200" dirty="0">
                <a:solidFill>
                  <a:srgbClr val="6D7C8F"/>
                </a:solidFill>
                <a:latin typeface="Aptos" pitchFamily="34" charset="0"/>
                <a:ea typeface="Aptos" pitchFamily="34" charset="-122"/>
                <a:cs typeface="Aptos" pitchFamily="34" charset="-120"/>
              </a:rPr>
              <a:t>b = 0</a:t>
            </a:r>
            <a:endParaRPr lang="en-US" sz="1200" dirty="0"/>
          </a:p>
        </p:txBody>
      </p:sp>
      <p:sp>
        <p:nvSpPr>
          <p:cNvPr id="31" name="Text 28"/>
          <p:cNvSpPr txBox="1"/>
          <p:nvPr/>
        </p:nvSpPr>
        <p:spPr>
          <a:xfrm>
            <a:off x="3337560" y="4905756"/>
            <a:ext cx="914400" cy="256032"/>
          </a:xfrm>
          <a:prstGeom prst="rect">
            <a:avLst/>
          </a:prstGeom>
          <a:noFill/>
          <a:ln/>
        </p:spPr>
        <p:txBody>
          <a:bodyPr wrap="square" lIns="0" tIns="0" rIns="0" bIns="0" rtlCol="0" anchor="t"/>
          <a:lstStyle/>
          <a:p>
            <a:pPr algn="ctr" indent="0" marL="0">
              <a:buNone/>
            </a:pPr>
            <a:r>
              <a:rPr lang="en-US" sz="1200" dirty="0">
                <a:solidFill>
                  <a:srgbClr val="6D7C8F"/>
                </a:solidFill>
                <a:latin typeface="Aptos" pitchFamily="34" charset="0"/>
                <a:ea typeface="Aptos" pitchFamily="34" charset="-122"/>
                <a:cs typeface="Aptos" pitchFamily="34" charset="-120"/>
              </a:rPr>
              <a:t>b = 1</a:t>
            </a:r>
            <a:endParaRPr lang="en-US" sz="1200" dirty="0"/>
          </a:p>
        </p:txBody>
      </p:sp>
      <p:sp>
        <p:nvSpPr>
          <p:cNvPr id="32" name="Text 29"/>
          <p:cNvSpPr txBox="1"/>
          <p:nvPr/>
        </p:nvSpPr>
        <p:spPr>
          <a:xfrm>
            <a:off x="5806440" y="3854196"/>
            <a:ext cx="914400" cy="256032"/>
          </a:xfrm>
          <a:prstGeom prst="rect">
            <a:avLst/>
          </a:prstGeom>
          <a:noFill/>
          <a:ln/>
        </p:spPr>
        <p:txBody>
          <a:bodyPr wrap="square" lIns="0" tIns="0" rIns="0" bIns="0" rtlCol="0" anchor="t"/>
          <a:lstStyle/>
          <a:p>
            <a:pPr algn="ctr" indent="0" marL="0">
              <a:buNone/>
            </a:pPr>
            <a:r>
              <a:rPr lang="en-US" sz="1200" dirty="0">
                <a:solidFill>
                  <a:srgbClr val="6D7C8F"/>
                </a:solidFill>
                <a:latin typeface="Aptos" pitchFamily="34" charset="0"/>
                <a:ea typeface="Aptos" pitchFamily="34" charset="-122"/>
                <a:cs typeface="Aptos" pitchFamily="34" charset="-120"/>
              </a:rPr>
              <a:t>b = 0.5</a:t>
            </a:r>
            <a:endParaRPr lang="en-US" sz="1200" dirty="0"/>
          </a:p>
        </p:txBody>
      </p:sp>
      <p:sp>
        <p:nvSpPr>
          <p:cNvPr id="33" name="Shape 30"/>
          <p:cNvSpPr/>
          <p:nvPr/>
        </p:nvSpPr>
        <p:spPr>
          <a:xfrm>
            <a:off x="7406640" y="1508760"/>
            <a:ext cx="4206240" cy="621792"/>
          </a:xfrm>
          <a:prstGeom prst="roundRect">
            <a:avLst>
              <a:gd name="adj" fmla="val 11765"/>
            </a:avLst>
          </a:prstGeom>
          <a:solidFill>
            <a:srgbClr val="FFFFFF"/>
          </a:solidFill>
          <a:ln w="12700">
            <a:solidFill>
              <a:srgbClr val="B8C7D8"/>
            </a:solidFill>
            <a:prstDash val="solid"/>
          </a:ln>
        </p:spPr>
      </p:sp>
      <p:sp>
        <p:nvSpPr>
          <p:cNvPr id="34" name="Text 31"/>
          <p:cNvSpPr txBox="1"/>
          <p:nvPr/>
        </p:nvSpPr>
        <p:spPr>
          <a:xfrm>
            <a:off x="7589520" y="1508760"/>
            <a:ext cx="3931920" cy="621792"/>
          </a:xfrm>
          <a:prstGeom prst="rect">
            <a:avLst/>
          </a:prstGeom>
          <a:noFill/>
          <a:ln/>
        </p:spPr>
        <p:txBody>
          <a:bodyPr wrap="square" lIns="0" tIns="0" rIns="0" bIns="0" rtlCol="0" anchor="ctr"/>
          <a:lstStyle/>
          <a:p>
            <a:pPr indent="0" marL="0">
              <a:buNone/>
            </a:pPr>
            <a:r>
              <a:rPr lang="en-US" sz="1900" b="1" dirty="0">
                <a:solidFill>
                  <a:srgbClr val="0B2D55"/>
                </a:solidFill>
                <a:latin typeface="Aptos" pitchFamily="34" charset="0"/>
                <a:ea typeface="Aptos" pitchFamily="34" charset="-122"/>
                <a:cs typeface="Aptos" pitchFamily="34" charset="-120"/>
              </a:rPr>
              <a:t>h₁  =  </a:t>
            </a:r>
            <a:pPr indent="0" marL="0">
              <a:buNone/>
            </a:pPr>
            <a:r>
              <a:rPr lang="en-US" sz="1900" b="1" dirty="0">
                <a:solidFill>
                  <a:srgbClr val="1D5FA7"/>
                </a:solidFill>
                <a:latin typeface="Aptos" pitchFamily="34" charset="0"/>
                <a:ea typeface="Aptos" pitchFamily="34" charset="-122"/>
                <a:cs typeface="Aptos" pitchFamily="34" charset="-120"/>
              </a:rPr>
              <a:t>?</a:t>
            </a:r>
            <a:endParaRPr lang="en-US" sz="1900" dirty="0"/>
          </a:p>
        </p:txBody>
      </p:sp>
      <p:sp>
        <p:nvSpPr>
          <p:cNvPr id="35" name="Shape 32"/>
          <p:cNvSpPr/>
          <p:nvPr/>
        </p:nvSpPr>
        <p:spPr>
          <a:xfrm>
            <a:off x="7406640" y="2258568"/>
            <a:ext cx="4206240" cy="621792"/>
          </a:xfrm>
          <a:prstGeom prst="roundRect">
            <a:avLst>
              <a:gd name="adj" fmla="val 11765"/>
            </a:avLst>
          </a:prstGeom>
          <a:solidFill>
            <a:srgbClr val="FFFFFF"/>
          </a:solidFill>
          <a:ln w="12700">
            <a:solidFill>
              <a:srgbClr val="B8C7D8"/>
            </a:solidFill>
            <a:prstDash val="solid"/>
          </a:ln>
        </p:spPr>
      </p:sp>
      <p:sp>
        <p:nvSpPr>
          <p:cNvPr id="36" name="Text 33"/>
          <p:cNvSpPr txBox="1"/>
          <p:nvPr/>
        </p:nvSpPr>
        <p:spPr>
          <a:xfrm>
            <a:off x="7589520" y="2258568"/>
            <a:ext cx="3931920" cy="621792"/>
          </a:xfrm>
          <a:prstGeom prst="rect">
            <a:avLst/>
          </a:prstGeom>
          <a:noFill/>
          <a:ln/>
        </p:spPr>
        <p:txBody>
          <a:bodyPr wrap="square" lIns="0" tIns="0" rIns="0" bIns="0" rtlCol="0" anchor="ctr"/>
          <a:lstStyle/>
          <a:p>
            <a:pPr indent="0" marL="0">
              <a:buNone/>
            </a:pPr>
            <a:r>
              <a:rPr lang="en-US" sz="1900" b="1" dirty="0">
                <a:solidFill>
                  <a:srgbClr val="0B2D55"/>
                </a:solidFill>
                <a:latin typeface="Aptos" pitchFamily="34" charset="0"/>
                <a:ea typeface="Aptos" pitchFamily="34" charset="-122"/>
                <a:cs typeface="Aptos" pitchFamily="34" charset="-120"/>
              </a:rPr>
              <a:t>h₂  =  </a:t>
            </a:r>
            <a:pPr indent="0" marL="0">
              <a:buNone/>
            </a:pPr>
            <a:r>
              <a:rPr lang="en-US" sz="1900" b="1" dirty="0">
                <a:solidFill>
                  <a:srgbClr val="1D5FA7"/>
                </a:solidFill>
                <a:latin typeface="Aptos" pitchFamily="34" charset="0"/>
                <a:ea typeface="Aptos" pitchFamily="34" charset="-122"/>
                <a:cs typeface="Aptos" pitchFamily="34" charset="-120"/>
              </a:rPr>
              <a:t>?</a:t>
            </a:r>
            <a:endParaRPr lang="en-US" sz="1900" dirty="0"/>
          </a:p>
        </p:txBody>
      </p:sp>
      <p:sp>
        <p:nvSpPr>
          <p:cNvPr id="37" name="Shape 34"/>
          <p:cNvSpPr/>
          <p:nvPr/>
        </p:nvSpPr>
        <p:spPr>
          <a:xfrm>
            <a:off x="7406640" y="3008376"/>
            <a:ext cx="4206240" cy="621792"/>
          </a:xfrm>
          <a:prstGeom prst="roundRect">
            <a:avLst>
              <a:gd name="adj" fmla="val 11765"/>
            </a:avLst>
          </a:prstGeom>
          <a:solidFill>
            <a:srgbClr val="FFFFFF"/>
          </a:solidFill>
          <a:ln w="12700">
            <a:solidFill>
              <a:srgbClr val="B8C7D8"/>
            </a:solidFill>
            <a:prstDash val="solid"/>
          </a:ln>
        </p:spPr>
      </p:sp>
      <p:sp>
        <p:nvSpPr>
          <p:cNvPr id="38" name="Text 35"/>
          <p:cNvSpPr txBox="1"/>
          <p:nvPr/>
        </p:nvSpPr>
        <p:spPr>
          <a:xfrm>
            <a:off x="7589520" y="3008376"/>
            <a:ext cx="3931920" cy="621792"/>
          </a:xfrm>
          <a:prstGeom prst="rect">
            <a:avLst/>
          </a:prstGeom>
          <a:noFill/>
          <a:ln/>
        </p:spPr>
        <p:txBody>
          <a:bodyPr wrap="square" lIns="0" tIns="0" rIns="0" bIns="0" rtlCol="0" anchor="ctr"/>
          <a:lstStyle/>
          <a:p>
            <a:pPr indent="0" marL="0">
              <a:buNone/>
            </a:pPr>
            <a:r>
              <a:rPr lang="en-US" sz="1900" b="1" dirty="0">
                <a:solidFill>
                  <a:srgbClr val="0B2D55"/>
                </a:solidFill>
                <a:latin typeface="Aptos" pitchFamily="34" charset="0"/>
                <a:ea typeface="Aptos" pitchFamily="34" charset="-122"/>
                <a:cs typeface="Aptos" pitchFamily="34" charset="-120"/>
              </a:rPr>
              <a:t>z (output)  =  </a:t>
            </a:r>
            <a:pPr indent="0" marL="0">
              <a:buNone/>
            </a:pPr>
            <a:r>
              <a:rPr lang="en-US" sz="1900" b="1" dirty="0">
                <a:solidFill>
                  <a:srgbClr val="1D5FA7"/>
                </a:solidFill>
                <a:latin typeface="Aptos" pitchFamily="34" charset="0"/>
                <a:ea typeface="Aptos" pitchFamily="34" charset="-122"/>
                <a:cs typeface="Aptos" pitchFamily="34" charset="-120"/>
              </a:rPr>
              <a:t>?</a:t>
            </a:r>
            <a:endParaRPr lang="en-US" sz="1900" dirty="0"/>
          </a:p>
        </p:txBody>
      </p:sp>
      <p:sp>
        <p:nvSpPr>
          <p:cNvPr id="39" name="Shape 36"/>
          <p:cNvSpPr/>
          <p:nvPr/>
        </p:nvSpPr>
        <p:spPr>
          <a:xfrm>
            <a:off x="7406640" y="3758184"/>
            <a:ext cx="4206240" cy="621792"/>
          </a:xfrm>
          <a:prstGeom prst="roundRect">
            <a:avLst>
              <a:gd name="adj" fmla="val 11765"/>
            </a:avLst>
          </a:prstGeom>
          <a:solidFill>
            <a:srgbClr val="FFFFFF"/>
          </a:solidFill>
          <a:ln w="12700">
            <a:solidFill>
              <a:srgbClr val="B8C7D8"/>
            </a:solidFill>
            <a:prstDash val="solid"/>
          </a:ln>
        </p:spPr>
      </p:sp>
      <p:sp>
        <p:nvSpPr>
          <p:cNvPr id="40" name="Text 37"/>
          <p:cNvSpPr txBox="1"/>
          <p:nvPr/>
        </p:nvSpPr>
        <p:spPr>
          <a:xfrm>
            <a:off x="7589520" y="3758184"/>
            <a:ext cx="3931920" cy="621792"/>
          </a:xfrm>
          <a:prstGeom prst="rect">
            <a:avLst/>
          </a:prstGeom>
          <a:noFill/>
          <a:ln/>
        </p:spPr>
        <p:txBody>
          <a:bodyPr wrap="square" lIns="0" tIns="0" rIns="0" bIns="0" rtlCol="0" anchor="ctr"/>
          <a:lstStyle/>
          <a:p>
            <a:pPr indent="0" marL="0">
              <a:buNone/>
            </a:pPr>
            <a:r>
              <a:rPr lang="en-US" sz="1900" b="1" dirty="0">
                <a:solidFill>
                  <a:srgbClr val="0B2D55"/>
                </a:solidFill>
                <a:latin typeface="Aptos" pitchFamily="34" charset="0"/>
                <a:ea typeface="Aptos" pitchFamily="34" charset="-122"/>
                <a:cs typeface="Aptos" pitchFamily="34" charset="-120"/>
              </a:rPr>
              <a:t>P  =  </a:t>
            </a:r>
            <a:pPr indent="0" marL="0">
              <a:buNone/>
            </a:pPr>
            <a:r>
              <a:rPr lang="en-US" sz="1900" b="1" dirty="0">
                <a:solidFill>
                  <a:srgbClr val="1D5FA7"/>
                </a:solidFill>
                <a:latin typeface="Aptos" pitchFamily="34" charset="0"/>
                <a:ea typeface="Aptos" pitchFamily="34" charset="-122"/>
                <a:cs typeface="Aptos" pitchFamily="34" charset="-120"/>
              </a:rPr>
              <a:t>?</a:t>
            </a:r>
            <a:endParaRPr lang="en-US" sz="1900" dirty="0"/>
          </a:p>
        </p:txBody>
      </p:sp>
      <p:sp>
        <p:nvSpPr>
          <p:cNvPr id="41" name="Shape 38"/>
          <p:cNvSpPr/>
          <p:nvPr/>
        </p:nvSpPr>
        <p:spPr>
          <a:xfrm>
            <a:off x="7406640" y="4572000"/>
            <a:ext cx="4206240" cy="1325880"/>
          </a:xfrm>
          <a:prstGeom prst="roundRect">
            <a:avLst>
              <a:gd name="adj" fmla="val 5517"/>
            </a:avLst>
          </a:prstGeom>
          <a:solidFill>
            <a:srgbClr val="FFF4CE"/>
          </a:solidFill>
          <a:ln w="12700">
            <a:solidFill>
              <a:srgbClr val="F2C14E"/>
            </a:solidFill>
            <a:prstDash val="solid"/>
          </a:ln>
        </p:spPr>
      </p:sp>
      <p:sp>
        <p:nvSpPr>
          <p:cNvPr id="42" name="Text 39"/>
          <p:cNvSpPr txBox="1"/>
          <p:nvPr/>
        </p:nvSpPr>
        <p:spPr>
          <a:xfrm>
            <a:off x="7589520" y="4572000"/>
            <a:ext cx="3840480" cy="1325880"/>
          </a:xfrm>
          <a:prstGeom prst="rect">
            <a:avLst/>
          </a:prstGeom>
          <a:noFill/>
          <a:ln/>
        </p:spPr>
        <p:txBody>
          <a:bodyPr wrap="square" lIns="0" tIns="0" rIns="0" bIns="0" rtlCol="0" anchor="ctr"/>
          <a:lstStyle/>
          <a:p>
            <a:pPr algn="ctr" indent="0" marL="0">
              <a:buNone/>
            </a:pPr>
            <a:r>
              <a:rPr lang="en-US" sz="1800" b="1" dirty="0">
                <a:solidFill>
                  <a:srgbClr val="0B2D55"/>
                </a:solidFill>
                <a:latin typeface="Aptos" pitchFamily="34" charset="0"/>
                <a:ea typeface="Aptos" pitchFamily="34" charset="-122"/>
                <a:cs typeface="Aptos" pitchFamily="34" charset="-120"/>
              </a:rPr>
              <a:t>Which path carried the signal this time?</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indent="0" marL="0">
              <a:buNone/>
            </a:pPr>
            <a:r>
              <a:rPr lang="en-US" sz="3400" b="1" dirty="0">
                <a:solidFill>
                  <a:srgbClr val="0B2D55"/>
                </a:solidFill>
                <a:latin typeface="Aptos Display" pitchFamily="34" charset="0"/>
                <a:ea typeface="Aptos Display" pitchFamily="34" charset="-122"/>
                <a:cs typeface="Aptos Display" pitchFamily="34" charset="-120"/>
              </a:rPr>
              <a:t>The band problem</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indent="0" marL="0">
              <a:buNone/>
            </a:pPr>
            <a:r>
              <a:rPr lang="en-US" sz="1500" dirty="0">
                <a:solidFill>
                  <a:srgbClr val="132033"/>
                </a:solidFill>
                <a:latin typeface="Aptos" pitchFamily="34" charset="0"/>
                <a:ea typeface="Aptos" pitchFamily="34" charset="-122"/>
                <a:cs typeface="Aptos" pitchFamily="34" charset="-120"/>
              </a:rPr>
              <a:t>Alert if CPU is too low or too high. Healthy is in the middle.</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indent="0" marL="0">
              <a:buNone/>
            </a:pPr>
            <a:r>
              <a:rPr lang="en-US" sz="850" dirty="0">
                <a:solidFill>
                  <a:srgbClr val="6D7C8F"/>
                </a:solidFill>
                <a:latin typeface="Aptos" pitchFamily="34" charset="0"/>
                <a:ea typeface="Aptos" pitchFamily="34" charset="-122"/>
                <a:cs typeface="Aptos" pitchFamily="34" charset="-120"/>
              </a:rPr>
              <a:t>CS 471  |  L28: Neural Networks I</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algn="r" indent="0" marL="0">
              <a:buNone/>
            </a:pPr>
            <a:r>
              <a:rPr lang="en-US" sz="850" dirty="0">
                <a:solidFill>
                  <a:srgbClr val="6D7C8F"/>
                </a:solidFill>
                <a:latin typeface="Aptos" pitchFamily="34" charset="0"/>
                <a:ea typeface="Aptos" pitchFamily="34" charset="-122"/>
                <a:cs typeface="Aptos" pitchFamily="34" charset="-120"/>
              </a:rPr>
              <a:t>17</a:t>
            </a:r>
            <a:endParaRPr lang="en-US" sz="850" dirty="0"/>
          </a:p>
        </p:txBody>
      </p:sp>
      <p:sp>
        <p:nvSpPr>
          <p:cNvPr id="7" name="Shape 4"/>
          <p:cNvSpPr/>
          <p:nvPr/>
        </p:nvSpPr>
        <p:spPr>
          <a:xfrm>
            <a:off x="1005840" y="2834640"/>
            <a:ext cx="10241280" cy="0"/>
          </a:xfrm>
          <a:prstGeom prst="line">
            <a:avLst/>
          </a:prstGeom>
          <a:noFill/>
          <a:ln w="19050">
            <a:solidFill>
              <a:srgbClr val="6D7C8F"/>
            </a:solidFill>
            <a:prstDash val="solid"/>
          </a:ln>
        </p:spPr>
      </p:sp>
      <p:sp>
        <p:nvSpPr>
          <p:cNvPr id="8" name="Shape 5"/>
          <p:cNvSpPr/>
          <p:nvPr/>
        </p:nvSpPr>
        <p:spPr>
          <a:xfrm>
            <a:off x="1005840" y="2761488"/>
            <a:ext cx="0" cy="146304"/>
          </a:xfrm>
          <a:prstGeom prst="line">
            <a:avLst/>
          </a:prstGeom>
          <a:noFill/>
          <a:ln w="12700">
            <a:solidFill>
              <a:srgbClr val="6D7C8F"/>
            </a:solidFill>
            <a:prstDash val="solid"/>
          </a:ln>
        </p:spPr>
      </p:sp>
      <p:sp>
        <p:nvSpPr>
          <p:cNvPr id="9" name="Text 6"/>
          <p:cNvSpPr txBox="1"/>
          <p:nvPr/>
        </p:nvSpPr>
        <p:spPr>
          <a:xfrm>
            <a:off x="640080" y="2944368"/>
            <a:ext cx="731520" cy="274320"/>
          </a:xfrm>
          <a:prstGeom prst="rect">
            <a:avLst/>
          </a:prstGeom>
          <a:noFill/>
          <a:ln/>
        </p:spPr>
        <p:txBody>
          <a:bodyPr wrap="square" lIns="0" tIns="0" rIns="0" bIns="0" rtlCol="0" anchor="t"/>
          <a:lstStyle/>
          <a:p>
            <a:pPr algn="ctr" indent="0" marL="0">
              <a:buNone/>
            </a:pPr>
            <a:r>
              <a:rPr lang="en-US" sz="1200" dirty="0">
                <a:solidFill>
                  <a:srgbClr val="6D7C8F"/>
                </a:solidFill>
                <a:latin typeface="Aptos" pitchFamily="34" charset="0"/>
                <a:ea typeface="Aptos" pitchFamily="34" charset="-122"/>
                <a:cs typeface="Aptos" pitchFamily="34" charset="-120"/>
              </a:rPr>
              <a:t>0</a:t>
            </a:r>
            <a:endParaRPr lang="en-US" sz="1200" dirty="0"/>
          </a:p>
        </p:txBody>
      </p:sp>
      <p:sp>
        <p:nvSpPr>
          <p:cNvPr id="10" name="Shape 7"/>
          <p:cNvSpPr/>
          <p:nvPr/>
        </p:nvSpPr>
        <p:spPr>
          <a:xfrm>
            <a:off x="3054096" y="2761488"/>
            <a:ext cx="0" cy="146304"/>
          </a:xfrm>
          <a:prstGeom prst="line">
            <a:avLst/>
          </a:prstGeom>
          <a:noFill/>
          <a:ln w="12700">
            <a:solidFill>
              <a:srgbClr val="6D7C8F"/>
            </a:solidFill>
            <a:prstDash val="solid"/>
          </a:ln>
        </p:spPr>
      </p:sp>
      <p:sp>
        <p:nvSpPr>
          <p:cNvPr id="11" name="Text 8"/>
          <p:cNvSpPr txBox="1"/>
          <p:nvPr/>
        </p:nvSpPr>
        <p:spPr>
          <a:xfrm>
            <a:off x="2688336" y="2944368"/>
            <a:ext cx="731520" cy="274320"/>
          </a:xfrm>
          <a:prstGeom prst="rect">
            <a:avLst/>
          </a:prstGeom>
          <a:noFill/>
          <a:ln/>
        </p:spPr>
        <p:txBody>
          <a:bodyPr wrap="square" lIns="0" tIns="0" rIns="0" bIns="0" rtlCol="0" anchor="t"/>
          <a:lstStyle/>
          <a:p>
            <a:pPr algn="ctr" indent="0" marL="0">
              <a:buNone/>
            </a:pPr>
            <a:r>
              <a:rPr lang="en-US" sz="1200" dirty="0">
                <a:solidFill>
                  <a:srgbClr val="6D7C8F"/>
                </a:solidFill>
                <a:latin typeface="Aptos" pitchFamily="34" charset="0"/>
                <a:ea typeface="Aptos" pitchFamily="34" charset="-122"/>
                <a:cs typeface="Aptos" pitchFamily="34" charset="-120"/>
              </a:rPr>
              <a:t>20</a:t>
            </a:r>
            <a:endParaRPr lang="en-US" sz="1200" dirty="0"/>
          </a:p>
        </p:txBody>
      </p:sp>
      <p:sp>
        <p:nvSpPr>
          <p:cNvPr id="12" name="Shape 9"/>
          <p:cNvSpPr/>
          <p:nvPr/>
        </p:nvSpPr>
        <p:spPr>
          <a:xfrm>
            <a:off x="5102352" y="2761488"/>
            <a:ext cx="0" cy="146304"/>
          </a:xfrm>
          <a:prstGeom prst="line">
            <a:avLst/>
          </a:prstGeom>
          <a:noFill/>
          <a:ln w="12700">
            <a:solidFill>
              <a:srgbClr val="6D7C8F"/>
            </a:solidFill>
            <a:prstDash val="solid"/>
          </a:ln>
        </p:spPr>
      </p:sp>
      <p:sp>
        <p:nvSpPr>
          <p:cNvPr id="13" name="Text 10"/>
          <p:cNvSpPr txBox="1"/>
          <p:nvPr/>
        </p:nvSpPr>
        <p:spPr>
          <a:xfrm>
            <a:off x="4736592" y="2944368"/>
            <a:ext cx="731520" cy="274320"/>
          </a:xfrm>
          <a:prstGeom prst="rect">
            <a:avLst/>
          </a:prstGeom>
          <a:noFill/>
          <a:ln/>
        </p:spPr>
        <p:txBody>
          <a:bodyPr wrap="square" lIns="0" tIns="0" rIns="0" bIns="0" rtlCol="0" anchor="t"/>
          <a:lstStyle/>
          <a:p>
            <a:pPr algn="ctr" indent="0" marL="0">
              <a:buNone/>
            </a:pPr>
            <a:r>
              <a:rPr lang="en-US" sz="1200" dirty="0">
                <a:solidFill>
                  <a:srgbClr val="6D7C8F"/>
                </a:solidFill>
                <a:latin typeface="Aptos" pitchFamily="34" charset="0"/>
                <a:ea typeface="Aptos" pitchFamily="34" charset="-122"/>
                <a:cs typeface="Aptos" pitchFamily="34" charset="-120"/>
              </a:rPr>
              <a:t>40</a:t>
            </a:r>
            <a:endParaRPr lang="en-US" sz="1200" dirty="0"/>
          </a:p>
        </p:txBody>
      </p:sp>
      <p:sp>
        <p:nvSpPr>
          <p:cNvPr id="14" name="Shape 11"/>
          <p:cNvSpPr/>
          <p:nvPr/>
        </p:nvSpPr>
        <p:spPr>
          <a:xfrm>
            <a:off x="7150608" y="2761488"/>
            <a:ext cx="0" cy="146304"/>
          </a:xfrm>
          <a:prstGeom prst="line">
            <a:avLst/>
          </a:prstGeom>
          <a:noFill/>
          <a:ln w="12700">
            <a:solidFill>
              <a:srgbClr val="6D7C8F"/>
            </a:solidFill>
            <a:prstDash val="solid"/>
          </a:ln>
        </p:spPr>
      </p:sp>
      <p:sp>
        <p:nvSpPr>
          <p:cNvPr id="15" name="Text 12"/>
          <p:cNvSpPr txBox="1"/>
          <p:nvPr/>
        </p:nvSpPr>
        <p:spPr>
          <a:xfrm>
            <a:off x="6784848" y="2944368"/>
            <a:ext cx="731520" cy="274320"/>
          </a:xfrm>
          <a:prstGeom prst="rect">
            <a:avLst/>
          </a:prstGeom>
          <a:noFill/>
          <a:ln/>
        </p:spPr>
        <p:txBody>
          <a:bodyPr wrap="square" lIns="0" tIns="0" rIns="0" bIns="0" rtlCol="0" anchor="t"/>
          <a:lstStyle/>
          <a:p>
            <a:pPr algn="ctr" indent="0" marL="0">
              <a:buNone/>
            </a:pPr>
            <a:r>
              <a:rPr lang="en-US" sz="1200" dirty="0">
                <a:solidFill>
                  <a:srgbClr val="6D7C8F"/>
                </a:solidFill>
                <a:latin typeface="Aptos" pitchFamily="34" charset="0"/>
                <a:ea typeface="Aptos" pitchFamily="34" charset="-122"/>
                <a:cs typeface="Aptos" pitchFamily="34" charset="-120"/>
              </a:rPr>
              <a:t>60</a:t>
            </a:r>
            <a:endParaRPr lang="en-US" sz="1200" dirty="0"/>
          </a:p>
        </p:txBody>
      </p:sp>
      <p:sp>
        <p:nvSpPr>
          <p:cNvPr id="16" name="Shape 13"/>
          <p:cNvSpPr/>
          <p:nvPr/>
        </p:nvSpPr>
        <p:spPr>
          <a:xfrm>
            <a:off x="9198864" y="2761488"/>
            <a:ext cx="0" cy="146304"/>
          </a:xfrm>
          <a:prstGeom prst="line">
            <a:avLst/>
          </a:prstGeom>
          <a:noFill/>
          <a:ln w="12700">
            <a:solidFill>
              <a:srgbClr val="6D7C8F"/>
            </a:solidFill>
            <a:prstDash val="solid"/>
          </a:ln>
        </p:spPr>
      </p:sp>
      <p:sp>
        <p:nvSpPr>
          <p:cNvPr id="17" name="Text 14"/>
          <p:cNvSpPr txBox="1"/>
          <p:nvPr/>
        </p:nvSpPr>
        <p:spPr>
          <a:xfrm>
            <a:off x="8833104" y="2944368"/>
            <a:ext cx="731520" cy="274320"/>
          </a:xfrm>
          <a:prstGeom prst="rect">
            <a:avLst/>
          </a:prstGeom>
          <a:noFill/>
          <a:ln/>
        </p:spPr>
        <p:txBody>
          <a:bodyPr wrap="square" lIns="0" tIns="0" rIns="0" bIns="0" rtlCol="0" anchor="t"/>
          <a:lstStyle/>
          <a:p>
            <a:pPr algn="ctr" indent="0" marL="0">
              <a:buNone/>
            </a:pPr>
            <a:r>
              <a:rPr lang="en-US" sz="1200" dirty="0">
                <a:solidFill>
                  <a:srgbClr val="6D7C8F"/>
                </a:solidFill>
                <a:latin typeface="Aptos" pitchFamily="34" charset="0"/>
                <a:ea typeface="Aptos" pitchFamily="34" charset="-122"/>
                <a:cs typeface="Aptos" pitchFamily="34" charset="-120"/>
              </a:rPr>
              <a:t>80</a:t>
            </a:r>
            <a:endParaRPr lang="en-US" sz="1200" dirty="0"/>
          </a:p>
        </p:txBody>
      </p:sp>
      <p:sp>
        <p:nvSpPr>
          <p:cNvPr id="18" name="Shape 15"/>
          <p:cNvSpPr/>
          <p:nvPr/>
        </p:nvSpPr>
        <p:spPr>
          <a:xfrm>
            <a:off x="11247120" y="2761488"/>
            <a:ext cx="0" cy="146304"/>
          </a:xfrm>
          <a:prstGeom prst="line">
            <a:avLst/>
          </a:prstGeom>
          <a:noFill/>
          <a:ln w="12700">
            <a:solidFill>
              <a:srgbClr val="6D7C8F"/>
            </a:solidFill>
            <a:prstDash val="solid"/>
          </a:ln>
        </p:spPr>
      </p:sp>
      <p:sp>
        <p:nvSpPr>
          <p:cNvPr id="19" name="Text 16"/>
          <p:cNvSpPr txBox="1"/>
          <p:nvPr/>
        </p:nvSpPr>
        <p:spPr>
          <a:xfrm>
            <a:off x="10881360" y="2944368"/>
            <a:ext cx="731520" cy="274320"/>
          </a:xfrm>
          <a:prstGeom prst="rect">
            <a:avLst/>
          </a:prstGeom>
          <a:noFill/>
          <a:ln/>
        </p:spPr>
        <p:txBody>
          <a:bodyPr wrap="square" lIns="0" tIns="0" rIns="0" bIns="0" rtlCol="0" anchor="t"/>
          <a:lstStyle/>
          <a:p>
            <a:pPr algn="ctr" indent="0" marL="0">
              <a:buNone/>
            </a:pPr>
            <a:r>
              <a:rPr lang="en-US" sz="1200" dirty="0">
                <a:solidFill>
                  <a:srgbClr val="6D7C8F"/>
                </a:solidFill>
                <a:latin typeface="Aptos" pitchFamily="34" charset="0"/>
                <a:ea typeface="Aptos" pitchFamily="34" charset="-122"/>
                <a:cs typeface="Aptos" pitchFamily="34" charset="-120"/>
              </a:rPr>
              <a:t>100</a:t>
            </a:r>
            <a:endParaRPr lang="en-US" sz="1200" dirty="0"/>
          </a:p>
        </p:txBody>
      </p:sp>
      <p:sp>
        <p:nvSpPr>
          <p:cNvPr id="20" name="Text 17"/>
          <p:cNvSpPr txBox="1"/>
          <p:nvPr/>
        </p:nvSpPr>
        <p:spPr>
          <a:xfrm>
            <a:off x="1005840" y="3218688"/>
            <a:ext cx="10241280" cy="274320"/>
          </a:xfrm>
          <a:prstGeom prst="rect">
            <a:avLst/>
          </a:prstGeom>
          <a:noFill/>
          <a:ln/>
        </p:spPr>
        <p:txBody>
          <a:bodyPr wrap="square" lIns="0" tIns="0" rIns="0" bIns="0" rtlCol="0" anchor="t"/>
          <a:lstStyle/>
          <a:p>
            <a:pPr algn="ctr" indent="0" marL="0">
              <a:buNone/>
            </a:pPr>
            <a:r>
              <a:rPr lang="en-US" sz="1300" b="1" dirty="0">
                <a:solidFill>
                  <a:srgbClr val="0B2D55"/>
                </a:solidFill>
                <a:latin typeface="Aptos" pitchFamily="34" charset="0"/>
                <a:ea typeface="Aptos" pitchFamily="34" charset="-122"/>
                <a:cs typeface="Aptos" pitchFamily="34" charset="-120"/>
              </a:rPr>
              <a:t>CPU load (%)</a:t>
            </a:r>
            <a:endParaRPr lang="en-US" sz="1300" dirty="0"/>
          </a:p>
        </p:txBody>
      </p:sp>
      <p:sp>
        <p:nvSpPr>
          <p:cNvPr id="21" name="Shape 18"/>
          <p:cNvSpPr/>
          <p:nvPr/>
        </p:nvSpPr>
        <p:spPr>
          <a:xfrm>
            <a:off x="1166774" y="2377440"/>
            <a:ext cx="292608" cy="274320"/>
          </a:xfrm>
          <a:prstGeom prst="triangle">
            <a:avLst/>
          </a:prstGeom>
          <a:solidFill>
            <a:srgbClr val="D9731A"/>
          </a:solidFill>
          <a:ln w="12700">
            <a:solidFill>
              <a:srgbClr val="FFFFFF"/>
            </a:solidFill>
            <a:prstDash val="solid"/>
          </a:ln>
        </p:spPr>
      </p:sp>
      <p:sp>
        <p:nvSpPr>
          <p:cNvPr id="22" name="Shape 19"/>
          <p:cNvSpPr/>
          <p:nvPr/>
        </p:nvSpPr>
        <p:spPr>
          <a:xfrm>
            <a:off x="1576426" y="2377440"/>
            <a:ext cx="292608" cy="274320"/>
          </a:xfrm>
          <a:prstGeom prst="triangle">
            <a:avLst/>
          </a:prstGeom>
          <a:solidFill>
            <a:srgbClr val="D9731A"/>
          </a:solidFill>
          <a:ln w="12700">
            <a:solidFill>
              <a:srgbClr val="FFFFFF"/>
            </a:solidFill>
            <a:prstDash val="solid"/>
          </a:ln>
        </p:spPr>
      </p:sp>
      <p:sp>
        <p:nvSpPr>
          <p:cNvPr id="23" name="Shape 20"/>
          <p:cNvSpPr/>
          <p:nvPr/>
        </p:nvSpPr>
        <p:spPr>
          <a:xfrm>
            <a:off x="1986077" y="2377440"/>
            <a:ext cx="292608" cy="274320"/>
          </a:xfrm>
          <a:prstGeom prst="triangle">
            <a:avLst/>
          </a:prstGeom>
          <a:solidFill>
            <a:srgbClr val="D9731A"/>
          </a:solidFill>
          <a:ln w="12700">
            <a:solidFill>
              <a:srgbClr val="FFFFFF"/>
            </a:solidFill>
            <a:prstDash val="solid"/>
          </a:ln>
        </p:spPr>
      </p:sp>
      <p:sp>
        <p:nvSpPr>
          <p:cNvPr id="24" name="Shape 21"/>
          <p:cNvSpPr/>
          <p:nvPr/>
        </p:nvSpPr>
        <p:spPr>
          <a:xfrm>
            <a:off x="2395728" y="2377440"/>
            <a:ext cx="292608" cy="274320"/>
          </a:xfrm>
          <a:prstGeom prst="triangle">
            <a:avLst/>
          </a:prstGeom>
          <a:solidFill>
            <a:srgbClr val="D9731A"/>
          </a:solidFill>
          <a:ln w="12700">
            <a:solidFill>
              <a:srgbClr val="FFFFFF"/>
            </a:solidFill>
            <a:prstDash val="solid"/>
          </a:ln>
        </p:spPr>
      </p:sp>
      <p:sp>
        <p:nvSpPr>
          <p:cNvPr id="25" name="Shape 22"/>
          <p:cNvSpPr/>
          <p:nvPr/>
        </p:nvSpPr>
        <p:spPr>
          <a:xfrm>
            <a:off x="9871862" y="2377440"/>
            <a:ext cx="292608" cy="274320"/>
          </a:xfrm>
          <a:prstGeom prst="triangle">
            <a:avLst/>
          </a:prstGeom>
          <a:solidFill>
            <a:srgbClr val="D9731A"/>
          </a:solidFill>
          <a:ln w="12700">
            <a:solidFill>
              <a:srgbClr val="FFFFFF"/>
            </a:solidFill>
            <a:prstDash val="solid"/>
          </a:ln>
        </p:spPr>
      </p:sp>
      <p:sp>
        <p:nvSpPr>
          <p:cNvPr id="26" name="Shape 23"/>
          <p:cNvSpPr/>
          <p:nvPr/>
        </p:nvSpPr>
        <p:spPr>
          <a:xfrm>
            <a:off x="10281514" y="2377440"/>
            <a:ext cx="292608" cy="274320"/>
          </a:xfrm>
          <a:prstGeom prst="triangle">
            <a:avLst/>
          </a:prstGeom>
          <a:solidFill>
            <a:srgbClr val="D9731A"/>
          </a:solidFill>
          <a:ln w="12700">
            <a:solidFill>
              <a:srgbClr val="FFFFFF"/>
            </a:solidFill>
            <a:prstDash val="solid"/>
          </a:ln>
        </p:spPr>
      </p:sp>
      <p:sp>
        <p:nvSpPr>
          <p:cNvPr id="27" name="Shape 24"/>
          <p:cNvSpPr/>
          <p:nvPr/>
        </p:nvSpPr>
        <p:spPr>
          <a:xfrm>
            <a:off x="10691165" y="2377440"/>
            <a:ext cx="292608" cy="274320"/>
          </a:xfrm>
          <a:prstGeom prst="triangle">
            <a:avLst/>
          </a:prstGeom>
          <a:solidFill>
            <a:srgbClr val="D9731A"/>
          </a:solidFill>
          <a:ln w="12700">
            <a:solidFill>
              <a:srgbClr val="FFFFFF"/>
            </a:solidFill>
            <a:prstDash val="solid"/>
          </a:ln>
        </p:spPr>
      </p:sp>
      <p:sp>
        <p:nvSpPr>
          <p:cNvPr id="28" name="Shape 25"/>
          <p:cNvSpPr/>
          <p:nvPr/>
        </p:nvSpPr>
        <p:spPr>
          <a:xfrm>
            <a:off x="3531413" y="2377440"/>
            <a:ext cx="274320" cy="274320"/>
          </a:xfrm>
          <a:prstGeom prst="ellipse">
            <a:avLst/>
          </a:prstGeom>
          <a:solidFill>
            <a:srgbClr val="1D5FA7"/>
          </a:solidFill>
          <a:ln w="12700">
            <a:solidFill>
              <a:srgbClr val="FFFFFF"/>
            </a:solidFill>
            <a:prstDash val="solid"/>
          </a:ln>
        </p:spPr>
      </p:sp>
      <p:sp>
        <p:nvSpPr>
          <p:cNvPr id="29" name="Shape 26"/>
          <p:cNvSpPr/>
          <p:nvPr/>
        </p:nvSpPr>
        <p:spPr>
          <a:xfrm>
            <a:off x="4350715" y="2377440"/>
            <a:ext cx="274320" cy="274320"/>
          </a:xfrm>
          <a:prstGeom prst="ellipse">
            <a:avLst/>
          </a:prstGeom>
          <a:solidFill>
            <a:srgbClr val="1D5FA7"/>
          </a:solidFill>
          <a:ln w="12700">
            <a:solidFill>
              <a:srgbClr val="FFFFFF"/>
            </a:solidFill>
            <a:prstDash val="solid"/>
          </a:ln>
        </p:spPr>
      </p:sp>
      <p:sp>
        <p:nvSpPr>
          <p:cNvPr id="30" name="Shape 27"/>
          <p:cNvSpPr/>
          <p:nvPr/>
        </p:nvSpPr>
        <p:spPr>
          <a:xfrm>
            <a:off x="5067605" y="2377440"/>
            <a:ext cx="274320" cy="274320"/>
          </a:xfrm>
          <a:prstGeom prst="ellipse">
            <a:avLst/>
          </a:prstGeom>
          <a:solidFill>
            <a:srgbClr val="1D5FA7"/>
          </a:solidFill>
          <a:ln w="12700">
            <a:solidFill>
              <a:srgbClr val="FFFFFF"/>
            </a:solidFill>
            <a:prstDash val="solid"/>
          </a:ln>
        </p:spPr>
      </p:sp>
      <p:sp>
        <p:nvSpPr>
          <p:cNvPr id="31" name="Shape 28"/>
          <p:cNvSpPr/>
          <p:nvPr/>
        </p:nvSpPr>
        <p:spPr>
          <a:xfrm>
            <a:off x="5784494" y="2377440"/>
            <a:ext cx="274320" cy="274320"/>
          </a:xfrm>
          <a:prstGeom prst="ellipse">
            <a:avLst/>
          </a:prstGeom>
          <a:solidFill>
            <a:srgbClr val="1D5FA7"/>
          </a:solidFill>
          <a:ln w="12700">
            <a:solidFill>
              <a:srgbClr val="FFFFFF"/>
            </a:solidFill>
            <a:prstDash val="solid"/>
          </a:ln>
        </p:spPr>
      </p:sp>
      <p:sp>
        <p:nvSpPr>
          <p:cNvPr id="32" name="Shape 29"/>
          <p:cNvSpPr/>
          <p:nvPr/>
        </p:nvSpPr>
        <p:spPr>
          <a:xfrm>
            <a:off x="6501384" y="2377440"/>
            <a:ext cx="274320" cy="274320"/>
          </a:xfrm>
          <a:prstGeom prst="ellipse">
            <a:avLst/>
          </a:prstGeom>
          <a:solidFill>
            <a:srgbClr val="1D5FA7"/>
          </a:solidFill>
          <a:ln w="12700">
            <a:solidFill>
              <a:srgbClr val="FFFFFF"/>
            </a:solidFill>
            <a:prstDash val="solid"/>
          </a:ln>
        </p:spPr>
      </p:sp>
      <p:sp>
        <p:nvSpPr>
          <p:cNvPr id="33" name="Shape 30"/>
          <p:cNvSpPr/>
          <p:nvPr/>
        </p:nvSpPr>
        <p:spPr>
          <a:xfrm>
            <a:off x="7218274" y="2377440"/>
            <a:ext cx="274320" cy="274320"/>
          </a:xfrm>
          <a:prstGeom prst="ellipse">
            <a:avLst/>
          </a:prstGeom>
          <a:solidFill>
            <a:srgbClr val="1D5FA7"/>
          </a:solidFill>
          <a:ln w="12700">
            <a:solidFill>
              <a:srgbClr val="FFFFFF"/>
            </a:solidFill>
            <a:prstDash val="solid"/>
          </a:ln>
        </p:spPr>
      </p:sp>
      <p:sp>
        <p:nvSpPr>
          <p:cNvPr id="34" name="Shape 31"/>
          <p:cNvSpPr/>
          <p:nvPr/>
        </p:nvSpPr>
        <p:spPr>
          <a:xfrm>
            <a:off x="7935163" y="2377440"/>
            <a:ext cx="274320" cy="274320"/>
          </a:xfrm>
          <a:prstGeom prst="ellipse">
            <a:avLst/>
          </a:prstGeom>
          <a:solidFill>
            <a:srgbClr val="1D5FA7"/>
          </a:solidFill>
          <a:ln w="12700">
            <a:solidFill>
              <a:srgbClr val="FFFFFF"/>
            </a:solidFill>
            <a:prstDash val="solid"/>
          </a:ln>
        </p:spPr>
      </p:sp>
      <p:sp>
        <p:nvSpPr>
          <p:cNvPr id="35" name="Shape 32"/>
          <p:cNvSpPr/>
          <p:nvPr/>
        </p:nvSpPr>
        <p:spPr>
          <a:xfrm>
            <a:off x="8549640" y="2377440"/>
            <a:ext cx="274320" cy="274320"/>
          </a:xfrm>
          <a:prstGeom prst="ellipse">
            <a:avLst/>
          </a:prstGeom>
          <a:solidFill>
            <a:srgbClr val="1D5FA7"/>
          </a:solidFill>
          <a:ln w="12700">
            <a:solidFill>
              <a:srgbClr val="FFFFFF"/>
            </a:solidFill>
            <a:prstDash val="solid"/>
          </a:ln>
        </p:spPr>
      </p:sp>
      <p:sp>
        <p:nvSpPr>
          <p:cNvPr id="36" name="Text 33"/>
          <p:cNvSpPr txBox="1"/>
          <p:nvPr/>
        </p:nvSpPr>
        <p:spPr>
          <a:xfrm>
            <a:off x="1005840" y="1691640"/>
            <a:ext cx="2194560" cy="320040"/>
          </a:xfrm>
          <a:prstGeom prst="rect">
            <a:avLst/>
          </a:prstGeom>
          <a:noFill/>
          <a:ln/>
        </p:spPr>
        <p:txBody>
          <a:bodyPr wrap="square" lIns="0" tIns="0" rIns="0" bIns="0" rtlCol="0" anchor="t"/>
          <a:lstStyle/>
          <a:p>
            <a:pPr indent="0" marL="0">
              <a:buNone/>
            </a:pPr>
            <a:r>
              <a:rPr lang="en-US" sz="1400" b="1" dirty="0">
                <a:solidFill>
                  <a:srgbClr val="D9731A"/>
                </a:solidFill>
                <a:latin typeface="Aptos" pitchFamily="34" charset="0"/>
                <a:ea typeface="Aptos" pitchFamily="34" charset="-122"/>
                <a:cs typeface="Aptos" pitchFamily="34" charset="-120"/>
              </a:rPr>
              <a:t>hung service</a:t>
            </a:r>
            <a:endParaRPr lang="en-US" sz="1400" dirty="0"/>
          </a:p>
        </p:txBody>
      </p:sp>
      <p:sp>
        <p:nvSpPr>
          <p:cNvPr id="37" name="Text 34"/>
          <p:cNvSpPr txBox="1"/>
          <p:nvPr/>
        </p:nvSpPr>
        <p:spPr>
          <a:xfrm>
            <a:off x="4590288" y="1691640"/>
            <a:ext cx="3584448" cy="320040"/>
          </a:xfrm>
          <a:prstGeom prst="rect">
            <a:avLst/>
          </a:prstGeom>
          <a:noFill/>
          <a:ln/>
        </p:spPr>
        <p:txBody>
          <a:bodyPr wrap="square" lIns="0" tIns="0" rIns="0" bIns="0" rtlCol="0" anchor="t"/>
          <a:lstStyle/>
          <a:p>
            <a:pPr algn="ctr" indent="0" marL="0">
              <a:buNone/>
            </a:pPr>
            <a:r>
              <a:rPr lang="en-US" sz="1400" b="1" dirty="0">
                <a:solidFill>
                  <a:srgbClr val="1D5FA7"/>
                </a:solidFill>
                <a:latin typeface="Aptos" pitchFamily="34" charset="0"/>
                <a:ea typeface="Aptos" pitchFamily="34" charset="-122"/>
                <a:cs typeface="Aptos" pitchFamily="34" charset="-120"/>
              </a:rPr>
              <a:t>healthy</a:t>
            </a:r>
            <a:endParaRPr lang="en-US" sz="1400" dirty="0"/>
          </a:p>
        </p:txBody>
      </p:sp>
      <p:sp>
        <p:nvSpPr>
          <p:cNvPr id="38" name="Text 35"/>
          <p:cNvSpPr txBox="1"/>
          <p:nvPr/>
        </p:nvSpPr>
        <p:spPr>
          <a:xfrm>
            <a:off x="9052560" y="1691640"/>
            <a:ext cx="2194560" cy="320040"/>
          </a:xfrm>
          <a:prstGeom prst="rect">
            <a:avLst/>
          </a:prstGeom>
          <a:noFill/>
          <a:ln/>
        </p:spPr>
        <p:txBody>
          <a:bodyPr wrap="square" lIns="0" tIns="0" rIns="0" bIns="0" rtlCol="0" anchor="t"/>
          <a:lstStyle/>
          <a:p>
            <a:pPr algn="r" indent="0" marL="0">
              <a:buNone/>
            </a:pPr>
            <a:r>
              <a:rPr lang="en-US" sz="1400" b="1" dirty="0">
                <a:solidFill>
                  <a:srgbClr val="D9731A"/>
                </a:solidFill>
                <a:latin typeface="Aptos" pitchFamily="34" charset="0"/>
                <a:ea typeface="Aptos" pitchFamily="34" charset="-122"/>
                <a:cs typeface="Aptos" pitchFamily="34" charset="-120"/>
              </a:rPr>
              <a:t>overload</a:t>
            </a:r>
            <a:endParaRPr lang="en-US" sz="1400" dirty="0"/>
          </a:p>
        </p:txBody>
      </p:sp>
      <p:sp>
        <p:nvSpPr>
          <p:cNvPr id="39" name="Shape 36"/>
          <p:cNvSpPr/>
          <p:nvPr/>
        </p:nvSpPr>
        <p:spPr>
          <a:xfrm>
            <a:off x="9403690" y="2057400"/>
            <a:ext cx="0" cy="1188720"/>
          </a:xfrm>
          <a:prstGeom prst="line">
            <a:avLst/>
          </a:prstGeom>
          <a:noFill/>
          <a:ln w="31750">
            <a:solidFill>
              <a:srgbClr val="B43A3A"/>
            </a:solidFill>
            <a:prstDash val="dash"/>
          </a:ln>
        </p:spPr>
      </p:sp>
      <p:sp>
        <p:nvSpPr>
          <p:cNvPr id="40" name="Text 37"/>
          <p:cNvSpPr txBox="1"/>
          <p:nvPr/>
        </p:nvSpPr>
        <p:spPr>
          <a:xfrm>
            <a:off x="8397850" y="3291840"/>
            <a:ext cx="2011680" cy="274320"/>
          </a:xfrm>
          <a:prstGeom prst="rect">
            <a:avLst/>
          </a:prstGeom>
          <a:noFill/>
          <a:ln/>
        </p:spPr>
        <p:txBody>
          <a:bodyPr wrap="square" lIns="0" tIns="0" rIns="0" bIns="0" rtlCol="0" anchor="t"/>
          <a:lstStyle/>
          <a:p>
            <a:pPr algn="ctr" indent="0" marL="0">
              <a:buNone/>
            </a:pPr>
            <a:r>
              <a:rPr lang="en-US" sz="1200" b="1" dirty="0">
                <a:solidFill>
                  <a:srgbClr val="B43A3A"/>
                </a:solidFill>
                <a:latin typeface="Aptos" pitchFamily="34" charset="0"/>
                <a:ea typeface="Aptos" pitchFamily="34" charset="-122"/>
                <a:cs typeface="Aptos" pitchFamily="34" charset="-120"/>
              </a:rPr>
              <a:t>one neuron’s threshold</a:t>
            </a:r>
            <a:endParaRPr lang="en-US" sz="1200" dirty="0"/>
          </a:p>
        </p:txBody>
      </p:sp>
      <p:sp>
        <p:nvSpPr>
          <p:cNvPr id="41" name="Shape 38"/>
          <p:cNvSpPr/>
          <p:nvPr/>
        </p:nvSpPr>
        <p:spPr>
          <a:xfrm>
            <a:off x="576072" y="3977640"/>
            <a:ext cx="5440680" cy="1417320"/>
          </a:xfrm>
          <a:prstGeom prst="roundRect">
            <a:avLst>
              <a:gd name="adj" fmla="val 5161"/>
            </a:avLst>
          </a:prstGeom>
          <a:solidFill>
            <a:srgbClr val="F7D7D7"/>
          </a:solidFill>
          <a:ln w="12700">
            <a:solidFill>
              <a:srgbClr val="B43A3A"/>
            </a:solidFill>
            <a:prstDash val="solid"/>
          </a:ln>
        </p:spPr>
      </p:sp>
      <p:sp>
        <p:nvSpPr>
          <p:cNvPr id="42" name="Text 39"/>
          <p:cNvSpPr txBox="1"/>
          <p:nvPr/>
        </p:nvSpPr>
        <p:spPr>
          <a:xfrm>
            <a:off x="758952" y="4087368"/>
            <a:ext cx="5074920" cy="292608"/>
          </a:xfrm>
          <a:prstGeom prst="rect">
            <a:avLst/>
          </a:prstGeom>
          <a:noFill/>
          <a:ln/>
        </p:spPr>
        <p:txBody>
          <a:bodyPr wrap="square" lIns="0" tIns="0" rIns="0" bIns="0" rtlCol="0" anchor="t"/>
          <a:lstStyle/>
          <a:p>
            <a:pPr indent="0" marL="0">
              <a:buNone/>
            </a:pPr>
            <a:r>
              <a:rPr lang="en-US" sz="1500" b="1" dirty="0">
                <a:solidFill>
                  <a:srgbClr val="0B2D55"/>
                </a:solidFill>
                <a:latin typeface="Aptos" pitchFamily="34" charset="0"/>
                <a:ea typeface="Aptos" pitchFamily="34" charset="-122"/>
                <a:cs typeface="Aptos" pitchFamily="34" charset="-120"/>
              </a:rPr>
              <a:t>One neuron = one threshold</a:t>
            </a:r>
            <a:endParaRPr lang="en-US" sz="1500" dirty="0"/>
          </a:p>
        </p:txBody>
      </p:sp>
      <p:sp>
        <p:nvSpPr>
          <p:cNvPr id="43" name="Text 40"/>
          <p:cNvSpPr txBox="1"/>
          <p:nvPr/>
        </p:nvSpPr>
        <p:spPr>
          <a:xfrm>
            <a:off x="758952" y="4416552"/>
            <a:ext cx="5074920" cy="886968"/>
          </a:xfrm>
          <a:prstGeom prst="rect">
            <a:avLst/>
          </a:prstGeom>
          <a:noFill/>
          <a:ln/>
        </p:spPr>
        <p:txBody>
          <a:bodyPr wrap="square" lIns="0" tIns="0" rIns="0" bIns="0" rtlCol="0" anchor="t"/>
          <a:lstStyle/>
          <a:p>
            <a:pPr indent="0" marL="0">
              <a:buNone/>
            </a:pPr>
            <a:r>
              <a:rPr lang="en-US" sz="1550" dirty="0">
                <a:solidFill>
                  <a:srgbClr val="132033"/>
                </a:solidFill>
                <a:latin typeface="Aptos" pitchFamily="34" charset="0"/>
                <a:ea typeface="Aptos" pitchFamily="34" charset="-122"/>
                <a:cs typeface="Aptos" pitchFamily="34" charset="-120"/>
              </a:rPr>
              <a:t>It can flag “above 82%” or “below 18%,” but never both. Some alerts always land on the wrong side.</a:t>
            </a:r>
            <a:endParaRPr lang="en-US" sz="1550" dirty="0"/>
          </a:p>
        </p:txBody>
      </p:sp>
      <p:sp>
        <p:nvSpPr>
          <p:cNvPr id="44" name="Shape 41"/>
          <p:cNvSpPr/>
          <p:nvPr/>
        </p:nvSpPr>
        <p:spPr>
          <a:xfrm>
            <a:off x="6172200" y="3977640"/>
            <a:ext cx="5440680" cy="1417320"/>
          </a:xfrm>
          <a:prstGeom prst="roundRect">
            <a:avLst>
              <a:gd name="adj" fmla="val 5161"/>
            </a:avLst>
          </a:prstGeom>
          <a:solidFill>
            <a:srgbClr val="EAF2F8"/>
          </a:solidFill>
          <a:ln w="12700">
            <a:solidFill>
              <a:srgbClr val="1F5D9B"/>
            </a:solidFill>
            <a:prstDash val="solid"/>
          </a:ln>
        </p:spPr>
      </p:sp>
      <p:sp>
        <p:nvSpPr>
          <p:cNvPr id="45" name="Text 42"/>
          <p:cNvSpPr txBox="1"/>
          <p:nvPr/>
        </p:nvSpPr>
        <p:spPr>
          <a:xfrm>
            <a:off x="6355080" y="4087368"/>
            <a:ext cx="5074920" cy="292608"/>
          </a:xfrm>
          <a:prstGeom prst="rect">
            <a:avLst/>
          </a:prstGeom>
          <a:noFill/>
          <a:ln/>
        </p:spPr>
        <p:txBody>
          <a:bodyPr wrap="square" lIns="0" tIns="0" rIns="0" bIns="0" rtlCol="0" anchor="t"/>
          <a:lstStyle/>
          <a:p>
            <a:pPr indent="0" marL="0">
              <a:buNone/>
            </a:pPr>
            <a:r>
              <a:rPr lang="en-US" sz="1500" b="1" dirty="0">
                <a:solidFill>
                  <a:srgbClr val="0B2D55"/>
                </a:solidFill>
                <a:latin typeface="Aptos" pitchFamily="34" charset="0"/>
                <a:ea typeface="Aptos" pitchFamily="34" charset="-122"/>
                <a:cs typeface="Aptos" pitchFamily="34" charset="-120"/>
              </a:rPr>
              <a:t>L26 callback</a:t>
            </a:r>
            <a:endParaRPr lang="en-US" sz="1500" dirty="0"/>
          </a:p>
        </p:txBody>
      </p:sp>
      <p:sp>
        <p:nvSpPr>
          <p:cNvPr id="46" name="Text 43"/>
          <p:cNvSpPr txBox="1"/>
          <p:nvPr/>
        </p:nvSpPr>
        <p:spPr>
          <a:xfrm>
            <a:off x="6355080" y="4416552"/>
            <a:ext cx="5074920" cy="886968"/>
          </a:xfrm>
          <a:prstGeom prst="rect">
            <a:avLst/>
          </a:prstGeom>
          <a:noFill/>
          <a:ln/>
        </p:spPr>
        <p:txBody>
          <a:bodyPr wrap="square" lIns="0" tIns="0" rIns="0" bIns="0" rtlCol="0" anchor="t"/>
          <a:lstStyle/>
          <a:p>
            <a:pPr indent="0" marL="0">
              <a:buNone/>
            </a:pPr>
            <a:r>
              <a:rPr lang="en-US" sz="1550" dirty="0">
                <a:solidFill>
                  <a:srgbClr val="132033"/>
                </a:solidFill>
                <a:latin typeface="Aptos" pitchFamily="34" charset="0"/>
                <a:ea typeface="Aptos" pitchFamily="34" charset="-122"/>
                <a:cs typeface="Aptos" pitchFamily="34" charset="-120"/>
              </a:rPr>
              <a:t>The kernel slide fixed this shape by hand-adding x². Can a network build its own fix?</a:t>
            </a:r>
            <a:endParaRPr lang="en-US" sz="1550" dirty="0"/>
          </a:p>
        </p:txBody>
      </p:sp>
      <p:sp>
        <p:nvSpPr>
          <p:cNvPr id="47" name="Text 44"/>
          <p:cNvSpPr txBox="1"/>
          <p:nvPr/>
        </p:nvSpPr>
        <p:spPr>
          <a:xfrm>
            <a:off x="822960" y="5577840"/>
            <a:ext cx="10515600" cy="365760"/>
          </a:xfrm>
          <a:prstGeom prst="rect">
            <a:avLst/>
          </a:prstGeom>
          <a:noFill/>
          <a:ln/>
        </p:spPr>
        <p:txBody>
          <a:bodyPr wrap="square" lIns="0" tIns="0" rIns="0" bIns="0" rtlCol="0" anchor="ctr"/>
          <a:lstStyle/>
          <a:p>
            <a:pPr algn="ctr" indent="0" marL="0">
              <a:buNone/>
            </a:pPr>
            <a:r>
              <a:rPr lang="en-US" sz="1900" b="1" dirty="0">
                <a:solidFill>
                  <a:srgbClr val="0B2D55"/>
                </a:solidFill>
                <a:latin typeface="Aptos" pitchFamily="34" charset="0"/>
                <a:ea typeface="Aptos" pitchFamily="34" charset="-122"/>
                <a:cs typeface="Aptos" pitchFamily="34" charset="-120"/>
              </a:rPr>
              <a:t>A straight boundary cannot carve out a middle band.</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indent="0" marL="0">
              <a:buNone/>
            </a:pPr>
            <a:r>
              <a:rPr lang="en-US" sz="3400" b="1" dirty="0">
                <a:solidFill>
                  <a:srgbClr val="0B2D55"/>
                </a:solidFill>
                <a:latin typeface="Aptos Display" pitchFamily="34" charset="0"/>
                <a:ea typeface="Aptos Display" pitchFamily="34" charset="-122"/>
                <a:cs typeface="Aptos Display" pitchFamily="34" charset="-120"/>
              </a:rPr>
              <a:t>Two ReLU neurons become feature detectors</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indent="0" marL="0">
              <a:buNone/>
            </a:pPr>
            <a:r>
              <a:rPr lang="en-US" sz="1500" dirty="0">
                <a:solidFill>
                  <a:srgbClr val="132033"/>
                </a:solidFill>
                <a:latin typeface="Aptos" pitchFamily="34" charset="0"/>
                <a:ea typeface="Aptos" pitchFamily="34" charset="-122"/>
                <a:cs typeface="Aptos" pitchFamily="34" charset="-120"/>
              </a:rPr>
              <a:t>One hidden neuron watches for “too low,” the other for “too high.”</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indent="0" marL="0">
              <a:buNone/>
            </a:pPr>
            <a:r>
              <a:rPr lang="en-US" sz="850" dirty="0">
                <a:solidFill>
                  <a:srgbClr val="6D7C8F"/>
                </a:solidFill>
                <a:latin typeface="Aptos" pitchFamily="34" charset="0"/>
                <a:ea typeface="Aptos" pitchFamily="34" charset="-122"/>
                <a:cs typeface="Aptos" pitchFamily="34" charset="-120"/>
              </a:rPr>
              <a:t>CS 471  |  L28: Neural Networks I</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algn="r" indent="0" marL="0">
              <a:buNone/>
            </a:pPr>
            <a:r>
              <a:rPr lang="en-US" sz="850" dirty="0">
                <a:solidFill>
                  <a:srgbClr val="6D7C8F"/>
                </a:solidFill>
                <a:latin typeface="Aptos" pitchFamily="34" charset="0"/>
                <a:ea typeface="Aptos" pitchFamily="34" charset="-122"/>
                <a:cs typeface="Aptos" pitchFamily="34" charset="-120"/>
              </a:rPr>
              <a:t>18</a:t>
            </a:r>
            <a:endParaRPr lang="en-US" sz="850" dirty="0"/>
          </a:p>
        </p:txBody>
      </p:sp>
      <p:sp>
        <p:nvSpPr>
          <p:cNvPr id="7" name="Shape 4"/>
          <p:cNvSpPr/>
          <p:nvPr/>
        </p:nvSpPr>
        <p:spPr>
          <a:xfrm>
            <a:off x="576072" y="1508760"/>
            <a:ext cx="5120640" cy="4389120"/>
          </a:xfrm>
          <a:prstGeom prst="roundRect">
            <a:avLst>
              <a:gd name="adj" fmla="val 1667"/>
            </a:avLst>
          </a:prstGeom>
          <a:solidFill>
            <a:srgbClr val="FFFFFF"/>
          </a:solidFill>
          <a:ln w="12700">
            <a:solidFill>
              <a:srgbClr val="B8C7D8"/>
            </a:solidFill>
            <a:prstDash val="solid"/>
          </a:ln>
        </p:spPr>
      </p:sp>
      <p:sp>
        <p:nvSpPr>
          <p:cNvPr id="8" name="Shape 5"/>
          <p:cNvSpPr/>
          <p:nvPr/>
        </p:nvSpPr>
        <p:spPr>
          <a:xfrm flipV="1">
            <a:off x="1623060" y="2788920"/>
            <a:ext cx="1051560" cy="1051560"/>
          </a:xfrm>
          <a:prstGeom prst="line">
            <a:avLst/>
          </a:prstGeom>
          <a:noFill/>
          <a:ln w="25400">
            <a:solidFill>
              <a:srgbClr val="D9731A"/>
            </a:solidFill>
            <a:prstDash val="solid"/>
          </a:ln>
        </p:spPr>
      </p:sp>
      <p:sp>
        <p:nvSpPr>
          <p:cNvPr id="9" name="Shape 6"/>
          <p:cNvSpPr/>
          <p:nvPr/>
        </p:nvSpPr>
        <p:spPr>
          <a:xfrm>
            <a:off x="1623060" y="3840480"/>
            <a:ext cx="1051560" cy="1051560"/>
          </a:xfrm>
          <a:prstGeom prst="line">
            <a:avLst/>
          </a:prstGeom>
          <a:noFill/>
          <a:ln w="25400">
            <a:solidFill>
              <a:srgbClr val="1D5FA7"/>
            </a:solidFill>
            <a:prstDash val="solid"/>
          </a:ln>
        </p:spPr>
      </p:sp>
      <p:sp>
        <p:nvSpPr>
          <p:cNvPr id="10" name="Shape 7"/>
          <p:cNvSpPr/>
          <p:nvPr/>
        </p:nvSpPr>
        <p:spPr>
          <a:xfrm>
            <a:off x="3543300" y="2788920"/>
            <a:ext cx="960120" cy="1051560"/>
          </a:xfrm>
          <a:prstGeom prst="line">
            <a:avLst/>
          </a:prstGeom>
          <a:noFill/>
          <a:ln w="19050">
            <a:solidFill>
              <a:srgbClr val="1D5FA7"/>
            </a:solidFill>
            <a:prstDash val="solid"/>
          </a:ln>
        </p:spPr>
      </p:sp>
      <p:sp>
        <p:nvSpPr>
          <p:cNvPr id="11" name="Shape 8"/>
          <p:cNvSpPr/>
          <p:nvPr/>
        </p:nvSpPr>
        <p:spPr>
          <a:xfrm flipV="1">
            <a:off x="3543300" y="3840480"/>
            <a:ext cx="960120" cy="1051560"/>
          </a:xfrm>
          <a:prstGeom prst="line">
            <a:avLst/>
          </a:prstGeom>
          <a:noFill/>
          <a:ln w="19050">
            <a:solidFill>
              <a:srgbClr val="1D5FA7"/>
            </a:solidFill>
            <a:prstDash val="solid"/>
          </a:ln>
        </p:spPr>
      </p:sp>
      <p:sp>
        <p:nvSpPr>
          <p:cNvPr id="12" name="Text 9"/>
          <p:cNvSpPr txBox="1"/>
          <p:nvPr/>
        </p:nvSpPr>
        <p:spPr>
          <a:xfrm>
            <a:off x="1764792" y="3191256"/>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D9731A"/>
                </a:solidFill>
                <a:latin typeface="Aptos" pitchFamily="34" charset="0"/>
                <a:ea typeface="Aptos" pitchFamily="34" charset="-122"/>
                <a:cs typeface="Aptos" pitchFamily="34" charset="-120"/>
              </a:rPr>
              <a:t>−1</a:t>
            </a:r>
            <a:endParaRPr lang="en-US" sz="1250" dirty="0"/>
          </a:p>
        </p:txBody>
      </p:sp>
      <p:sp>
        <p:nvSpPr>
          <p:cNvPr id="13" name="Text 10"/>
          <p:cNvSpPr txBox="1"/>
          <p:nvPr/>
        </p:nvSpPr>
        <p:spPr>
          <a:xfrm>
            <a:off x="1764792" y="4197096"/>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1D5FA7"/>
                </a:solidFill>
                <a:latin typeface="Aptos" pitchFamily="34" charset="0"/>
                <a:ea typeface="Aptos" pitchFamily="34" charset="-122"/>
                <a:cs typeface="Aptos" pitchFamily="34" charset="-120"/>
              </a:rPr>
              <a:t>1</a:t>
            </a:r>
            <a:endParaRPr lang="en-US" sz="1250" dirty="0"/>
          </a:p>
        </p:txBody>
      </p:sp>
      <p:sp>
        <p:nvSpPr>
          <p:cNvPr id="14" name="Text 11"/>
          <p:cNvSpPr txBox="1"/>
          <p:nvPr/>
        </p:nvSpPr>
        <p:spPr>
          <a:xfrm>
            <a:off x="3730752" y="3145536"/>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1D5FA7"/>
                </a:solidFill>
                <a:latin typeface="Aptos" pitchFamily="34" charset="0"/>
                <a:ea typeface="Aptos" pitchFamily="34" charset="-122"/>
                <a:cs typeface="Aptos" pitchFamily="34" charset="-120"/>
              </a:rPr>
              <a:t>0.5</a:t>
            </a:r>
            <a:endParaRPr lang="en-US" sz="1250" dirty="0"/>
          </a:p>
        </p:txBody>
      </p:sp>
      <p:sp>
        <p:nvSpPr>
          <p:cNvPr id="15" name="Text 12"/>
          <p:cNvSpPr txBox="1"/>
          <p:nvPr/>
        </p:nvSpPr>
        <p:spPr>
          <a:xfrm>
            <a:off x="3730752" y="4242816"/>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1D5FA7"/>
                </a:solidFill>
                <a:latin typeface="Aptos" pitchFamily="34" charset="0"/>
                <a:ea typeface="Aptos" pitchFamily="34" charset="-122"/>
                <a:cs typeface="Aptos" pitchFamily="34" charset="-120"/>
              </a:rPr>
              <a:t>0.5</a:t>
            </a:r>
            <a:endParaRPr lang="en-US" sz="1250" dirty="0"/>
          </a:p>
        </p:txBody>
      </p:sp>
      <p:sp>
        <p:nvSpPr>
          <p:cNvPr id="16" name="Shape 13"/>
          <p:cNvSpPr/>
          <p:nvPr/>
        </p:nvSpPr>
        <p:spPr>
          <a:xfrm>
            <a:off x="754380" y="3406140"/>
            <a:ext cx="868680" cy="868680"/>
          </a:xfrm>
          <a:prstGeom prst="ellipse">
            <a:avLst/>
          </a:prstGeom>
          <a:solidFill>
            <a:srgbClr val="EAF2F8"/>
          </a:solidFill>
          <a:ln w="19050">
            <a:solidFill>
              <a:srgbClr val="1F5D9B"/>
            </a:solidFill>
            <a:prstDash val="solid"/>
          </a:ln>
        </p:spPr>
      </p:sp>
      <p:sp>
        <p:nvSpPr>
          <p:cNvPr id="17" name="Text 14"/>
          <p:cNvSpPr txBox="1"/>
          <p:nvPr/>
        </p:nvSpPr>
        <p:spPr>
          <a:xfrm>
            <a:off x="662940" y="3406140"/>
            <a:ext cx="1051560" cy="868680"/>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input</a:t>
            </a:r>
            <a:endParaRPr lang="en-US" sz="1600" dirty="0"/>
          </a:p>
          <a:p>
            <a:pPr algn="ctr" indent="0" marL="0">
              <a:buNone/>
            </a:pPr>
            <a:r>
              <a:rPr lang="en-US" sz="1500" b="1" dirty="0">
                <a:solidFill>
                  <a:srgbClr val="0B2D55"/>
                </a:solidFill>
                <a:latin typeface="Aptos" pitchFamily="34" charset="0"/>
                <a:ea typeface="Aptos" pitchFamily="34" charset="-122"/>
                <a:cs typeface="Aptos" pitchFamily="34" charset="-120"/>
              </a:rPr>
              <a:t>cpu</a:t>
            </a:r>
            <a:endParaRPr lang="en-US" sz="1600" dirty="0"/>
          </a:p>
        </p:txBody>
      </p:sp>
      <p:sp>
        <p:nvSpPr>
          <p:cNvPr id="18" name="Shape 15"/>
          <p:cNvSpPr/>
          <p:nvPr/>
        </p:nvSpPr>
        <p:spPr>
          <a:xfrm>
            <a:off x="2674620" y="2354580"/>
            <a:ext cx="868680" cy="868680"/>
          </a:xfrm>
          <a:prstGeom prst="ellipse">
            <a:avLst/>
          </a:prstGeom>
          <a:solidFill>
            <a:srgbClr val="FFFFFF"/>
          </a:solidFill>
          <a:ln w="19050">
            <a:solidFill>
              <a:srgbClr val="0B2D55"/>
            </a:solidFill>
            <a:prstDash val="solid"/>
          </a:ln>
        </p:spPr>
      </p:sp>
      <p:sp>
        <p:nvSpPr>
          <p:cNvPr id="19" name="Text 16"/>
          <p:cNvSpPr txBox="1"/>
          <p:nvPr/>
        </p:nvSpPr>
        <p:spPr>
          <a:xfrm>
            <a:off x="2583180" y="2354580"/>
            <a:ext cx="1051560" cy="868680"/>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h₁ ReLU</a:t>
            </a:r>
            <a:endParaRPr lang="en-US" sz="1600" dirty="0"/>
          </a:p>
          <a:p>
            <a:pPr algn="ctr" indent="0" marL="0">
              <a:buNone/>
            </a:pPr>
            <a:r>
              <a:rPr lang="en-US" sz="1400" b="1" dirty="0">
                <a:solidFill>
                  <a:srgbClr val="0B2D55"/>
                </a:solidFill>
                <a:latin typeface="Aptos" pitchFamily="34" charset="0"/>
                <a:ea typeface="Aptos" pitchFamily="34" charset="-122"/>
                <a:cs typeface="Aptos" pitchFamily="34" charset="-120"/>
              </a:rPr>
              <a:t>low?</a:t>
            </a:r>
            <a:endParaRPr lang="en-US" sz="1600" dirty="0"/>
          </a:p>
        </p:txBody>
      </p:sp>
      <p:sp>
        <p:nvSpPr>
          <p:cNvPr id="20" name="Shape 17"/>
          <p:cNvSpPr/>
          <p:nvPr/>
        </p:nvSpPr>
        <p:spPr>
          <a:xfrm>
            <a:off x="2674620" y="4457700"/>
            <a:ext cx="868680" cy="868680"/>
          </a:xfrm>
          <a:prstGeom prst="ellipse">
            <a:avLst/>
          </a:prstGeom>
          <a:solidFill>
            <a:srgbClr val="FFFFFF"/>
          </a:solidFill>
          <a:ln w="19050">
            <a:solidFill>
              <a:srgbClr val="0B2D55"/>
            </a:solidFill>
            <a:prstDash val="solid"/>
          </a:ln>
        </p:spPr>
      </p:sp>
      <p:sp>
        <p:nvSpPr>
          <p:cNvPr id="21" name="Text 18"/>
          <p:cNvSpPr txBox="1"/>
          <p:nvPr/>
        </p:nvSpPr>
        <p:spPr>
          <a:xfrm>
            <a:off x="2583180" y="4457700"/>
            <a:ext cx="1051560" cy="868680"/>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h₂ ReLU</a:t>
            </a:r>
            <a:endParaRPr lang="en-US" sz="1600" dirty="0"/>
          </a:p>
          <a:p>
            <a:pPr algn="ctr" indent="0" marL="0">
              <a:buNone/>
            </a:pPr>
            <a:r>
              <a:rPr lang="en-US" sz="1400" b="1" dirty="0">
                <a:solidFill>
                  <a:srgbClr val="0B2D55"/>
                </a:solidFill>
                <a:latin typeface="Aptos" pitchFamily="34" charset="0"/>
                <a:ea typeface="Aptos" pitchFamily="34" charset="-122"/>
                <a:cs typeface="Aptos" pitchFamily="34" charset="-120"/>
              </a:rPr>
              <a:t>high?</a:t>
            </a:r>
            <a:endParaRPr lang="en-US" sz="1600" dirty="0"/>
          </a:p>
        </p:txBody>
      </p:sp>
      <p:sp>
        <p:nvSpPr>
          <p:cNvPr id="22" name="Shape 19"/>
          <p:cNvSpPr/>
          <p:nvPr/>
        </p:nvSpPr>
        <p:spPr>
          <a:xfrm>
            <a:off x="4503420" y="3406140"/>
            <a:ext cx="868680" cy="868680"/>
          </a:xfrm>
          <a:prstGeom prst="ellipse">
            <a:avLst/>
          </a:prstGeom>
          <a:solidFill>
            <a:srgbClr val="DFF0D8"/>
          </a:solidFill>
          <a:ln w="19050">
            <a:solidFill>
              <a:srgbClr val="2E7D32"/>
            </a:solidFill>
            <a:prstDash val="solid"/>
          </a:ln>
        </p:spPr>
      </p:sp>
      <p:sp>
        <p:nvSpPr>
          <p:cNvPr id="23" name="Text 20"/>
          <p:cNvSpPr txBox="1"/>
          <p:nvPr/>
        </p:nvSpPr>
        <p:spPr>
          <a:xfrm>
            <a:off x="4411980" y="3406140"/>
            <a:ext cx="1051560" cy="868680"/>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out σ</a:t>
            </a:r>
            <a:endParaRPr lang="en-US" sz="1600" dirty="0"/>
          </a:p>
          <a:p>
            <a:pPr algn="ctr" indent="0" marL="0">
              <a:buNone/>
            </a:pPr>
            <a:r>
              <a:rPr lang="en-US" sz="1400" b="1" dirty="0">
                <a:solidFill>
                  <a:srgbClr val="0B2D55"/>
                </a:solidFill>
                <a:latin typeface="Aptos" pitchFamily="34" charset="0"/>
                <a:ea typeface="Aptos" pitchFamily="34" charset="-122"/>
                <a:cs typeface="Aptos" pitchFamily="34" charset="-120"/>
              </a:rPr>
              <a:t>alert</a:t>
            </a:r>
            <a:endParaRPr lang="en-US" sz="1600" dirty="0"/>
          </a:p>
        </p:txBody>
      </p:sp>
      <p:sp>
        <p:nvSpPr>
          <p:cNvPr id="24" name="Text 21"/>
          <p:cNvSpPr txBox="1"/>
          <p:nvPr/>
        </p:nvSpPr>
        <p:spPr>
          <a:xfrm>
            <a:off x="2651760" y="2061972"/>
            <a:ext cx="914400" cy="256032"/>
          </a:xfrm>
          <a:prstGeom prst="rect">
            <a:avLst/>
          </a:prstGeom>
          <a:noFill/>
          <a:ln/>
        </p:spPr>
        <p:txBody>
          <a:bodyPr wrap="square" lIns="0" tIns="0" rIns="0" bIns="0" rtlCol="0" anchor="t"/>
          <a:lstStyle/>
          <a:p>
            <a:pPr algn="ctr" indent="0" marL="0">
              <a:buNone/>
            </a:pPr>
            <a:r>
              <a:rPr lang="en-US" sz="1200" dirty="0">
                <a:solidFill>
                  <a:srgbClr val="6D7C8F"/>
                </a:solidFill>
                <a:latin typeface="Aptos" pitchFamily="34" charset="0"/>
                <a:ea typeface="Aptos" pitchFamily="34" charset="-122"/>
                <a:cs typeface="Aptos" pitchFamily="34" charset="-120"/>
              </a:rPr>
              <a:t>b = 20</a:t>
            </a:r>
            <a:endParaRPr lang="en-US" sz="1200" dirty="0"/>
          </a:p>
        </p:txBody>
      </p:sp>
      <p:sp>
        <p:nvSpPr>
          <p:cNvPr id="25" name="Text 22"/>
          <p:cNvSpPr txBox="1"/>
          <p:nvPr/>
        </p:nvSpPr>
        <p:spPr>
          <a:xfrm>
            <a:off x="2651760" y="5362956"/>
            <a:ext cx="914400" cy="256032"/>
          </a:xfrm>
          <a:prstGeom prst="rect">
            <a:avLst/>
          </a:prstGeom>
          <a:noFill/>
          <a:ln/>
        </p:spPr>
        <p:txBody>
          <a:bodyPr wrap="square" lIns="0" tIns="0" rIns="0" bIns="0" rtlCol="0" anchor="t"/>
          <a:lstStyle/>
          <a:p>
            <a:pPr algn="ctr" indent="0" marL="0">
              <a:buNone/>
            </a:pPr>
            <a:r>
              <a:rPr lang="en-US" sz="1200" dirty="0">
                <a:solidFill>
                  <a:srgbClr val="6D7C8F"/>
                </a:solidFill>
                <a:latin typeface="Aptos" pitchFamily="34" charset="0"/>
                <a:ea typeface="Aptos" pitchFamily="34" charset="-122"/>
                <a:cs typeface="Aptos" pitchFamily="34" charset="-120"/>
              </a:rPr>
              <a:t>b = −80</a:t>
            </a:r>
            <a:endParaRPr lang="en-US" sz="1200" dirty="0"/>
          </a:p>
        </p:txBody>
      </p:sp>
      <p:sp>
        <p:nvSpPr>
          <p:cNvPr id="26" name="Text 23"/>
          <p:cNvSpPr txBox="1"/>
          <p:nvPr/>
        </p:nvSpPr>
        <p:spPr>
          <a:xfrm>
            <a:off x="4480560" y="4311396"/>
            <a:ext cx="914400" cy="256032"/>
          </a:xfrm>
          <a:prstGeom prst="rect">
            <a:avLst/>
          </a:prstGeom>
          <a:noFill/>
          <a:ln/>
        </p:spPr>
        <p:txBody>
          <a:bodyPr wrap="square" lIns="0" tIns="0" rIns="0" bIns="0" rtlCol="0" anchor="t"/>
          <a:lstStyle/>
          <a:p>
            <a:pPr algn="ctr" indent="0" marL="0">
              <a:buNone/>
            </a:pPr>
            <a:r>
              <a:rPr lang="en-US" sz="1200" dirty="0">
                <a:solidFill>
                  <a:srgbClr val="6D7C8F"/>
                </a:solidFill>
                <a:latin typeface="Aptos" pitchFamily="34" charset="0"/>
                <a:ea typeface="Aptos" pitchFamily="34" charset="-122"/>
                <a:cs typeface="Aptos" pitchFamily="34" charset="-120"/>
              </a:rPr>
              <a:t>b = −2</a:t>
            </a:r>
            <a:endParaRPr lang="en-US" sz="1200" dirty="0"/>
          </a:p>
        </p:txBody>
      </p:sp>
      <p:sp>
        <p:nvSpPr>
          <p:cNvPr id="27" name="Text 24"/>
          <p:cNvSpPr txBox="1"/>
          <p:nvPr/>
        </p:nvSpPr>
        <p:spPr>
          <a:xfrm>
            <a:off x="685800" y="1600200"/>
            <a:ext cx="4892040" cy="640080"/>
          </a:xfrm>
          <a:prstGeom prst="rect">
            <a:avLst/>
          </a:prstGeom>
          <a:noFill/>
          <a:ln/>
        </p:spPr>
        <p:txBody>
          <a:bodyPr wrap="square" lIns="0" tIns="0" rIns="0" bIns="0" rtlCol="0" anchor="t"/>
          <a:lstStyle/>
          <a:p>
            <a:pPr algn="ctr" indent="0" marL="0">
              <a:buNone/>
            </a:pPr>
            <a:r>
              <a:rPr lang="en-US" sz="1400" b="1" dirty="0">
                <a:solidFill>
                  <a:srgbClr val="0B2D55"/>
                </a:solidFill>
                <a:latin typeface="Aptos" pitchFamily="34" charset="0"/>
                <a:ea typeface="Aptos" pitchFamily="34" charset="-122"/>
                <a:cs typeface="Aptos" pitchFamily="34" charset="-120"/>
              </a:rPr>
              <a:t>h₁ = ReLU(20 − cpu)   h₂ = ReLU(cpu − 80)</a:t>
            </a:r>
            <a:endParaRPr lang="en-US" sz="1400" dirty="0"/>
          </a:p>
          <a:p>
            <a:pPr algn="ctr" indent="0" marL="0">
              <a:buNone/>
            </a:pPr>
            <a:r>
              <a:rPr lang="en-US" sz="1400" b="1" dirty="0">
                <a:solidFill>
                  <a:srgbClr val="0B2D55"/>
                </a:solidFill>
                <a:latin typeface="Aptos" pitchFamily="34" charset="0"/>
                <a:ea typeface="Aptos" pitchFamily="34" charset="-122"/>
                <a:cs typeface="Aptos" pitchFamily="34" charset="-120"/>
              </a:rPr>
              <a:t>z = 0.5h₁ + 0.5h₂ − 2</a:t>
            </a:r>
            <a:endParaRPr lang="en-US" sz="1400" dirty="0"/>
          </a:p>
        </p:txBody>
      </p:sp>
      <p:sp>
        <p:nvSpPr>
          <p:cNvPr id="28" name="Shape 25"/>
          <p:cNvSpPr/>
          <p:nvPr/>
        </p:nvSpPr>
        <p:spPr>
          <a:xfrm>
            <a:off x="5943600" y="1508760"/>
            <a:ext cx="5669280" cy="4389120"/>
          </a:xfrm>
          <a:prstGeom prst="roundRect">
            <a:avLst>
              <a:gd name="adj" fmla="val 1667"/>
            </a:avLst>
          </a:prstGeom>
          <a:solidFill>
            <a:srgbClr val="FFFFFF"/>
          </a:solidFill>
          <a:ln w="12700">
            <a:solidFill>
              <a:srgbClr val="B8C7D8"/>
            </a:solidFill>
            <a:prstDash val="solid"/>
          </a:ln>
        </p:spPr>
      </p:sp>
      <p:graphicFrame>
        <p:nvGraphicFramePr>
          <p:cNvPr id="29" name="Chart 0" descr=""/>
          <p:cNvGraphicFramePr/>
          <p:nvPr/>
        </p:nvGraphicFramePr>
        <p:xfrm>
          <a:off x="6035040" y="1554480"/>
          <a:ext cx="5486400" cy="1371600"/>
        </p:xfrm>
        <a:graphic xmlns:a="http://schemas.openxmlformats.org/drawingml/2006/main">
          <a:graphicData uri="http://schemas.openxmlformats.org/drawingml/2006/chart">
            <c:chart xmlns:c="http://schemas.openxmlformats.org/drawingml/2006/chart" r:id="rId1"/>
          </a:graphicData>
        </a:graphic>
      </p:graphicFrame>
      <p:graphicFrame>
        <p:nvGraphicFramePr>
          <p:cNvPr id="30" name="Chart 1" descr=""/>
          <p:cNvGraphicFramePr/>
          <p:nvPr/>
        </p:nvGraphicFramePr>
        <p:xfrm>
          <a:off x="6035040" y="2971800"/>
          <a:ext cx="5486400" cy="1371600"/>
        </p:xfrm>
        <a:graphic xmlns:a="http://schemas.openxmlformats.org/drawingml/2006/main">
          <a:graphicData uri="http://schemas.openxmlformats.org/drawingml/2006/chart">
            <c:chart xmlns:c="http://schemas.openxmlformats.org/drawingml/2006/chart" r:id="rId2"/>
          </a:graphicData>
        </a:graphic>
      </p:graphicFrame>
      <p:graphicFrame>
        <p:nvGraphicFramePr>
          <p:cNvPr id="31" name="Chart 2" descr=""/>
          <p:cNvGraphicFramePr/>
          <p:nvPr/>
        </p:nvGraphicFramePr>
        <p:xfrm>
          <a:off x="6035040" y="4389120"/>
          <a:ext cx="5486400" cy="1463040"/>
        </p:xfrm>
        <a:graphic xmlns:a="http://schemas.openxmlformats.org/drawingml/2006/main">
          <a:graphicData uri="http://schemas.openxmlformats.org/drawingml/2006/chart">
            <c:chart xmlns:c="http://schemas.openxmlformats.org/drawingml/2006/chart" r:id="rId3"/>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indent="0" marL="0">
              <a:buNone/>
            </a:pPr>
            <a:r>
              <a:rPr lang="en-US" sz="3400" b="1" dirty="0">
                <a:solidFill>
                  <a:srgbClr val="0B2D55"/>
                </a:solidFill>
                <a:latin typeface="Aptos Display" pitchFamily="34" charset="0"/>
                <a:ea typeface="Aptos Display" pitchFamily="34" charset="-122"/>
                <a:cs typeface="Aptos Display" pitchFamily="34" charset="-120"/>
              </a:rPr>
              <a:t>Worked example: the band network</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indent="0" marL="0">
              <a:buNone/>
            </a:pPr>
            <a:r>
              <a:rPr lang="en-US" sz="1500" dirty="0">
                <a:solidFill>
                  <a:srgbClr val="132033"/>
                </a:solidFill>
                <a:latin typeface="Aptos" pitchFamily="34" charset="0"/>
                <a:ea typeface="Aptos" pitchFamily="34" charset="-122"/>
                <a:cs typeface="Aptos" pitchFamily="34" charset="-120"/>
              </a:rPr>
              <a:t>Compute → Interpret → Predict at three CPU readings.</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indent="0" marL="0">
              <a:buNone/>
            </a:pPr>
            <a:r>
              <a:rPr lang="en-US" sz="850" dirty="0">
                <a:solidFill>
                  <a:srgbClr val="6D7C8F"/>
                </a:solidFill>
                <a:latin typeface="Aptos" pitchFamily="34" charset="0"/>
                <a:ea typeface="Aptos" pitchFamily="34" charset="-122"/>
                <a:cs typeface="Aptos" pitchFamily="34" charset="-120"/>
              </a:rPr>
              <a:t>CS 471  |  L28: Neural Networks I</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algn="r" indent="0" marL="0">
              <a:buNone/>
            </a:pPr>
            <a:r>
              <a:rPr lang="en-US" sz="850" dirty="0">
                <a:solidFill>
                  <a:srgbClr val="6D7C8F"/>
                </a:solidFill>
                <a:latin typeface="Aptos" pitchFamily="34" charset="0"/>
                <a:ea typeface="Aptos" pitchFamily="34" charset="-122"/>
                <a:cs typeface="Aptos" pitchFamily="34" charset="-120"/>
              </a:rPr>
              <a:t>19</a:t>
            </a:r>
            <a:endParaRPr lang="en-US" sz="8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76072" y="1554480"/>
          <a:ext cx="11036808" cy="914400"/>
        </p:xfrm>
        <a:graphic>
          <a:graphicData uri="http://schemas.openxmlformats.org/drawingml/2006/table">
            <a:tbl>
              <a:tblPr/>
              <a:tblGrid>
                <a:gridCol w="1188720"/>
                <a:gridCol w="2743200"/>
                <a:gridCol w="2743200"/>
                <a:gridCol w="2807208"/>
                <a:gridCol w="1554480"/>
              </a:tblGrid>
              <a:tr h="475488">
                <a:tc>
                  <a:txBody>
                    <a:bodyPr/>
                    <a:lstStyle/>
                    <a:p>
                      <a:pPr algn="ctr" indent="0" marL="0">
                        <a:buNone/>
                      </a:pPr>
                      <a:r>
                        <a:rPr lang="en-US" sz="1500" b="1" dirty="0">
                          <a:solidFill>
                            <a:srgbClr val="0B2D55"/>
                          </a:solidFill>
                          <a:latin typeface="Aptos" pitchFamily="34" charset="0"/>
                          <a:ea typeface="Aptos" pitchFamily="34" charset="-122"/>
                          <a:cs typeface="Aptos" pitchFamily="34" charset="-120"/>
                        </a:rPr>
                        <a:t>CPU</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algn="ctr" indent="0" marL="0">
                        <a:buNone/>
                      </a:pPr>
                      <a:r>
                        <a:rPr lang="en-US" sz="1500" b="1" dirty="0">
                          <a:solidFill>
                            <a:srgbClr val="0B2D55"/>
                          </a:solidFill>
                          <a:latin typeface="Aptos" pitchFamily="34" charset="0"/>
                          <a:ea typeface="Aptos" pitchFamily="34" charset="-122"/>
                          <a:cs typeface="Aptos" pitchFamily="34" charset="-120"/>
                        </a:rPr>
                        <a:t>h₁ = ReLU(20 − cpu)</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algn="ctr" indent="0" marL="0">
                        <a:buNone/>
                      </a:pPr>
                      <a:r>
                        <a:rPr lang="en-US" sz="1500" b="1" dirty="0">
                          <a:solidFill>
                            <a:srgbClr val="0B2D55"/>
                          </a:solidFill>
                          <a:latin typeface="Aptos" pitchFamily="34" charset="0"/>
                          <a:ea typeface="Aptos" pitchFamily="34" charset="-122"/>
                          <a:cs typeface="Aptos" pitchFamily="34" charset="-120"/>
                        </a:rPr>
                        <a:t>h₂ = ReLU(cpu − 80)</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algn="ctr" indent="0" marL="0">
                        <a:buNone/>
                      </a:pPr>
                      <a:r>
                        <a:rPr lang="en-US" sz="1500" b="1" dirty="0">
                          <a:solidFill>
                            <a:srgbClr val="0B2D55"/>
                          </a:solidFill>
                          <a:latin typeface="Aptos" pitchFamily="34" charset="0"/>
                          <a:ea typeface="Aptos" pitchFamily="34" charset="-122"/>
                          <a:cs typeface="Aptos" pitchFamily="34" charset="-120"/>
                        </a:rPr>
                        <a:t>z = 0.5h₁ + 0.5h₂ − 2</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algn="ctr" indent="0" marL="0">
                        <a:buNone/>
                      </a:pPr>
                      <a:r>
                        <a:rPr lang="en-US" sz="1500" b="1" dirty="0">
                          <a:solidFill>
                            <a:srgbClr val="0B2D55"/>
                          </a:solidFill>
                          <a:latin typeface="Aptos" pitchFamily="34" charset="0"/>
                          <a:ea typeface="Aptos" pitchFamily="34" charset="-122"/>
                          <a:cs typeface="Aptos" pitchFamily="34" charset="-120"/>
                        </a:rPr>
                        <a:t>P(alert)</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r>
              <a:tr h="475488">
                <a:tc>
                  <a:txBody>
                    <a:bodyPr/>
                    <a:lstStyle/>
                    <a:p>
                      <a:pPr algn="ctr" indent="0" marL="0">
                        <a:buNone/>
                      </a:pPr>
                      <a:r>
                        <a:rPr lang="en-US" sz="1500" b="1" dirty="0">
                          <a:solidFill>
                            <a:srgbClr val="0B2D55"/>
                          </a:solidFill>
                          <a:latin typeface="Aptos" pitchFamily="34" charset="0"/>
                          <a:ea typeface="Aptos" pitchFamily="34" charset="-122"/>
                          <a:cs typeface="Aptos" pitchFamily="34" charset="-120"/>
                        </a:rPr>
                        <a:t>10</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10</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0</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3</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b="1" dirty="0">
                          <a:solidFill>
                            <a:srgbClr val="D9731A"/>
                          </a:solidFill>
                          <a:latin typeface="Aptos" pitchFamily="34" charset="0"/>
                          <a:ea typeface="Aptos" pitchFamily="34" charset="-122"/>
                          <a:cs typeface="Aptos" pitchFamily="34" charset="-120"/>
                        </a:rPr>
                        <a:t>0.95</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CE9D8"/>
                    </a:solidFill>
                  </a:tcPr>
                </a:tc>
              </a:tr>
              <a:tr h="475488">
                <a:tc>
                  <a:txBody>
                    <a:bodyPr/>
                    <a:lstStyle/>
                    <a:p>
                      <a:pPr algn="ctr" indent="0" marL="0">
                        <a:buNone/>
                      </a:pPr>
                      <a:r>
                        <a:rPr lang="en-US" sz="1500" b="1" dirty="0">
                          <a:solidFill>
                            <a:srgbClr val="0B2D55"/>
                          </a:solidFill>
                          <a:latin typeface="Aptos" pitchFamily="34" charset="0"/>
                          <a:ea typeface="Aptos" pitchFamily="34" charset="-122"/>
                          <a:cs typeface="Aptos" pitchFamily="34" charset="-120"/>
                        </a:rPr>
                        <a:t>50</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0</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0</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−2</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b="1" dirty="0">
                          <a:solidFill>
                            <a:srgbClr val="1D5FA7"/>
                          </a:solidFill>
                          <a:latin typeface="Aptos" pitchFamily="34" charset="0"/>
                          <a:ea typeface="Aptos" pitchFamily="34" charset="-122"/>
                          <a:cs typeface="Aptos" pitchFamily="34" charset="-120"/>
                        </a:rPr>
                        <a:t>0.12</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EAF2F8"/>
                    </a:solidFill>
                  </a:tcPr>
                </a:tc>
              </a:tr>
              <a:tr h="475488">
                <a:tc>
                  <a:txBody>
                    <a:bodyPr/>
                    <a:lstStyle/>
                    <a:p>
                      <a:pPr algn="ctr" indent="0" marL="0">
                        <a:buNone/>
                      </a:pPr>
                      <a:r>
                        <a:rPr lang="en-US" sz="1500" b="1" dirty="0">
                          <a:solidFill>
                            <a:srgbClr val="0B2D55"/>
                          </a:solidFill>
                          <a:latin typeface="Aptos" pitchFamily="34" charset="0"/>
                          <a:ea typeface="Aptos" pitchFamily="34" charset="-122"/>
                          <a:cs typeface="Aptos" pitchFamily="34" charset="-120"/>
                        </a:rPr>
                        <a:t>85</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0</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5</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0.5</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b="1" dirty="0">
                          <a:solidFill>
                            <a:srgbClr val="D9731A"/>
                          </a:solidFill>
                          <a:latin typeface="Aptos" pitchFamily="34" charset="0"/>
                          <a:ea typeface="Aptos" pitchFamily="34" charset="-122"/>
                          <a:cs typeface="Aptos" pitchFamily="34" charset="-120"/>
                        </a:rPr>
                        <a:t>0.62</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CE9D8"/>
                    </a:solidFill>
                  </a:tcPr>
                </a:tc>
              </a:tr>
            </a:tbl>
          </a:graphicData>
        </a:graphic>
      </p:graphicFrame>
      <p:sp>
        <p:nvSpPr>
          <p:cNvPr id="8" name="Shape 4"/>
          <p:cNvSpPr/>
          <p:nvPr/>
        </p:nvSpPr>
        <p:spPr>
          <a:xfrm>
            <a:off x="576072" y="3703320"/>
            <a:ext cx="5440680" cy="1417320"/>
          </a:xfrm>
          <a:prstGeom prst="roundRect">
            <a:avLst>
              <a:gd name="adj" fmla="val 5161"/>
            </a:avLst>
          </a:prstGeom>
          <a:solidFill>
            <a:srgbClr val="DFF0D8"/>
          </a:solidFill>
          <a:ln w="12700">
            <a:solidFill>
              <a:srgbClr val="2E7D32"/>
            </a:solidFill>
            <a:prstDash val="solid"/>
          </a:ln>
        </p:spPr>
      </p:sp>
      <p:sp>
        <p:nvSpPr>
          <p:cNvPr id="9" name="Text 5"/>
          <p:cNvSpPr txBox="1"/>
          <p:nvPr/>
        </p:nvSpPr>
        <p:spPr>
          <a:xfrm>
            <a:off x="758952" y="3813048"/>
            <a:ext cx="5074920" cy="292608"/>
          </a:xfrm>
          <a:prstGeom prst="rect">
            <a:avLst/>
          </a:prstGeom>
          <a:noFill/>
          <a:ln/>
        </p:spPr>
        <p:txBody>
          <a:bodyPr wrap="square" lIns="0" tIns="0" rIns="0" bIns="0" rtlCol="0" anchor="t"/>
          <a:lstStyle/>
          <a:p>
            <a:pPr indent="0" marL="0">
              <a:buNone/>
            </a:pPr>
            <a:r>
              <a:rPr lang="en-US" sz="1500" b="1" dirty="0">
                <a:solidFill>
                  <a:srgbClr val="0B2D55"/>
                </a:solidFill>
                <a:latin typeface="Aptos" pitchFamily="34" charset="0"/>
                <a:ea typeface="Aptos" pitchFamily="34" charset="-122"/>
                <a:cs typeface="Aptos" pitchFamily="34" charset="-120"/>
              </a:rPr>
              <a:t>Interpret</a:t>
            </a:r>
            <a:endParaRPr lang="en-US" sz="1500" dirty="0"/>
          </a:p>
        </p:txBody>
      </p:sp>
      <p:sp>
        <p:nvSpPr>
          <p:cNvPr id="10" name="Text 6"/>
          <p:cNvSpPr txBox="1"/>
          <p:nvPr/>
        </p:nvSpPr>
        <p:spPr>
          <a:xfrm>
            <a:off x="758952" y="4142232"/>
            <a:ext cx="5074920" cy="886968"/>
          </a:xfrm>
          <a:prstGeom prst="rect">
            <a:avLst/>
          </a:prstGeom>
          <a:noFill/>
          <a:ln/>
        </p:spPr>
        <p:txBody>
          <a:bodyPr wrap="square" lIns="0" tIns="0" rIns="0" bIns="0" rtlCol="0" anchor="t"/>
          <a:lstStyle/>
          <a:p>
            <a:pPr indent="0" marL="0">
              <a:buNone/>
            </a:pPr>
            <a:r>
              <a:rPr lang="en-US" sz="1550" dirty="0">
                <a:solidFill>
                  <a:srgbClr val="132033"/>
                </a:solidFill>
                <a:latin typeface="Aptos" pitchFamily="34" charset="0"/>
                <a:ea typeface="Aptos" pitchFamily="34" charset="-122"/>
                <a:cs typeface="Aptos" pitchFamily="34" charset="-120"/>
              </a:rPr>
              <a:t>The hidden neurons built two new features from one raw input: “how far below 20” and “how far above 80.”</a:t>
            </a:r>
            <a:endParaRPr lang="en-US" sz="1550" dirty="0"/>
          </a:p>
        </p:txBody>
      </p:sp>
      <p:sp>
        <p:nvSpPr>
          <p:cNvPr id="11" name="Shape 7"/>
          <p:cNvSpPr/>
          <p:nvPr/>
        </p:nvSpPr>
        <p:spPr>
          <a:xfrm>
            <a:off x="6172200" y="3703320"/>
            <a:ext cx="5440680" cy="1417320"/>
          </a:xfrm>
          <a:prstGeom prst="roundRect">
            <a:avLst>
              <a:gd name="adj" fmla="val 5161"/>
            </a:avLst>
          </a:prstGeom>
          <a:solidFill>
            <a:srgbClr val="FFF4CE"/>
          </a:solidFill>
          <a:ln w="12700">
            <a:solidFill>
              <a:srgbClr val="F2C14E"/>
            </a:solidFill>
            <a:prstDash val="solid"/>
          </a:ln>
        </p:spPr>
      </p:sp>
      <p:sp>
        <p:nvSpPr>
          <p:cNvPr id="12" name="Text 8"/>
          <p:cNvSpPr txBox="1"/>
          <p:nvPr/>
        </p:nvSpPr>
        <p:spPr>
          <a:xfrm>
            <a:off x="6355080" y="3813048"/>
            <a:ext cx="5074920" cy="292608"/>
          </a:xfrm>
          <a:prstGeom prst="rect">
            <a:avLst/>
          </a:prstGeom>
          <a:noFill/>
          <a:ln/>
        </p:spPr>
        <p:txBody>
          <a:bodyPr wrap="square" lIns="0" tIns="0" rIns="0" bIns="0" rtlCol="0" anchor="t"/>
          <a:lstStyle/>
          <a:p>
            <a:pPr indent="0" marL="0">
              <a:buNone/>
            </a:pPr>
            <a:r>
              <a:rPr lang="en-US" sz="1500" b="1" dirty="0">
                <a:solidFill>
                  <a:srgbClr val="0B2D55"/>
                </a:solidFill>
                <a:latin typeface="Aptos" pitchFamily="34" charset="0"/>
                <a:ea typeface="Aptos" pitchFamily="34" charset="-122"/>
                <a:cs typeface="Aptos" pitchFamily="34" charset="-120"/>
              </a:rPr>
              <a:t>Predict</a:t>
            </a:r>
            <a:endParaRPr lang="en-US" sz="1500" dirty="0"/>
          </a:p>
        </p:txBody>
      </p:sp>
      <p:sp>
        <p:nvSpPr>
          <p:cNvPr id="13" name="Text 9"/>
          <p:cNvSpPr txBox="1"/>
          <p:nvPr/>
        </p:nvSpPr>
        <p:spPr>
          <a:xfrm>
            <a:off x="6355080" y="4142232"/>
            <a:ext cx="5074920" cy="886968"/>
          </a:xfrm>
          <a:prstGeom prst="rect">
            <a:avLst/>
          </a:prstGeom>
          <a:noFill/>
          <a:ln/>
        </p:spPr>
        <p:txBody>
          <a:bodyPr wrap="square" lIns="0" tIns="0" rIns="0" bIns="0" rtlCol="0" anchor="t"/>
          <a:lstStyle/>
          <a:p>
            <a:pPr indent="0" marL="0">
              <a:buNone/>
            </a:pPr>
            <a:r>
              <a:rPr lang="en-US" sz="1550" dirty="0">
                <a:solidFill>
                  <a:srgbClr val="132033"/>
                </a:solidFill>
                <a:latin typeface="Aptos" pitchFamily="34" charset="0"/>
                <a:ea typeface="Aptos" pitchFamily="34" charset="-122"/>
                <a:cs typeface="Aptos" pitchFamily="34" charset="-120"/>
              </a:rPr>
              <a:t>Where does P cross 0.5? Solve z = 0 on each side. What healthy band did the network carve out?</a:t>
            </a:r>
            <a:endParaRPr lang="en-US" sz="1550" dirty="0"/>
          </a:p>
        </p:txBody>
      </p:sp>
      <p:sp>
        <p:nvSpPr>
          <p:cNvPr id="14" name="Text 10"/>
          <p:cNvSpPr txBox="1"/>
          <p:nvPr/>
        </p:nvSpPr>
        <p:spPr>
          <a:xfrm>
            <a:off x="822960" y="5440680"/>
            <a:ext cx="10515600" cy="502920"/>
          </a:xfrm>
          <a:prstGeom prst="rect">
            <a:avLst/>
          </a:prstGeom>
          <a:noFill/>
          <a:ln/>
        </p:spPr>
        <p:txBody>
          <a:bodyPr wrap="square" lIns="0" tIns="0" rIns="0" bIns="0" rtlCol="0" anchor="ctr"/>
          <a:lstStyle/>
          <a:p>
            <a:pPr algn="ctr" indent="0" marL="0">
              <a:buNone/>
            </a:pPr>
            <a:r>
              <a:rPr lang="en-US" sz="2000" b="1" dirty="0">
                <a:solidFill>
                  <a:srgbClr val="0B2D55"/>
                </a:solidFill>
                <a:latin typeface="Aptos" pitchFamily="34" charset="0"/>
                <a:ea typeface="Aptos" pitchFamily="34" charset="-122"/>
                <a:cs typeface="Aptos" pitchFamily="34" charset="-120"/>
              </a:rPr>
              <a:t>Two hinges plus a squash make a shape no single neuron can draw.</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indent="0" marL="0">
              <a:buNone/>
            </a:pPr>
            <a:r>
              <a:rPr lang="en-US" sz="3400" b="1" dirty="0">
                <a:solidFill>
                  <a:srgbClr val="0B2D55"/>
                </a:solidFill>
                <a:latin typeface="Aptos Display" pitchFamily="34" charset="0"/>
                <a:ea typeface="Aptos Display" pitchFamily="34" charset="-122"/>
                <a:cs typeface="Aptos Display" pitchFamily="34" charset="-120"/>
              </a:rPr>
              <a:t>Why linear layers collapse</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indent="0" marL="0">
              <a:buNone/>
            </a:pPr>
            <a:r>
              <a:rPr lang="en-US" sz="1500" dirty="0">
                <a:solidFill>
                  <a:srgbClr val="132033"/>
                </a:solidFill>
                <a:latin typeface="Aptos" pitchFamily="34" charset="0"/>
                <a:ea typeface="Aptos" pitchFamily="34" charset="-122"/>
                <a:cs typeface="Aptos" pitchFamily="34" charset="-120"/>
              </a:rPr>
              <a:t>A line of a line is still a line.</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indent="0" marL="0">
              <a:buNone/>
            </a:pPr>
            <a:r>
              <a:rPr lang="en-US" sz="850" dirty="0">
                <a:solidFill>
                  <a:srgbClr val="6D7C8F"/>
                </a:solidFill>
                <a:latin typeface="Aptos" pitchFamily="34" charset="0"/>
                <a:ea typeface="Aptos" pitchFamily="34" charset="-122"/>
                <a:cs typeface="Aptos" pitchFamily="34" charset="-120"/>
              </a:rPr>
              <a:t>CS 471  |  L28: Neural Networks I</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algn="r" indent="0" marL="0">
              <a:buNone/>
            </a:pPr>
            <a:r>
              <a:rPr lang="en-US" sz="850" dirty="0">
                <a:solidFill>
                  <a:srgbClr val="6D7C8F"/>
                </a:solidFill>
                <a:latin typeface="Aptos" pitchFamily="34" charset="0"/>
                <a:ea typeface="Aptos" pitchFamily="34" charset="-122"/>
                <a:cs typeface="Aptos" pitchFamily="34" charset="-120"/>
              </a:rPr>
              <a:t>20</a:t>
            </a:r>
            <a:endParaRPr lang="en-US" sz="850" dirty="0"/>
          </a:p>
        </p:txBody>
      </p:sp>
      <p:sp>
        <p:nvSpPr>
          <p:cNvPr id="7" name="Shape 4"/>
          <p:cNvSpPr/>
          <p:nvPr/>
        </p:nvSpPr>
        <p:spPr>
          <a:xfrm>
            <a:off x="576072" y="1554480"/>
            <a:ext cx="5212080" cy="1737360"/>
          </a:xfrm>
          <a:prstGeom prst="roundRect">
            <a:avLst>
              <a:gd name="adj" fmla="val 4211"/>
            </a:avLst>
          </a:prstGeom>
          <a:solidFill>
            <a:srgbClr val="F7D7D7"/>
          </a:solidFill>
          <a:ln w="12700">
            <a:solidFill>
              <a:srgbClr val="B43A3A"/>
            </a:solidFill>
            <a:prstDash val="solid"/>
          </a:ln>
        </p:spPr>
      </p:sp>
      <p:sp>
        <p:nvSpPr>
          <p:cNvPr id="8" name="Text 5"/>
          <p:cNvSpPr txBox="1"/>
          <p:nvPr/>
        </p:nvSpPr>
        <p:spPr>
          <a:xfrm>
            <a:off x="758952" y="1664208"/>
            <a:ext cx="4846320" cy="292608"/>
          </a:xfrm>
          <a:prstGeom prst="rect">
            <a:avLst/>
          </a:prstGeom>
          <a:noFill/>
          <a:ln/>
        </p:spPr>
        <p:txBody>
          <a:bodyPr wrap="square" lIns="0" tIns="0" rIns="0" bIns="0" rtlCol="0" anchor="t"/>
          <a:lstStyle/>
          <a:p>
            <a:pPr indent="0" marL="0">
              <a:buNone/>
            </a:pPr>
            <a:r>
              <a:rPr lang="en-US" sz="1500" b="1" dirty="0">
                <a:solidFill>
                  <a:srgbClr val="0B2D55"/>
                </a:solidFill>
                <a:latin typeface="Aptos" pitchFamily="34" charset="0"/>
                <a:ea typeface="Aptos" pitchFamily="34" charset="-122"/>
                <a:cs typeface="Aptos" pitchFamily="34" charset="-120"/>
              </a:rPr>
              <a:t>Linear stack</a:t>
            </a:r>
            <a:endParaRPr lang="en-US" sz="1500" dirty="0"/>
          </a:p>
        </p:txBody>
      </p:sp>
      <p:sp>
        <p:nvSpPr>
          <p:cNvPr id="9" name="Text 6"/>
          <p:cNvSpPr txBox="1"/>
          <p:nvPr/>
        </p:nvSpPr>
        <p:spPr>
          <a:xfrm>
            <a:off x="758952" y="1993392"/>
            <a:ext cx="4846320" cy="1207008"/>
          </a:xfrm>
          <a:prstGeom prst="rect">
            <a:avLst/>
          </a:prstGeom>
          <a:noFill/>
          <a:ln/>
        </p:spPr>
        <p:txBody>
          <a:bodyPr wrap="square" lIns="0" tIns="0" rIns="0" bIns="0" rtlCol="0" anchor="t"/>
          <a:lstStyle/>
          <a:p>
            <a:pPr indent="0" marL="0">
              <a:buNone/>
            </a:pPr>
            <a:r>
              <a:rPr lang="en-US" sz="1600" dirty="0">
                <a:solidFill>
                  <a:srgbClr val="132033"/>
                </a:solidFill>
                <a:latin typeface="Aptos" pitchFamily="34" charset="0"/>
                <a:ea typeface="Aptos" pitchFamily="34" charset="-122"/>
                <a:cs typeface="Aptos" pitchFamily="34" charset="-120"/>
              </a:rPr>
              <a:t>h = 2x + 1</a:t>
            </a:r>
            <a:endParaRPr lang="en-US" sz="1600" dirty="0"/>
          </a:p>
          <a:p>
            <a:pPr indent="0" marL="0">
              <a:buNone/>
            </a:pPr>
            <a:r>
              <a:rPr lang="en-US" sz="1600" dirty="0">
                <a:solidFill>
                  <a:srgbClr val="132033"/>
                </a:solidFill>
                <a:latin typeface="Aptos" pitchFamily="34" charset="0"/>
                <a:ea typeface="Aptos" pitchFamily="34" charset="-122"/>
                <a:cs typeface="Aptos" pitchFamily="34" charset="-120"/>
              </a:rPr>
              <a:t>y = 3h − 4 = 3(2x + 1) − 4</a:t>
            </a:r>
            <a:endParaRPr lang="en-US" sz="1600" dirty="0"/>
          </a:p>
          <a:p>
            <a:pPr indent="0" marL="0">
              <a:buNone/>
            </a:pPr>
            <a:r>
              <a:rPr lang="en-US" sz="1600" dirty="0">
                <a:solidFill>
                  <a:srgbClr val="132033"/>
                </a:solidFill>
                <a:latin typeface="Aptos" pitchFamily="34" charset="0"/>
                <a:ea typeface="Aptos" pitchFamily="34" charset="-122"/>
                <a:cs typeface="Aptos" pitchFamily="34" charset="-120"/>
              </a:rPr>
              <a:t>y = 6x − 1:  still one straight line</a:t>
            </a:r>
            <a:endParaRPr lang="en-US" sz="1600" dirty="0"/>
          </a:p>
        </p:txBody>
      </p:sp>
      <p:sp>
        <p:nvSpPr>
          <p:cNvPr id="10" name="Shape 7"/>
          <p:cNvSpPr/>
          <p:nvPr/>
        </p:nvSpPr>
        <p:spPr>
          <a:xfrm>
            <a:off x="576072" y="3474720"/>
            <a:ext cx="5212080" cy="1554480"/>
          </a:xfrm>
          <a:prstGeom prst="roundRect">
            <a:avLst>
              <a:gd name="adj" fmla="val 4706"/>
            </a:avLst>
          </a:prstGeom>
          <a:solidFill>
            <a:srgbClr val="DFF0D8"/>
          </a:solidFill>
          <a:ln w="12700">
            <a:solidFill>
              <a:srgbClr val="2E7D32"/>
            </a:solidFill>
            <a:prstDash val="solid"/>
          </a:ln>
        </p:spPr>
      </p:sp>
      <p:sp>
        <p:nvSpPr>
          <p:cNvPr id="11" name="Text 8"/>
          <p:cNvSpPr txBox="1"/>
          <p:nvPr/>
        </p:nvSpPr>
        <p:spPr>
          <a:xfrm>
            <a:off x="758952" y="3584448"/>
            <a:ext cx="4846320" cy="292608"/>
          </a:xfrm>
          <a:prstGeom prst="rect">
            <a:avLst/>
          </a:prstGeom>
          <a:noFill/>
          <a:ln/>
        </p:spPr>
        <p:txBody>
          <a:bodyPr wrap="square" lIns="0" tIns="0" rIns="0" bIns="0" rtlCol="0" anchor="t"/>
          <a:lstStyle/>
          <a:p>
            <a:pPr indent="0" marL="0">
              <a:buNone/>
            </a:pPr>
            <a:r>
              <a:rPr lang="en-US" sz="1500" b="1" dirty="0">
                <a:solidFill>
                  <a:srgbClr val="0B2D55"/>
                </a:solidFill>
                <a:latin typeface="Aptos" pitchFamily="34" charset="0"/>
                <a:ea typeface="Aptos" pitchFamily="34" charset="-122"/>
                <a:cs typeface="Aptos" pitchFamily="34" charset="-120"/>
              </a:rPr>
              <a:t>With a ReLU in between</a:t>
            </a:r>
            <a:endParaRPr lang="en-US" sz="1500" dirty="0"/>
          </a:p>
        </p:txBody>
      </p:sp>
      <p:sp>
        <p:nvSpPr>
          <p:cNvPr id="12" name="Text 9"/>
          <p:cNvSpPr txBox="1"/>
          <p:nvPr/>
        </p:nvSpPr>
        <p:spPr>
          <a:xfrm>
            <a:off x="758952" y="3913632"/>
            <a:ext cx="4846320" cy="1024128"/>
          </a:xfrm>
          <a:prstGeom prst="rect">
            <a:avLst/>
          </a:prstGeom>
          <a:noFill/>
          <a:ln/>
        </p:spPr>
        <p:txBody>
          <a:bodyPr wrap="square" lIns="0" tIns="0" rIns="0" bIns="0" rtlCol="0" anchor="t"/>
          <a:lstStyle/>
          <a:p>
            <a:pPr indent="0" marL="0">
              <a:buNone/>
            </a:pPr>
            <a:r>
              <a:rPr lang="en-US" sz="1600" dirty="0">
                <a:solidFill>
                  <a:srgbClr val="132033"/>
                </a:solidFill>
                <a:latin typeface="Aptos" pitchFamily="34" charset="0"/>
                <a:ea typeface="Aptos" pitchFamily="34" charset="-122"/>
                <a:cs typeface="Aptos" pitchFamily="34" charset="-120"/>
              </a:rPr>
              <a:t>y = 3 · ReLU(2x + 1) − 4</a:t>
            </a:r>
            <a:endParaRPr lang="en-US" sz="1600" dirty="0"/>
          </a:p>
          <a:p>
            <a:pPr indent="0" marL="0">
              <a:buNone/>
            </a:pPr>
            <a:r>
              <a:rPr lang="en-US" sz="1600" dirty="0">
                <a:solidFill>
                  <a:srgbClr val="132033"/>
                </a:solidFill>
                <a:latin typeface="Aptos" pitchFamily="34" charset="0"/>
                <a:ea typeface="Aptos" pitchFamily="34" charset="-122"/>
                <a:cs typeface="Aptos" pitchFamily="34" charset="-120"/>
              </a:rPr>
              <a:t>Flat at −4 until x = −0.5, then rises:  it bends</a:t>
            </a:r>
            <a:endParaRPr lang="en-US" sz="1600" dirty="0"/>
          </a:p>
        </p:txBody>
      </p:sp>
      <p:sp>
        <p:nvSpPr>
          <p:cNvPr id="13" name="Shape 10"/>
          <p:cNvSpPr/>
          <p:nvPr/>
        </p:nvSpPr>
        <p:spPr>
          <a:xfrm>
            <a:off x="6035040" y="1508760"/>
            <a:ext cx="5577840" cy="3931920"/>
          </a:xfrm>
          <a:prstGeom prst="roundRect">
            <a:avLst>
              <a:gd name="adj" fmla="val 1860"/>
            </a:avLst>
          </a:prstGeom>
          <a:solidFill>
            <a:srgbClr val="FFFFFF"/>
          </a:solidFill>
          <a:ln w="12700">
            <a:solidFill>
              <a:srgbClr val="B8C7D8"/>
            </a:solidFill>
            <a:prstDash val="solid"/>
          </a:ln>
        </p:spPr>
      </p:sp>
      <p:graphicFrame>
        <p:nvGraphicFramePr>
          <p:cNvPr id="14" name="Chart 0" descr=""/>
          <p:cNvGraphicFramePr/>
          <p:nvPr/>
        </p:nvGraphicFramePr>
        <p:xfrm>
          <a:off x="6126480" y="1554480"/>
          <a:ext cx="5394960" cy="1920240"/>
        </p:xfrm>
        <a:graphic xmlns:a="http://schemas.openxmlformats.org/drawingml/2006/main">
          <a:graphicData uri="http://schemas.openxmlformats.org/drawingml/2006/chart">
            <c:chart xmlns:c="http://schemas.openxmlformats.org/drawingml/2006/chart" r:id="rId1"/>
          </a:graphicData>
        </a:graphic>
      </p:graphicFrame>
      <p:graphicFrame>
        <p:nvGraphicFramePr>
          <p:cNvPr id="15" name="Chart 1" descr=""/>
          <p:cNvGraphicFramePr/>
          <p:nvPr/>
        </p:nvGraphicFramePr>
        <p:xfrm>
          <a:off x="6126480" y="3474720"/>
          <a:ext cx="5394960" cy="1920240"/>
        </p:xfrm>
        <a:graphic xmlns:a="http://schemas.openxmlformats.org/drawingml/2006/main">
          <a:graphicData uri="http://schemas.openxmlformats.org/drawingml/2006/chart">
            <c:chart xmlns:c="http://schemas.openxmlformats.org/drawingml/2006/chart" r:id="rId2"/>
          </a:graphicData>
        </a:graphic>
      </p:graphicFrame>
      <p:sp>
        <p:nvSpPr>
          <p:cNvPr id="16" name="Text 11"/>
          <p:cNvSpPr txBox="1"/>
          <p:nvPr/>
        </p:nvSpPr>
        <p:spPr>
          <a:xfrm>
            <a:off x="822960" y="5577840"/>
            <a:ext cx="10515600" cy="411480"/>
          </a:xfrm>
          <a:prstGeom prst="rect">
            <a:avLst/>
          </a:prstGeom>
          <a:noFill/>
          <a:ln/>
        </p:spPr>
        <p:txBody>
          <a:bodyPr wrap="square" lIns="0" tIns="0" rIns="0" bIns="0" rtlCol="0" anchor="ctr"/>
          <a:lstStyle/>
          <a:p>
            <a:pPr algn="ctr" indent="0" marL="0">
              <a:buNone/>
            </a:pPr>
            <a:r>
              <a:rPr lang="en-US" sz="1900" b="1" dirty="0">
                <a:solidFill>
                  <a:srgbClr val="0B2D55"/>
                </a:solidFill>
                <a:latin typeface="Aptos" pitchFamily="34" charset="0"/>
                <a:ea typeface="Aptos" pitchFamily="34" charset="-122"/>
                <a:cs typeface="Aptos" pitchFamily="34" charset="-120"/>
              </a:rPr>
              <a:t>Five linear layers equal one neuron. Non-linearity is what makes depth worth it.</a:t>
            </a:r>
            <a:endParaRPr lang="en-US" sz="1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indent="0" marL="0">
              <a:buNone/>
            </a:pPr>
            <a:r>
              <a:rPr lang="en-US" sz="3400" b="1" dirty="0">
                <a:solidFill>
                  <a:srgbClr val="0B2D55"/>
                </a:solidFill>
                <a:latin typeface="Aptos Display" pitchFamily="34" charset="0"/>
                <a:ea typeface="Aptos Display" pitchFamily="34" charset="-122"/>
                <a:cs typeface="Aptos Display" pitchFamily="34" charset="-120"/>
              </a:rPr>
              <a:t>Bending in 2D</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indent="0" marL="0">
              <a:buNone/>
            </a:pPr>
            <a:r>
              <a:rPr lang="en-US" sz="1500" dirty="0">
                <a:solidFill>
                  <a:srgbClr val="132033"/>
                </a:solidFill>
                <a:latin typeface="Aptos" pitchFamily="34" charset="0"/>
                <a:ea typeface="Aptos" pitchFamily="34" charset="-122"/>
                <a:cs typeface="Aptos" pitchFamily="34" charset="-120"/>
              </a:rPr>
              <a:t>Each hidden ReLU neuron adds one fold; together they wrap a cluster.</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indent="0" marL="0">
              <a:buNone/>
            </a:pPr>
            <a:r>
              <a:rPr lang="en-US" sz="850" dirty="0">
                <a:solidFill>
                  <a:srgbClr val="6D7C8F"/>
                </a:solidFill>
                <a:latin typeface="Aptos" pitchFamily="34" charset="0"/>
                <a:ea typeface="Aptos" pitchFamily="34" charset="-122"/>
                <a:cs typeface="Aptos" pitchFamily="34" charset="-120"/>
              </a:rPr>
              <a:t>CS 471  |  L28: Neural Networks I</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algn="r" indent="0" marL="0">
              <a:buNone/>
            </a:pPr>
            <a:r>
              <a:rPr lang="en-US" sz="850" dirty="0">
                <a:solidFill>
                  <a:srgbClr val="6D7C8F"/>
                </a:solidFill>
                <a:latin typeface="Aptos" pitchFamily="34" charset="0"/>
                <a:ea typeface="Aptos" pitchFamily="34" charset="-122"/>
                <a:cs typeface="Aptos" pitchFamily="34" charset="-120"/>
              </a:rPr>
              <a:t>21</a:t>
            </a:r>
            <a:endParaRPr lang="en-US" sz="850" dirty="0"/>
          </a:p>
        </p:txBody>
      </p:sp>
      <p:sp>
        <p:nvSpPr>
          <p:cNvPr id="7" name="Shape 4"/>
          <p:cNvSpPr/>
          <p:nvPr/>
        </p:nvSpPr>
        <p:spPr>
          <a:xfrm>
            <a:off x="576072" y="1508760"/>
            <a:ext cx="4023360" cy="4023360"/>
          </a:xfrm>
          <a:prstGeom prst="roundRect">
            <a:avLst>
              <a:gd name="adj" fmla="val 1818"/>
            </a:avLst>
          </a:prstGeom>
          <a:solidFill>
            <a:srgbClr val="FFFFFF"/>
          </a:solidFill>
          <a:ln w="12700">
            <a:solidFill>
              <a:srgbClr val="B8C7D8"/>
            </a:solidFill>
            <a:prstDash val="solid"/>
          </a:ln>
        </p:spPr>
      </p:sp>
      <p:pic>
        <p:nvPicPr>
          <p:cNvPr id="8" name="Image 0" descr="figs/nn_hidden_lines.png">    </p:cNvPr>
          <p:cNvPicPr>
            <a:picLocks noChangeAspect="1"/>
          </p:cNvPicPr>
          <p:nvPr/>
        </p:nvPicPr>
        <p:blipFill>
          <a:blip r:embed="rId1"/>
          <a:stretch>
            <a:fillRect/>
          </a:stretch>
        </p:blipFill>
        <p:spPr>
          <a:xfrm>
            <a:off x="759219" y="1600200"/>
            <a:ext cx="3657067" cy="3474720"/>
          </a:xfrm>
          <a:prstGeom prst="rect">
            <a:avLst/>
          </a:prstGeom>
        </p:spPr>
      </p:pic>
      <p:sp>
        <p:nvSpPr>
          <p:cNvPr id="9" name="Text 5"/>
          <p:cNvSpPr txBox="1"/>
          <p:nvPr/>
        </p:nvSpPr>
        <p:spPr>
          <a:xfrm>
            <a:off x="576072" y="5120640"/>
            <a:ext cx="4023360" cy="365760"/>
          </a:xfrm>
          <a:prstGeom prst="rect">
            <a:avLst/>
          </a:prstGeom>
          <a:noFill/>
          <a:ln/>
        </p:spPr>
        <p:txBody>
          <a:bodyPr wrap="square" lIns="0" tIns="0" rIns="0" bIns="0" rtlCol="0" anchor="t"/>
          <a:lstStyle/>
          <a:p>
            <a:pPr algn="ctr" indent="0" marL="0">
              <a:buNone/>
            </a:pPr>
            <a:r>
              <a:rPr lang="en-US" sz="1250" b="1" dirty="0">
                <a:solidFill>
                  <a:srgbClr val="0B2D55"/>
                </a:solidFill>
                <a:latin typeface="Aptos" pitchFamily="34" charset="0"/>
                <a:ea typeface="Aptos" pitchFamily="34" charset="-122"/>
                <a:cs typeface="Aptos" pitchFamily="34" charset="-120"/>
              </a:rPr>
              <a:t>Each dashed line: one hidden neuron switching on</a:t>
            </a:r>
            <a:endParaRPr lang="en-US" sz="1250" dirty="0"/>
          </a:p>
        </p:txBody>
      </p:sp>
      <p:sp>
        <p:nvSpPr>
          <p:cNvPr id="10" name="Shape 6"/>
          <p:cNvSpPr/>
          <p:nvPr/>
        </p:nvSpPr>
        <p:spPr>
          <a:xfrm>
            <a:off x="4709160" y="3337560"/>
            <a:ext cx="457200" cy="0"/>
          </a:xfrm>
          <a:prstGeom prst="line">
            <a:avLst/>
          </a:prstGeom>
          <a:noFill/>
          <a:ln w="31750">
            <a:solidFill>
              <a:srgbClr val="0B2D55"/>
            </a:solidFill>
            <a:prstDash val="solid"/>
            <a:tailEnd type="triangle"/>
          </a:ln>
        </p:spPr>
      </p:sp>
      <p:sp>
        <p:nvSpPr>
          <p:cNvPr id="11" name="Shape 7"/>
          <p:cNvSpPr/>
          <p:nvPr/>
        </p:nvSpPr>
        <p:spPr>
          <a:xfrm>
            <a:off x="5303520" y="1508760"/>
            <a:ext cx="4023360" cy="4023360"/>
          </a:xfrm>
          <a:prstGeom prst="roundRect">
            <a:avLst>
              <a:gd name="adj" fmla="val 1818"/>
            </a:avLst>
          </a:prstGeom>
          <a:solidFill>
            <a:srgbClr val="FFFFFF"/>
          </a:solidFill>
          <a:ln w="12700">
            <a:solidFill>
              <a:srgbClr val="B8C7D8"/>
            </a:solidFill>
            <a:prstDash val="solid"/>
          </a:ln>
        </p:spPr>
      </p:sp>
      <p:pic>
        <p:nvPicPr>
          <p:cNvPr id="12" name="Image 1" descr="figs/nn_boundary.png">    </p:cNvPr>
          <p:cNvPicPr>
            <a:picLocks noChangeAspect="1"/>
          </p:cNvPicPr>
          <p:nvPr/>
        </p:nvPicPr>
        <p:blipFill>
          <a:blip r:embed="rId2"/>
          <a:stretch>
            <a:fillRect/>
          </a:stretch>
        </p:blipFill>
        <p:spPr>
          <a:xfrm>
            <a:off x="5486667" y="1600200"/>
            <a:ext cx="3657067" cy="3474720"/>
          </a:xfrm>
          <a:prstGeom prst="rect">
            <a:avLst/>
          </a:prstGeom>
        </p:spPr>
      </p:pic>
      <p:sp>
        <p:nvSpPr>
          <p:cNvPr id="13" name="Text 8"/>
          <p:cNvSpPr txBox="1"/>
          <p:nvPr/>
        </p:nvSpPr>
        <p:spPr>
          <a:xfrm>
            <a:off x="5303520" y="5120640"/>
            <a:ext cx="4023360" cy="365760"/>
          </a:xfrm>
          <a:prstGeom prst="rect">
            <a:avLst/>
          </a:prstGeom>
          <a:noFill/>
          <a:ln/>
        </p:spPr>
        <p:txBody>
          <a:bodyPr wrap="square" lIns="0" tIns="0" rIns="0" bIns="0" rtlCol="0" anchor="t"/>
          <a:lstStyle/>
          <a:p>
            <a:pPr algn="ctr" indent="0" marL="0">
              <a:buNone/>
            </a:pPr>
            <a:r>
              <a:rPr lang="en-US" sz="1250" b="1" dirty="0">
                <a:solidFill>
                  <a:srgbClr val="0B2D55"/>
                </a:solidFill>
                <a:latin typeface="Aptos" pitchFamily="34" charset="0"/>
                <a:ea typeface="Aptos" pitchFamily="34" charset="-122"/>
                <a:cs typeface="Aptos" pitchFamily="34" charset="-120"/>
              </a:rPr>
              <a:t>Output: the folds combine into a closed region</a:t>
            </a:r>
            <a:endParaRPr lang="en-US" sz="1250" dirty="0"/>
          </a:p>
        </p:txBody>
      </p:sp>
      <p:sp>
        <p:nvSpPr>
          <p:cNvPr id="14" name="Shape 9"/>
          <p:cNvSpPr/>
          <p:nvPr/>
        </p:nvSpPr>
        <p:spPr>
          <a:xfrm>
            <a:off x="9555480" y="1508760"/>
            <a:ext cx="2057400" cy="2331720"/>
          </a:xfrm>
          <a:prstGeom prst="roundRect">
            <a:avLst>
              <a:gd name="adj" fmla="val 3556"/>
            </a:avLst>
          </a:prstGeom>
          <a:solidFill>
            <a:srgbClr val="EAF2F8"/>
          </a:solidFill>
          <a:ln w="12700">
            <a:solidFill>
              <a:srgbClr val="1F5D9B"/>
            </a:solidFill>
            <a:prstDash val="solid"/>
          </a:ln>
        </p:spPr>
      </p:sp>
      <p:sp>
        <p:nvSpPr>
          <p:cNvPr id="15" name="Text 10"/>
          <p:cNvSpPr txBox="1"/>
          <p:nvPr/>
        </p:nvSpPr>
        <p:spPr>
          <a:xfrm>
            <a:off x="9738360" y="1618488"/>
            <a:ext cx="1691640" cy="292608"/>
          </a:xfrm>
          <a:prstGeom prst="rect">
            <a:avLst/>
          </a:prstGeom>
          <a:noFill/>
          <a:ln/>
        </p:spPr>
        <p:txBody>
          <a:bodyPr wrap="square" lIns="0" tIns="0" rIns="0" bIns="0" rtlCol="0" anchor="t"/>
          <a:lstStyle/>
          <a:p>
            <a:pPr indent="0" marL="0">
              <a:buNone/>
            </a:pPr>
            <a:r>
              <a:rPr lang="en-US" sz="1500" b="1" dirty="0">
                <a:solidFill>
                  <a:srgbClr val="0B2D55"/>
                </a:solidFill>
                <a:latin typeface="Aptos" pitchFamily="34" charset="0"/>
                <a:ea typeface="Aptos" pitchFamily="34" charset="-122"/>
                <a:cs typeface="Aptos" pitchFamily="34" charset="-120"/>
              </a:rPr>
              <a:t>Abstraction</a:t>
            </a:r>
            <a:endParaRPr lang="en-US" sz="1500" dirty="0"/>
          </a:p>
        </p:txBody>
      </p:sp>
      <p:sp>
        <p:nvSpPr>
          <p:cNvPr id="16" name="Text 11"/>
          <p:cNvSpPr txBox="1"/>
          <p:nvPr/>
        </p:nvSpPr>
        <p:spPr>
          <a:xfrm>
            <a:off x="9738360" y="1947672"/>
            <a:ext cx="1691640" cy="1801368"/>
          </a:xfrm>
          <a:prstGeom prst="rect">
            <a:avLst/>
          </a:prstGeom>
          <a:noFill/>
          <a:ln/>
        </p:spPr>
        <p:txBody>
          <a:bodyPr wrap="square" lIns="0" tIns="0" rIns="0" bIns="0" rtlCol="0" anchor="t"/>
          <a:lstStyle/>
          <a:p>
            <a:pPr indent="0" marL="0">
              <a:buNone/>
            </a:pPr>
            <a:r>
              <a:rPr lang="en-US" sz="1400" dirty="0">
                <a:solidFill>
                  <a:srgbClr val="132033"/>
                </a:solidFill>
                <a:latin typeface="Aptos" pitchFamily="34" charset="0"/>
                <a:ea typeface="Aptos" pitchFamily="34" charset="-122"/>
                <a:cs typeface="Aptos" pitchFamily="34" charset="-120"/>
              </a:rPr>
              <a:t>Images: edges → shapes → objects. Each layer builds on the last.</a:t>
            </a:r>
            <a:endParaRPr lang="en-US" sz="1400" dirty="0"/>
          </a:p>
        </p:txBody>
      </p:sp>
      <p:sp>
        <p:nvSpPr>
          <p:cNvPr id="17" name="Shape 12"/>
          <p:cNvSpPr/>
          <p:nvPr/>
        </p:nvSpPr>
        <p:spPr>
          <a:xfrm>
            <a:off x="9555480" y="3977640"/>
            <a:ext cx="2057400" cy="1554480"/>
          </a:xfrm>
          <a:prstGeom prst="roundRect">
            <a:avLst>
              <a:gd name="adj" fmla="val 4706"/>
            </a:avLst>
          </a:prstGeom>
          <a:solidFill>
            <a:srgbClr val="F7D7D7"/>
          </a:solidFill>
          <a:ln w="12700">
            <a:solidFill>
              <a:srgbClr val="B43A3A"/>
            </a:solidFill>
            <a:prstDash val="solid"/>
          </a:ln>
        </p:spPr>
      </p:sp>
      <p:sp>
        <p:nvSpPr>
          <p:cNvPr id="18" name="Text 13"/>
          <p:cNvSpPr txBox="1"/>
          <p:nvPr/>
        </p:nvSpPr>
        <p:spPr>
          <a:xfrm>
            <a:off x="9738360" y="4087368"/>
            <a:ext cx="1691640" cy="292608"/>
          </a:xfrm>
          <a:prstGeom prst="rect">
            <a:avLst/>
          </a:prstGeom>
          <a:noFill/>
          <a:ln/>
        </p:spPr>
        <p:txBody>
          <a:bodyPr wrap="square" lIns="0" tIns="0" rIns="0" bIns="0" rtlCol="0" anchor="t"/>
          <a:lstStyle/>
          <a:p>
            <a:pPr indent="0" marL="0">
              <a:buNone/>
            </a:pPr>
            <a:r>
              <a:rPr lang="en-US" sz="1500" b="1" dirty="0">
                <a:solidFill>
                  <a:srgbClr val="0B2D55"/>
                </a:solidFill>
                <a:latin typeface="Aptos" pitchFamily="34" charset="0"/>
                <a:ea typeface="Aptos" pitchFamily="34" charset="-122"/>
                <a:cs typeface="Aptos" pitchFamily="34" charset="-120"/>
              </a:rPr>
              <a:t>Caution</a:t>
            </a:r>
            <a:endParaRPr lang="en-US" sz="1500" dirty="0"/>
          </a:p>
        </p:txBody>
      </p:sp>
      <p:sp>
        <p:nvSpPr>
          <p:cNvPr id="19" name="Text 14"/>
          <p:cNvSpPr txBox="1"/>
          <p:nvPr/>
        </p:nvSpPr>
        <p:spPr>
          <a:xfrm>
            <a:off x="9738360" y="4416552"/>
            <a:ext cx="1691640" cy="1024128"/>
          </a:xfrm>
          <a:prstGeom prst="rect">
            <a:avLst/>
          </a:prstGeom>
          <a:noFill/>
          <a:ln/>
        </p:spPr>
        <p:txBody>
          <a:bodyPr wrap="square" lIns="0" tIns="0" rIns="0" bIns="0" rtlCol="0" anchor="t"/>
          <a:lstStyle/>
          <a:p>
            <a:pPr indent="0" marL="0">
              <a:buNone/>
            </a:pPr>
            <a:r>
              <a:rPr lang="en-US" sz="1400" dirty="0">
                <a:solidFill>
                  <a:srgbClr val="132033"/>
                </a:solidFill>
                <a:latin typeface="Aptos" pitchFamily="34" charset="0"/>
                <a:ea typeface="Aptos" pitchFamily="34" charset="-122"/>
                <a:cs typeface="Aptos" pitchFamily="34" charset="-120"/>
              </a:rPr>
              <a:t>More folds can overfit (L26). The goal is generalization.</a:t>
            </a:r>
            <a:endParaRPr lang="en-US" sz="1400" dirty="0"/>
          </a:p>
        </p:txBody>
      </p:sp>
      <p:sp>
        <p:nvSpPr>
          <p:cNvPr id="20" name="Text 15"/>
          <p:cNvSpPr txBox="1"/>
          <p:nvPr/>
        </p:nvSpPr>
        <p:spPr>
          <a:xfrm>
            <a:off x="822960" y="5669280"/>
            <a:ext cx="10515600" cy="365760"/>
          </a:xfrm>
          <a:prstGeom prst="rect">
            <a:avLst/>
          </a:prstGeom>
          <a:noFill/>
          <a:ln/>
        </p:spPr>
        <p:txBody>
          <a:bodyPr wrap="square" lIns="0" tIns="0" rIns="0" bIns="0" rtlCol="0" anchor="ctr"/>
          <a:lstStyle/>
          <a:p>
            <a:pPr algn="ctr" indent="0" marL="0">
              <a:buNone/>
            </a:pPr>
            <a:r>
              <a:rPr lang="en-US" sz="1900" b="1" dirty="0">
                <a:solidFill>
                  <a:srgbClr val="0B2D55"/>
                </a:solidFill>
                <a:latin typeface="Aptos" pitchFamily="34" charset="0"/>
                <a:ea typeface="Aptos" pitchFamily="34" charset="-122"/>
                <a:cs typeface="Aptos" pitchFamily="34" charset="-120"/>
              </a:rPr>
              <a:t>Straight pieces, bent together, make curved boundaries.</a:t>
            </a:r>
            <a:endParaRPr lang="en-US" sz="1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indent="0" marL="0">
              <a:buNone/>
            </a:pPr>
            <a:r>
              <a:rPr lang="en-US" sz="3400" b="1" dirty="0">
                <a:solidFill>
                  <a:srgbClr val="0B2D55"/>
                </a:solidFill>
                <a:latin typeface="Aptos Display" pitchFamily="34" charset="0"/>
                <a:ea typeface="Aptos Display" pitchFamily="34" charset="-122"/>
                <a:cs typeface="Aptos Display" pitchFamily="34" charset="-120"/>
              </a:rPr>
              <a:t>One network, several outputs</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indent="0" marL="0">
              <a:buNone/>
            </a:pPr>
            <a:r>
              <a:rPr lang="en-US" sz="1500" dirty="0">
                <a:solidFill>
                  <a:srgbClr val="132033"/>
                </a:solidFill>
                <a:latin typeface="Aptos" pitchFamily="34" charset="0"/>
                <a:ea typeface="Aptos" pitchFamily="34" charset="-122"/>
                <a:cs typeface="Aptos" pitchFamily="34" charset="-120"/>
              </a:rPr>
              <a:t>Shared hidden layers feed more than one prediction.</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indent="0" marL="0">
              <a:buNone/>
            </a:pPr>
            <a:r>
              <a:rPr lang="en-US" sz="850" dirty="0">
                <a:solidFill>
                  <a:srgbClr val="6D7C8F"/>
                </a:solidFill>
                <a:latin typeface="Aptos" pitchFamily="34" charset="0"/>
                <a:ea typeface="Aptos" pitchFamily="34" charset="-122"/>
                <a:cs typeface="Aptos" pitchFamily="34" charset="-120"/>
              </a:rPr>
              <a:t>CS 471  |  L28: Neural Networks I</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algn="r" indent="0" marL="0">
              <a:buNone/>
            </a:pPr>
            <a:r>
              <a:rPr lang="en-US" sz="850" dirty="0">
                <a:solidFill>
                  <a:srgbClr val="6D7C8F"/>
                </a:solidFill>
                <a:latin typeface="Aptos" pitchFamily="34" charset="0"/>
                <a:ea typeface="Aptos" pitchFamily="34" charset="-122"/>
                <a:cs typeface="Aptos" pitchFamily="34" charset="-120"/>
              </a:rPr>
              <a:t>22</a:t>
            </a:r>
            <a:endParaRPr lang="en-US" sz="850" dirty="0"/>
          </a:p>
        </p:txBody>
      </p:sp>
      <p:sp>
        <p:nvSpPr>
          <p:cNvPr id="7" name="Shape 4"/>
          <p:cNvSpPr/>
          <p:nvPr/>
        </p:nvSpPr>
        <p:spPr>
          <a:xfrm>
            <a:off x="576072" y="1508760"/>
            <a:ext cx="6035040" cy="4389120"/>
          </a:xfrm>
          <a:prstGeom prst="roundRect">
            <a:avLst>
              <a:gd name="adj" fmla="val 1667"/>
            </a:avLst>
          </a:prstGeom>
          <a:solidFill>
            <a:srgbClr val="FFFFFF"/>
          </a:solidFill>
          <a:ln w="12700">
            <a:solidFill>
              <a:srgbClr val="B8C7D8"/>
            </a:solidFill>
            <a:prstDash val="solid"/>
          </a:ln>
        </p:spPr>
      </p:sp>
      <p:sp>
        <p:nvSpPr>
          <p:cNvPr id="8" name="Shape 5"/>
          <p:cNvSpPr/>
          <p:nvPr/>
        </p:nvSpPr>
        <p:spPr>
          <a:xfrm>
            <a:off x="1728216" y="2377440"/>
            <a:ext cx="1527048" cy="914"/>
          </a:xfrm>
          <a:prstGeom prst="line">
            <a:avLst/>
          </a:prstGeom>
          <a:noFill/>
          <a:ln w="12700">
            <a:solidFill>
              <a:srgbClr val="B0BCCB"/>
            </a:solidFill>
            <a:prstDash val="solid"/>
          </a:ln>
        </p:spPr>
      </p:sp>
      <p:sp>
        <p:nvSpPr>
          <p:cNvPr id="9" name="Shape 6"/>
          <p:cNvSpPr/>
          <p:nvPr/>
        </p:nvSpPr>
        <p:spPr>
          <a:xfrm>
            <a:off x="1728216" y="2377440"/>
            <a:ext cx="1527048" cy="1188720"/>
          </a:xfrm>
          <a:prstGeom prst="line">
            <a:avLst/>
          </a:prstGeom>
          <a:noFill/>
          <a:ln w="12700">
            <a:solidFill>
              <a:srgbClr val="B0BCCB"/>
            </a:solidFill>
            <a:prstDash val="solid"/>
          </a:ln>
        </p:spPr>
      </p:sp>
      <p:sp>
        <p:nvSpPr>
          <p:cNvPr id="10" name="Shape 7"/>
          <p:cNvSpPr/>
          <p:nvPr/>
        </p:nvSpPr>
        <p:spPr>
          <a:xfrm>
            <a:off x="1728216" y="2377440"/>
            <a:ext cx="1527048" cy="2377440"/>
          </a:xfrm>
          <a:prstGeom prst="line">
            <a:avLst/>
          </a:prstGeom>
          <a:noFill/>
          <a:ln w="12700">
            <a:solidFill>
              <a:srgbClr val="B0BCCB"/>
            </a:solidFill>
            <a:prstDash val="solid"/>
          </a:ln>
        </p:spPr>
      </p:sp>
      <p:sp>
        <p:nvSpPr>
          <p:cNvPr id="11" name="Shape 8"/>
          <p:cNvSpPr/>
          <p:nvPr/>
        </p:nvSpPr>
        <p:spPr>
          <a:xfrm flipV="1">
            <a:off x="1728216" y="2377440"/>
            <a:ext cx="1527048" cy="1188720"/>
          </a:xfrm>
          <a:prstGeom prst="line">
            <a:avLst/>
          </a:prstGeom>
          <a:noFill/>
          <a:ln w="12700">
            <a:solidFill>
              <a:srgbClr val="B0BCCB"/>
            </a:solidFill>
            <a:prstDash val="solid"/>
          </a:ln>
        </p:spPr>
      </p:sp>
      <p:sp>
        <p:nvSpPr>
          <p:cNvPr id="12" name="Shape 9"/>
          <p:cNvSpPr/>
          <p:nvPr/>
        </p:nvSpPr>
        <p:spPr>
          <a:xfrm>
            <a:off x="1728216" y="3566160"/>
            <a:ext cx="1527048" cy="914"/>
          </a:xfrm>
          <a:prstGeom prst="line">
            <a:avLst/>
          </a:prstGeom>
          <a:noFill/>
          <a:ln w="12700">
            <a:solidFill>
              <a:srgbClr val="B0BCCB"/>
            </a:solidFill>
            <a:prstDash val="solid"/>
          </a:ln>
        </p:spPr>
      </p:sp>
      <p:sp>
        <p:nvSpPr>
          <p:cNvPr id="13" name="Shape 10"/>
          <p:cNvSpPr/>
          <p:nvPr/>
        </p:nvSpPr>
        <p:spPr>
          <a:xfrm>
            <a:off x="1728216" y="3566160"/>
            <a:ext cx="1527048" cy="1188720"/>
          </a:xfrm>
          <a:prstGeom prst="line">
            <a:avLst/>
          </a:prstGeom>
          <a:noFill/>
          <a:ln w="12700">
            <a:solidFill>
              <a:srgbClr val="B0BCCB"/>
            </a:solidFill>
            <a:prstDash val="solid"/>
          </a:ln>
        </p:spPr>
      </p:sp>
      <p:sp>
        <p:nvSpPr>
          <p:cNvPr id="14" name="Shape 11"/>
          <p:cNvSpPr/>
          <p:nvPr/>
        </p:nvSpPr>
        <p:spPr>
          <a:xfrm flipV="1">
            <a:off x="1728216" y="2377440"/>
            <a:ext cx="1527048" cy="2377440"/>
          </a:xfrm>
          <a:prstGeom prst="line">
            <a:avLst/>
          </a:prstGeom>
          <a:noFill/>
          <a:ln w="12700">
            <a:solidFill>
              <a:srgbClr val="B0BCCB"/>
            </a:solidFill>
            <a:prstDash val="solid"/>
          </a:ln>
        </p:spPr>
      </p:sp>
      <p:sp>
        <p:nvSpPr>
          <p:cNvPr id="15" name="Shape 12"/>
          <p:cNvSpPr/>
          <p:nvPr/>
        </p:nvSpPr>
        <p:spPr>
          <a:xfrm flipV="1">
            <a:off x="1728216" y="3566160"/>
            <a:ext cx="1527048" cy="1188720"/>
          </a:xfrm>
          <a:prstGeom prst="line">
            <a:avLst/>
          </a:prstGeom>
          <a:noFill/>
          <a:ln w="12700">
            <a:solidFill>
              <a:srgbClr val="B0BCCB"/>
            </a:solidFill>
            <a:prstDash val="solid"/>
          </a:ln>
        </p:spPr>
      </p:sp>
      <p:sp>
        <p:nvSpPr>
          <p:cNvPr id="16" name="Shape 13"/>
          <p:cNvSpPr/>
          <p:nvPr/>
        </p:nvSpPr>
        <p:spPr>
          <a:xfrm>
            <a:off x="1728216" y="4754880"/>
            <a:ext cx="1527048" cy="914"/>
          </a:xfrm>
          <a:prstGeom prst="line">
            <a:avLst/>
          </a:prstGeom>
          <a:noFill/>
          <a:ln w="12700">
            <a:solidFill>
              <a:srgbClr val="B0BCCB"/>
            </a:solidFill>
            <a:prstDash val="solid"/>
          </a:ln>
        </p:spPr>
      </p:sp>
      <p:sp>
        <p:nvSpPr>
          <p:cNvPr id="17" name="Shape 14"/>
          <p:cNvSpPr/>
          <p:nvPr/>
        </p:nvSpPr>
        <p:spPr>
          <a:xfrm>
            <a:off x="3968496" y="2377440"/>
            <a:ext cx="1527048" cy="297180"/>
          </a:xfrm>
          <a:prstGeom prst="line">
            <a:avLst/>
          </a:prstGeom>
          <a:noFill/>
          <a:ln w="12700">
            <a:solidFill>
              <a:srgbClr val="B0BCCB"/>
            </a:solidFill>
            <a:prstDash val="solid"/>
          </a:ln>
        </p:spPr>
      </p:sp>
      <p:sp>
        <p:nvSpPr>
          <p:cNvPr id="18" name="Shape 15"/>
          <p:cNvSpPr/>
          <p:nvPr/>
        </p:nvSpPr>
        <p:spPr>
          <a:xfrm>
            <a:off x="3968496" y="2377440"/>
            <a:ext cx="1527048" cy="2080260"/>
          </a:xfrm>
          <a:prstGeom prst="line">
            <a:avLst/>
          </a:prstGeom>
          <a:noFill/>
          <a:ln w="12700">
            <a:solidFill>
              <a:srgbClr val="B0BCCB"/>
            </a:solidFill>
            <a:prstDash val="solid"/>
          </a:ln>
        </p:spPr>
      </p:sp>
      <p:sp>
        <p:nvSpPr>
          <p:cNvPr id="19" name="Shape 16"/>
          <p:cNvSpPr/>
          <p:nvPr/>
        </p:nvSpPr>
        <p:spPr>
          <a:xfrm flipV="1">
            <a:off x="3968496" y="2674620"/>
            <a:ext cx="1527048" cy="891540"/>
          </a:xfrm>
          <a:prstGeom prst="line">
            <a:avLst/>
          </a:prstGeom>
          <a:noFill/>
          <a:ln w="12700">
            <a:solidFill>
              <a:srgbClr val="B0BCCB"/>
            </a:solidFill>
            <a:prstDash val="solid"/>
          </a:ln>
        </p:spPr>
      </p:sp>
      <p:sp>
        <p:nvSpPr>
          <p:cNvPr id="20" name="Shape 17"/>
          <p:cNvSpPr/>
          <p:nvPr/>
        </p:nvSpPr>
        <p:spPr>
          <a:xfrm>
            <a:off x="3968496" y="3566160"/>
            <a:ext cx="1527048" cy="891540"/>
          </a:xfrm>
          <a:prstGeom prst="line">
            <a:avLst/>
          </a:prstGeom>
          <a:noFill/>
          <a:ln w="12700">
            <a:solidFill>
              <a:srgbClr val="B0BCCB"/>
            </a:solidFill>
            <a:prstDash val="solid"/>
          </a:ln>
        </p:spPr>
      </p:sp>
      <p:sp>
        <p:nvSpPr>
          <p:cNvPr id="21" name="Shape 18"/>
          <p:cNvSpPr/>
          <p:nvPr/>
        </p:nvSpPr>
        <p:spPr>
          <a:xfrm flipV="1">
            <a:off x="3968496" y="2674620"/>
            <a:ext cx="1527048" cy="2080260"/>
          </a:xfrm>
          <a:prstGeom prst="line">
            <a:avLst/>
          </a:prstGeom>
          <a:noFill/>
          <a:ln w="12700">
            <a:solidFill>
              <a:srgbClr val="B0BCCB"/>
            </a:solidFill>
            <a:prstDash val="solid"/>
          </a:ln>
        </p:spPr>
      </p:sp>
      <p:sp>
        <p:nvSpPr>
          <p:cNvPr id="22" name="Shape 19"/>
          <p:cNvSpPr/>
          <p:nvPr/>
        </p:nvSpPr>
        <p:spPr>
          <a:xfrm flipV="1">
            <a:off x="3968496" y="4457700"/>
            <a:ext cx="1527048" cy="297180"/>
          </a:xfrm>
          <a:prstGeom prst="line">
            <a:avLst/>
          </a:prstGeom>
          <a:noFill/>
          <a:ln w="12700">
            <a:solidFill>
              <a:srgbClr val="B0BCCB"/>
            </a:solidFill>
            <a:prstDash val="solid"/>
          </a:ln>
        </p:spPr>
      </p:sp>
      <p:sp>
        <p:nvSpPr>
          <p:cNvPr id="23" name="Shape 20"/>
          <p:cNvSpPr/>
          <p:nvPr/>
        </p:nvSpPr>
        <p:spPr>
          <a:xfrm>
            <a:off x="1014984" y="2020824"/>
            <a:ext cx="713232" cy="713232"/>
          </a:xfrm>
          <a:prstGeom prst="ellipse">
            <a:avLst/>
          </a:prstGeom>
          <a:solidFill>
            <a:srgbClr val="EAF2F8"/>
          </a:solidFill>
          <a:ln w="19050">
            <a:solidFill>
              <a:srgbClr val="1F5D9B"/>
            </a:solidFill>
            <a:prstDash val="solid"/>
          </a:ln>
        </p:spPr>
      </p:sp>
      <p:sp>
        <p:nvSpPr>
          <p:cNvPr id="24" name="Text 21"/>
          <p:cNvSpPr txBox="1"/>
          <p:nvPr/>
        </p:nvSpPr>
        <p:spPr>
          <a:xfrm>
            <a:off x="923544" y="2020824"/>
            <a:ext cx="896112" cy="713232"/>
          </a:xfrm>
          <a:prstGeom prst="rect">
            <a:avLst/>
          </a:prstGeom>
          <a:noFill/>
          <a:ln/>
        </p:spPr>
        <p:txBody>
          <a:bodyPr wrap="square" lIns="0" tIns="0" rIns="0" bIns="0" rtlCol="0" anchor="ctr"/>
          <a:lstStyle/>
          <a:p>
            <a:pPr algn="ctr" indent="0" marL="0">
              <a:buNone/>
            </a:pPr>
            <a:r>
              <a:rPr lang="en-US" sz="1050" b="1" dirty="0">
                <a:solidFill>
                  <a:srgbClr val="0B2D55"/>
                </a:solidFill>
                <a:latin typeface="Aptos" pitchFamily="34" charset="0"/>
                <a:ea typeface="Aptos" pitchFamily="34" charset="-122"/>
                <a:cs typeface="Aptos" pitchFamily="34" charset="-120"/>
              </a:rPr>
              <a:t>distance</a:t>
            </a:r>
            <a:endParaRPr lang="en-US" sz="1600" dirty="0"/>
          </a:p>
        </p:txBody>
      </p:sp>
      <p:sp>
        <p:nvSpPr>
          <p:cNvPr id="25" name="Shape 22"/>
          <p:cNvSpPr/>
          <p:nvPr/>
        </p:nvSpPr>
        <p:spPr>
          <a:xfrm>
            <a:off x="1014984" y="3209544"/>
            <a:ext cx="713232" cy="713232"/>
          </a:xfrm>
          <a:prstGeom prst="ellipse">
            <a:avLst/>
          </a:prstGeom>
          <a:solidFill>
            <a:srgbClr val="EAF2F8"/>
          </a:solidFill>
          <a:ln w="19050">
            <a:solidFill>
              <a:srgbClr val="1F5D9B"/>
            </a:solidFill>
            <a:prstDash val="solid"/>
          </a:ln>
        </p:spPr>
      </p:sp>
      <p:sp>
        <p:nvSpPr>
          <p:cNvPr id="26" name="Text 23"/>
          <p:cNvSpPr txBox="1"/>
          <p:nvPr/>
        </p:nvSpPr>
        <p:spPr>
          <a:xfrm>
            <a:off x="923544" y="3209544"/>
            <a:ext cx="896112" cy="713232"/>
          </a:xfrm>
          <a:prstGeom prst="rect">
            <a:avLst/>
          </a:prstGeom>
          <a:noFill/>
          <a:ln/>
        </p:spPr>
        <p:txBody>
          <a:bodyPr wrap="square" lIns="0" tIns="0" rIns="0" bIns="0" rtlCol="0" anchor="ctr"/>
          <a:lstStyle/>
          <a:p>
            <a:pPr algn="ctr" indent="0" marL="0">
              <a:buNone/>
            </a:pPr>
            <a:r>
              <a:rPr lang="en-US" sz="1050" b="1" dirty="0">
                <a:solidFill>
                  <a:srgbClr val="0B2D55"/>
                </a:solidFill>
                <a:latin typeface="Aptos" pitchFamily="34" charset="0"/>
                <a:ea typeface="Aptos" pitchFamily="34" charset="-122"/>
                <a:cs typeface="Aptos" pitchFamily="34" charset="-120"/>
              </a:rPr>
              <a:t>traffic</a:t>
            </a:r>
            <a:endParaRPr lang="en-US" sz="1600" dirty="0"/>
          </a:p>
        </p:txBody>
      </p:sp>
      <p:sp>
        <p:nvSpPr>
          <p:cNvPr id="27" name="Shape 24"/>
          <p:cNvSpPr/>
          <p:nvPr/>
        </p:nvSpPr>
        <p:spPr>
          <a:xfrm>
            <a:off x="1014984" y="4398264"/>
            <a:ext cx="713232" cy="713232"/>
          </a:xfrm>
          <a:prstGeom prst="ellipse">
            <a:avLst/>
          </a:prstGeom>
          <a:solidFill>
            <a:srgbClr val="EAF2F8"/>
          </a:solidFill>
          <a:ln w="19050">
            <a:solidFill>
              <a:srgbClr val="1F5D9B"/>
            </a:solidFill>
            <a:prstDash val="solid"/>
          </a:ln>
        </p:spPr>
      </p:sp>
      <p:sp>
        <p:nvSpPr>
          <p:cNvPr id="28" name="Text 25"/>
          <p:cNvSpPr txBox="1"/>
          <p:nvPr/>
        </p:nvSpPr>
        <p:spPr>
          <a:xfrm>
            <a:off x="923544" y="4398264"/>
            <a:ext cx="896112" cy="713232"/>
          </a:xfrm>
          <a:prstGeom prst="rect">
            <a:avLst/>
          </a:prstGeom>
          <a:noFill/>
          <a:ln/>
        </p:spPr>
        <p:txBody>
          <a:bodyPr wrap="square" lIns="0" tIns="0" rIns="0" bIns="0" rtlCol="0" anchor="ctr"/>
          <a:lstStyle/>
          <a:p>
            <a:pPr algn="ctr" indent="0" marL="0">
              <a:buNone/>
            </a:pPr>
            <a:r>
              <a:rPr lang="en-US" sz="1050" b="1" dirty="0">
                <a:solidFill>
                  <a:srgbClr val="0B2D55"/>
                </a:solidFill>
                <a:latin typeface="Aptos" pitchFamily="34" charset="0"/>
                <a:ea typeface="Aptos" pitchFamily="34" charset="-122"/>
                <a:cs typeface="Aptos" pitchFamily="34" charset="-120"/>
              </a:rPr>
              <a:t>weather</a:t>
            </a:r>
            <a:endParaRPr lang="en-US" sz="1600" dirty="0"/>
          </a:p>
        </p:txBody>
      </p:sp>
      <p:sp>
        <p:nvSpPr>
          <p:cNvPr id="29" name="Shape 26"/>
          <p:cNvSpPr/>
          <p:nvPr/>
        </p:nvSpPr>
        <p:spPr>
          <a:xfrm>
            <a:off x="3255264" y="2020824"/>
            <a:ext cx="713232" cy="713232"/>
          </a:xfrm>
          <a:prstGeom prst="ellipse">
            <a:avLst/>
          </a:prstGeom>
          <a:solidFill>
            <a:srgbClr val="FFFFFF"/>
          </a:solidFill>
          <a:ln w="19050">
            <a:solidFill>
              <a:srgbClr val="0B2D55"/>
            </a:solidFill>
            <a:prstDash val="solid"/>
          </a:ln>
        </p:spPr>
      </p:sp>
      <p:sp>
        <p:nvSpPr>
          <p:cNvPr id="30" name="Text 27"/>
          <p:cNvSpPr txBox="1"/>
          <p:nvPr/>
        </p:nvSpPr>
        <p:spPr>
          <a:xfrm>
            <a:off x="3163824" y="2020824"/>
            <a:ext cx="896112" cy="713232"/>
          </a:xfrm>
          <a:prstGeom prst="rect">
            <a:avLst/>
          </a:prstGeom>
          <a:noFill/>
          <a:ln/>
        </p:spPr>
        <p:txBody>
          <a:bodyPr wrap="square" lIns="0" tIns="0" rIns="0" bIns="0" rtlCol="0" anchor="ctr"/>
          <a:lstStyle/>
          <a:p>
            <a:pPr algn="ctr" indent="0" marL="0">
              <a:buNone/>
            </a:pPr>
            <a:endParaRPr lang="en-US" sz="1600" dirty="0"/>
          </a:p>
        </p:txBody>
      </p:sp>
      <p:sp>
        <p:nvSpPr>
          <p:cNvPr id="31" name="Shape 28"/>
          <p:cNvSpPr/>
          <p:nvPr/>
        </p:nvSpPr>
        <p:spPr>
          <a:xfrm>
            <a:off x="3255264" y="3209544"/>
            <a:ext cx="713232" cy="713232"/>
          </a:xfrm>
          <a:prstGeom prst="ellipse">
            <a:avLst/>
          </a:prstGeom>
          <a:solidFill>
            <a:srgbClr val="FFFFFF"/>
          </a:solidFill>
          <a:ln w="19050">
            <a:solidFill>
              <a:srgbClr val="0B2D55"/>
            </a:solidFill>
            <a:prstDash val="solid"/>
          </a:ln>
        </p:spPr>
      </p:sp>
      <p:sp>
        <p:nvSpPr>
          <p:cNvPr id="32" name="Text 29"/>
          <p:cNvSpPr txBox="1"/>
          <p:nvPr/>
        </p:nvSpPr>
        <p:spPr>
          <a:xfrm>
            <a:off x="3163824" y="3209544"/>
            <a:ext cx="896112" cy="713232"/>
          </a:xfrm>
          <a:prstGeom prst="rect">
            <a:avLst/>
          </a:prstGeom>
          <a:noFill/>
          <a:ln/>
        </p:spPr>
        <p:txBody>
          <a:bodyPr wrap="square" lIns="0" tIns="0" rIns="0" bIns="0" rtlCol="0" anchor="ctr"/>
          <a:lstStyle/>
          <a:p>
            <a:pPr algn="ctr" indent="0" marL="0">
              <a:buNone/>
            </a:pPr>
            <a:endParaRPr lang="en-US" sz="1600" dirty="0"/>
          </a:p>
        </p:txBody>
      </p:sp>
      <p:sp>
        <p:nvSpPr>
          <p:cNvPr id="33" name="Shape 30"/>
          <p:cNvSpPr/>
          <p:nvPr/>
        </p:nvSpPr>
        <p:spPr>
          <a:xfrm>
            <a:off x="3255264" y="4398264"/>
            <a:ext cx="713232" cy="713232"/>
          </a:xfrm>
          <a:prstGeom prst="ellipse">
            <a:avLst/>
          </a:prstGeom>
          <a:solidFill>
            <a:srgbClr val="FFFFFF"/>
          </a:solidFill>
          <a:ln w="19050">
            <a:solidFill>
              <a:srgbClr val="0B2D55"/>
            </a:solidFill>
            <a:prstDash val="solid"/>
          </a:ln>
        </p:spPr>
      </p:sp>
      <p:sp>
        <p:nvSpPr>
          <p:cNvPr id="34" name="Text 31"/>
          <p:cNvSpPr txBox="1"/>
          <p:nvPr/>
        </p:nvSpPr>
        <p:spPr>
          <a:xfrm>
            <a:off x="3163824" y="4398264"/>
            <a:ext cx="896112" cy="713232"/>
          </a:xfrm>
          <a:prstGeom prst="rect">
            <a:avLst/>
          </a:prstGeom>
          <a:noFill/>
          <a:ln/>
        </p:spPr>
        <p:txBody>
          <a:bodyPr wrap="square" lIns="0" tIns="0" rIns="0" bIns="0" rtlCol="0" anchor="ctr"/>
          <a:lstStyle/>
          <a:p>
            <a:pPr algn="ctr" indent="0" marL="0">
              <a:buNone/>
            </a:pPr>
            <a:endParaRPr lang="en-US" sz="1600" dirty="0"/>
          </a:p>
        </p:txBody>
      </p:sp>
      <p:sp>
        <p:nvSpPr>
          <p:cNvPr id="35" name="Shape 32"/>
          <p:cNvSpPr/>
          <p:nvPr/>
        </p:nvSpPr>
        <p:spPr>
          <a:xfrm>
            <a:off x="5495544" y="2318004"/>
            <a:ext cx="713232" cy="713232"/>
          </a:xfrm>
          <a:prstGeom prst="ellipse">
            <a:avLst/>
          </a:prstGeom>
          <a:solidFill>
            <a:srgbClr val="DFF0D8"/>
          </a:solidFill>
          <a:ln w="19050">
            <a:solidFill>
              <a:srgbClr val="2E7D32"/>
            </a:solidFill>
            <a:prstDash val="solid"/>
          </a:ln>
        </p:spPr>
      </p:sp>
      <p:sp>
        <p:nvSpPr>
          <p:cNvPr id="36" name="Text 33"/>
          <p:cNvSpPr txBox="1"/>
          <p:nvPr/>
        </p:nvSpPr>
        <p:spPr>
          <a:xfrm>
            <a:off x="5404104" y="2318004"/>
            <a:ext cx="896112" cy="713232"/>
          </a:xfrm>
          <a:prstGeom prst="rect">
            <a:avLst/>
          </a:prstGeom>
          <a:noFill/>
          <a:ln/>
        </p:spPr>
        <p:txBody>
          <a:bodyPr wrap="square" lIns="0" tIns="0" rIns="0" bIns="0" rtlCol="0" anchor="ctr"/>
          <a:lstStyle/>
          <a:p>
            <a:pPr algn="ctr" indent="0" marL="0">
              <a:buNone/>
            </a:pPr>
            <a:r>
              <a:rPr lang="en-US" sz="1050" b="1" dirty="0">
                <a:solidFill>
                  <a:srgbClr val="0B2D55"/>
                </a:solidFill>
                <a:latin typeface="Aptos" pitchFamily="34" charset="0"/>
                <a:ea typeface="Aptos" pitchFamily="34" charset="-122"/>
                <a:cs typeface="Aptos" pitchFamily="34" charset="-120"/>
              </a:rPr>
              <a:t>price</a:t>
            </a:r>
            <a:endParaRPr lang="en-US" sz="1600" dirty="0"/>
          </a:p>
        </p:txBody>
      </p:sp>
      <p:sp>
        <p:nvSpPr>
          <p:cNvPr id="37" name="Shape 34"/>
          <p:cNvSpPr/>
          <p:nvPr/>
        </p:nvSpPr>
        <p:spPr>
          <a:xfrm>
            <a:off x="5495544" y="4101084"/>
            <a:ext cx="713232" cy="713232"/>
          </a:xfrm>
          <a:prstGeom prst="ellipse">
            <a:avLst/>
          </a:prstGeom>
          <a:solidFill>
            <a:srgbClr val="DFF0D8"/>
          </a:solidFill>
          <a:ln w="19050">
            <a:solidFill>
              <a:srgbClr val="2E7D32"/>
            </a:solidFill>
            <a:prstDash val="solid"/>
          </a:ln>
        </p:spPr>
      </p:sp>
      <p:sp>
        <p:nvSpPr>
          <p:cNvPr id="38" name="Text 35"/>
          <p:cNvSpPr txBox="1"/>
          <p:nvPr/>
        </p:nvSpPr>
        <p:spPr>
          <a:xfrm>
            <a:off x="5404104" y="4101084"/>
            <a:ext cx="896112" cy="713232"/>
          </a:xfrm>
          <a:prstGeom prst="rect">
            <a:avLst/>
          </a:prstGeom>
          <a:noFill/>
          <a:ln/>
        </p:spPr>
        <p:txBody>
          <a:bodyPr wrap="square" lIns="0" tIns="0" rIns="0" bIns="0" rtlCol="0" anchor="ctr"/>
          <a:lstStyle/>
          <a:p>
            <a:pPr algn="ctr" indent="0" marL="0">
              <a:buNone/>
            </a:pPr>
            <a:r>
              <a:rPr lang="en-US" sz="1050" b="1" dirty="0">
                <a:solidFill>
                  <a:srgbClr val="0B2D55"/>
                </a:solidFill>
                <a:latin typeface="Aptos" pitchFamily="34" charset="0"/>
                <a:ea typeface="Aptos" pitchFamily="34" charset="-122"/>
                <a:cs typeface="Aptos" pitchFamily="34" charset="-120"/>
              </a:rPr>
              <a:t>ETA</a:t>
            </a:r>
            <a:endParaRPr lang="en-US" sz="1600" dirty="0"/>
          </a:p>
        </p:txBody>
      </p:sp>
      <p:sp>
        <p:nvSpPr>
          <p:cNvPr id="39" name="Text 36"/>
          <p:cNvSpPr txBox="1"/>
          <p:nvPr/>
        </p:nvSpPr>
        <p:spPr>
          <a:xfrm>
            <a:off x="457200" y="5440680"/>
            <a:ext cx="1828800" cy="457200"/>
          </a:xfrm>
          <a:prstGeom prst="rect">
            <a:avLst/>
          </a:prstGeom>
          <a:noFill/>
          <a:ln/>
        </p:spPr>
        <p:txBody>
          <a:bodyPr wrap="square" lIns="0" tIns="0" rIns="0" bIns="0" rtlCol="0" anchor="t"/>
          <a:lstStyle/>
          <a:p>
            <a:pPr algn="ctr" indent="0" marL="0">
              <a:buNone/>
            </a:pPr>
            <a:r>
              <a:rPr lang="en-US" sz="1300" b="1" dirty="0">
                <a:solidFill>
                  <a:srgbClr val="0B2D55"/>
                </a:solidFill>
                <a:latin typeface="Aptos" pitchFamily="34" charset="0"/>
                <a:ea typeface="Aptos" pitchFamily="34" charset="-122"/>
                <a:cs typeface="Aptos" pitchFamily="34" charset="-120"/>
              </a:rPr>
              <a:t>Inputs</a:t>
            </a:r>
            <a:endParaRPr lang="en-US" sz="1300" dirty="0"/>
          </a:p>
        </p:txBody>
      </p:sp>
      <p:sp>
        <p:nvSpPr>
          <p:cNvPr id="40" name="Text 37"/>
          <p:cNvSpPr txBox="1"/>
          <p:nvPr/>
        </p:nvSpPr>
        <p:spPr>
          <a:xfrm>
            <a:off x="2697480" y="5440680"/>
            <a:ext cx="1828800" cy="457200"/>
          </a:xfrm>
          <a:prstGeom prst="rect">
            <a:avLst/>
          </a:prstGeom>
          <a:noFill/>
          <a:ln/>
        </p:spPr>
        <p:txBody>
          <a:bodyPr wrap="square" lIns="0" tIns="0" rIns="0" bIns="0" rtlCol="0" anchor="t"/>
          <a:lstStyle/>
          <a:p>
            <a:pPr algn="ctr" indent="0" marL="0">
              <a:buNone/>
            </a:pPr>
            <a:r>
              <a:rPr lang="en-US" sz="1300" b="1" dirty="0">
                <a:solidFill>
                  <a:srgbClr val="0B2D55"/>
                </a:solidFill>
                <a:latin typeface="Aptos" pitchFamily="34" charset="0"/>
                <a:ea typeface="Aptos" pitchFamily="34" charset="-122"/>
                <a:cs typeface="Aptos" pitchFamily="34" charset="-120"/>
              </a:rPr>
              <a:t>Shared hidden layer</a:t>
            </a:r>
            <a:endParaRPr lang="en-US" sz="1300" dirty="0"/>
          </a:p>
        </p:txBody>
      </p:sp>
      <p:sp>
        <p:nvSpPr>
          <p:cNvPr id="41" name="Text 38"/>
          <p:cNvSpPr txBox="1"/>
          <p:nvPr/>
        </p:nvSpPr>
        <p:spPr>
          <a:xfrm>
            <a:off x="4937760" y="5440680"/>
            <a:ext cx="1828800" cy="457200"/>
          </a:xfrm>
          <a:prstGeom prst="rect">
            <a:avLst/>
          </a:prstGeom>
          <a:noFill/>
          <a:ln/>
        </p:spPr>
        <p:txBody>
          <a:bodyPr wrap="square" lIns="0" tIns="0" rIns="0" bIns="0" rtlCol="0" anchor="t"/>
          <a:lstStyle/>
          <a:p>
            <a:pPr algn="ctr" indent="0" marL="0">
              <a:buNone/>
            </a:pPr>
            <a:r>
              <a:rPr lang="en-US" sz="1300" b="1" dirty="0">
                <a:solidFill>
                  <a:srgbClr val="0B2D55"/>
                </a:solidFill>
                <a:latin typeface="Aptos" pitchFamily="34" charset="0"/>
                <a:ea typeface="Aptos" pitchFamily="34" charset="-122"/>
                <a:cs typeface="Aptos" pitchFamily="34" charset="-120"/>
              </a:rPr>
              <a:t>Two outputs</a:t>
            </a:r>
            <a:endParaRPr lang="en-US" sz="1300" dirty="0"/>
          </a:p>
        </p:txBody>
      </p:sp>
      <p:sp>
        <p:nvSpPr>
          <p:cNvPr id="42" name="Shape 39"/>
          <p:cNvSpPr/>
          <p:nvPr/>
        </p:nvSpPr>
        <p:spPr>
          <a:xfrm>
            <a:off x="6858000" y="1508760"/>
            <a:ext cx="4754880" cy="1965960"/>
          </a:xfrm>
          <a:prstGeom prst="roundRect">
            <a:avLst>
              <a:gd name="adj" fmla="val 3721"/>
            </a:avLst>
          </a:prstGeom>
          <a:solidFill>
            <a:srgbClr val="EAF2F8"/>
          </a:solidFill>
          <a:ln w="12700">
            <a:solidFill>
              <a:srgbClr val="1F5D9B"/>
            </a:solidFill>
            <a:prstDash val="solid"/>
          </a:ln>
        </p:spPr>
      </p:sp>
      <p:sp>
        <p:nvSpPr>
          <p:cNvPr id="43" name="Text 40"/>
          <p:cNvSpPr txBox="1"/>
          <p:nvPr/>
        </p:nvSpPr>
        <p:spPr>
          <a:xfrm>
            <a:off x="7040880" y="1618488"/>
            <a:ext cx="4389120" cy="292608"/>
          </a:xfrm>
          <a:prstGeom prst="rect">
            <a:avLst/>
          </a:prstGeom>
          <a:noFill/>
          <a:ln/>
        </p:spPr>
        <p:txBody>
          <a:bodyPr wrap="square" lIns="0" tIns="0" rIns="0" bIns="0" rtlCol="0" anchor="t"/>
          <a:lstStyle/>
          <a:p>
            <a:pPr indent="0" marL="0">
              <a:buNone/>
            </a:pPr>
            <a:r>
              <a:rPr lang="en-US" sz="1500" b="1" dirty="0">
                <a:solidFill>
                  <a:srgbClr val="0B2D55"/>
                </a:solidFill>
                <a:latin typeface="Aptos" pitchFamily="34" charset="0"/>
                <a:ea typeface="Aptos" pitchFamily="34" charset="-122"/>
                <a:cs typeface="Aptos" pitchFamily="34" charset="-120"/>
              </a:rPr>
              <a:t>Why share?</a:t>
            </a:r>
            <a:endParaRPr lang="en-US" sz="1500" dirty="0"/>
          </a:p>
        </p:txBody>
      </p:sp>
      <p:sp>
        <p:nvSpPr>
          <p:cNvPr id="44" name="Text 41"/>
          <p:cNvSpPr txBox="1"/>
          <p:nvPr/>
        </p:nvSpPr>
        <p:spPr>
          <a:xfrm>
            <a:off x="7040880" y="1947672"/>
            <a:ext cx="4389120" cy="1435608"/>
          </a:xfrm>
          <a:prstGeom prst="rect">
            <a:avLst/>
          </a:prstGeom>
          <a:noFill/>
          <a:ln/>
        </p:spPr>
        <p:txBody>
          <a:bodyPr wrap="square" lIns="0" tIns="0" rIns="0" bIns="0" rtlCol="0" anchor="t"/>
          <a:lstStyle/>
          <a:p>
            <a:pPr indent="0" marL="0">
              <a:buNone/>
            </a:pPr>
            <a:r>
              <a:rPr lang="en-US" sz="1550" dirty="0">
                <a:solidFill>
                  <a:srgbClr val="132033"/>
                </a:solidFill>
                <a:latin typeface="Aptos" pitchFamily="34" charset="0"/>
                <a:ea typeface="Aptos" pitchFamily="34" charset="-122"/>
                <a:cs typeface="Aptos" pitchFamily="34" charset="-120"/>
              </a:rPr>
              <a:t>Price and ETA depend on the same hidden facts (how slow the trip is, demand). Learn them once; keep both predictions consistent.</a:t>
            </a:r>
            <a:endParaRPr lang="en-US" sz="1550" dirty="0"/>
          </a:p>
        </p:txBody>
      </p:sp>
      <p:sp>
        <p:nvSpPr>
          <p:cNvPr id="45" name="Shape 42"/>
          <p:cNvSpPr/>
          <p:nvPr/>
        </p:nvSpPr>
        <p:spPr>
          <a:xfrm>
            <a:off x="6858000" y="3611880"/>
            <a:ext cx="4754880" cy="1280160"/>
          </a:xfrm>
          <a:prstGeom prst="roundRect">
            <a:avLst>
              <a:gd name="adj" fmla="val 5714"/>
            </a:avLst>
          </a:prstGeom>
          <a:solidFill>
            <a:srgbClr val="FFF4CE"/>
          </a:solidFill>
          <a:ln w="12700">
            <a:solidFill>
              <a:srgbClr val="F2C14E"/>
            </a:solidFill>
            <a:prstDash val="solid"/>
          </a:ln>
        </p:spPr>
      </p:sp>
      <p:sp>
        <p:nvSpPr>
          <p:cNvPr id="46" name="Text 43"/>
          <p:cNvSpPr txBox="1"/>
          <p:nvPr/>
        </p:nvSpPr>
        <p:spPr>
          <a:xfrm>
            <a:off x="7040880" y="3721608"/>
            <a:ext cx="4389120" cy="292608"/>
          </a:xfrm>
          <a:prstGeom prst="rect">
            <a:avLst/>
          </a:prstGeom>
          <a:noFill/>
          <a:ln/>
        </p:spPr>
        <p:txBody>
          <a:bodyPr wrap="square" lIns="0" tIns="0" rIns="0" bIns="0" rtlCol="0" anchor="t"/>
          <a:lstStyle/>
          <a:p>
            <a:pPr indent="0" marL="0">
              <a:buNone/>
            </a:pPr>
            <a:r>
              <a:rPr lang="en-US" sz="1500" b="1" dirty="0">
                <a:solidFill>
                  <a:srgbClr val="0B2D55"/>
                </a:solidFill>
                <a:latin typeface="Aptos" pitchFamily="34" charset="0"/>
                <a:ea typeface="Aptos" pitchFamily="34" charset="-122"/>
                <a:cs typeface="Aptos" pitchFamily="34" charset="-120"/>
              </a:rPr>
              <a:t>Linear outputs</a:t>
            </a:r>
            <a:endParaRPr lang="en-US" sz="1500" dirty="0"/>
          </a:p>
        </p:txBody>
      </p:sp>
      <p:sp>
        <p:nvSpPr>
          <p:cNvPr id="47" name="Text 44"/>
          <p:cNvSpPr txBox="1"/>
          <p:nvPr/>
        </p:nvSpPr>
        <p:spPr>
          <a:xfrm>
            <a:off x="7040880" y="4050792"/>
            <a:ext cx="4389120" cy="749808"/>
          </a:xfrm>
          <a:prstGeom prst="rect">
            <a:avLst/>
          </a:prstGeom>
          <a:noFill/>
          <a:ln/>
        </p:spPr>
        <p:txBody>
          <a:bodyPr wrap="square" lIns="0" tIns="0" rIns="0" bIns="0" rtlCol="0" anchor="t"/>
          <a:lstStyle/>
          <a:p>
            <a:pPr indent="0" marL="0">
              <a:buNone/>
            </a:pPr>
            <a:r>
              <a:rPr lang="en-US" sz="1550" dirty="0">
                <a:solidFill>
                  <a:srgbClr val="132033"/>
                </a:solidFill>
                <a:latin typeface="Aptos" pitchFamily="34" charset="0"/>
                <a:ea typeface="Aptos" pitchFamily="34" charset="-122"/>
                <a:cs typeface="Aptos" pitchFamily="34" charset="-120"/>
              </a:rPr>
              <a:t>Dollars and minutes are continuous numbers, so no sigmoid: the output is just z.</a:t>
            </a:r>
            <a:endParaRPr lang="en-US" sz="1550" dirty="0"/>
          </a:p>
        </p:txBody>
      </p:sp>
      <p:sp>
        <p:nvSpPr>
          <p:cNvPr id="48" name="Text 45"/>
          <p:cNvSpPr txBox="1"/>
          <p:nvPr/>
        </p:nvSpPr>
        <p:spPr>
          <a:xfrm>
            <a:off x="6858000" y="5029200"/>
            <a:ext cx="4754880" cy="731520"/>
          </a:xfrm>
          <a:prstGeom prst="rect">
            <a:avLst/>
          </a:prstGeom>
          <a:noFill/>
          <a:ln/>
        </p:spPr>
        <p:txBody>
          <a:bodyPr wrap="square" lIns="0" tIns="0" rIns="0" bIns="0" rtlCol="0" anchor="ctr"/>
          <a:lstStyle/>
          <a:p>
            <a:pPr algn="ctr" indent="0" marL="0">
              <a:buNone/>
            </a:pPr>
            <a:r>
              <a:rPr lang="en-US" sz="2400" b="1" dirty="0">
                <a:solidFill>
                  <a:srgbClr val="0B2D55"/>
                </a:solidFill>
                <a:latin typeface="Aptos" pitchFamily="34" charset="0"/>
                <a:ea typeface="Aptos" pitchFamily="34" charset="-122"/>
                <a:cs typeface="Aptos" pitchFamily="34" charset="-120"/>
              </a:rPr>
              <a:t>Y = [ y</a:t>
            </a:r>
            <a:pPr algn="ctr" indent="0" marL="0">
              <a:buNone/>
            </a:pPr>
            <a:r>
              <a:rPr lang="en-US" sz="2400" b="1" baseline="-40000" dirty="0">
                <a:solidFill>
                  <a:srgbClr val="0B2D55"/>
                </a:solidFill>
                <a:latin typeface="Aptos" pitchFamily="34" charset="0"/>
                <a:ea typeface="Aptos" pitchFamily="34" charset="-122"/>
                <a:cs typeface="Aptos" pitchFamily="34" charset="-120"/>
              </a:rPr>
              <a:t>price</a:t>
            </a:r>
            <a:pPr algn="ctr" indent="0" marL="0">
              <a:buNone/>
            </a:pPr>
            <a:r>
              <a:rPr lang="en-US" sz="2400" b="1" dirty="0">
                <a:solidFill>
                  <a:srgbClr val="0B2D55"/>
                </a:solidFill>
                <a:latin typeface="Aptos" pitchFamily="34" charset="0"/>
                <a:ea typeface="Aptos" pitchFamily="34" charset="-122"/>
                <a:cs typeface="Aptos" pitchFamily="34" charset="-120"/>
              </a:rPr>
              <a:t>,  y</a:t>
            </a:r>
            <a:pPr algn="ctr" indent="0" marL="0">
              <a:buNone/>
            </a:pPr>
            <a:r>
              <a:rPr lang="en-US" sz="2400" b="1" baseline="-40000" dirty="0">
                <a:solidFill>
                  <a:srgbClr val="0B2D55"/>
                </a:solidFill>
                <a:latin typeface="Aptos" pitchFamily="34" charset="0"/>
                <a:ea typeface="Aptos" pitchFamily="34" charset="-122"/>
                <a:cs typeface="Aptos" pitchFamily="34" charset="-120"/>
              </a:rPr>
              <a:t>ETA</a:t>
            </a:r>
            <a:pPr algn="ctr" indent="0" marL="0">
              <a:buNone/>
            </a:pPr>
            <a:r>
              <a:rPr lang="en-US" sz="2400" b="1" dirty="0">
                <a:solidFill>
                  <a:srgbClr val="0B2D55"/>
                </a:solidFill>
                <a:latin typeface="Aptos" pitchFamily="34" charset="0"/>
                <a:ea typeface="Aptos" pitchFamily="34" charset="-122"/>
                <a:cs typeface="Aptos" pitchFamily="34" charset="-120"/>
              </a:rPr>
              <a:t> ]</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indent="0" marL="0">
              <a:buNone/>
            </a:pPr>
            <a:r>
              <a:rPr lang="en-US" sz="3400" b="1" dirty="0">
                <a:solidFill>
                  <a:srgbClr val="0B2D55"/>
                </a:solidFill>
                <a:latin typeface="Aptos Display" pitchFamily="34" charset="0"/>
                <a:ea typeface="Aptos Display" pitchFamily="34" charset="-122"/>
                <a:cs typeface="Aptos Display" pitchFamily="34" charset="-120"/>
              </a:rPr>
              <a:t>Worked example: two outputs</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indent="0" marL="0">
              <a:buNone/>
            </a:pPr>
            <a:r>
              <a:rPr lang="en-US" sz="1500" dirty="0">
                <a:solidFill>
                  <a:srgbClr val="132033"/>
                </a:solidFill>
                <a:latin typeface="Aptos" pitchFamily="34" charset="0"/>
                <a:ea typeface="Aptos" pitchFamily="34" charset="-122"/>
                <a:cs typeface="Aptos" pitchFamily="34" charset="-120"/>
              </a:rPr>
              <a:t>Compute → Predict: one set of hidden values, two predictions.</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indent="0" marL="0">
              <a:buNone/>
            </a:pPr>
            <a:r>
              <a:rPr lang="en-US" sz="850" dirty="0">
                <a:solidFill>
                  <a:srgbClr val="6D7C8F"/>
                </a:solidFill>
                <a:latin typeface="Aptos" pitchFamily="34" charset="0"/>
                <a:ea typeface="Aptos" pitchFamily="34" charset="-122"/>
                <a:cs typeface="Aptos" pitchFamily="34" charset="-120"/>
              </a:rPr>
              <a:t>CS 471  |  L28: Neural Networks I</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algn="r" indent="0" marL="0">
              <a:buNone/>
            </a:pPr>
            <a:r>
              <a:rPr lang="en-US" sz="850" dirty="0">
                <a:solidFill>
                  <a:srgbClr val="6D7C8F"/>
                </a:solidFill>
                <a:latin typeface="Aptos" pitchFamily="34" charset="0"/>
                <a:ea typeface="Aptos" pitchFamily="34" charset="-122"/>
                <a:cs typeface="Aptos" pitchFamily="34" charset="-120"/>
              </a:rPr>
              <a:t>23</a:t>
            </a:r>
            <a:endParaRPr lang="en-US" sz="850" dirty="0"/>
          </a:p>
        </p:txBody>
      </p:sp>
      <p:sp>
        <p:nvSpPr>
          <p:cNvPr id="7" name="Shape 4"/>
          <p:cNvSpPr/>
          <p:nvPr/>
        </p:nvSpPr>
        <p:spPr>
          <a:xfrm>
            <a:off x="576072" y="1508760"/>
            <a:ext cx="6035040" cy="4389120"/>
          </a:xfrm>
          <a:prstGeom prst="roundRect">
            <a:avLst>
              <a:gd name="adj" fmla="val 1667"/>
            </a:avLst>
          </a:prstGeom>
          <a:solidFill>
            <a:srgbClr val="FFFFFF"/>
          </a:solidFill>
          <a:ln w="12700">
            <a:solidFill>
              <a:srgbClr val="B8C7D8"/>
            </a:solidFill>
            <a:prstDash val="solid"/>
          </a:ln>
        </p:spPr>
      </p:sp>
      <p:sp>
        <p:nvSpPr>
          <p:cNvPr id="8" name="Shape 5"/>
          <p:cNvSpPr/>
          <p:nvPr/>
        </p:nvSpPr>
        <p:spPr>
          <a:xfrm>
            <a:off x="2286000" y="2468880"/>
            <a:ext cx="2377440" cy="914"/>
          </a:xfrm>
          <a:prstGeom prst="line">
            <a:avLst/>
          </a:prstGeom>
          <a:noFill/>
          <a:ln w="26035">
            <a:solidFill>
              <a:srgbClr val="1D5FA7"/>
            </a:solidFill>
            <a:prstDash val="solid"/>
          </a:ln>
        </p:spPr>
      </p:sp>
      <p:sp>
        <p:nvSpPr>
          <p:cNvPr id="9" name="Shape 6"/>
          <p:cNvSpPr/>
          <p:nvPr/>
        </p:nvSpPr>
        <p:spPr>
          <a:xfrm flipV="1">
            <a:off x="2286000" y="2468880"/>
            <a:ext cx="2377440" cy="2194560"/>
          </a:xfrm>
          <a:prstGeom prst="line">
            <a:avLst/>
          </a:prstGeom>
          <a:noFill/>
          <a:ln w="30480">
            <a:solidFill>
              <a:srgbClr val="1D5FA7"/>
            </a:solidFill>
            <a:prstDash val="solid"/>
          </a:ln>
        </p:spPr>
      </p:sp>
      <p:sp>
        <p:nvSpPr>
          <p:cNvPr id="10" name="Shape 7"/>
          <p:cNvSpPr/>
          <p:nvPr/>
        </p:nvSpPr>
        <p:spPr>
          <a:xfrm>
            <a:off x="2286000" y="2468880"/>
            <a:ext cx="2377440" cy="2194560"/>
          </a:xfrm>
          <a:prstGeom prst="line">
            <a:avLst/>
          </a:prstGeom>
          <a:noFill/>
          <a:ln w="34925">
            <a:solidFill>
              <a:srgbClr val="1D5FA7"/>
            </a:solidFill>
            <a:prstDash val="solid"/>
          </a:ln>
        </p:spPr>
      </p:sp>
      <p:sp>
        <p:nvSpPr>
          <p:cNvPr id="11" name="Shape 8"/>
          <p:cNvSpPr/>
          <p:nvPr/>
        </p:nvSpPr>
        <p:spPr>
          <a:xfrm>
            <a:off x="2286000" y="4663440"/>
            <a:ext cx="2377440" cy="914"/>
          </a:xfrm>
          <a:prstGeom prst="line">
            <a:avLst/>
          </a:prstGeom>
          <a:noFill/>
          <a:ln w="21590">
            <a:solidFill>
              <a:srgbClr val="1D5FA7"/>
            </a:solidFill>
            <a:prstDash val="solid"/>
          </a:ln>
        </p:spPr>
      </p:sp>
      <p:sp>
        <p:nvSpPr>
          <p:cNvPr id="12" name="Text 9"/>
          <p:cNvSpPr txBox="1"/>
          <p:nvPr/>
        </p:nvSpPr>
        <p:spPr>
          <a:xfrm>
            <a:off x="2542032" y="2322576"/>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1D5FA7"/>
                </a:solidFill>
                <a:latin typeface="Aptos" pitchFamily="34" charset="0"/>
                <a:ea typeface="Aptos" pitchFamily="34" charset="-122"/>
                <a:cs typeface="Aptos" pitchFamily="34" charset="-120"/>
              </a:rPr>
              <a:t>3</a:t>
            </a:r>
            <a:endParaRPr lang="en-US" sz="1250" dirty="0"/>
          </a:p>
        </p:txBody>
      </p:sp>
      <p:sp>
        <p:nvSpPr>
          <p:cNvPr id="13" name="Text 10"/>
          <p:cNvSpPr txBox="1"/>
          <p:nvPr/>
        </p:nvSpPr>
        <p:spPr>
          <a:xfrm>
            <a:off x="2542032" y="3008376"/>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1D5FA7"/>
                </a:solidFill>
                <a:latin typeface="Aptos" pitchFamily="34" charset="0"/>
                <a:ea typeface="Aptos" pitchFamily="34" charset="-122"/>
                <a:cs typeface="Aptos" pitchFamily="34" charset="-120"/>
              </a:rPr>
              <a:t>5</a:t>
            </a:r>
            <a:endParaRPr lang="en-US" sz="1250" dirty="0"/>
          </a:p>
        </p:txBody>
      </p:sp>
      <p:sp>
        <p:nvSpPr>
          <p:cNvPr id="14" name="Text 11"/>
          <p:cNvSpPr txBox="1"/>
          <p:nvPr/>
        </p:nvSpPr>
        <p:spPr>
          <a:xfrm>
            <a:off x="2542032" y="3831336"/>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1D5FA7"/>
                </a:solidFill>
                <a:latin typeface="Aptos" pitchFamily="34" charset="0"/>
                <a:ea typeface="Aptos" pitchFamily="34" charset="-122"/>
                <a:cs typeface="Aptos" pitchFamily="34" charset="-120"/>
              </a:rPr>
              <a:t>4</a:t>
            </a:r>
            <a:endParaRPr lang="en-US" sz="1250" dirty="0"/>
          </a:p>
        </p:txBody>
      </p:sp>
      <p:sp>
        <p:nvSpPr>
          <p:cNvPr id="15" name="Text 12"/>
          <p:cNvSpPr txBox="1"/>
          <p:nvPr/>
        </p:nvSpPr>
        <p:spPr>
          <a:xfrm>
            <a:off x="2542032" y="4517136"/>
            <a:ext cx="585216" cy="274320"/>
          </a:xfrm>
          <a:prstGeom prst="rect">
            <a:avLst/>
          </a:prstGeom>
          <a:solidFill>
            <a:srgbClr val="FFFFFF"/>
          </a:solidFill>
          <a:ln/>
        </p:spPr>
        <p:txBody>
          <a:bodyPr wrap="square" lIns="0" tIns="0" rIns="0" bIns="0" rtlCol="0" anchor="ctr"/>
          <a:lstStyle/>
          <a:p>
            <a:pPr algn="ctr" indent="0" marL="0">
              <a:buNone/>
            </a:pPr>
            <a:r>
              <a:rPr lang="en-US" sz="1250" b="1" dirty="0">
                <a:solidFill>
                  <a:srgbClr val="1D5FA7"/>
                </a:solidFill>
                <a:latin typeface="Aptos" pitchFamily="34" charset="0"/>
                <a:ea typeface="Aptos" pitchFamily="34" charset="-122"/>
                <a:cs typeface="Aptos" pitchFamily="34" charset="-120"/>
              </a:rPr>
              <a:t>2</a:t>
            </a:r>
            <a:endParaRPr lang="en-US" sz="1250" dirty="0"/>
          </a:p>
        </p:txBody>
      </p:sp>
      <p:sp>
        <p:nvSpPr>
          <p:cNvPr id="16" name="Shape 13"/>
          <p:cNvSpPr/>
          <p:nvPr/>
        </p:nvSpPr>
        <p:spPr>
          <a:xfrm>
            <a:off x="1371600" y="2011680"/>
            <a:ext cx="914400" cy="914400"/>
          </a:xfrm>
          <a:prstGeom prst="ellipse">
            <a:avLst/>
          </a:prstGeom>
          <a:solidFill>
            <a:srgbClr val="FFFFFF"/>
          </a:solidFill>
          <a:ln w="19050">
            <a:solidFill>
              <a:srgbClr val="0B2D55"/>
            </a:solidFill>
            <a:prstDash val="solid"/>
          </a:ln>
        </p:spPr>
      </p:sp>
      <p:sp>
        <p:nvSpPr>
          <p:cNvPr id="17" name="Text 14"/>
          <p:cNvSpPr txBox="1"/>
          <p:nvPr/>
        </p:nvSpPr>
        <p:spPr>
          <a:xfrm>
            <a:off x="1280160" y="2011680"/>
            <a:ext cx="1097280" cy="914400"/>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h₁</a:t>
            </a:r>
            <a:endParaRPr lang="en-US" sz="1600" dirty="0"/>
          </a:p>
          <a:p>
            <a:pPr algn="ctr" indent="0" marL="0">
              <a:buNone/>
            </a:pPr>
            <a:r>
              <a:rPr lang="en-US" sz="1700" b="1" dirty="0">
                <a:solidFill>
                  <a:srgbClr val="0B2D55"/>
                </a:solidFill>
                <a:latin typeface="Aptos" pitchFamily="34" charset="0"/>
                <a:ea typeface="Aptos" pitchFamily="34" charset="-122"/>
                <a:cs typeface="Aptos" pitchFamily="34" charset="-120"/>
              </a:rPr>
              <a:t>2</a:t>
            </a:r>
            <a:endParaRPr lang="en-US" sz="1600" dirty="0"/>
          </a:p>
        </p:txBody>
      </p:sp>
      <p:sp>
        <p:nvSpPr>
          <p:cNvPr id="18" name="Shape 15"/>
          <p:cNvSpPr/>
          <p:nvPr/>
        </p:nvSpPr>
        <p:spPr>
          <a:xfrm>
            <a:off x="1371600" y="4206240"/>
            <a:ext cx="914400" cy="914400"/>
          </a:xfrm>
          <a:prstGeom prst="ellipse">
            <a:avLst/>
          </a:prstGeom>
          <a:solidFill>
            <a:srgbClr val="FFFFFF"/>
          </a:solidFill>
          <a:ln w="19050">
            <a:solidFill>
              <a:srgbClr val="0B2D55"/>
            </a:solidFill>
            <a:prstDash val="solid"/>
          </a:ln>
        </p:spPr>
      </p:sp>
      <p:sp>
        <p:nvSpPr>
          <p:cNvPr id="19" name="Text 16"/>
          <p:cNvSpPr txBox="1"/>
          <p:nvPr/>
        </p:nvSpPr>
        <p:spPr>
          <a:xfrm>
            <a:off x="1280160" y="4206240"/>
            <a:ext cx="1097280" cy="914400"/>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h₂</a:t>
            </a:r>
            <a:endParaRPr lang="en-US" sz="1600" dirty="0"/>
          </a:p>
          <a:p>
            <a:pPr algn="ctr" indent="0" marL="0">
              <a:buNone/>
            </a:pPr>
            <a:r>
              <a:rPr lang="en-US" sz="1700" b="1" dirty="0">
                <a:solidFill>
                  <a:srgbClr val="0B2D55"/>
                </a:solidFill>
                <a:latin typeface="Aptos" pitchFamily="34" charset="0"/>
                <a:ea typeface="Aptos" pitchFamily="34" charset="-122"/>
                <a:cs typeface="Aptos" pitchFamily="34" charset="-120"/>
              </a:rPr>
              <a:t>1</a:t>
            </a:r>
            <a:endParaRPr lang="en-US" sz="1600" dirty="0"/>
          </a:p>
        </p:txBody>
      </p:sp>
      <p:sp>
        <p:nvSpPr>
          <p:cNvPr id="20" name="Shape 17"/>
          <p:cNvSpPr/>
          <p:nvPr/>
        </p:nvSpPr>
        <p:spPr>
          <a:xfrm>
            <a:off x="4663440" y="2011680"/>
            <a:ext cx="914400" cy="914400"/>
          </a:xfrm>
          <a:prstGeom prst="ellipse">
            <a:avLst/>
          </a:prstGeom>
          <a:solidFill>
            <a:srgbClr val="DFF0D8"/>
          </a:solidFill>
          <a:ln w="19050">
            <a:solidFill>
              <a:srgbClr val="2E7D32"/>
            </a:solidFill>
            <a:prstDash val="solid"/>
          </a:ln>
        </p:spPr>
      </p:sp>
      <p:sp>
        <p:nvSpPr>
          <p:cNvPr id="21" name="Text 18"/>
          <p:cNvSpPr txBox="1"/>
          <p:nvPr/>
        </p:nvSpPr>
        <p:spPr>
          <a:xfrm>
            <a:off x="4572000" y="2011680"/>
            <a:ext cx="1097280" cy="914400"/>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price</a:t>
            </a:r>
            <a:endParaRPr lang="en-US" sz="1600" dirty="0"/>
          </a:p>
          <a:p>
            <a:pPr algn="ctr" indent="0" marL="0">
              <a:buNone/>
            </a:pPr>
            <a:r>
              <a:rPr lang="en-US" sz="1600" b="1" dirty="0">
                <a:solidFill>
                  <a:srgbClr val="0B2D55"/>
                </a:solidFill>
                <a:latin typeface="Aptos" pitchFamily="34" charset="0"/>
                <a:ea typeface="Aptos" pitchFamily="34" charset="-122"/>
                <a:cs typeface="Aptos" pitchFamily="34" charset="-120"/>
              </a:rPr>
              <a:t>$12</a:t>
            </a:r>
            <a:endParaRPr lang="en-US" sz="1600" dirty="0"/>
          </a:p>
        </p:txBody>
      </p:sp>
      <p:sp>
        <p:nvSpPr>
          <p:cNvPr id="22" name="Shape 19"/>
          <p:cNvSpPr/>
          <p:nvPr/>
        </p:nvSpPr>
        <p:spPr>
          <a:xfrm>
            <a:off x="4663440" y="4206240"/>
            <a:ext cx="914400" cy="914400"/>
          </a:xfrm>
          <a:prstGeom prst="ellipse">
            <a:avLst/>
          </a:prstGeom>
          <a:solidFill>
            <a:srgbClr val="DFF0D8"/>
          </a:solidFill>
          <a:ln w="19050">
            <a:solidFill>
              <a:srgbClr val="2E7D32"/>
            </a:solidFill>
            <a:prstDash val="solid"/>
          </a:ln>
        </p:spPr>
      </p:sp>
      <p:sp>
        <p:nvSpPr>
          <p:cNvPr id="23" name="Text 20"/>
          <p:cNvSpPr txBox="1"/>
          <p:nvPr/>
        </p:nvSpPr>
        <p:spPr>
          <a:xfrm>
            <a:off x="4572000" y="4206240"/>
            <a:ext cx="1097280" cy="914400"/>
          </a:xfrm>
          <a:prstGeom prst="rect">
            <a:avLst/>
          </a:prstGeom>
          <a:noFill/>
          <a:ln/>
        </p:spPr>
        <p:txBody>
          <a:bodyPr wrap="square" lIns="0" tIns="0" rIns="0" bIns="0" rtlCol="0" anchor="ctr"/>
          <a:lstStyle/>
          <a:p>
            <a:pPr algn="ctr" indent="0" marL="0">
              <a:buNone/>
            </a:pPr>
            <a:r>
              <a:rPr lang="en-US" sz="1100" dirty="0">
                <a:solidFill>
                  <a:srgbClr val="6D7C8F"/>
                </a:solidFill>
                <a:latin typeface="Aptos" pitchFamily="34" charset="0"/>
                <a:ea typeface="Aptos" pitchFamily="34" charset="-122"/>
                <a:cs typeface="Aptos" pitchFamily="34" charset="-120"/>
              </a:rPr>
              <a:t>ETA</a:t>
            </a:r>
            <a:endParaRPr lang="en-US" sz="1600" dirty="0"/>
          </a:p>
          <a:p>
            <a:pPr algn="ctr" indent="0" marL="0">
              <a:buNone/>
            </a:pPr>
            <a:r>
              <a:rPr lang="en-US" sz="1400" b="1" dirty="0">
                <a:solidFill>
                  <a:srgbClr val="0B2D55"/>
                </a:solidFill>
                <a:latin typeface="Aptos" pitchFamily="34" charset="0"/>
                <a:ea typeface="Aptos" pitchFamily="34" charset="-122"/>
                <a:cs typeface="Aptos" pitchFamily="34" charset="-120"/>
              </a:rPr>
              <a:t>13 min</a:t>
            </a:r>
            <a:endParaRPr lang="en-US" sz="1600" dirty="0"/>
          </a:p>
        </p:txBody>
      </p:sp>
      <p:sp>
        <p:nvSpPr>
          <p:cNvPr id="24" name="Text 21"/>
          <p:cNvSpPr txBox="1"/>
          <p:nvPr/>
        </p:nvSpPr>
        <p:spPr>
          <a:xfrm>
            <a:off x="4663440" y="1719072"/>
            <a:ext cx="914400" cy="256032"/>
          </a:xfrm>
          <a:prstGeom prst="rect">
            <a:avLst/>
          </a:prstGeom>
          <a:noFill/>
          <a:ln/>
        </p:spPr>
        <p:txBody>
          <a:bodyPr wrap="square" lIns="0" tIns="0" rIns="0" bIns="0" rtlCol="0" anchor="t"/>
          <a:lstStyle/>
          <a:p>
            <a:pPr algn="ctr" indent="0" marL="0">
              <a:buNone/>
            </a:pPr>
            <a:r>
              <a:rPr lang="en-US" sz="1200" dirty="0">
                <a:solidFill>
                  <a:srgbClr val="6D7C8F"/>
                </a:solidFill>
                <a:latin typeface="Aptos" pitchFamily="34" charset="0"/>
                <a:ea typeface="Aptos" pitchFamily="34" charset="-122"/>
                <a:cs typeface="Aptos" pitchFamily="34" charset="-120"/>
              </a:rPr>
              <a:t>b = 2</a:t>
            </a:r>
            <a:endParaRPr lang="en-US" sz="1200" dirty="0"/>
          </a:p>
        </p:txBody>
      </p:sp>
      <p:sp>
        <p:nvSpPr>
          <p:cNvPr id="25" name="Text 22"/>
          <p:cNvSpPr txBox="1"/>
          <p:nvPr/>
        </p:nvSpPr>
        <p:spPr>
          <a:xfrm>
            <a:off x="4663440" y="5157216"/>
            <a:ext cx="914400" cy="256032"/>
          </a:xfrm>
          <a:prstGeom prst="rect">
            <a:avLst/>
          </a:prstGeom>
          <a:noFill/>
          <a:ln/>
        </p:spPr>
        <p:txBody>
          <a:bodyPr wrap="square" lIns="0" tIns="0" rIns="0" bIns="0" rtlCol="0" anchor="t"/>
          <a:lstStyle/>
          <a:p>
            <a:pPr algn="ctr" indent="0" marL="0">
              <a:buNone/>
            </a:pPr>
            <a:r>
              <a:rPr lang="en-US" sz="1200" dirty="0">
                <a:solidFill>
                  <a:srgbClr val="6D7C8F"/>
                </a:solidFill>
                <a:latin typeface="Aptos" pitchFamily="34" charset="0"/>
                <a:ea typeface="Aptos" pitchFamily="34" charset="-122"/>
                <a:cs typeface="Aptos" pitchFamily="34" charset="-120"/>
              </a:rPr>
              <a:t>b = 1</a:t>
            </a:r>
            <a:endParaRPr lang="en-US" sz="1200" dirty="0"/>
          </a:p>
        </p:txBody>
      </p:sp>
      <p:sp>
        <p:nvSpPr>
          <p:cNvPr id="26" name="Text 23"/>
          <p:cNvSpPr txBox="1"/>
          <p:nvPr/>
        </p:nvSpPr>
        <p:spPr>
          <a:xfrm>
            <a:off x="914400" y="1600200"/>
            <a:ext cx="1828800" cy="274320"/>
          </a:xfrm>
          <a:prstGeom prst="rect">
            <a:avLst/>
          </a:prstGeom>
          <a:noFill/>
          <a:ln/>
        </p:spPr>
        <p:txBody>
          <a:bodyPr wrap="square" lIns="0" tIns="0" rIns="0" bIns="0" rtlCol="0" anchor="t"/>
          <a:lstStyle/>
          <a:p>
            <a:pPr algn="ctr" indent="0" marL="0">
              <a:buNone/>
            </a:pPr>
            <a:r>
              <a:rPr lang="en-US" sz="1200" i="1" dirty="0">
                <a:solidFill>
                  <a:srgbClr val="6D7C8F"/>
                </a:solidFill>
                <a:latin typeface="Aptos" pitchFamily="34" charset="0"/>
                <a:ea typeface="Aptos" pitchFamily="34" charset="-122"/>
                <a:cs typeface="Aptos" pitchFamily="34" charset="-120"/>
              </a:rPr>
              <a:t>shared hidden values</a:t>
            </a:r>
            <a:endParaRPr lang="en-US" sz="1200" dirty="0"/>
          </a:p>
        </p:txBody>
      </p:sp>
      <p:sp>
        <p:nvSpPr>
          <p:cNvPr id="27" name="Shape 24"/>
          <p:cNvSpPr/>
          <p:nvPr/>
        </p:nvSpPr>
        <p:spPr>
          <a:xfrm>
            <a:off x="6858000" y="1508760"/>
            <a:ext cx="4754880" cy="1737360"/>
          </a:xfrm>
          <a:prstGeom prst="roundRect">
            <a:avLst>
              <a:gd name="adj" fmla="val 4211"/>
            </a:avLst>
          </a:prstGeom>
          <a:solidFill>
            <a:srgbClr val="EAF2F8"/>
          </a:solidFill>
          <a:ln w="12700">
            <a:solidFill>
              <a:srgbClr val="1F5D9B"/>
            </a:solidFill>
            <a:prstDash val="solid"/>
          </a:ln>
        </p:spPr>
      </p:sp>
      <p:sp>
        <p:nvSpPr>
          <p:cNvPr id="28" name="Text 25"/>
          <p:cNvSpPr txBox="1"/>
          <p:nvPr/>
        </p:nvSpPr>
        <p:spPr>
          <a:xfrm>
            <a:off x="7040880" y="1618488"/>
            <a:ext cx="4389120" cy="292608"/>
          </a:xfrm>
          <a:prstGeom prst="rect">
            <a:avLst/>
          </a:prstGeom>
          <a:noFill/>
          <a:ln/>
        </p:spPr>
        <p:txBody>
          <a:bodyPr wrap="square" lIns="0" tIns="0" rIns="0" bIns="0" rtlCol="0" anchor="t"/>
          <a:lstStyle/>
          <a:p>
            <a:pPr indent="0" marL="0">
              <a:buNone/>
            </a:pPr>
            <a:r>
              <a:rPr lang="en-US" sz="1500" b="1" dirty="0">
                <a:solidFill>
                  <a:srgbClr val="0B2D55"/>
                </a:solidFill>
                <a:latin typeface="Aptos" pitchFamily="34" charset="0"/>
                <a:ea typeface="Aptos" pitchFamily="34" charset="-122"/>
                <a:cs typeface="Aptos" pitchFamily="34" charset="-120"/>
              </a:rPr>
              <a:t>Compute</a:t>
            </a:r>
            <a:endParaRPr lang="en-US" sz="1500" dirty="0"/>
          </a:p>
        </p:txBody>
      </p:sp>
      <p:sp>
        <p:nvSpPr>
          <p:cNvPr id="29" name="Text 26"/>
          <p:cNvSpPr txBox="1"/>
          <p:nvPr/>
        </p:nvSpPr>
        <p:spPr>
          <a:xfrm>
            <a:off x="7040880" y="1947672"/>
            <a:ext cx="4389120" cy="1207008"/>
          </a:xfrm>
          <a:prstGeom prst="rect">
            <a:avLst/>
          </a:prstGeom>
          <a:noFill/>
          <a:ln/>
        </p:spPr>
        <p:txBody>
          <a:bodyPr wrap="square" lIns="0" tIns="0" rIns="0" bIns="0" rtlCol="0" anchor="t"/>
          <a:lstStyle/>
          <a:p>
            <a:pPr indent="0" marL="0">
              <a:buNone/>
            </a:pPr>
            <a:r>
              <a:rPr lang="en-US" sz="1700" dirty="0">
                <a:solidFill>
                  <a:srgbClr val="132033"/>
                </a:solidFill>
                <a:latin typeface="Aptos" pitchFamily="34" charset="0"/>
                <a:ea typeface="Aptos" pitchFamily="34" charset="-122"/>
                <a:cs typeface="Aptos" pitchFamily="34" charset="-120"/>
              </a:rPr>
              <a:t>Price = 3(2) + 4(1) + 2 = $12</a:t>
            </a:r>
            <a:endParaRPr lang="en-US" sz="1700" dirty="0"/>
          </a:p>
          <a:p>
            <a:pPr indent="0" marL="0">
              <a:buNone/>
            </a:pPr>
            <a:r>
              <a:rPr lang="en-US" sz="1700" dirty="0">
                <a:solidFill>
                  <a:srgbClr val="132033"/>
                </a:solidFill>
                <a:latin typeface="Aptos" pitchFamily="34" charset="0"/>
                <a:ea typeface="Aptos" pitchFamily="34" charset="-122"/>
                <a:cs typeface="Aptos" pitchFamily="34" charset="-120"/>
              </a:rPr>
              <a:t>ETA = 5(2) + 2(1) + 1 = 13 min</a:t>
            </a:r>
            <a:endParaRPr lang="en-US" sz="1700" dirty="0"/>
          </a:p>
        </p:txBody>
      </p:sp>
      <p:sp>
        <p:nvSpPr>
          <p:cNvPr id="30" name="Shape 27"/>
          <p:cNvSpPr/>
          <p:nvPr/>
        </p:nvSpPr>
        <p:spPr>
          <a:xfrm>
            <a:off x="6858000" y="3429000"/>
            <a:ext cx="4754880" cy="1463040"/>
          </a:xfrm>
          <a:prstGeom prst="roundRect">
            <a:avLst>
              <a:gd name="adj" fmla="val 5000"/>
            </a:avLst>
          </a:prstGeom>
          <a:solidFill>
            <a:srgbClr val="FFF4CE"/>
          </a:solidFill>
          <a:ln w="12700">
            <a:solidFill>
              <a:srgbClr val="F2C14E"/>
            </a:solidFill>
            <a:prstDash val="solid"/>
          </a:ln>
        </p:spPr>
      </p:sp>
      <p:sp>
        <p:nvSpPr>
          <p:cNvPr id="31" name="Text 28"/>
          <p:cNvSpPr txBox="1"/>
          <p:nvPr/>
        </p:nvSpPr>
        <p:spPr>
          <a:xfrm>
            <a:off x="7040880" y="3538728"/>
            <a:ext cx="4389120" cy="292608"/>
          </a:xfrm>
          <a:prstGeom prst="rect">
            <a:avLst/>
          </a:prstGeom>
          <a:noFill/>
          <a:ln/>
        </p:spPr>
        <p:txBody>
          <a:bodyPr wrap="square" lIns="0" tIns="0" rIns="0" bIns="0" rtlCol="0" anchor="t"/>
          <a:lstStyle/>
          <a:p>
            <a:pPr indent="0" marL="0">
              <a:buNone/>
            </a:pPr>
            <a:r>
              <a:rPr lang="en-US" sz="1500" b="1" dirty="0">
                <a:solidFill>
                  <a:srgbClr val="0B2D55"/>
                </a:solidFill>
                <a:latin typeface="Aptos" pitchFamily="34" charset="0"/>
                <a:ea typeface="Aptos" pitchFamily="34" charset="-122"/>
                <a:cs typeface="Aptos" pitchFamily="34" charset="-120"/>
              </a:rPr>
              <a:t>Predict</a:t>
            </a:r>
            <a:endParaRPr lang="en-US" sz="1500" dirty="0"/>
          </a:p>
        </p:txBody>
      </p:sp>
      <p:sp>
        <p:nvSpPr>
          <p:cNvPr id="32" name="Text 29"/>
          <p:cNvSpPr txBox="1"/>
          <p:nvPr/>
        </p:nvSpPr>
        <p:spPr>
          <a:xfrm>
            <a:off x="7040880" y="3867912"/>
            <a:ext cx="4389120" cy="932688"/>
          </a:xfrm>
          <a:prstGeom prst="rect">
            <a:avLst/>
          </a:prstGeom>
          <a:noFill/>
          <a:ln/>
        </p:spPr>
        <p:txBody>
          <a:bodyPr wrap="square" lIns="0" tIns="0" rIns="0" bIns="0" rtlCol="0" anchor="t"/>
          <a:lstStyle/>
          <a:p>
            <a:pPr indent="0" marL="0">
              <a:buNone/>
            </a:pPr>
            <a:r>
              <a:rPr lang="en-US" sz="1700" dirty="0">
                <a:solidFill>
                  <a:srgbClr val="132033"/>
                </a:solidFill>
                <a:latin typeface="Aptos" pitchFamily="34" charset="0"/>
                <a:ea typeface="Aptos" pitchFamily="34" charset="-122"/>
                <a:cs typeface="Aptos" pitchFamily="34" charset="-120"/>
              </a:rPr>
              <a:t>Traffic spike: h₂ rises from 1 to 3.</a:t>
            </a:r>
            <a:endParaRPr lang="en-US" sz="1700" dirty="0"/>
          </a:p>
          <a:p>
            <a:pPr indent="0" marL="0">
              <a:buNone/>
            </a:pPr>
            <a:r>
              <a:rPr lang="en-US" sz="1700" dirty="0">
                <a:solidFill>
                  <a:srgbClr val="132033"/>
                </a:solidFill>
                <a:latin typeface="Aptos" pitchFamily="34" charset="0"/>
                <a:ea typeface="Aptos" pitchFamily="34" charset="-122"/>
                <a:cs typeface="Aptos" pitchFamily="34" charset="-120"/>
              </a:rPr>
              <a:t>Price = $20,  ETA = 17 min</a:t>
            </a:r>
            <a:endParaRPr lang="en-US" sz="1700" dirty="0"/>
          </a:p>
        </p:txBody>
      </p:sp>
      <p:sp>
        <p:nvSpPr>
          <p:cNvPr id="33" name="Text 30"/>
          <p:cNvSpPr txBox="1"/>
          <p:nvPr/>
        </p:nvSpPr>
        <p:spPr>
          <a:xfrm>
            <a:off x="6858000" y="5029200"/>
            <a:ext cx="4754880" cy="777240"/>
          </a:xfrm>
          <a:prstGeom prst="rect">
            <a:avLst/>
          </a:prstGeom>
          <a:noFill/>
          <a:ln/>
        </p:spPr>
        <p:txBody>
          <a:bodyPr wrap="square" lIns="0" tIns="0" rIns="0" bIns="0" rtlCol="0" anchor="ctr"/>
          <a:lstStyle/>
          <a:p>
            <a:pPr algn="ctr" indent="0" marL="0">
              <a:buNone/>
            </a:pPr>
            <a:r>
              <a:rPr lang="en-US" sz="1800" b="1" dirty="0">
                <a:solidFill>
                  <a:srgbClr val="0B2D55"/>
                </a:solidFill>
                <a:latin typeface="Aptos" pitchFamily="34" charset="0"/>
                <a:ea typeface="Aptos" pitchFamily="34" charset="-122"/>
                <a:cs typeface="Aptos" pitchFamily="34" charset="-120"/>
              </a:rPr>
              <a:t>Both move together because both read h₂.</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indent="0" marL="0">
              <a:buNone/>
            </a:pPr>
            <a:r>
              <a:rPr lang="en-US" sz="3400" b="1" dirty="0">
                <a:solidFill>
                  <a:srgbClr val="0B2D55"/>
                </a:solidFill>
                <a:latin typeface="Aptos Display" pitchFamily="34" charset="0"/>
                <a:ea typeface="Aptos Display" pitchFamily="34" charset="-122"/>
                <a:cs typeface="Aptos Display" pitchFamily="34" charset="-120"/>
              </a:rPr>
              <a:t>From neuron to network</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indent="0" marL="0">
              <a:buNone/>
            </a:pPr>
            <a:r>
              <a:rPr lang="en-US" sz="1500" dirty="0">
                <a:solidFill>
                  <a:srgbClr val="132033"/>
                </a:solidFill>
                <a:latin typeface="Aptos" pitchFamily="34" charset="0"/>
                <a:ea typeface="Aptos" pitchFamily="34" charset="-122"/>
                <a:cs typeface="Aptos" pitchFamily="34" charset="-120"/>
              </a:rPr>
              <a:t>Four ideas, and a new row for the model comparison table.</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indent="0" marL="0">
              <a:buNone/>
            </a:pPr>
            <a:r>
              <a:rPr lang="en-US" sz="850" dirty="0">
                <a:solidFill>
                  <a:srgbClr val="6D7C8F"/>
                </a:solidFill>
                <a:latin typeface="Aptos" pitchFamily="34" charset="0"/>
                <a:ea typeface="Aptos" pitchFamily="34" charset="-122"/>
                <a:cs typeface="Aptos" pitchFamily="34" charset="-120"/>
              </a:rPr>
              <a:t>CS 471  |  L28: Neural Networks I</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algn="r" indent="0" marL="0">
              <a:buNone/>
            </a:pPr>
            <a:r>
              <a:rPr lang="en-US" sz="850" dirty="0">
                <a:solidFill>
                  <a:srgbClr val="6D7C8F"/>
                </a:solidFill>
                <a:latin typeface="Aptos" pitchFamily="34" charset="0"/>
                <a:ea typeface="Aptos" pitchFamily="34" charset="-122"/>
                <a:cs typeface="Aptos" pitchFamily="34" charset="-120"/>
              </a:rPr>
              <a:t>24</a:t>
            </a:r>
            <a:endParaRPr lang="en-US" sz="850" dirty="0"/>
          </a:p>
        </p:txBody>
      </p:sp>
      <p:sp>
        <p:nvSpPr>
          <p:cNvPr id="7" name="Shape 4"/>
          <p:cNvSpPr/>
          <p:nvPr/>
        </p:nvSpPr>
        <p:spPr>
          <a:xfrm>
            <a:off x="576072" y="1554480"/>
            <a:ext cx="2514600" cy="960120"/>
          </a:xfrm>
          <a:prstGeom prst="roundRect">
            <a:avLst>
              <a:gd name="adj" fmla="val 7619"/>
            </a:avLst>
          </a:prstGeom>
          <a:solidFill>
            <a:srgbClr val="EAF2F8"/>
          </a:solidFill>
          <a:ln w="12700">
            <a:solidFill>
              <a:srgbClr val="1F5D9B"/>
            </a:solidFill>
            <a:prstDash val="solid"/>
          </a:ln>
        </p:spPr>
      </p:sp>
      <p:sp>
        <p:nvSpPr>
          <p:cNvPr id="8" name="Text 5"/>
          <p:cNvSpPr txBox="1"/>
          <p:nvPr/>
        </p:nvSpPr>
        <p:spPr>
          <a:xfrm>
            <a:off x="576072" y="1554480"/>
            <a:ext cx="2514600" cy="960120"/>
          </a:xfrm>
          <a:prstGeom prst="rect">
            <a:avLst/>
          </a:prstGeom>
          <a:noFill/>
          <a:ln/>
        </p:spPr>
        <p:txBody>
          <a:bodyPr wrap="square" lIns="0" tIns="0" rIns="0" bIns="0" rtlCol="0" anchor="ctr"/>
          <a:lstStyle/>
          <a:p>
            <a:pPr algn="ctr" indent="0" marL="0">
              <a:buNone/>
            </a:pPr>
            <a:r>
              <a:rPr lang="en-US" sz="1800" b="1" dirty="0">
                <a:solidFill>
                  <a:srgbClr val="0B2D55"/>
                </a:solidFill>
                <a:latin typeface="Aptos" pitchFamily="34" charset="0"/>
                <a:ea typeface="Aptos" pitchFamily="34" charset="-122"/>
                <a:cs typeface="Aptos" pitchFamily="34" charset="-120"/>
              </a:rPr>
              <a:t>Weighted sum</a:t>
            </a:r>
            <a:endParaRPr lang="en-US" sz="1600" dirty="0"/>
          </a:p>
          <a:p>
            <a:pPr algn="ctr" indent="0" marL="0">
              <a:buNone/>
            </a:pPr>
            <a:r>
              <a:rPr lang="en-US" sz="1350" dirty="0">
                <a:solidFill>
                  <a:srgbClr val="132033"/>
                </a:solidFill>
                <a:latin typeface="Aptos" pitchFamily="34" charset="0"/>
                <a:ea typeface="Aptos" pitchFamily="34" charset="-122"/>
                <a:cs typeface="Aptos" pitchFamily="34" charset="-120"/>
              </a:rPr>
              <a:t>z = Σ wᵢxᵢ + b</a:t>
            </a:r>
            <a:endParaRPr lang="en-US" sz="1600" dirty="0"/>
          </a:p>
        </p:txBody>
      </p:sp>
      <p:sp>
        <p:nvSpPr>
          <p:cNvPr id="9" name="Shape 6"/>
          <p:cNvSpPr/>
          <p:nvPr/>
        </p:nvSpPr>
        <p:spPr>
          <a:xfrm>
            <a:off x="3108960" y="2029968"/>
            <a:ext cx="265176" cy="0"/>
          </a:xfrm>
          <a:prstGeom prst="line">
            <a:avLst/>
          </a:prstGeom>
          <a:noFill/>
          <a:ln w="22225">
            <a:solidFill>
              <a:srgbClr val="1D5FA7"/>
            </a:solidFill>
            <a:prstDash val="solid"/>
            <a:tailEnd type="triangle"/>
          </a:ln>
        </p:spPr>
      </p:sp>
      <p:sp>
        <p:nvSpPr>
          <p:cNvPr id="10" name="Shape 7"/>
          <p:cNvSpPr/>
          <p:nvPr/>
        </p:nvSpPr>
        <p:spPr>
          <a:xfrm>
            <a:off x="3392424" y="1554480"/>
            <a:ext cx="2514600" cy="960120"/>
          </a:xfrm>
          <a:prstGeom prst="roundRect">
            <a:avLst>
              <a:gd name="adj" fmla="val 7619"/>
            </a:avLst>
          </a:prstGeom>
          <a:solidFill>
            <a:srgbClr val="EAF2F8"/>
          </a:solidFill>
          <a:ln w="12700">
            <a:solidFill>
              <a:srgbClr val="1F5D9B"/>
            </a:solidFill>
            <a:prstDash val="solid"/>
          </a:ln>
        </p:spPr>
      </p:sp>
      <p:sp>
        <p:nvSpPr>
          <p:cNvPr id="11" name="Text 8"/>
          <p:cNvSpPr txBox="1"/>
          <p:nvPr/>
        </p:nvSpPr>
        <p:spPr>
          <a:xfrm>
            <a:off x="3392424" y="1554480"/>
            <a:ext cx="2514600" cy="960120"/>
          </a:xfrm>
          <a:prstGeom prst="rect">
            <a:avLst/>
          </a:prstGeom>
          <a:noFill/>
          <a:ln/>
        </p:spPr>
        <p:txBody>
          <a:bodyPr wrap="square" lIns="0" tIns="0" rIns="0" bIns="0" rtlCol="0" anchor="ctr"/>
          <a:lstStyle/>
          <a:p>
            <a:pPr algn="ctr" indent="0" marL="0">
              <a:buNone/>
            </a:pPr>
            <a:r>
              <a:rPr lang="en-US" sz="1800" b="1" dirty="0">
                <a:solidFill>
                  <a:srgbClr val="0B2D55"/>
                </a:solidFill>
                <a:latin typeface="Aptos" pitchFamily="34" charset="0"/>
                <a:ea typeface="Aptos" pitchFamily="34" charset="-122"/>
                <a:cs typeface="Aptos" pitchFamily="34" charset="-120"/>
              </a:rPr>
              <a:t>Activation</a:t>
            </a:r>
            <a:endParaRPr lang="en-US" sz="1600" dirty="0"/>
          </a:p>
          <a:p>
            <a:pPr algn="ctr" indent="0" marL="0">
              <a:buNone/>
            </a:pPr>
            <a:r>
              <a:rPr lang="en-US" sz="1350" dirty="0">
                <a:solidFill>
                  <a:srgbClr val="132033"/>
                </a:solidFill>
                <a:latin typeface="Aptos" pitchFamily="34" charset="0"/>
                <a:ea typeface="Aptos" pitchFamily="34" charset="-122"/>
                <a:cs typeface="Aptos" pitchFamily="34" charset="-120"/>
              </a:rPr>
              <a:t>ReLU hidden, σ output</a:t>
            </a:r>
            <a:endParaRPr lang="en-US" sz="1600" dirty="0"/>
          </a:p>
        </p:txBody>
      </p:sp>
      <p:sp>
        <p:nvSpPr>
          <p:cNvPr id="12" name="Shape 9"/>
          <p:cNvSpPr/>
          <p:nvPr/>
        </p:nvSpPr>
        <p:spPr>
          <a:xfrm>
            <a:off x="5925312" y="2029968"/>
            <a:ext cx="265176" cy="0"/>
          </a:xfrm>
          <a:prstGeom prst="line">
            <a:avLst/>
          </a:prstGeom>
          <a:noFill/>
          <a:ln w="22225">
            <a:solidFill>
              <a:srgbClr val="1D5FA7"/>
            </a:solidFill>
            <a:prstDash val="solid"/>
            <a:tailEnd type="triangle"/>
          </a:ln>
        </p:spPr>
      </p:sp>
      <p:sp>
        <p:nvSpPr>
          <p:cNvPr id="13" name="Shape 10"/>
          <p:cNvSpPr/>
          <p:nvPr/>
        </p:nvSpPr>
        <p:spPr>
          <a:xfrm>
            <a:off x="6208776" y="1554480"/>
            <a:ext cx="2514600" cy="960120"/>
          </a:xfrm>
          <a:prstGeom prst="roundRect">
            <a:avLst>
              <a:gd name="adj" fmla="val 7619"/>
            </a:avLst>
          </a:prstGeom>
          <a:solidFill>
            <a:srgbClr val="EAF2F8"/>
          </a:solidFill>
          <a:ln w="12700">
            <a:solidFill>
              <a:srgbClr val="1F5D9B"/>
            </a:solidFill>
            <a:prstDash val="solid"/>
          </a:ln>
        </p:spPr>
      </p:sp>
      <p:sp>
        <p:nvSpPr>
          <p:cNvPr id="14" name="Text 11"/>
          <p:cNvSpPr txBox="1"/>
          <p:nvPr/>
        </p:nvSpPr>
        <p:spPr>
          <a:xfrm>
            <a:off x="6208776" y="1554480"/>
            <a:ext cx="2514600" cy="960120"/>
          </a:xfrm>
          <a:prstGeom prst="rect">
            <a:avLst/>
          </a:prstGeom>
          <a:noFill/>
          <a:ln/>
        </p:spPr>
        <p:txBody>
          <a:bodyPr wrap="square" lIns="0" tIns="0" rIns="0" bIns="0" rtlCol="0" anchor="ctr"/>
          <a:lstStyle/>
          <a:p>
            <a:pPr algn="ctr" indent="0" marL="0">
              <a:buNone/>
            </a:pPr>
            <a:r>
              <a:rPr lang="en-US" sz="1800" b="1" dirty="0">
                <a:solidFill>
                  <a:srgbClr val="0B2D55"/>
                </a:solidFill>
                <a:latin typeface="Aptos" pitchFamily="34" charset="0"/>
                <a:ea typeface="Aptos" pitchFamily="34" charset="-122"/>
                <a:cs typeface="Aptos" pitchFamily="34" charset="-120"/>
              </a:rPr>
              <a:t>Layer</a:t>
            </a:r>
            <a:endParaRPr lang="en-US" sz="1600" dirty="0"/>
          </a:p>
          <a:p>
            <a:pPr algn="ctr" indent="0" marL="0">
              <a:buNone/>
            </a:pPr>
            <a:r>
              <a:rPr lang="en-US" sz="1350" dirty="0">
                <a:solidFill>
                  <a:srgbClr val="132033"/>
                </a:solidFill>
                <a:latin typeface="Aptos" pitchFamily="34" charset="0"/>
                <a:ea typeface="Aptos" pitchFamily="34" charset="-122"/>
                <a:cs typeface="Aptos" pitchFamily="34" charset="-120"/>
              </a:rPr>
              <a:t>many neurons, same inputs</a:t>
            </a:r>
            <a:endParaRPr lang="en-US" sz="1600" dirty="0"/>
          </a:p>
        </p:txBody>
      </p:sp>
      <p:sp>
        <p:nvSpPr>
          <p:cNvPr id="15" name="Shape 12"/>
          <p:cNvSpPr/>
          <p:nvPr/>
        </p:nvSpPr>
        <p:spPr>
          <a:xfrm>
            <a:off x="8741664" y="2029968"/>
            <a:ext cx="265176" cy="0"/>
          </a:xfrm>
          <a:prstGeom prst="line">
            <a:avLst/>
          </a:prstGeom>
          <a:noFill/>
          <a:ln w="22225">
            <a:solidFill>
              <a:srgbClr val="1D5FA7"/>
            </a:solidFill>
            <a:prstDash val="solid"/>
            <a:tailEnd type="triangle"/>
          </a:ln>
        </p:spPr>
      </p:sp>
      <p:sp>
        <p:nvSpPr>
          <p:cNvPr id="16" name="Shape 13"/>
          <p:cNvSpPr/>
          <p:nvPr/>
        </p:nvSpPr>
        <p:spPr>
          <a:xfrm>
            <a:off x="9025128" y="1554480"/>
            <a:ext cx="2514600" cy="960120"/>
          </a:xfrm>
          <a:prstGeom prst="roundRect">
            <a:avLst>
              <a:gd name="adj" fmla="val 7619"/>
            </a:avLst>
          </a:prstGeom>
          <a:solidFill>
            <a:srgbClr val="EAF2F8"/>
          </a:solidFill>
          <a:ln w="12700">
            <a:solidFill>
              <a:srgbClr val="1F5D9B"/>
            </a:solidFill>
            <a:prstDash val="solid"/>
          </a:ln>
        </p:spPr>
      </p:sp>
      <p:sp>
        <p:nvSpPr>
          <p:cNvPr id="17" name="Text 14"/>
          <p:cNvSpPr txBox="1"/>
          <p:nvPr/>
        </p:nvSpPr>
        <p:spPr>
          <a:xfrm>
            <a:off x="9025128" y="1554480"/>
            <a:ext cx="2514600" cy="960120"/>
          </a:xfrm>
          <a:prstGeom prst="rect">
            <a:avLst/>
          </a:prstGeom>
          <a:noFill/>
          <a:ln/>
        </p:spPr>
        <p:txBody>
          <a:bodyPr wrap="square" lIns="0" tIns="0" rIns="0" bIns="0" rtlCol="0" anchor="ctr"/>
          <a:lstStyle/>
          <a:p>
            <a:pPr algn="ctr" indent="0" marL="0">
              <a:buNone/>
            </a:pPr>
            <a:r>
              <a:rPr lang="en-US" sz="1800" b="1" dirty="0">
                <a:solidFill>
                  <a:srgbClr val="0B2D55"/>
                </a:solidFill>
                <a:latin typeface="Aptos" pitchFamily="34" charset="0"/>
                <a:ea typeface="Aptos" pitchFamily="34" charset="-122"/>
                <a:cs typeface="Aptos" pitchFamily="34" charset="-120"/>
              </a:rPr>
              <a:t>Network</a:t>
            </a:r>
            <a:endParaRPr lang="en-US" sz="1600" dirty="0"/>
          </a:p>
          <a:p>
            <a:pPr algn="ctr" indent="0" marL="0">
              <a:buNone/>
            </a:pPr>
            <a:r>
              <a:rPr lang="en-US" sz="1350" dirty="0">
                <a:solidFill>
                  <a:srgbClr val="132033"/>
                </a:solidFill>
                <a:latin typeface="Aptos" pitchFamily="34" charset="0"/>
                <a:ea typeface="Aptos" pitchFamily="34" charset="-122"/>
                <a:cs typeface="Aptos" pitchFamily="34" charset="-120"/>
              </a:rPr>
              <a:t>layers feed forward</a:t>
            </a:r>
            <a:endParaRPr lang="en-US" sz="1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76072" y="2788920"/>
          <a:ext cx="11036808" cy="914400"/>
        </p:xfrm>
        <a:graphic>
          <a:graphicData uri="http://schemas.openxmlformats.org/drawingml/2006/table">
            <a:tbl>
              <a:tblPr/>
              <a:tblGrid>
                <a:gridCol w="2926080"/>
                <a:gridCol w="3108960"/>
                <a:gridCol w="2468880"/>
                <a:gridCol w="2532888"/>
              </a:tblGrid>
              <a:tr h="384048">
                <a:tc>
                  <a:txBody>
                    <a:bodyPr/>
                    <a:lstStyle/>
                    <a:p>
                      <a:pPr algn="ctr" indent="0" marL="0">
                        <a:buNone/>
                      </a:pPr>
                      <a:r>
                        <a:rPr lang="en-US" sz="1500" b="1" dirty="0">
                          <a:solidFill>
                            <a:srgbClr val="0B2D55"/>
                          </a:solidFill>
                          <a:latin typeface="Aptos" pitchFamily="34" charset="0"/>
                          <a:ea typeface="Aptos" pitchFamily="34" charset="-122"/>
                          <a:cs typeface="Aptos" pitchFamily="34" charset="-120"/>
                        </a:rPr>
                        <a:t>Model</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algn="ctr" indent="0" marL="0">
                        <a:buNone/>
                      </a:pPr>
                      <a:r>
                        <a:rPr lang="en-US" sz="1500" b="1" dirty="0">
                          <a:solidFill>
                            <a:srgbClr val="0B2D55"/>
                          </a:solidFill>
                          <a:latin typeface="Aptos" pitchFamily="34" charset="0"/>
                          <a:ea typeface="Aptos" pitchFamily="34" charset="-122"/>
                          <a:cs typeface="Aptos" pitchFamily="34" charset="-120"/>
                        </a:rPr>
                        <a:t>Key assumption</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algn="ctr" indent="0" marL="0">
                        <a:buNone/>
                      </a:pPr>
                      <a:r>
                        <a:rPr lang="en-US" sz="1500" b="1" dirty="0">
                          <a:solidFill>
                            <a:srgbClr val="0B2D55"/>
                          </a:solidFill>
                          <a:latin typeface="Aptos" pitchFamily="34" charset="0"/>
                          <a:ea typeface="Aptos" pitchFamily="34" charset="-122"/>
                          <a:cs typeface="Aptos" pitchFamily="34" charset="-120"/>
                        </a:rPr>
                        <a:t>Boundary</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algn="ctr" indent="0" marL="0">
                        <a:buNone/>
                      </a:pPr>
                      <a:r>
                        <a:rPr lang="en-US" sz="1500" b="1" dirty="0">
                          <a:solidFill>
                            <a:srgbClr val="0B2D55"/>
                          </a:solidFill>
                          <a:latin typeface="Aptos" pitchFamily="34" charset="0"/>
                          <a:ea typeface="Aptos" pitchFamily="34" charset="-122"/>
                          <a:cs typeface="Aptos" pitchFamily="34" charset="-120"/>
                        </a:rPr>
                        <a:t>Bias / variance lean</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r>
              <a:tr h="548640">
                <a:tc>
                  <a:txBody>
                    <a:bodyPr/>
                    <a:lstStyle/>
                    <a:p>
                      <a:pPr algn="l" indent="0" marL="0">
                        <a:buNone/>
                      </a:pPr>
                      <a:r>
                        <a:rPr lang="en-US" sz="1400" b="1" dirty="0">
                          <a:solidFill>
                            <a:srgbClr val="0B2D55"/>
                          </a:solidFill>
                          <a:latin typeface="Aptos" pitchFamily="34" charset="0"/>
                          <a:ea typeface="Aptos" pitchFamily="34" charset="-122"/>
                          <a:cs typeface="Aptos" pitchFamily="34" charset="-120"/>
                        </a:rPr>
                        <a:t>Logistic regression (= 1 neuron)</a:t>
                      </a:r>
                      <a:endParaRPr lang="en-US" sz="14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400" dirty="0">
                          <a:solidFill>
                            <a:srgbClr val="132033"/>
                          </a:solidFill>
                          <a:latin typeface="Aptos" pitchFamily="34" charset="0"/>
                          <a:ea typeface="Aptos" pitchFamily="34" charset="-122"/>
                          <a:cs typeface="Aptos" pitchFamily="34" charset="-120"/>
                        </a:rPr>
                        <a:t>Log-odds linear in the features</a:t>
                      </a:r>
                      <a:endParaRPr lang="en-US" sz="14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400" dirty="0">
                          <a:solidFill>
                            <a:srgbClr val="132033"/>
                          </a:solidFill>
                          <a:latin typeface="Aptos" pitchFamily="34" charset="0"/>
                          <a:ea typeface="Aptos" pitchFamily="34" charset="-122"/>
                          <a:cs typeface="Aptos" pitchFamily="34" charset="-120"/>
                        </a:rPr>
                        <a:t>Line</a:t>
                      </a:r>
                      <a:endParaRPr lang="en-US" sz="14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400" dirty="0">
                          <a:solidFill>
                            <a:srgbClr val="132033"/>
                          </a:solidFill>
                          <a:latin typeface="Aptos" pitchFamily="34" charset="0"/>
                          <a:ea typeface="Aptos" pitchFamily="34" charset="-122"/>
                          <a:cs typeface="Aptos" pitchFamily="34" charset="-120"/>
                        </a:rPr>
                        <a:t>Higher bias, low variance</a:t>
                      </a:r>
                      <a:endParaRPr lang="en-US" sz="14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r>
              <a:tr h="548640">
                <a:tc>
                  <a:txBody>
                    <a:bodyPr/>
                    <a:lstStyle/>
                    <a:p>
                      <a:pPr algn="l" indent="0" marL="0">
                        <a:buNone/>
                      </a:pPr>
                      <a:r>
                        <a:rPr lang="en-US" sz="1400" b="1" dirty="0">
                          <a:solidFill>
                            <a:srgbClr val="0B2D55"/>
                          </a:solidFill>
                          <a:latin typeface="Aptos" pitchFamily="34" charset="0"/>
                          <a:ea typeface="Aptos" pitchFamily="34" charset="-122"/>
                          <a:cs typeface="Aptos" pitchFamily="34" charset="-120"/>
                        </a:rPr>
                        <a:t>Naive Bayes</a:t>
                      </a:r>
                      <a:endParaRPr lang="en-US" sz="14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400" dirty="0">
                          <a:solidFill>
                            <a:srgbClr val="132033"/>
                          </a:solidFill>
                          <a:latin typeface="Aptos" pitchFamily="34" charset="0"/>
                          <a:ea typeface="Aptos" pitchFamily="34" charset="-122"/>
                          <a:cs typeface="Aptos" pitchFamily="34" charset="-120"/>
                        </a:rPr>
                        <a:t>Features independent given the class</a:t>
                      </a:r>
                      <a:endParaRPr lang="en-US" sz="14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400" dirty="0">
                          <a:solidFill>
                            <a:srgbClr val="132033"/>
                          </a:solidFill>
                          <a:latin typeface="Aptos" pitchFamily="34" charset="0"/>
                          <a:ea typeface="Aptos" pitchFamily="34" charset="-122"/>
                          <a:cs typeface="Aptos" pitchFamily="34" charset="-120"/>
                        </a:rPr>
                        <a:t>Linear in word counts</a:t>
                      </a:r>
                      <a:endParaRPr lang="en-US" sz="14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400" dirty="0">
                          <a:solidFill>
                            <a:srgbClr val="132033"/>
                          </a:solidFill>
                          <a:latin typeface="Aptos" pitchFamily="34" charset="0"/>
                          <a:ea typeface="Aptos" pitchFamily="34" charset="-122"/>
                          <a:cs typeface="Aptos" pitchFamily="34" charset="-120"/>
                        </a:rPr>
                        <a:t>High bias, low variance</a:t>
                      </a:r>
                      <a:endParaRPr lang="en-US" sz="14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r>
              <a:tr h="658368">
                <a:tc>
                  <a:txBody>
                    <a:bodyPr/>
                    <a:lstStyle/>
                    <a:p>
                      <a:pPr algn="l" indent="0" marL="0">
                        <a:buNone/>
                      </a:pPr>
                      <a:r>
                        <a:rPr lang="en-US" sz="1400" b="1" dirty="0">
                          <a:solidFill>
                            <a:srgbClr val="D9731A"/>
                          </a:solidFill>
                          <a:latin typeface="Aptos" pitchFamily="34" charset="0"/>
                          <a:ea typeface="Aptos" pitchFamily="34" charset="-122"/>
                          <a:cs typeface="Aptos" pitchFamily="34" charset="-120"/>
                        </a:rPr>
                        <a:t>Neural network (new)</a:t>
                      </a:r>
                      <a:endParaRPr lang="en-US" sz="14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CE9D8"/>
                    </a:solidFill>
                  </a:tcPr>
                </a:tc>
                <a:tc>
                  <a:txBody>
                    <a:bodyPr/>
                    <a:lstStyle/>
                    <a:p>
                      <a:pPr algn="ctr" indent="0" marL="0">
                        <a:buNone/>
                      </a:pPr>
                      <a:r>
                        <a:rPr lang="en-US" sz="1400" dirty="0">
                          <a:solidFill>
                            <a:srgbClr val="132033"/>
                          </a:solidFill>
                          <a:latin typeface="Aptos" pitchFamily="34" charset="0"/>
                          <a:ea typeface="Aptos" pitchFamily="34" charset="-122"/>
                          <a:cs typeface="Aptos" pitchFamily="34" charset="-120"/>
                        </a:rPr>
                        <a:t>Learns its own features</a:t>
                      </a:r>
                      <a:endParaRPr lang="en-US" sz="14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CE9D8"/>
                    </a:solidFill>
                  </a:tcPr>
                </a:tc>
                <a:tc>
                  <a:txBody>
                    <a:bodyPr/>
                    <a:lstStyle/>
                    <a:p>
                      <a:pPr algn="ctr" indent="0" marL="0">
                        <a:buNone/>
                      </a:pPr>
                      <a:r>
                        <a:rPr lang="en-US" sz="1400" dirty="0">
                          <a:solidFill>
                            <a:srgbClr val="132033"/>
                          </a:solidFill>
                          <a:latin typeface="Aptos" pitchFamily="34" charset="0"/>
                          <a:ea typeface="Aptos" pitchFamily="34" charset="-122"/>
                          <a:cs typeface="Aptos" pitchFamily="34" charset="-120"/>
                        </a:rPr>
                        <a:t>Almost any shape, given enough neurons</a:t>
                      </a:r>
                      <a:endParaRPr lang="en-US" sz="14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CE9D8"/>
                    </a:solidFill>
                  </a:tcPr>
                </a:tc>
                <a:tc>
                  <a:txBody>
                    <a:bodyPr/>
                    <a:lstStyle/>
                    <a:p>
                      <a:pPr algn="ctr" indent="0" marL="0">
                        <a:buNone/>
                      </a:pPr>
                      <a:r>
                        <a:rPr lang="en-US" sz="1400" dirty="0">
                          <a:solidFill>
                            <a:srgbClr val="132033"/>
                          </a:solidFill>
                          <a:latin typeface="Aptos" pitchFamily="34" charset="0"/>
                          <a:ea typeface="Aptos" pitchFamily="34" charset="-122"/>
                          <a:cs typeface="Aptos" pitchFamily="34" charset="-120"/>
                        </a:rPr>
                        <a:t>Low bias, high variance; needs lots of data</a:t>
                      </a:r>
                      <a:endParaRPr lang="en-US" sz="14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CE9D8"/>
                    </a:solidFill>
                  </a:tcPr>
                </a:tc>
              </a:tr>
            </a:tbl>
          </a:graphicData>
        </a:graphic>
      </p:graphicFrame>
      <p:sp>
        <p:nvSpPr>
          <p:cNvPr id="19" name="Text 15"/>
          <p:cNvSpPr txBox="1"/>
          <p:nvPr/>
        </p:nvSpPr>
        <p:spPr>
          <a:xfrm>
            <a:off x="822960" y="5303520"/>
            <a:ext cx="10515600" cy="502920"/>
          </a:xfrm>
          <a:prstGeom prst="rect">
            <a:avLst/>
          </a:prstGeom>
          <a:noFill/>
          <a:ln/>
        </p:spPr>
        <p:txBody>
          <a:bodyPr wrap="square" lIns="0" tIns="0" rIns="0" bIns="0" rtlCol="0" anchor="ctr"/>
          <a:lstStyle/>
          <a:p>
            <a:pPr algn="ctr" indent="0" marL="0">
              <a:buNone/>
            </a:pPr>
            <a:r>
              <a:rPr lang="en-US" sz="2000" b="1" dirty="0">
                <a:solidFill>
                  <a:srgbClr val="1D5FA7"/>
                </a:solidFill>
                <a:latin typeface="Aptos" pitchFamily="34" charset="0"/>
                <a:ea typeface="Aptos" pitchFamily="34" charset="-122"/>
                <a:cs typeface="Aptos" pitchFamily="34" charset="-120"/>
              </a:rPr>
              <a:t>Next lesson: where the weights come from.</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indent="0" marL="0">
              <a:buNone/>
            </a:pPr>
            <a:r>
              <a:rPr lang="en-US" sz="3400" b="1" dirty="0">
                <a:solidFill>
                  <a:srgbClr val="0B2D55"/>
                </a:solidFill>
                <a:latin typeface="Aptos Display" pitchFamily="34" charset="0"/>
                <a:ea typeface="Aptos Display" pitchFamily="34" charset="-122"/>
                <a:cs typeface="Aptos Display" pitchFamily="34" charset="-120"/>
              </a:rPr>
              <a:t>Diagnose the claim</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indent="0" marL="0">
              <a:buNone/>
            </a:pPr>
            <a:r>
              <a:rPr lang="en-US" sz="1500" dirty="0">
                <a:solidFill>
                  <a:srgbClr val="132033"/>
                </a:solidFill>
                <a:latin typeface="Aptos" pitchFamily="34" charset="0"/>
                <a:ea typeface="Aptos" pitchFamily="34" charset="-122"/>
                <a:cs typeface="Aptos" pitchFamily="34" charset="-120"/>
              </a:rPr>
              <a:t>Correct or incorrect? Be ready to fix the incorrect ones.</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indent="0" marL="0">
              <a:buNone/>
            </a:pPr>
            <a:r>
              <a:rPr lang="en-US" sz="850" dirty="0">
                <a:solidFill>
                  <a:srgbClr val="6D7C8F"/>
                </a:solidFill>
                <a:latin typeface="Aptos" pitchFamily="34" charset="0"/>
                <a:ea typeface="Aptos" pitchFamily="34" charset="-122"/>
                <a:cs typeface="Aptos" pitchFamily="34" charset="-120"/>
              </a:rPr>
              <a:t>CS 471  |  L28: Neural Networks I</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algn="r" indent="0" marL="0">
              <a:buNone/>
            </a:pPr>
            <a:r>
              <a:rPr lang="en-US" sz="850" dirty="0">
                <a:solidFill>
                  <a:srgbClr val="6D7C8F"/>
                </a:solidFill>
                <a:latin typeface="Aptos" pitchFamily="34" charset="0"/>
                <a:ea typeface="Aptos" pitchFamily="34" charset="-122"/>
                <a:cs typeface="Aptos" pitchFamily="34" charset="-120"/>
              </a:rPr>
              <a:t>25</a:t>
            </a:r>
            <a:endParaRPr lang="en-US" sz="850" dirty="0"/>
          </a:p>
        </p:txBody>
      </p:sp>
      <p:sp>
        <p:nvSpPr>
          <p:cNvPr id="7" name="Shape 4"/>
          <p:cNvSpPr/>
          <p:nvPr/>
        </p:nvSpPr>
        <p:spPr>
          <a:xfrm>
            <a:off x="822960" y="1554480"/>
            <a:ext cx="10515600" cy="713232"/>
          </a:xfrm>
          <a:prstGeom prst="roundRect">
            <a:avLst>
              <a:gd name="adj" fmla="val 10256"/>
            </a:avLst>
          </a:prstGeom>
          <a:solidFill>
            <a:srgbClr val="FFFFFF"/>
          </a:solidFill>
          <a:ln w="12700">
            <a:solidFill>
              <a:srgbClr val="B8C7D8"/>
            </a:solidFill>
            <a:prstDash val="solid"/>
          </a:ln>
        </p:spPr>
      </p:sp>
      <p:sp>
        <p:nvSpPr>
          <p:cNvPr id="8" name="Shape 5"/>
          <p:cNvSpPr/>
          <p:nvPr/>
        </p:nvSpPr>
        <p:spPr>
          <a:xfrm>
            <a:off x="1005840" y="1700784"/>
            <a:ext cx="420624" cy="420624"/>
          </a:xfrm>
          <a:prstGeom prst="ellipse">
            <a:avLst/>
          </a:prstGeom>
          <a:solidFill>
            <a:srgbClr val="0B2D55"/>
          </a:solidFill>
          <a:ln w="12700">
            <a:solidFill>
              <a:srgbClr val="0B2D55"/>
            </a:solidFill>
            <a:prstDash val="solid"/>
          </a:ln>
        </p:spPr>
      </p:sp>
      <p:sp>
        <p:nvSpPr>
          <p:cNvPr id="9" name="Text 6"/>
          <p:cNvSpPr txBox="1"/>
          <p:nvPr/>
        </p:nvSpPr>
        <p:spPr>
          <a:xfrm>
            <a:off x="1005840" y="170078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7"/>
          <p:cNvSpPr txBox="1"/>
          <p:nvPr/>
        </p:nvSpPr>
        <p:spPr>
          <a:xfrm>
            <a:off x="1645920" y="1554480"/>
            <a:ext cx="7223760" cy="713232"/>
          </a:xfrm>
          <a:prstGeom prst="rect">
            <a:avLst/>
          </a:prstGeom>
          <a:noFill/>
          <a:ln/>
        </p:spPr>
        <p:txBody>
          <a:bodyPr wrap="square" lIns="0" tIns="0" rIns="0" bIns="0" rtlCol="0" anchor="ctr"/>
          <a:lstStyle/>
          <a:p>
            <a:pPr indent="0" marL="0">
              <a:buNone/>
            </a:pPr>
            <a:r>
              <a:rPr lang="en-US" sz="1800" dirty="0">
                <a:solidFill>
                  <a:srgbClr val="132033"/>
                </a:solidFill>
                <a:latin typeface="Aptos" pitchFamily="34" charset="0"/>
                <a:ea typeface="Aptos" pitchFamily="34" charset="-122"/>
                <a:cs typeface="Aptos" pitchFamily="34" charset="-120"/>
              </a:rPr>
              <a:t>Adding more linear layers makes a network more flexible.</a:t>
            </a:r>
            <a:endParaRPr lang="en-US" sz="1800" dirty="0"/>
          </a:p>
        </p:txBody>
      </p:sp>
      <p:sp>
        <p:nvSpPr>
          <p:cNvPr id="11" name="Shape 8"/>
          <p:cNvSpPr/>
          <p:nvPr/>
        </p:nvSpPr>
        <p:spPr>
          <a:xfrm>
            <a:off x="8961120" y="1719072"/>
            <a:ext cx="1097280" cy="384048"/>
          </a:xfrm>
          <a:prstGeom prst="roundRect">
            <a:avLst>
              <a:gd name="adj" fmla="val 19048"/>
            </a:avLst>
          </a:prstGeom>
          <a:solidFill>
            <a:srgbClr val="EEF1F5"/>
          </a:solidFill>
          <a:ln w="12700">
            <a:solidFill>
              <a:srgbClr val="EEF1F5"/>
            </a:solidFill>
            <a:prstDash val="solid"/>
          </a:ln>
        </p:spPr>
      </p:sp>
      <p:sp>
        <p:nvSpPr>
          <p:cNvPr id="12" name="Text 9"/>
          <p:cNvSpPr txBox="1"/>
          <p:nvPr/>
        </p:nvSpPr>
        <p:spPr>
          <a:xfrm>
            <a:off x="8961120" y="1719072"/>
            <a:ext cx="1097280" cy="384048"/>
          </a:xfrm>
          <a:prstGeom prst="rect">
            <a:avLst/>
          </a:prstGeom>
          <a:noFill/>
          <a:ln/>
        </p:spPr>
        <p:txBody>
          <a:bodyPr wrap="square" lIns="0" tIns="0" rIns="0" bIns="0" rtlCol="0" anchor="ctr"/>
          <a:lstStyle/>
          <a:p>
            <a:pPr algn="ctr" indent="0" marL="0">
              <a:buNone/>
            </a:pPr>
            <a:r>
              <a:rPr lang="en-US" sz="1300" b="1" dirty="0">
                <a:solidFill>
                  <a:srgbClr val="6D7C8F"/>
                </a:solidFill>
                <a:latin typeface="Aptos" pitchFamily="34" charset="0"/>
                <a:ea typeface="Aptos" pitchFamily="34" charset="-122"/>
                <a:cs typeface="Aptos" pitchFamily="34" charset="-120"/>
              </a:rPr>
              <a:t>Correct</a:t>
            </a:r>
            <a:endParaRPr lang="en-US" sz="1300" dirty="0"/>
          </a:p>
        </p:txBody>
      </p:sp>
      <p:sp>
        <p:nvSpPr>
          <p:cNvPr id="13" name="Shape 10"/>
          <p:cNvSpPr/>
          <p:nvPr/>
        </p:nvSpPr>
        <p:spPr>
          <a:xfrm>
            <a:off x="10149840" y="1719072"/>
            <a:ext cx="1051560" cy="384048"/>
          </a:xfrm>
          <a:prstGeom prst="roundRect">
            <a:avLst>
              <a:gd name="adj" fmla="val 19048"/>
            </a:avLst>
          </a:prstGeom>
          <a:solidFill>
            <a:srgbClr val="EEF1F5"/>
          </a:solidFill>
          <a:ln w="12700">
            <a:solidFill>
              <a:srgbClr val="EEF1F5"/>
            </a:solidFill>
            <a:prstDash val="solid"/>
          </a:ln>
        </p:spPr>
      </p:sp>
      <p:sp>
        <p:nvSpPr>
          <p:cNvPr id="14" name="Text 11"/>
          <p:cNvSpPr txBox="1"/>
          <p:nvPr/>
        </p:nvSpPr>
        <p:spPr>
          <a:xfrm>
            <a:off x="10149840" y="1719072"/>
            <a:ext cx="1051560" cy="384048"/>
          </a:xfrm>
          <a:prstGeom prst="rect">
            <a:avLst/>
          </a:prstGeom>
          <a:noFill/>
          <a:ln/>
        </p:spPr>
        <p:txBody>
          <a:bodyPr wrap="square" lIns="0" tIns="0" rIns="0" bIns="0" rtlCol="0" anchor="ctr"/>
          <a:lstStyle/>
          <a:p>
            <a:pPr algn="ctr" indent="0" marL="0">
              <a:buNone/>
            </a:pPr>
            <a:r>
              <a:rPr lang="en-US" sz="1300" b="1" dirty="0">
                <a:solidFill>
                  <a:srgbClr val="6D7C8F"/>
                </a:solidFill>
                <a:latin typeface="Aptos" pitchFamily="34" charset="0"/>
                <a:ea typeface="Aptos" pitchFamily="34" charset="-122"/>
                <a:cs typeface="Aptos" pitchFamily="34" charset="-120"/>
              </a:rPr>
              <a:t>Incorrect</a:t>
            </a:r>
            <a:endParaRPr lang="en-US" sz="1300" dirty="0"/>
          </a:p>
        </p:txBody>
      </p:sp>
      <p:sp>
        <p:nvSpPr>
          <p:cNvPr id="15" name="Shape 12"/>
          <p:cNvSpPr/>
          <p:nvPr/>
        </p:nvSpPr>
        <p:spPr>
          <a:xfrm>
            <a:off x="822960" y="2404872"/>
            <a:ext cx="10515600" cy="713232"/>
          </a:xfrm>
          <a:prstGeom prst="roundRect">
            <a:avLst>
              <a:gd name="adj" fmla="val 10256"/>
            </a:avLst>
          </a:prstGeom>
          <a:solidFill>
            <a:srgbClr val="FFFFFF"/>
          </a:solidFill>
          <a:ln w="12700">
            <a:solidFill>
              <a:srgbClr val="B8C7D8"/>
            </a:solidFill>
            <a:prstDash val="solid"/>
          </a:ln>
        </p:spPr>
      </p:sp>
      <p:sp>
        <p:nvSpPr>
          <p:cNvPr id="16" name="Shape 13"/>
          <p:cNvSpPr/>
          <p:nvPr/>
        </p:nvSpPr>
        <p:spPr>
          <a:xfrm>
            <a:off x="1005840" y="2551176"/>
            <a:ext cx="420624" cy="420624"/>
          </a:xfrm>
          <a:prstGeom prst="ellipse">
            <a:avLst/>
          </a:prstGeom>
          <a:solidFill>
            <a:srgbClr val="0B2D55"/>
          </a:solidFill>
          <a:ln w="12700">
            <a:solidFill>
              <a:srgbClr val="0B2D55"/>
            </a:solidFill>
            <a:prstDash val="solid"/>
          </a:ln>
        </p:spPr>
      </p:sp>
      <p:sp>
        <p:nvSpPr>
          <p:cNvPr id="17" name="Text 14"/>
          <p:cNvSpPr txBox="1"/>
          <p:nvPr/>
        </p:nvSpPr>
        <p:spPr>
          <a:xfrm>
            <a:off x="1005840" y="255117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8" name="Text 15"/>
          <p:cNvSpPr txBox="1"/>
          <p:nvPr/>
        </p:nvSpPr>
        <p:spPr>
          <a:xfrm>
            <a:off x="1645920" y="2404872"/>
            <a:ext cx="7223760" cy="713232"/>
          </a:xfrm>
          <a:prstGeom prst="rect">
            <a:avLst/>
          </a:prstGeom>
          <a:noFill/>
          <a:ln/>
        </p:spPr>
        <p:txBody>
          <a:bodyPr wrap="square" lIns="0" tIns="0" rIns="0" bIns="0" rtlCol="0" anchor="ctr"/>
          <a:lstStyle/>
          <a:p>
            <a:pPr indent="0" marL="0">
              <a:buNone/>
            </a:pPr>
            <a:r>
              <a:rPr lang="en-US" sz="1800" dirty="0">
                <a:solidFill>
                  <a:srgbClr val="132033"/>
                </a:solidFill>
                <a:latin typeface="Aptos" pitchFamily="34" charset="0"/>
                <a:ea typeface="Aptos" pitchFamily="34" charset="-122"/>
                <a:cs typeface="Aptos" pitchFamily="34" charset="-120"/>
              </a:rPr>
              <a:t>ReLU passes negative inputs through, just smaller.</a:t>
            </a:r>
            <a:endParaRPr lang="en-US" sz="1800" dirty="0"/>
          </a:p>
        </p:txBody>
      </p:sp>
      <p:sp>
        <p:nvSpPr>
          <p:cNvPr id="19" name="Shape 16"/>
          <p:cNvSpPr/>
          <p:nvPr/>
        </p:nvSpPr>
        <p:spPr>
          <a:xfrm>
            <a:off x="8961120" y="2569464"/>
            <a:ext cx="1097280" cy="384048"/>
          </a:xfrm>
          <a:prstGeom prst="roundRect">
            <a:avLst>
              <a:gd name="adj" fmla="val 19048"/>
            </a:avLst>
          </a:prstGeom>
          <a:solidFill>
            <a:srgbClr val="EEF1F5"/>
          </a:solidFill>
          <a:ln w="12700">
            <a:solidFill>
              <a:srgbClr val="EEF1F5"/>
            </a:solidFill>
            <a:prstDash val="solid"/>
          </a:ln>
        </p:spPr>
      </p:sp>
      <p:sp>
        <p:nvSpPr>
          <p:cNvPr id="20" name="Text 17"/>
          <p:cNvSpPr txBox="1"/>
          <p:nvPr/>
        </p:nvSpPr>
        <p:spPr>
          <a:xfrm>
            <a:off x="8961120" y="2569464"/>
            <a:ext cx="1097280" cy="384048"/>
          </a:xfrm>
          <a:prstGeom prst="rect">
            <a:avLst/>
          </a:prstGeom>
          <a:noFill/>
          <a:ln/>
        </p:spPr>
        <p:txBody>
          <a:bodyPr wrap="square" lIns="0" tIns="0" rIns="0" bIns="0" rtlCol="0" anchor="ctr"/>
          <a:lstStyle/>
          <a:p>
            <a:pPr algn="ctr" indent="0" marL="0">
              <a:buNone/>
            </a:pPr>
            <a:r>
              <a:rPr lang="en-US" sz="1300" b="1" dirty="0">
                <a:solidFill>
                  <a:srgbClr val="6D7C8F"/>
                </a:solidFill>
                <a:latin typeface="Aptos" pitchFamily="34" charset="0"/>
                <a:ea typeface="Aptos" pitchFamily="34" charset="-122"/>
                <a:cs typeface="Aptos" pitchFamily="34" charset="-120"/>
              </a:rPr>
              <a:t>Correct</a:t>
            </a:r>
            <a:endParaRPr lang="en-US" sz="1300" dirty="0"/>
          </a:p>
        </p:txBody>
      </p:sp>
      <p:sp>
        <p:nvSpPr>
          <p:cNvPr id="21" name="Shape 18"/>
          <p:cNvSpPr/>
          <p:nvPr/>
        </p:nvSpPr>
        <p:spPr>
          <a:xfrm>
            <a:off x="10149840" y="2569464"/>
            <a:ext cx="1051560" cy="384048"/>
          </a:xfrm>
          <a:prstGeom prst="roundRect">
            <a:avLst>
              <a:gd name="adj" fmla="val 19048"/>
            </a:avLst>
          </a:prstGeom>
          <a:solidFill>
            <a:srgbClr val="EEF1F5"/>
          </a:solidFill>
          <a:ln w="12700">
            <a:solidFill>
              <a:srgbClr val="EEF1F5"/>
            </a:solidFill>
            <a:prstDash val="solid"/>
          </a:ln>
        </p:spPr>
      </p:sp>
      <p:sp>
        <p:nvSpPr>
          <p:cNvPr id="22" name="Text 19"/>
          <p:cNvSpPr txBox="1"/>
          <p:nvPr/>
        </p:nvSpPr>
        <p:spPr>
          <a:xfrm>
            <a:off x="10149840" y="2569464"/>
            <a:ext cx="1051560" cy="384048"/>
          </a:xfrm>
          <a:prstGeom prst="rect">
            <a:avLst/>
          </a:prstGeom>
          <a:noFill/>
          <a:ln/>
        </p:spPr>
        <p:txBody>
          <a:bodyPr wrap="square" lIns="0" tIns="0" rIns="0" bIns="0" rtlCol="0" anchor="ctr"/>
          <a:lstStyle/>
          <a:p>
            <a:pPr algn="ctr" indent="0" marL="0">
              <a:buNone/>
            </a:pPr>
            <a:r>
              <a:rPr lang="en-US" sz="1300" b="1" dirty="0">
                <a:solidFill>
                  <a:srgbClr val="6D7C8F"/>
                </a:solidFill>
                <a:latin typeface="Aptos" pitchFamily="34" charset="0"/>
                <a:ea typeface="Aptos" pitchFamily="34" charset="-122"/>
                <a:cs typeface="Aptos" pitchFamily="34" charset="-120"/>
              </a:rPr>
              <a:t>Incorrect</a:t>
            </a:r>
            <a:endParaRPr lang="en-US" sz="1300" dirty="0"/>
          </a:p>
        </p:txBody>
      </p:sp>
      <p:sp>
        <p:nvSpPr>
          <p:cNvPr id="23" name="Shape 20"/>
          <p:cNvSpPr/>
          <p:nvPr/>
        </p:nvSpPr>
        <p:spPr>
          <a:xfrm>
            <a:off x="822960" y="3255264"/>
            <a:ext cx="10515600" cy="713232"/>
          </a:xfrm>
          <a:prstGeom prst="roundRect">
            <a:avLst>
              <a:gd name="adj" fmla="val 10256"/>
            </a:avLst>
          </a:prstGeom>
          <a:solidFill>
            <a:srgbClr val="FFFFFF"/>
          </a:solidFill>
          <a:ln w="12700">
            <a:solidFill>
              <a:srgbClr val="B8C7D8"/>
            </a:solidFill>
            <a:prstDash val="solid"/>
          </a:ln>
        </p:spPr>
      </p:sp>
      <p:sp>
        <p:nvSpPr>
          <p:cNvPr id="24" name="Shape 21"/>
          <p:cNvSpPr/>
          <p:nvPr/>
        </p:nvSpPr>
        <p:spPr>
          <a:xfrm>
            <a:off x="1005840" y="3401568"/>
            <a:ext cx="420624" cy="420624"/>
          </a:xfrm>
          <a:prstGeom prst="ellipse">
            <a:avLst/>
          </a:prstGeom>
          <a:solidFill>
            <a:srgbClr val="0B2D55"/>
          </a:solidFill>
          <a:ln w="12700">
            <a:solidFill>
              <a:srgbClr val="0B2D55"/>
            </a:solidFill>
            <a:prstDash val="solid"/>
          </a:ln>
        </p:spPr>
      </p:sp>
      <p:sp>
        <p:nvSpPr>
          <p:cNvPr id="25" name="Text 22"/>
          <p:cNvSpPr txBox="1"/>
          <p:nvPr/>
        </p:nvSpPr>
        <p:spPr>
          <a:xfrm>
            <a:off x="1005840" y="340156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6" name="Text 23"/>
          <p:cNvSpPr txBox="1"/>
          <p:nvPr/>
        </p:nvSpPr>
        <p:spPr>
          <a:xfrm>
            <a:off x="1645920" y="3255264"/>
            <a:ext cx="7223760" cy="713232"/>
          </a:xfrm>
          <a:prstGeom prst="rect">
            <a:avLst/>
          </a:prstGeom>
          <a:noFill/>
          <a:ln/>
        </p:spPr>
        <p:txBody>
          <a:bodyPr wrap="square" lIns="0" tIns="0" rIns="0" bIns="0" rtlCol="0" anchor="ctr"/>
          <a:lstStyle/>
          <a:p>
            <a:pPr indent="0" marL="0">
              <a:buNone/>
            </a:pPr>
            <a:r>
              <a:rPr lang="en-US" sz="1800" dirty="0">
                <a:solidFill>
                  <a:srgbClr val="132033"/>
                </a:solidFill>
                <a:latin typeface="Aptos" pitchFamily="34" charset="0"/>
                <a:ea typeface="Aptos" pitchFamily="34" charset="-122"/>
                <a:cs typeface="Aptos" pitchFamily="34" charset="-120"/>
              </a:rPr>
              <a:t>One neuron with a sigmoid activation is logistic regression.</a:t>
            </a:r>
            <a:endParaRPr lang="en-US" sz="1800" dirty="0"/>
          </a:p>
        </p:txBody>
      </p:sp>
      <p:sp>
        <p:nvSpPr>
          <p:cNvPr id="27" name="Shape 24"/>
          <p:cNvSpPr/>
          <p:nvPr/>
        </p:nvSpPr>
        <p:spPr>
          <a:xfrm>
            <a:off x="8961120" y="3419856"/>
            <a:ext cx="1097280" cy="384048"/>
          </a:xfrm>
          <a:prstGeom prst="roundRect">
            <a:avLst>
              <a:gd name="adj" fmla="val 19048"/>
            </a:avLst>
          </a:prstGeom>
          <a:solidFill>
            <a:srgbClr val="EEF1F5"/>
          </a:solidFill>
          <a:ln w="12700">
            <a:solidFill>
              <a:srgbClr val="EEF1F5"/>
            </a:solidFill>
            <a:prstDash val="solid"/>
          </a:ln>
        </p:spPr>
      </p:sp>
      <p:sp>
        <p:nvSpPr>
          <p:cNvPr id="28" name="Text 25"/>
          <p:cNvSpPr txBox="1"/>
          <p:nvPr/>
        </p:nvSpPr>
        <p:spPr>
          <a:xfrm>
            <a:off x="8961120" y="3419856"/>
            <a:ext cx="1097280" cy="384048"/>
          </a:xfrm>
          <a:prstGeom prst="rect">
            <a:avLst/>
          </a:prstGeom>
          <a:noFill/>
          <a:ln/>
        </p:spPr>
        <p:txBody>
          <a:bodyPr wrap="square" lIns="0" tIns="0" rIns="0" bIns="0" rtlCol="0" anchor="ctr"/>
          <a:lstStyle/>
          <a:p>
            <a:pPr algn="ctr" indent="0" marL="0">
              <a:buNone/>
            </a:pPr>
            <a:r>
              <a:rPr lang="en-US" sz="1300" b="1" dirty="0">
                <a:solidFill>
                  <a:srgbClr val="6D7C8F"/>
                </a:solidFill>
                <a:latin typeface="Aptos" pitchFamily="34" charset="0"/>
                <a:ea typeface="Aptos" pitchFamily="34" charset="-122"/>
                <a:cs typeface="Aptos" pitchFamily="34" charset="-120"/>
              </a:rPr>
              <a:t>Correct</a:t>
            </a:r>
            <a:endParaRPr lang="en-US" sz="1300" dirty="0"/>
          </a:p>
        </p:txBody>
      </p:sp>
      <p:sp>
        <p:nvSpPr>
          <p:cNvPr id="29" name="Shape 26"/>
          <p:cNvSpPr/>
          <p:nvPr/>
        </p:nvSpPr>
        <p:spPr>
          <a:xfrm>
            <a:off x="10149840" y="3419856"/>
            <a:ext cx="1051560" cy="384048"/>
          </a:xfrm>
          <a:prstGeom prst="roundRect">
            <a:avLst>
              <a:gd name="adj" fmla="val 19048"/>
            </a:avLst>
          </a:prstGeom>
          <a:solidFill>
            <a:srgbClr val="EEF1F5"/>
          </a:solidFill>
          <a:ln w="12700">
            <a:solidFill>
              <a:srgbClr val="EEF1F5"/>
            </a:solidFill>
            <a:prstDash val="solid"/>
          </a:ln>
        </p:spPr>
      </p:sp>
      <p:sp>
        <p:nvSpPr>
          <p:cNvPr id="30" name="Text 27"/>
          <p:cNvSpPr txBox="1"/>
          <p:nvPr/>
        </p:nvSpPr>
        <p:spPr>
          <a:xfrm>
            <a:off x="10149840" y="3419856"/>
            <a:ext cx="1051560" cy="384048"/>
          </a:xfrm>
          <a:prstGeom prst="rect">
            <a:avLst/>
          </a:prstGeom>
          <a:noFill/>
          <a:ln/>
        </p:spPr>
        <p:txBody>
          <a:bodyPr wrap="square" lIns="0" tIns="0" rIns="0" bIns="0" rtlCol="0" anchor="ctr"/>
          <a:lstStyle/>
          <a:p>
            <a:pPr algn="ctr" indent="0" marL="0">
              <a:buNone/>
            </a:pPr>
            <a:r>
              <a:rPr lang="en-US" sz="1300" b="1" dirty="0">
                <a:solidFill>
                  <a:srgbClr val="6D7C8F"/>
                </a:solidFill>
                <a:latin typeface="Aptos" pitchFamily="34" charset="0"/>
                <a:ea typeface="Aptos" pitchFamily="34" charset="-122"/>
                <a:cs typeface="Aptos" pitchFamily="34" charset="-120"/>
              </a:rPr>
              <a:t>Incorrect</a:t>
            </a:r>
            <a:endParaRPr lang="en-US" sz="1300" dirty="0"/>
          </a:p>
        </p:txBody>
      </p:sp>
      <p:sp>
        <p:nvSpPr>
          <p:cNvPr id="31" name="Shape 28"/>
          <p:cNvSpPr/>
          <p:nvPr/>
        </p:nvSpPr>
        <p:spPr>
          <a:xfrm>
            <a:off x="822960" y="4105656"/>
            <a:ext cx="10515600" cy="713232"/>
          </a:xfrm>
          <a:prstGeom prst="roundRect">
            <a:avLst>
              <a:gd name="adj" fmla="val 10256"/>
            </a:avLst>
          </a:prstGeom>
          <a:solidFill>
            <a:srgbClr val="FFFFFF"/>
          </a:solidFill>
          <a:ln w="12700">
            <a:solidFill>
              <a:srgbClr val="B8C7D8"/>
            </a:solidFill>
            <a:prstDash val="solid"/>
          </a:ln>
        </p:spPr>
      </p:sp>
      <p:sp>
        <p:nvSpPr>
          <p:cNvPr id="32" name="Shape 29"/>
          <p:cNvSpPr/>
          <p:nvPr/>
        </p:nvSpPr>
        <p:spPr>
          <a:xfrm>
            <a:off x="1005840" y="4251960"/>
            <a:ext cx="420624" cy="420624"/>
          </a:xfrm>
          <a:prstGeom prst="ellipse">
            <a:avLst/>
          </a:prstGeom>
          <a:solidFill>
            <a:srgbClr val="0B2D55"/>
          </a:solidFill>
          <a:ln w="12700">
            <a:solidFill>
              <a:srgbClr val="0B2D55"/>
            </a:solidFill>
            <a:prstDash val="solid"/>
          </a:ln>
        </p:spPr>
      </p:sp>
      <p:sp>
        <p:nvSpPr>
          <p:cNvPr id="33" name="Text 30"/>
          <p:cNvSpPr txBox="1"/>
          <p:nvPr/>
        </p:nvSpPr>
        <p:spPr>
          <a:xfrm>
            <a:off x="1005840" y="42519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34" name="Text 31"/>
          <p:cNvSpPr txBox="1"/>
          <p:nvPr/>
        </p:nvSpPr>
        <p:spPr>
          <a:xfrm>
            <a:off x="1645920" y="4105656"/>
            <a:ext cx="7223760" cy="713232"/>
          </a:xfrm>
          <a:prstGeom prst="rect">
            <a:avLst/>
          </a:prstGeom>
          <a:noFill/>
          <a:ln/>
        </p:spPr>
        <p:txBody>
          <a:bodyPr wrap="square" lIns="0" tIns="0" rIns="0" bIns="0" rtlCol="0" anchor="ctr"/>
          <a:lstStyle/>
          <a:p>
            <a:pPr indent="0" marL="0">
              <a:buNone/>
            </a:pPr>
            <a:r>
              <a:rPr lang="en-US" sz="1800" dirty="0">
                <a:solidFill>
                  <a:srgbClr val="132033"/>
                </a:solidFill>
                <a:latin typeface="Aptos" pitchFamily="34" charset="0"/>
                <a:ea typeface="Aptos" pitchFamily="34" charset="-122"/>
                <a:cs typeface="Aptos" pitchFamily="34" charset="-120"/>
              </a:rPr>
              <a:t>The bias gives a neuron a default leaning when all inputs are 0.</a:t>
            </a:r>
            <a:endParaRPr lang="en-US" sz="1800" dirty="0"/>
          </a:p>
        </p:txBody>
      </p:sp>
      <p:sp>
        <p:nvSpPr>
          <p:cNvPr id="35" name="Shape 32"/>
          <p:cNvSpPr/>
          <p:nvPr/>
        </p:nvSpPr>
        <p:spPr>
          <a:xfrm>
            <a:off x="8961120" y="4270248"/>
            <a:ext cx="1097280" cy="384048"/>
          </a:xfrm>
          <a:prstGeom prst="roundRect">
            <a:avLst>
              <a:gd name="adj" fmla="val 19048"/>
            </a:avLst>
          </a:prstGeom>
          <a:solidFill>
            <a:srgbClr val="EEF1F5"/>
          </a:solidFill>
          <a:ln w="12700">
            <a:solidFill>
              <a:srgbClr val="EEF1F5"/>
            </a:solidFill>
            <a:prstDash val="solid"/>
          </a:ln>
        </p:spPr>
      </p:sp>
      <p:sp>
        <p:nvSpPr>
          <p:cNvPr id="36" name="Text 33"/>
          <p:cNvSpPr txBox="1"/>
          <p:nvPr/>
        </p:nvSpPr>
        <p:spPr>
          <a:xfrm>
            <a:off x="8961120" y="4270248"/>
            <a:ext cx="1097280" cy="384048"/>
          </a:xfrm>
          <a:prstGeom prst="rect">
            <a:avLst/>
          </a:prstGeom>
          <a:noFill/>
          <a:ln/>
        </p:spPr>
        <p:txBody>
          <a:bodyPr wrap="square" lIns="0" tIns="0" rIns="0" bIns="0" rtlCol="0" anchor="ctr"/>
          <a:lstStyle/>
          <a:p>
            <a:pPr algn="ctr" indent="0" marL="0">
              <a:buNone/>
            </a:pPr>
            <a:r>
              <a:rPr lang="en-US" sz="1300" b="1" dirty="0">
                <a:solidFill>
                  <a:srgbClr val="6D7C8F"/>
                </a:solidFill>
                <a:latin typeface="Aptos" pitchFamily="34" charset="0"/>
                <a:ea typeface="Aptos" pitchFamily="34" charset="-122"/>
                <a:cs typeface="Aptos" pitchFamily="34" charset="-120"/>
              </a:rPr>
              <a:t>Correct</a:t>
            </a:r>
            <a:endParaRPr lang="en-US" sz="1300" dirty="0"/>
          </a:p>
        </p:txBody>
      </p:sp>
      <p:sp>
        <p:nvSpPr>
          <p:cNvPr id="37" name="Shape 34"/>
          <p:cNvSpPr/>
          <p:nvPr/>
        </p:nvSpPr>
        <p:spPr>
          <a:xfrm>
            <a:off x="10149840" y="4270248"/>
            <a:ext cx="1051560" cy="384048"/>
          </a:xfrm>
          <a:prstGeom prst="roundRect">
            <a:avLst>
              <a:gd name="adj" fmla="val 19048"/>
            </a:avLst>
          </a:prstGeom>
          <a:solidFill>
            <a:srgbClr val="EEF1F5"/>
          </a:solidFill>
          <a:ln w="12700">
            <a:solidFill>
              <a:srgbClr val="EEF1F5"/>
            </a:solidFill>
            <a:prstDash val="solid"/>
          </a:ln>
        </p:spPr>
      </p:sp>
      <p:sp>
        <p:nvSpPr>
          <p:cNvPr id="38" name="Text 35"/>
          <p:cNvSpPr txBox="1"/>
          <p:nvPr/>
        </p:nvSpPr>
        <p:spPr>
          <a:xfrm>
            <a:off x="10149840" y="4270248"/>
            <a:ext cx="1051560" cy="384048"/>
          </a:xfrm>
          <a:prstGeom prst="rect">
            <a:avLst/>
          </a:prstGeom>
          <a:noFill/>
          <a:ln/>
        </p:spPr>
        <p:txBody>
          <a:bodyPr wrap="square" lIns="0" tIns="0" rIns="0" bIns="0" rtlCol="0" anchor="ctr"/>
          <a:lstStyle/>
          <a:p>
            <a:pPr algn="ctr" indent="0" marL="0">
              <a:buNone/>
            </a:pPr>
            <a:r>
              <a:rPr lang="en-US" sz="1300" b="1" dirty="0">
                <a:solidFill>
                  <a:srgbClr val="6D7C8F"/>
                </a:solidFill>
                <a:latin typeface="Aptos" pitchFamily="34" charset="0"/>
                <a:ea typeface="Aptos" pitchFamily="34" charset="-122"/>
                <a:cs typeface="Aptos" pitchFamily="34" charset="-120"/>
              </a:rPr>
              <a:t>Incorrect</a:t>
            </a:r>
            <a:endParaRPr lang="en-US" sz="1300" dirty="0"/>
          </a:p>
        </p:txBody>
      </p:sp>
      <p:sp>
        <p:nvSpPr>
          <p:cNvPr id="39" name="Shape 36"/>
          <p:cNvSpPr/>
          <p:nvPr/>
        </p:nvSpPr>
        <p:spPr>
          <a:xfrm>
            <a:off x="822960" y="4956048"/>
            <a:ext cx="10515600" cy="713232"/>
          </a:xfrm>
          <a:prstGeom prst="roundRect">
            <a:avLst>
              <a:gd name="adj" fmla="val 10256"/>
            </a:avLst>
          </a:prstGeom>
          <a:solidFill>
            <a:srgbClr val="FFFFFF"/>
          </a:solidFill>
          <a:ln w="12700">
            <a:solidFill>
              <a:srgbClr val="B8C7D8"/>
            </a:solidFill>
            <a:prstDash val="solid"/>
          </a:ln>
        </p:spPr>
      </p:sp>
      <p:sp>
        <p:nvSpPr>
          <p:cNvPr id="40" name="Shape 37"/>
          <p:cNvSpPr/>
          <p:nvPr/>
        </p:nvSpPr>
        <p:spPr>
          <a:xfrm>
            <a:off x="1005840" y="5102352"/>
            <a:ext cx="420624" cy="420624"/>
          </a:xfrm>
          <a:prstGeom prst="ellipse">
            <a:avLst/>
          </a:prstGeom>
          <a:solidFill>
            <a:srgbClr val="0B2D55"/>
          </a:solidFill>
          <a:ln w="12700">
            <a:solidFill>
              <a:srgbClr val="0B2D55"/>
            </a:solidFill>
            <a:prstDash val="solid"/>
          </a:ln>
        </p:spPr>
      </p:sp>
      <p:sp>
        <p:nvSpPr>
          <p:cNvPr id="41" name="Text 38"/>
          <p:cNvSpPr txBox="1"/>
          <p:nvPr/>
        </p:nvSpPr>
        <p:spPr>
          <a:xfrm>
            <a:off x="1005840" y="510235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ptos" pitchFamily="34" charset="0"/>
                <a:ea typeface="Aptos" pitchFamily="34" charset="-122"/>
                <a:cs typeface="Aptos" pitchFamily="34" charset="-120"/>
              </a:rPr>
              <a:t>5</a:t>
            </a:r>
            <a:endParaRPr lang="en-US" sz="1500" dirty="0"/>
          </a:p>
        </p:txBody>
      </p:sp>
      <p:sp>
        <p:nvSpPr>
          <p:cNvPr id="42" name="Text 39"/>
          <p:cNvSpPr txBox="1"/>
          <p:nvPr/>
        </p:nvSpPr>
        <p:spPr>
          <a:xfrm>
            <a:off x="1645920" y="4956048"/>
            <a:ext cx="7223760" cy="713232"/>
          </a:xfrm>
          <a:prstGeom prst="rect">
            <a:avLst/>
          </a:prstGeom>
          <a:noFill/>
          <a:ln/>
        </p:spPr>
        <p:txBody>
          <a:bodyPr wrap="square" lIns="0" tIns="0" rIns="0" bIns="0" rtlCol="0" anchor="ctr"/>
          <a:lstStyle/>
          <a:p>
            <a:pPr indent="0" marL="0">
              <a:buNone/>
            </a:pPr>
            <a:r>
              <a:rPr lang="en-US" sz="1800" dirty="0">
                <a:solidFill>
                  <a:srgbClr val="132033"/>
                </a:solidFill>
                <a:latin typeface="Aptos" pitchFamily="34" charset="0"/>
                <a:ea typeface="Aptos" pitchFamily="34" charset="-122"/>
                <a:cs typeface="Aptos" pitchFamily="34" charset="-120"/>
              </a:rPr>
              <a:t>A price-prediction output should use a sigmoid activation.</a:t>
            </a:r>
            <a:endParaRPr lang="en-US" sz="1800" dirty="0"/>
          </a:p>
        </p:txBody>
      </p:sp>
      <p:sp>
        <p:nvSpPr>
          <p:cNvPr id="43" name="Shape 40"/>
          <p:cNvSpPr/>
          <p:nvPr/>
        </p:nvSpPr>
        <p:spPr>
          <a:xfrm>
            <a:off x="8961120" y="5120640"/>
            <a:ext cx="1097280" cy="384048"/>
          </a:xfrm>
          <a:prstGeom prst="roundRect">
            <a:avLst>
              <a:gd name="adj" fmla="val 19048"/>
            </a:avLst>
          </a:prstGeom>
          <a:solidFill>
            <a:srgbClr val="EEF1F5"/>
          </a:solidFill>
          <a:ln w="12700">
            <a:solidFill>
              <a:srgbClr val="EEF1F5"/>
            </a:solidFill>
            <a:prstDash val="solid"/>
          </a:ln>
        </p:spPr>
      </p:sp>
      <p:sp>
        <p:nvSpPr>
          <p:cNvPr id="44" name="Text 41"/>
          <p:cNvSpPr txBox="1"/>
          <p:nvPr/>
        </p:nvSpPr>
        <p:spPr>
          <a:xfrm>
            <a:off x="8961120" y="5120640"/>
            <a:ext cx="1097280" cy="384048"/>
          </a:xfrm>
          <a:prstGeom prst="rect">
            <a:avLst/>
          </a:prstGeom>
          <a:noFill/>
          <a:ln/>
        </p:spPr>
        <p:txBody>
          <a:bodyPr wrap="square" lIns="0" tIns="0" rIns="0" bIns="0" rtlCol="0" anchor="ctr"/>
          <a:lstStyle/>
          <a:p>
            <a:pPr algn="ctr" indent="0" marL="0">
              <a:buNone/>
            </a:pPr>
            <a:r>
              <a:rPr lang="en-US" sz="1300" b="1" dirty="0">
                <a:solidFill>
                  <a:srgbClr val="6D7C8F"/>
                </a:solidFill>
                <a:latin typeface="Aptos" pitchFamily="34" charset="0"/>
                <a:ea typeface="Aptos" pitchFamily="34" charset="-122"/>
                <a:cs typeface="Aptos" pitchFamily="34" charset="-120"/>
              </a:rPr>
              <a:t>Correct</a:t>
            </a:r>
            <a:endParaRPr lang="en-US" sz="1300" dirty="0"/>
          </a:p>
        </p:txBody>
      </p:sp>
      <p:sp>
        <p:nvSpPr>
          <p:cNvPr id="45" name="Shape 42"/>
          <p:cNvSpPr/>
          <p:nvPr/>
        </p:nvSpPr>
        <p:spPr>
          <a:xfrm>
            <a:off x="10149840" y="5120640"/>
            <a:ext cx="1051560" cy="384048"/>
          </a:xfrm>
          <a:prstGeom prst="roundRect">
            <a:avLst>
              <a:gd name="adj" fmla="val 19048"/>
            </a:avLst>
          </a:prstGeom>
          <a:solidFill>
            <a:srgbClr val="EEF1F5"/>
          </a:solidFill>
          <a:ln w="12700">
            <a:solidFill>
              <a:srgbClr val="EEF1F5"/>
            </a:solidFill>
            <a:prstDash val="solid"/>
          </a:ln>
        </p:spPr>
      </p:sp>
      <p:sp>
        <p:nvSpPr>
          <p:cNvPr id="46" name="Text 43"/>
          <p:cNvSpPr txBox="1"/>
          <p:nvPr/>
        </p:nvSpPr>
        <p:spPr>
          <a:xfrm>
            <a:off x="10149840" y="5120640"/>
            <a:ext cx="1051560" cy="384048"/>
          </a:xfrm>
          <a:prstGeom prst="rect">
            <a:avLst/>
          </a:prstGeom>
          <a:noFill/>
          <a:ln/>
        </p:spPr>
        <p:txBody>
          <a:bodyPr wrap="square" lIns="0" tIns="0" rIns="0" bIns="0" rtlCol="0" anchor="ctr"/>
          <a:lstStyle/>
          <a:p>
            <a:pPr algn="ctr" indent="0" marL="0">
              <a:buNone/>
            </a:pPr>
            <a:r>
              <a:rPr lang="en-US" sz="1300" b="1" dirty="0">
                <a:solidFill>
                  <a:srgbClr val="6D7C8F"/>
                </a:solidFill>
                <a:latin typeface="Aptos" pitchFamily="34" charset="0"/>
                <a:ea typeface="Aptos" pitchFamily="34" charset="-122"/>
                <a:cs typeface="Aptos" pitchFamily="34" charset="-120"/>
              </a:rPr>
              <a:t>Incorrect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indent="0" marL="0">
              <a:buNone/>
            </a:pPr>
            <a:r>
              <a:rPr lang="en-US" sz="3400" b="1" dirty="0">
                <a:solidFill>
                  <a:srgbClr val="0B2D55"/>
                </a:solidFill>
                <a:latin typeface="Aptos Display" pitchFamily="34" charset="0"/>
                <a:ea typeface="Aptos Display" pitchFamily="34" charset="-122"/>
                <a:cs typeface="Aptos Display" pitchFamily="34" charset="-120"/>
              </a:rPr>
              <a:t>Exit ticket: intrusion detector</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indent="0" marL="0">
              <a:buNone/>
            </a:pPr>
            <a:r>
              <a:rPr lang="en-US" sz="1500" dirty="0">
                <a:solidFill>
                  <a:srgbClr val="132033"/>
                </a:solidFill>
                <a:latin typeface="Aptos" pitchFamily="34" charset="0"/>
                <a:ea typeface="Aptos" pitchFamily="34" charset="-122"/>
                <a:cs typeface="Aptos" pitchFamily="34" charset="-120"/>
              </a:rPr>
              <a:t>Put the whole lesson together.</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indent="0" marL="0">
              <a:buNone/>
            </a:pPr>
            <a:r>
              <a:rPr lang="en-US" sz="850" dirty="0">
                <a:solidFill>
                  <a:srgbClr val="6D7C8F"/>
                </a:solidFill>
                <a:latin typeface="Aptos" pitchFamily="34" charset="0"/>
                <a:ea typeface="Aptos" pitchFamily="34" charset="-122"/>
                <a:cs typeface="Aptos" pitchFamily="34" charset="-120"/>
              </a:rPr>
              <a:t>CS 471  |  L28: Neural Networks I</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algn="r" indent="0" marL="0">
              <a:buNone/>
            </a:pPr>
            <a:r>
              <a:rPr lang="en-US" sz="850" dirty="0">
                <a:solidFill>
                  <a:srgbClr val="6D7C8F"/>
                </a:solidFill>
                <a:latin typeface="Aptos" pitchFamily="34" charset="0"/>
                <a:ea typeface="Aptos" pitchFamily="34" charset="-122"/>
                <a:cs typeface="Aptos" pitchFamily="34" charset="-120"/>
              </a:rPr>
              <a:t>26</a:t>
            </a:r>
            <a:endParaRPr lang="en-US" sz="850" dirty="0"/>
          </a:p>
        </p:txBody>
      </p:sp>
      <p:sp>
        <p:nvSpPr>
          <p:cNvPr id="7" name="Shape 4"/>
          <p:cNvSpPr/>
          <p:nvPr/>
        </p:nvSpPr>
        <p:spPr>
          <a:xfrm>
            <a:off x="822960" y="1554480"/>
            <a:ext cx="10515600" cy="1188720"/>
          </a:xfrm>
          <a:prstGeom prst="roundRect">
            <a:avLst>
              <a:gd name="adj" fmla="val 6154"/>
            </a:avLst>
          </a:prstGeom>
          <a:solidFill>
            <a:srgbClr val="FFF4CE"/>
          </a:solidFill>
          <a:ln w="12700">
            <a:solidFill>
              <a:srgbClr val="F2C14E"/>
            </a:solidFill>
            <a:prstDash val="solid"/>
          </a:ln>
        </p:spPr>
      </p:sp>
      <p:sp>
        <p:nvSpPr>
          <p:cNvPr id="8" name="Text 5"/>
          <p:cNvSpPr txBox="1"/>
          <p:nvPr/>
        </p:nvSpPr>
        <p:spPr>
          <a:xfrm>
            <a:off x="1051560" y="1554480"/>
            <a:ext cx="10058400" cy="1188720"/>
          </a:xfrm>
          <a:prstGeom prst="rect">
            <a:avLst/>
          </a:prstGeom>
          <a:noFill/>
          <a:ln/>
        </p:spPr>
        <p:txBody>
          <a:bodyPr wrap="square" lIns="0" tIns="0" rIns="0" bIns="0" rtlCol="0" anchor="ctr"/>
          <a:lstStyle/>
          <a:p>
            <a:pPr indent="0" marL="0">
              <a:buNone/>
            </a:pPr>
            <a:r>
              <a:rPr lang="en-US" sz="1700" dirty="0">
                <a:solidFill>
                  <a:srgbClr val="132033"/>
                </a:solidFill>
                <a:latin typeface="Aptos" pitchFamily="34" charset="0"/>
                <a:ea typeface="Aptos" pitchFamily="34" charset="-122"/>
                <a:cs typeface="Aptos" pitchFamily="34" charset="-120"/>
              </a:rPr>
              <a:t>A login-monitoring neuron uses failed attempts in the last hour (x₁ = 4) and a new-country flag (x₂ = 1), with weights 0.5 and 1.5 and bias −4. Its output is P(intrusion).</a:t>
            </a:r>
            <a:endParaRPr lang="en-US" sz="1700" dirty="0"/>
          </a:p>
        </p:txBody>
      </p:sp>
      <p:sp>
        <p:nvSpPr>
          <p:cNvPr id="9" name="Shape 6"/>
          <p:cNvSpPr/>
          <p:nvPr/>
        </p:nvSpPr>
        <p:spPr>
          <a:xfrm>
            <a:off x="822960" y="2971800"/>
            <a:ext cx="3291840" cy="1691640"/>
          </a:xfrm>
          <a:prstGeom prst="roundRect">
            <a:avLst>
              <a:gd name="adj" fmla="val 4324"/>
            </a:avLst>
          </a:prstGeom>
          <a:solidFill>
            <a:srgbClr val="FFFFFF"/>
          </a:solidFill>
          <a:ln w="12700">
            <a:solidFill>
              <a:srgbClr val="B8C7D8"/>
            </a:solidFill>
            <a:prstDash val="solid"/>
          </a:ln>
        </p:spPr>
      </p:sp>
      <p:sp>
        <p:nvSpPr>
          <p:cNvPr id="10" name="Shape 7"/>
          <p:cNvSpPr/>
          <p:nvPr/>
        </p:nvSpPr>
        <p:spPr>
          <a:xfrm>
            <a:off x="1005840" y="3108960"/>
            <a:ext cx="420624" cy="420624"/>
          </a:xfrm>
          <a:prstGeom prst="ellipse">
            <a:avLst/>
          </a:prstGeom>
          <a:solidFill>
            <a:srgbClr val="1D5FA7"/>
          </a:solidFill>
          <a:ln w="12700">
            <a:solidFill>
              <a:srgbClr val="1D5FA7"/>
            </a:solidFill>
            <a:prstDash val="solid"/>
          </a:ln>
        </p:spPr>
      </p:sp>
      <p:sp>
        <p:nvSpPr>
          <p:cNvPr id="11" name="Text 8"/>
          <p:cNvSpPr txBox="1"/>
          <p:nvPr/>
        </p:nvSpPr>
        <p:spPr>
          <a:xfrm>
            <a:off x="1005840" y="31089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2" name="Text 9"/>
          <p:cNvSpPr txBox="1"/>
          <p:nvPr/>
        </p:nvSpPr>
        <p:spPr>
          <a:xfrm>
            <a:off x="1005840" y="3611880"/>
            <a:ext cx="2926080" cy="960120"/>
          </a:xfrm>
          <a:prstGeom prst="rect">
            <a:avLst/>
          </a:prstGeom>
          <a:noFill/>
          <a:ln/>
        </p:spPr>
        <p:txBody>
          <a:bodyPr wrap="square" lIns="0" tIns="0" rIns="0" bIns="0" rtlCol="0" anchor="t"/>
          <a:lstStyle/>
          <a:p>
            <a:pPr indent="0" marL="0">
              <a:buNone/>
            </a:pPr>
            <a:r>
              <a:rPr lang="en-US" sz="1550" b="1" dirty="0">
                <a:solidFill>
                  <a:srgbClr val="0B2D55"/>
                </a:solidFill>
                <a:latin typeface="Aptos" pitchFamily="34" charset="0"/>
                <a:ea typeface="Aptos" pitchFamily="34" charset="-122"/>
                <a:cs typeface="Aptos" pitchFamily="34" charset="-120"/>
              </a:rPr>
              <a:t>Compute z and P(intrusion). Does it alert at 0.5?</a:t>
            </a:r>
            <a:endParaRPr lang="en-US" sz="1550" dirty="0"/>
          </a:p>
        </p:txBody>
      </p:sp>
      <p:sp>
        <p:nvSpPr>
          <p:cNvPr id="13" name="Shape 10"/>
          <p:cNvSpPr/>
          <p:nvPr/>
        </p:nvSpPr>
        <p:spPr>
          <a:xfrm>
            <a:off x="4389120" y="2971800"/>
            <a:ext cx="3291840" cy="1691640"/>
          </a:xfrm>
          <a:prstGeom prst="roundRect">
            <a:avLst>
              <a:gd name="adj" fmla="val 4324"/>
            </a:avLst>
          </a:prstGeom>
          <a:solidFill>
            <a:srgbClr val="FFFFFF"/>
          </a:solidFill>
          <a:ln w="12700">
            <a:solidFill>
              <a:srgbClr val="B8C7D8"/>
            </a:solidFill>
            <a:prstDash val="solid"/>
          </a:ln>
        </p:spPr>
      </p:sp>
      <p:sp>
        <p:nvSpPr>
          <p:cNvPr id="14" name="Shape 11"/>
          <p:cNvSpPr/>
          <p:nvPr/>
        </p:nvSpPr>
        <p:spPr>
          <a:xfrm>
            <a:off x="4572000" y="3108960"/>
            <a:ext cx="420624" cy="420624"/>
          </a:xfrm>
          <a:prstGeom prst="ellipse">
            <a:avLst/>
          </a:prstGeom>
          <a:solidFill>
            <a:srgbClr val="1D5FA7"/>
          </a:solidFill>
          <a:ln w="12700">
            <a:solidFill>
              <a:srgbClr val="1D5FA7"/>
            </a:solidFill>
            <a:prstDash val="solid"/>
          </a:ln>
        </p:spPr>
      </p:sp>
      <p:sp>
        <p:nvSpPr>
          <p:cNvPr id="15" name="Text 12"/>
          <p:cNvSpPr txBox="1"/>
          <p:nvPr/>
        </p:nvSpPr>
        <p:spPr>
          <a:xfrm>
            <a:off x="4572000" y="31089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6" name="Text 13"/>
          <p:cNvSpPr txBox="1"/>
          <p:nvPr/>
        </p:nvSpPr>
        <p:spPr>
          <a:xfrm>
            <a:off x="4572000" y="3611880"/>
            <a:ext cx="2926080" cy="960120"/>
          </a:xfrm>
          <a:prstGeom prst="rect">
            <a:avLst/>
          </a:prstGeom>
          <a:noFill/>
          <a:ln/>
        </p:spPr>
        <p:txBody>
          <a:bodyPr wrap="square" lIns="0" tIns="0" rIns="0" bIns="0" rtlCol="0" anchor="t"/>
          <a:lstStyle/>
          <a:p>
            <a:pPr indent="0" marL="0">
              <a:buNone/>
            </a:pPr>
            <a:r>
              <a:rPr lang="en-US" sz="1550" b="1" dirty="0">
                <a:solidFill>
                  <a:srgbClr val="0B2D55"/>
                </a:solidFill>
                <a:latin typeface="Aptos" pitchFamily="34" charset="0"/>
                <a:ea typeface="Aptos" pitchFamily="34" charset="-122"/>
                <a:cs typeface="Aptos" pitchFamily="34" charset="-120"/>
              </a:rPr>
              <a:t>A hidden neuron’s weighted sum is −2.6. What does ReLU pass on, and why does it matter?</a:t>
            </a:r>
            <a:endParaRPr lang="en-US" sz="1550" dirty="0"/>
          </a:p>
        </p:txBody>
      </p:sp>
      <p:sp>
        <p:nvSpPr>
          <p:cNvPr id="17" name="Shape 14"/>
          <p:cNvSpPr/>
          <p:nvPr/>
        </p:nvSpPr>
        <p:spPr>
          <a:xfrm>
            <a:off x="7955280" y="2971800"/>
            <a:ext cx="3291840" cy="1691640"/>
          </a:xfrm>
          <a:prstGeom prst="roundRect">
            <a:avLst>
              <a:gd name="adj" fmla="val 4324"/>
            </a:avLst>
          </a:prstGeom>
          <a:solidFill>
            <a:srgbClr val="FFFFFF"/>
          </a:solidFill>
          <a:ln w="12700">
            <a:solidFill>
              <a:srgbClr val="B8C7D8"/>
            </a:solidFill>
            <a:prstDash val="solid"/>
          </a:ln>
        </p:spPr>
      </p:sp>
      <p:sp>
        <p:nvSpPr>
          <p:cNvPr id="18" name="Shape 15"/>
          <p:cNvSpPr/>
          <p:nvPr/>
        </p:nvSpPr>
        <p:spPr>
          <a:xfrm>
            <a:off x="8138160" y="3108960"/>
            <a:ext cx="420624" cy="420624"/>
          </a:xfrm>
          <a:prstGeom prst="ellipse">
            <a:avLst/>
          </a:prstGeom>
          <a:solidFill>
            <a:srgbClr val="1D5FA7"/>
          </a:solidFill>
          <a:ln w="12700">
            <a:solidFill>
              <a:srgbClr val="1D5FA7"/>
            </a:solidFill>
            <a:prstDash val="solid"/>
          </a:ln>
        </p:spPr>
      </p:sp>
      <p:sp>
        <p:nvSpPr>
          <p:cNvPr id="19" name="Text 16"/>
          <p:cNvSpPr txBox="1"/>
          <p:nvPr/>
        </p:nvSpPr>
        <p:spPr>
          <a:xfrm>
            <a:off x="8138160" y="31089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7"/>
          <p:cNvSpPr txBox="1"/>
          <p:nvPr/>
        </p:nvSpPr>
        <p:spPr>
          <a:xfrm>
            <a:off x="8138160" y="3611880"/>
            <a:ext cx="2926080" cy="960120"/>
          </a:xfrm>
          <a:prstGeom prst="rect">
            <a:avLst/>
          </a:prstGeom>
          <a:noFill/>
          <a:ln/>
        </p:spPr>
        <p:txBody>
          <a:bodyPr wrap="square" lIns="0" tIns="0" rIns="0" bIns="0" rtlCol="0" anchor="t"/>
          <a:lstStyle/>
          <a:p>
            <a:pPr indent="0" marL="0">
              <a:buNone/>
            </a:pPr>
            <a:r>
              <a:rPr lang="en-US" sz="1550" b="1" dirty="0">
                <a:solidFill>
                  <a:srgbClr val="0B2D55"/>
                </a:solidFill>
                <a:latin typeface="Aptos" pitchFamily="34" charset="0"/>
                <a:ea typeface="Aptos" pitchFamily="34" charset="-122"/>
                <a:cs typeface="Aptos" pitchFamily="34" charset="-120"/>
              </a:rPr>
              <a:t>If every activation in a 4-layer network were linear, what shape could its boundary be?</a:t>
            </a:r>
            <a:endParaRPr lang="en-US" sz="1550" dirty="0"/>
          </a:p>
        </p:txBody>
      </p:sp>
      <p:sp>
        <p:nvSpPr>
          <p:cNvPr id="21" name="Shape 18"/>
          <p:cNvSpPr/>
          <p:nvPr/>
        </p:nvSpPr>
        <p:spPr>
          <a:xfrm>
            <a:off x="822960" y="4937760"/>
            <a:ext cx="10515600" cy="914400"/>
          </a:xfrm>
          <a:prstGeom prst="roundRect">
            <a:avLst>
              <a:gd name="adj" fmla="val 8000"/>
            </a:avLst>
          </a:prstGeom>
          <a:solidFill>
            <a:srgbClr val="EAF2F8"/>
          </a:solidFill>
          <a:ln w="12700">
            <a:solidFill>
              <a:srgbClr val="1F5D9B"/>
            </a:solidFill>
            <a:prstDash val="solid"/>
          </a:ln>
        </p:spPr>
      </p:sp>
      <p:sp>
        <p:nvSpPr>
          <p:cNvPr id="22" name="Text 19"/>
          <p:cNvSpPr txBox="1"/>
          <p:nvPr/>
        </p:nvSpPr>
        <p:spPr>
          <a:xfrm>
            <a:off x="1005840" y="4937760"/>
            <a:ext cx="10149840" cy="914400"/>
          </a:xfrm>
          <a:prstGeom prst="rect">
            <a:avLst/>
          </a:prstGeom>
          <a:noFill/>
          <a:ln/>
        </p:spPr>
        <p:txBody>
          <a:bodyPr wrap="square" lIns="0" tIns="0" rIns="0" bIns="0" rtlCol="0" anchor="ctr"/>
          <a:lstStyle/>
          <a:p>
            <a:pPr algn="ctr" indent="0" marL="0">
              <a:buNone/>
            </a:pPr>
            <a:r>
              <a:rPr lang="en-US" sz="2000" b="1" dirty="0">
                <a:solidFill>
                  <a:srgbClr val="0B2D55"/>
                </a:solidFill>
                <a:latin typeface="Aptos" pitchFamily="34" charset="0"/>
                <a:ea typeface="Aptos" pitchFamily="34" charset="-122"/>
                <a:cs typeface="Aptos" pitchFamily="34" charset="-120"/>
              </a:rPr>
              <a:t>A neuron is a weighted vote plus a squash. Non-linear layers let networks bend.</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indent="0" marL="0">
              <a:buNone/>
            </a:pPr>
            <a:r>
              <a:rPr lang="en-US" sz="3400" b="1" dirty="0">
                <a:solidFill>
                  <a:srgbClr val="0B2D55"/>
                </a:solidFill>
                <a:latin typeface="Aptos Display" pitchFamily="34" charset="0"/>
                <a:ea typeface="Aptos Display" pitchFamily="34" charset="-122"/>
                <a:cs typeface="Aptos Display" pitchFamily="34" charset="-120"/>
              </a:rPr>
              <a:t>Backup B1: layers as matrix multiplication</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indent="0" marL="0">
              <a:buNone/>
            </a:pPr>
            <a:r>
              <a:rPr lang="en-US" sz="1500" dirty="0">
                <a:solidFill>
                  <a:srgbClr val="132033"/>
                </a:solidFill>
                <a:latin typeface="Aptos" pitchFamily="34" charset="0"/>
                <a:ea typeface="Aptos" pitchFamily="34" charset="-122"/>
                <a:cs typeface="Aptos" pitchFamily="34" charset="-120"/>
              </a:rPr>
              <a:t>The slide 13-15 network in two lines of linear algebra.</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indent="0" marL="0">
              <a:buNone/>
            </a:pPr>
            <a:r>
              <a:rPr lang="en-US" sz="850" dirty="0">
                <a:solidFill>
                  <a:srgbClr val="6D7C8F"/>
                </a:solidFill>
                <a:latin typeface="Aptos" pitchFamily="34" charset="0"/>
                <a:ea typeface="Aptos" pitchFamily="34" charset="-122"/>
                <a:cs typeface="Aptos" pitchFamily="34" charset="-120"/>
              </a:rPr>
              <a:t>CS 471  |  L28: Neural Networks I</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algn="r" indent="0" marL="0">
              <a:buNone/>
            </a:pPr>
            <a:r>
              <a:rPr lang="en-US" sz="850" dirty="0">
                <a:solidFill>
                  <a:srgbClr val="6D7C8F"/>
                </a:solidFill>
                <a:latin typeface="Aptos" pitchFamily="34" charset="0"/>
                <a:ea typeface="Aptos" pitchFamily="34" charset="-122"/>
                <a:cs typeface="Aptos" pitchFamily="34" charset="-120"/>
              </a:rPr>
              <a:t>27</a:t>
            </a:r>
            <a:endParaRPr lang="en-US" sz="850" dirty="0"/>
          </a:p>
        </p:txBody>
      </p:sp>
      <p:sp>
        <p:nvSpPr>
          <p:cNvPr id="7" name="Shape 4"/>
          <p:cNvSpPr/>
          <p:nvPr/>
        </p:nvSpPr>
        <p:spPr>
          <a:xfrm>
            <a:off x="576072" y="1554480"/>
            <a:ext cx="11036808" cy="1143000"/>
          </a:xfrm>
          <a:prstGeom prst="roundRect">
            <a:avLst>
              <a:gd name="adj" fmla="val 6400"/>
            </a:avLst>
          </a:prstGeom>
          <a:solidFill>
            <a:srgbClr val="EAF2F8"/>
          </a:solidFill>
          <a:ln w="12700">
            <a:solidFill>
              <a:srgbClr val="1F5D9B"/>
            </a:solidFill>
            <a:prstDash val="solid"/>
          </a:ln>
        </p:spPr>
      </p:sp>
      <p:sp>
        <p:nvSpPr>
          <p:cNvPr id="8" name="Text 5"/>
          <p:cNvSpPr txBox="1"/>
          <p:nvPr/>
        </p:nvSpPr>
        <p:spPr>
          <a:xfrm>
            <a:off x="731520" y="1554480"/>
            <a:ext cx="10698480" cy="1143000"/>
          </a:xfrm>
          <a:prstGeom prst="rect">
            <a:avLst/>
          </a:prstGeom>
          <a:noFill/>
          <a:ln/>
        </p:spPr>
        <p:txBody>
          <a:bodyPr wrap="square" lIns="0" tIns="0" rIns="0" bIns="0" rtlCol="0" anchor="ctr"/>
          <a:lstStyle/>
          <a:p>
            <a:pPr algn="ctr" indent="0" marL="0">
              <a:buNone/>
            </a:pPr>
            <a:r>
              <a:rPr lang="en-US" sz="2800" b="1" dirty="0">
                <a:solidFill>
                  <a:srgbClr val="0B2D55"/>
                </a:solidFill>
                <a:latin typeface="Aptos" pitchFamily="34" charset="0"/>
                <a:ea typeface="Aptos" pitchFamily="34" charset="-122"/>
                <a:cs typeface="Aptos" pitchFamily="34" charset="-120"/>
              </a:rPr>
              <a:t>h = ReLU(W</a:t>
            </a:r>
            <a:pPr algn="ctr" indent="0" marL="0">
              <a:buNone/>
            </a:pPr>
            <a:r>
              <a:rPr lang="en-US" sz="2800" b="1" baseline="-40000" dirty="0">
                <a:solidFill>
                  <a:srgbClr val="0B2D55"/>
                </a:solidFill>
                <a:latin typeface="Aptos" pitchFamily="34" charset="0"/>
                <a:ea typeface="Aptos" pitchFamily="34" charset="-122"/>
                <a:cs typeface="Aptos" pitchFamily="34" charset="-120"/>
              </a:rPr>
              <a:t>1</a:t>
            </a:r>
            <a:pPr algn="ctr" indent="0" marL="0">
              <a:buNone/>
            </a:pPr>
            <a:r>
              <a:rPr lang="en-US" sz="2800" b="1" dirty="0">
                <a:solidFill>
                  <a:srgbClr val="0B2D55"/>
                </a:solidFill>
                <a:latin typeface="Aptos" pitchFamily="34" charset="0"/>
                <a:ea typeface="Aptos" pitchFamily="34" charset="-122"/>
                <a:cs typeface="Aptos" pitchFamily="34" charset="-120"/>
              </a:rPr>
              <a:t>x + b</a:t>
            </a:r>
            <a:pPr algn="ctr" indent="0" marL="0">
              <a:buNone/>
            </a:pPr>
            <a:r>
              <a:rPr lang="en-US" sz="2800" b="1" baseline="-40000" dirty="0">
                <a:solidFill>
                  <a:srgbClr val="0B2D55"/>
                </a:solidFill>
                <a:latin typeface="Aptos" pitchFamily="34" charset="0"/>
                <a:ea typeface="Aptos" pitchFamily="34" charset="-122"/>
                <a:cs typeface="Aptos" pitchFamily="34" charset="-120"/>
              </a:rPr>
              <a:t>1</a:t>
            </a:r>
            <a:pPr algn="ctr" indent="0" marL="0">
              <a:buNone/>
            </a:pPr>
            <a:r>
              <a:rPr lang="en-US" sz="2800" b="1" dirty="0">
                <a:solidFill>
                  <a:srgbClr val="0B2D55"/>
                </a:solidFill>
                <a:latin typeface="Aptos" pitchFamily="34" charset="0"/>
                <a:ea typeface="Aptos" pitchFamily="34" charset="-122"/>
                <a:cs typeface="Aptos" pitchFamily="34" charset="-120"/>
              </a:rPr>
              <a:t>)          ŷ = σ(W</a:t>
            </a:r>
            <a:pPr algn="ctr" indent="0" marL="0">
              <a:buNone/>
            </a:pPr>
            <a:r>
              <a:rPr lang="en-US" sz="2800" b="1" baseline="-40000" dirty="0">
                <a:solidFill>
                  <a:srgbClr val="0B2D55"/>
                </a:solidFill>
                <a:latin typeface="Aptos" pitchFamily="34" charset="0"/>
                <a:ea typeface="Aptos" pitchFamily="34" charset="-122"/>
                <a:cs typeface="Aptos" pitchFamily="34" charset="-120"/>
              </a:rPr>
              <a:t>2</a:t>
            </a:r>
            <a:pPr algn="ctr" indent="0" marL="0">
              <a:buNone/>
            </a:pPr>
            <a:r>
              <a:rPr lang="en-US" sz="2800" b="1" dirty="0">
                <a:solidFill>
                  <a:srgbClr val="0B2D55"/>
                </a:solidFill>
                <a:latin typeface="Aptos" pitchFamily="34" charset="0"/>
                <a:ea typeface="Aptos" pitchFamily="34" charset="-122"/>
                <a:cs typeface="Aptos" pitchFamily="34" charset="-120"/>
              </a:rPr>
              <a:t>h + b</a:t>
            </a:r>
            <a:pPr algn="ctr" indent="0" marL="0">
              <a:buNone/>
            </a:pPr>
            <a:r>
              <a:rPr lang="en-US" sz="2800" b="1" baseline="-40000" dirty="0">
                <a:solidFill>
                  <a:srgbClr val="0B2D55"/>
                </a:solidFill>
                <a:latin typeface="Aptos" pitchFamily="34" charset="0"/>
                <a:ea typeface="Aptos" pitchFamily="34" charset="-122"/>
                <a:cs typeface="Aptos" pitchFamily="34" charset="-120"/>
              </a:rPr>
              <a:t>2</a:t>
            </a:r>
            <a:pPr algn="ctr" indent="0" marL="0">
              <a:buNone/>
            </a:pPr>
            <a:r>
              <a:rPr lang="en-US" sz="2800" b="1" dirty="0">
                <a:solidFill>
                  <a:srgbClr val="0B2D55"/>
                </a:solidFill>
                <a:latin typeface="Aptos" pitchFamily="34" charset="0"/>
                <a:ea typeface="Aptos" pitchFamily="34" charset="-122"/>
                <a:cs typeface="Aptos" pitchFamily="34" charset="-120"/>
              </a:rPr>
              <a:t>)</a:t>
            </a:r>
            <a:endParaRPr lang="en-US" sz="28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76072" y="2926080"/>
          <a:ext cx="11036808" cy="914400"/>
        </p:xfrm>
        <a:graphic>
          <a:graphicData uri="http://schemas.openxmlformats.org/drawingml/2006/table">
            <a:tbl>
              <a:tblPr/>
              <a:tblGrid>
                <a:gridCol w="6400800"/>
                <a:gridCol w="4636008"/>
              </a:tblGrid>
              <a:tr h="457200">
                <a:tc>
                  <a:txBody>
                    <a:bodyPr/>
                    <a:lstStyle/>
                    <a:p>
                      <a:pPr algn="ctr" indent="0" marL="0">
                        <a:buNone/>
                      </a:pPr>
                      <a:r>
                        <a:rPr lang="en-US" sz="1500" b="1" dirty="0">
                          <a:solidFill>
                            <a:srgbClr val="0B2D55"/>
                          </a:solidFill>
                          <a:latin typeface="Aptos" pitchFamily="34" charset="0"/>
                          <a:ea typeface="Aptos" pitchFamily="34" charset="-122"/>
                          <a:cs typeface="Aptos" pitchFamily="34" charset="-120"/>
                        </a:rPr>
                        <a:t>Step</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algn="ctr" indent="0" marL="0">
                        <a:buNone/>
                      </a:pPr>
                      <a:r>
                        <a:rPr lang="en-US" sz="1500" b="1" dirty="0">
                          <a:solidFill>
                            <a:srgbClr val="0B2D55"/>
                          </a:solidFill>
                          <a:latin typeface="Aptos" pitchFamily="34" charset="0"/>
                          <a:ea typeface="Aptos" pitchFamily="34" charset="-122"/>
                          <a:cs typeface="Aptos" pitchFamily="34" charset="-120"/>
                        </a:rPr>
                        <a:t>Values</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r>
              <a:tr h="457200">
                <a:tc>
                  <a:txBody>
                    <a:bodyPr/>
                    <a:lstStyle/>
                    <a:p>
                      <a:pPr algn="l" indent="0" marL="0">
                        <a:buNone/>
                      </a:pPr>
                      <a:r>
                        <a:rPr lang="en-US" sz="1500" dirty="0">
                          <a:solidFill>
                            <a:srgbClr val="132033"/>
                          </a:solidFill>
                          <a:latin typeface="Aptos" pitchFamily="34" charset="0"/>
                          <a:ea typeface="Aptos" pitchFamily="34" charset="-122"/>
                          <a:cs typeface="Aptos" pitchFamily="34" charset="-120"/>
                        </a:rPr>
                        <a:t>W₁ = [[1, −2], [−1, 1]],  x = [3, 1]</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W₁x = [1, −2]</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r>
              <a:tr h="457200">
                <a:tc>
                  <a:txBody>
                    <a:bodyPr/>
                    <a:lstStyle/>
                    <a:p>
                      <a:pPr algn="l" indent="0" marL="0">
                        <a:buNone/>
                      </a:pPr>
                      <a:r>
                        <a:rPr lang="en-US" sz="1500" dirty="0">
                          <a:solidFill>
                            <a:srgbClr val="132033"/>
                          </a:solidFill>
                          <a:latin typeface="Aptos" pitchFamily="34" charset="0"/>
                          <a:ea typeface="Aptos" pitchFamily="34" charset="-122"/>
                          <a:cs typeface="Aptos" pitchFamily="34" charset="-120"/>
                        </a:rPr>
                        <a:t>Add b₁ = [0, 1]</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[1, −1]</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r>
              <a:tr h="457200">
                <a:tc>
                  <a:txBody>
                    <a:bodyPr/>
                    <a:lstStyle/>
                    <a:p>
                      <a:pPr algn="l" indent="0" marL="0">
                        <a:buNone/>
                      </a:pPr>
                      <a:r>
                        <a:rPr lang="en-US" sz="1500" dirty="0">
                          <a:solidFill>
                            <a:srgbClr val="132033"/>
                          </a:solidFill>
                          <a:latin typeface="Aptos" pitchFamily="34" charset="0"/>
                          <a:ea typeface="Aptos" pitchFamily="34" charset="-122"/>
                          <a:cs typeface="Aptos" pitchFamily="34" charset="-120"/>
                        </a:rPr>
                        <a:t>Apply ReLU element-wise</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h = [1, 0]</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r>
              <a:tr h="457200">
                <a:tc>
                  <a:txBody>
                    <a:bodyPr/>
                    <a:lstStyle/>
                    <a:p>
                      <a:pPr algn="l" indent="0" marL="0">
                        <a:buNone/>
                      </a:pPr>
                      <a:r>
                        <a:rPr lang="en-US" sz="1500" dirty="0">
                          <a:solidFill>
                            <a:srgbClr val="132033"/>
                          </a:solidFill>
                          <a:latin typeface="Aptos" pitchFamily="34" charset="0"/>
                          <a:ea typeface="Aptos" pitchFamily="34" charset="-122"/>
                          <a:cs typeface="Aptos" pitchFamily="34" charset="-120"/>
                        </a:rPr>
                        <a:t>W₂ = [1.5, 2],  b₂ = 0.5</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b="1" dirty="0">
                          <a:solidFill>
                            <a:srgbClr val="2E7D32"/>
                          </a:solidFill>
                          <a:latin typeface="Aptos" pitchFamily="34" charset="0"/>
                          <a:ea typeface="Aptos" pitchFamily="34" charset="-122"/>
                          <a:cs typeface="Aptos" pitchFamily="34" charset="-120"/>
                        </a:rPr>
                        <a:t>z = 2,  ŷ = σ(2) ≈ 0.88</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r>
            </a:tbl>
          </a:graphicData>
        </a:graphic>
      </p:graphicFrame>
      <p:sp>
        <p:nvSpPr>
          <p:cNvPr id="10" name="Text 6"/>
          <p:cNvSpPr txBox="1"/>
          <p:nvPr/>
        </p:nvSpPr>
        <p:spPr>
          <a:xfrm>
            <a:off x="822960" y="5486400"/>
            <a:ext cx="10515600" cy="502920"/>
          </a:xfrm>
          <a:prstGeom prst="rect">
            <a:avLst/>
          </a:prstGeom>
          <a:noFill/>
          <a:ln/>
        </p:spPr>
        <p:txBody>
          <a:bodyPr wrap="square" lIns="0" tIns="0" rIns="0" bIns="0" rtlCol="0" anchor="ctr"/>
          <a:lstStyle/>
          <a:p>
            <a:pPr algn="ctr" indent="0" marL="0">
              <a:buNone/>
            </a:pPr>
            <a:r>
              <a:rPr lang="en-US" sz="1900" b="1" dirty="0">
                <a:solidFill>
                  <a:srgbClr val="0B2D55"/>
                </a:solidFill>
                <a:latin typeface="Aptos" pitchFamily="34" charset="0"/>
                <a:ea typeface="Aptos" pitchFamily="34" charset="-122"/>
                <a:cs typeface="Aptos" pitchFamily="34" charset="-120"/>
              </a:rPr>
              <a:t>A layer is one matrix multiply: why GPUs power deep learning.</a:t>
            </a:r>
            <a:endParaRPr lang="en-US" sz="1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indent="0" marL="0">
              <a:buNone/>
            </a:pPr>
            <a:r>
              <a:rPr lang="en-US" sz="3400" b="1" dirty="0">
                <a:solidFill>
                  <a:srgbClr val="0B2D55"/>
                </a:solidFill>
                <a:latin typeface="Aptos Display" pitchFamily="34" charset="0"/>
                <a:ea typeface="Aptos Display" pitchFamily="34" charset="-122"/>
                <a:cs typeface="Aptos Display" pitchFamily="34" charset="-120"/>
              </a:rPr>
              <a:t>Backup B2: other activation functions</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indent="0" marL="0">
              <a:buNone/>
            </a:pPr>
            <a:r>
              <a:rPr lang="en-US" sz="1500" dirty="0">
                <a:solidFill>
                  <a:srgbClr val="132033"/>
                </a:solidFill>
                <a:latin typeface="Aptos" pitchFamily="34" charset="0"/>
                <a:ea typeface="Aptos" pitchFamily="34" charset="-122"/>
                <a:cs typeface="Aptos" pitchFamily="34" charset="-120"/>
              </a:rPr>
              <a:t>Beyond ReLU and sigmoid.</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indent="0" marL="0">
              <a:buNone/>
            </a:pPr>
            <a:r>
              <a:rPr lang="en-US" sz="850" dirty="0">
                <a:solidFill>
                  <a:srgbClr val="6D7C8F"/>
                </a:solidFill>
                <a:latin typeface="Aptos" pitchFamily="34" charset="0"/>
                <a:ea typeface="Aptos" pitchFamily="34" charset="-122"/>
                <a:cs typeface="Aptos" pitchFamily="34" charset="-120"/>
              </a:rPr>
              <a:t>CS 471  |  L28: Neural Networks I</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algn="r" indent="0" marL="0">
              <a:buNone/>
            </a:pPr>
            <a:r>
              <a:rPr lang="en-US" sz="850" dirty="0">
                <a:solidFill>
                  <a:srgbClr val="6D7C8F"/>
                </a:solidFill>
                <a:latin typeface="Aptos" pitchFamily="34" charset="0"/>
                <a:ea typeface="Aptos" pitchFamily="34" charset="-122"/>
                <a:cs typeface="Aptos" pitchFamily="34" charset="-120"/>
              </a:rPr>
              <a:t>28</a:t>
            </a:r>
            <a:endParaRPr lang="en-US" sz="8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76072" y="1600200"/>
          <a:ext cx="11036808" cy="914400"/>
        </p:xfrm>
        <a:graphic>
          <a:graphicData uri="http://schemas.openxmlformats.org/drawingml/2006/table">
            <a:tbl>
              <a:tblPr/>
              <a:tblGrid>
                <a:gridCol w="1828800"/>
                <a:gridCol w="3749040"/>
                <a:gridCol w="2194560"/>
                <a:gridCol w="3264408"/>
              </a:tblGrid>
              <a:tr h="512064">
                <a:tc>
                  <a:txBody>
                    <a:bodyPr/>
                    <a:lstStyle/>
                    <a:p>
                      <a:pPr algn="ctr" indent="0" marL="0">
                        <a:buNone/>
                      </a:pPr>
                      <a:r>
                        <a:rPr lang="en-US" sz="1500" b="1" dirty="0">
                          <a:solidFill>
                            <a:srgbClr val="0B2D55"/>
                          </a:solidFill>
                          <a:latin typeface="Aptos" pitchFamily="34" charset="0"/>
                          <a:ea typeface="Aptos" pitchFamily="34" charset="-122"/>
                          <a:cs typeface="Aptos" pitchFamily="34" charset="-120"/>
                        </a:rPr>
                        <a:t>Activation</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algn="ctr" indent="0" marL="0">
                        <a:buNone/>
                      </a:pPr>
                      <a:r>
                        <a:rPr lang="en-US" sz="1500" b="1" dirty="0">
                          <a:solidFill>
                            <a:srgbClr val="0B2D55"/>
                          </a:solidFill>
                          <a:latin typeface="Aptos" pitchFamily="34" charset="0"/>
                          <a:ea typeface="Aptos" pitchFamily="34" charset="-122"/>
                          <a:cs typeface="Aptos" pitchFamily="34" charset="-120"/>
                        </a:rPr>
                        <a:t>Formula</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algn="ctr" indent="0" marL="0">
                        <a:buNone/>
                      </a:pPr>
                      <a:r>
                        <a:rPr lang="en-US" sz="1500" b="1" dirty="0">
                          <a:solidFill>
                            <a:srgbClr val="0B2D55"/>
                          </a:solidFill>
                          <a:latin typeface="Aptos" pitchFamily="34" charset="0"/>
                          <a:ea typeface="Aptos" pitchFamily="34" charset="-122"/>
                          <a:cs typeface="Aptos" pitchFamily="34" charset="-120"/>
                        </a:rPr>
                        <a:t>Output range</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algn="ctr" indent="0" marL="0">
                        <a:buNone/>
                      </a:pPr>
                      <a:r>
                        <a:rPr lang="en-US" sz="1500" b="1" dirty="0">
                          <a:solidFill>
                            <a:srgbClr val="0B2D55"/>
                          </a:solidFill>
                          <a:latin typeface="Aptos" pitchFamily="34" charset="0"/>
                          <a:ea typeface="Aptos" pitchFamily="34" charset="-122"/>
                          <a:cs typeface="Aptos" pitchFamily="34" charset="-120"/>
                        </a:rPr>
                        <a:t>Typical use</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r>
              <a:tr h="512064">
                <a:tc>
                  <a:txBody>
                    <a:bodyPr/>
                    <a:lstStyle/>
                    <a:p>
                      <a:pPr algn="ctr" indent="0" marL="0">
                        <a:buNone/>
                      </a:pPr>
                      <a:r>
                        <a:rPr lang="en-US" sz="1500" b="1" dirty="0">
                          <a:solidFill>
                            <a:srgbClr val="0B2D55"/>
                          </a:solidFill>
                          <a:latin typeface="Aptos" pitchFamily="34" charset="0"/>
                          <a:ea typeface="Aptos" pitchFamily="34" charset="-122"/>
                          <a:cs typeface="Aptos" pitchFamily="34" charset="-120"/>
                        </a:rPr>
                        <a:t>ReLU</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max(0, z)</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0 to ∞</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Hidden layers (default)</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r>
              <a:tr h="512064">
                <a:tc>
                  <a:txBody>
                    <a:bodyPr/>
                    <a:lstStyle/>
                    <a:p>
                      <a:pPr algn="ctr" indent="0" marL="0">
                        <a:buNone/>
                      </a:pPr>
                      <a:r>
                        <a:rPr lang="en-US" sz="1500" b="1" dirty="0">
                          <a:solidFill>
                            <a:srgbClr val="0B2D55"/>
                          </a:solidFill>
                          <a:latin typeface="Aptos" pitchFamily="34" charset="0"/>
                          <a:ea typeface="Aptos" pitchFamily="34" charset="-122"/>
                          <a:cs typeface="Aptos" pitchFamily="34" charset="-120"/>
                        </a:rPr>
                        <a:t>Sigmoid</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1 / (1 + e^(−z))</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0 to 1</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Binary output probability</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r>
              <a:tr h="512064">
                <a:tc>
                  <a:txBody>
                    <a:bodyPr/>
                    <a:lstStyle/>
                    <a:p>
                      <a:pPr algn="ctr" indent="0" marL="0">
                        <a:buNone/>
                      </a:pPr>
                      <a:r>
                        <a:rPr lang="en-US" sz="1500" b="1" dirty="0">
                          <a:solidFill>
                            <a:srgbClr val="0B2D55"/>
                          </a:solidFill>
                          <a:latin typeface="Aptos" pitchFamily="34" charset="0"/>
                          <a:ea typeface="Aptos" pitchFamily="34" charset="-122"/>
                          <a:cs typeface="Aptos" pitchFamily="34" charset="-120"/>
                        </a:rPr>
                        <a:t>tanh</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(e^z − e^(−z)) / (e^z + e^(−z))</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−1 to 1</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Older and recurrent networks</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r>
              <a:tr h="512064">
                <a:tc>
                  <a:txBody>
                    <a:bodyPr/>
                    <a:lstStyle/>
                    <a:p>
                      <a:pPr algn="ctr" indent="0" marL="0">
                        <a:buNone/>
                      </a:pPr>
                      <a:r>
                        <a:rPr lang="en-US" sz="1500" b="1" dirty="0">
                          <a:solidFill>
                            <a:srgbClr val="0B2D55"/>
                          </a:solidFill>
                          <a:latin typeface="Aptos" pitchFamily="34" charset="0"/>
                          <a:ea typeface="Aptos" pitchFamily="34" charset="-122"/>
                          <a:cs typeface="Aptos" pitchFamily="34" charset="-120"/>
                        </a:rPr>
                        <a:t>Leaky ReLU</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max(0.01z, z)</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 to ∞</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Hidden layers; avoids dead neurons</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r>
              <a:tr h="512064">
                <a:tc>
                  <a:txBody>
                    <a:bodyPr/>
                    <a:lstStyle/>
                    <a:p>
                      <a:pPr algn="ctr" indent="0" marL="0">
                        <a:buNone/>
                      </a:pPr>
                      <a:r>
                        <a:rPr lang="en-US" sz="1500" b="1" dirty="0">
                          <a:solidFill>
                            <a:srgbClr val="0B2D55"/>
                          </a:solidFill>
                          <a:latin typeface="Aptos" pitchFamily="34" charset="0"/>
                          <a:ea typeface="Aptos" pitchFamily="34" charset="-122"/>
                          <a:cs typeface="Aptos" pitchFamily="34" charset="-120"/>
                        </a:rPr>
                        <a:t>Softmax</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e^(zᵢ) / Σ e^(zⱼ)</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0 to 1, sums to 1</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Multiclass output</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r>
              <a:tr h="512064">
                <a:tc>
                  <a:txBody>
                    <a:bodyPr/>
                    <a:lstStyle/>
                    <a:p>
                      <a:pPr algn="ctr" indent="0" marL="0">
                        <a:buNone/>
                      </a:pPr>
                      <a:r>
                        <a:rPr lang="en-US" sz="1500" b="1" dirty="0">
                          <a:solidFill>
                            <a:srgbClr val="0B2D55"/>
                          </a:solidFill>
                          <a:latin typeface="Aptos" pitchFamily="34" charset="0"/>
                          <a:ea typeface="Aptos" pitchFamily="34" charset="-122"/>
                          <a:cs typeface="Aptos" pitchFamily="34" charset="-120"/>
                        </a:rPr>
                        <a:t>Linear</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z</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 to ∞</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algn="ctr" indent="0" marL="0">
                        <a:buNone/>
                      </a:pPr>
                      <a:r>
                        <a:rPr lang="en-US" sz="1500" dirty="0">
                          <a:solidFill>
                            <a:srgbClr val="132033"/>
                          </a:solidFill>
                          <a:latin typeface="Aptos" pitchFamily="34" charset="0"/>
                          <a:ea typeface="Aptos" pitchFamily="34" charset="-122"/>
                          <a:cs typeface="Aptos" pitchFamily="34" charset="-120"/>
                        </a:rPr>
                        <a:t>Continuous outputs (price, time)</a:t>
                      </a:r>
                      <a:endParaRPr lang="en-US" sz="1500" dirty="0">
                        <a:latin typeface="Aptos" charset="0"/>
                        <a:ea typeface="Aptos" charset="0"/>
                        <a:cs typeface="Aptos" charset="0"/>
                      </a:endParaRPr>
                    </a:p>
                  </a:txBody>
                  <a:tcPr marL="91440" marR="91440" marT="45720" marB="45720"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indent="0" marL="0">
              <a:buNone/>
            </a:pPr>
            <a:r>
              <a:rPr lang="en-US" sz="3400" b="1" dirty="0">
                <a:solidFill>
                  <a:srgbClr val="0B2D55"/>
                </a:solidFill>
                <a:latin typeface="Aptos Display" pitchFamily="34" charset="0"/>
                <a:ea typeface="Aptos Display" pitchFamily="34" charset="-122"/>
                <a:cs typeface="Aptos Display" pitchFamily="34" charset="-120"/>
              </a:rPr>
              <a:t>Backup B3: enough hinges trace any curve</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indent="0" marL="0">
              <a:buNone/>
            </a:pPr>
            <a:r>
              <a:rPr lang="en-US" sz="1500" dirty="0">
                <a:solidFill>
                  <a:srgbClr val="132033"/>
                </a:solidFill>
                <a:latin typeface="Aptos" pitchFamily="34" charset="0"/>
                <a:ea typeface="Aptos" pitchFamily="34" charset="-122"/>
                <a:cs typeface="Aptos" pitchFamily="34" charset="-120"/>
              </a:rPr>
              <a:t>Universal approximation, in one picture.</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indent="0" marL="0">
              <a:buNone/>
            </a:pPr>
            <a:r>
              <a:rPr lang="en-US" sz="850" dirty="0">
                <a:solidFill>
                  <a:srgbClr val="6D7C8F"/>
                </a:solidFill>
                <a:latin typeface="Aptos" pitchFamily="34" charset="0"/>
                <a:ea typeface="Aptos" pitchFamily="34" charset="-122"/>
                <a:cs typeface="Aptos" pitchFamily="34" charset="-120"/>
              </a:rPr>
              <a:t>CS 471  |  L28: Neural Networks I</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algn="r" indent="0" marL="0">
              <a:buNone/>
            </a:pPr>
            <a:r>
              <a:rPr lang="en-US" sz="850" dirty="0">
                <a:solidFill>
                  <a:srgbClr val="6D7C8F"/>
                </a:solidFill>
                <a:latin typeface="Aptos" pitchFamily="34" charset="0"/>
                <a:ea typeface="Aptos" pitchFamily="34" charset="-122"/>
                <a:cs typeface="Aptos" pitchFamily="34" charset="-120"/>
              </a:rPr>
              <a:t>29</a:t>
            </a:r>
            <a:endParaRPr lang="en-US" sz="850" dirty="0"/>
          </a:p>
        </p:txBody>
      </p:sp>
      <p:sp>
        <p:nvSpPr>
          <p:cNvPr id="7" name="Shape 4"/>
          <p:cNvSpPr/>
          <p:nvPr/>
        </p:nvSpPr>
        <p:spPr>
          <a:xfrm>
            <a:off x="576072" y="1508760"/>
            <a:ext cx="6675120" cy="4343400"/>
          </a:xfrm>
          <a:prstGeom prst="roundRect">
            <a:avLst>
              <a:gd name="adj" fmla="val 1684"/>
            </a:avLst>
          </a:prstGeom>
          <a:solidFill>
            <a:srgbClr val="FFFFFF"/>
          </a:solidFill>
          <a:ln w="12700">
            <a:solidFill>
              <a:srgbClr val="B8C7D8"/>
            </a:solidFill>
            <a:prstDash val="solid"/>
          </a:ln>
        </p:spPr>
      </p:sp>
      <p:graphicFrame>
        <p:nvGraphicFramePr>
          <p:cNvPr id="8" name="Chart 0" descr=""/>
          <p:cNvGraphicFramePr/>
          <p:nvPr/>
        </p:nvGraphicFramePr>
        <p:xfrm>
          <a:off x="667512" y="1554480"/>
          <a:ext cx="6492240" cy="425196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7498080" y="1508760"/>
            <a:ext cx="4114800" cy="1874520"/>
          </a:xfrm>
          <a:prstGeom prst="roundRect">
            <a:avLst>
              <a:gd name="adj" fmla="val 3902"/>
            </a:avLst>
          </a:prstGeom>
          <a:solidFill>
            <a:srgbClr val="EAF2F8"/>
          </a:solidFill>
          <a:ln w="12700">
            <a:solidFill>
              <a:srgbClr val="1F5D9B"/>
            </a:solidFill>
            <a:prstDash val="solid"/>
          </a:ln>
        </p:spPr>
      </p:sp>
      <p:sp>
        <p:nvSpPr>
          <p:cNvPr id="10" name="Text 6"/>
          <p:cNvSpPr txBox="1"/>
          <p:nvPr/>
        </p:nvSpPr>
        <p:spPr>
          <a:xfrm>
            <a:off x="7680960" y="1618488"/>
            <a:ext cx="3749040" cy="292608"/>
          </a:xfrm>
          <a:prstGeom prst="rect">
            <a:avLst/>
          </a:prstGeom>
          <a:noFill/>
          <a:ln/>
        </p:spPr>
        <p:txBody>
          <a:bodyPr wrap="square" lIns="0" tIns="0" rIns="0" bIns="0" rtlCol="0" anchor="t"/>
          <a:lstStyle/>
          <a:p>
            <a:pPr indent="0" marL="0">
              <a:buNone/>
            </a:pPr>
            <a:r>
              <a:rPr lang="en-US" sz="1500" b="1" dirty="0">
                <a:solidFill>
                  <a:srgbClr val="0B2D55"/>
                </a:solidFill>
                <a:latin typeface="Aptos" pitchFamily="34" charset="0"/>
                <a:ea typeface="Aptos" pitchFamily="34" charset="-122"/>
                <a:cs typeface="Aptos" pitchFamily="34" charset="-120"/>
              </a:rPr>
              <a:t>The recipe</a:t>
            </a:r>
            <a:endParaRPr lang="en-US" sz="1500" dirty="0"/>
          </a:p>
        </p:txBody>
      </p:sp>
      <p:sp>
        <p:nvSpPr>
          <p:cNvPr id="11" name="Text 7"/>
          <p:cNvSpPr txBox="1"/>
          <p:nvPr/>
        </p:nvSpPr>
        <p:spPr>
          <a:xfrm>
            <a:off x="7680960" y="1947672"/>
            <a:ext cx="3749040" cy="1344168"/>
          </a:xfrm>
          <a:prstGeom prst="rect">
            <a:avLst/>
          </a:prstGeom>
          <a:noFill/>
          <a:ln/>
        </p:spPr>
        <p:txBody>
          <a:bodyPr wrap="square" lIns="0" tIns="0" rIns="0" bIns="0" rtlCol="0" anchor="t"/>
          <a:lstStyle/>
          <a:p>
            <a:pPr indent="0" marL="0">
              <a:buNone/>
            </a:pPr>
            <a:r>
              <a:rPr lang="en-US" sz="1500" dirty="0">
                <a:solidFill>
                  <a:srgbClr val="132033"/>
                </a:solidFill>
                <a:latin typeface="Aptos" pitchFamily="34" charset="0"/>
                <a:ea typeface="Aptos" pitchFamily="34" charset="-122"/>
                <a:cs typeface="Aptos" pitchFamily="34" charset="-120"/>
              </a:rPr>
              <a:t>f(x) = 4 − 3(x + 2) + 2·ReLU(x + 1) + 2·ReLU(x) + 2·ReLU(x − 1)</a:t>
            </a:r>
            <a:endParaRPr lang="en-US" sz="1500" dirty="0"/>
          </a:p>
        </p:txBody>
      </p:sp>
      <p:sp>
        <p:nvSpPr>
          <p:cNvPr id="12" name="Shape 8"/>
          <p:cNvSpPr/>
          <p:nvPr/>
        </p:nvSpPr>
        <p:spPr>
          <a:xfrm>
            <a:off x="7498080" y="3566160"/>
            <a:ext cx="4114800" cy="2286000"/>
          </a:xfrm>
          <a:prstGeom prst="roundRect">
            <a:avLst>
              <a:gd name="adj" fmla="val 3200"/>
            </a:avLst>
          </a:prstGeom>
          <a:solidFill>
            <a:srgbClr val="FFF4CE"/>
          </a:solidFill>
          <a:ln w="12700">
            <a:solidFill>
              <a:srgbClr val="F2C14E"/>
            </a:solidFill>
            <a:prstDash val="solid"/>
          </a:ln>
        </p:spPr>
      </p:sp>
      <p:sp>
        <p:nvSpPr>
          <p:cNvPr id="13" name="Text 9"/>
          <p:cNvSpPr txBox="1"/>
          <p:nvPr/>
        </p:nvSpPr>
        <p:spPr>
          <a:xfrm>
            <a:off x="7680960" y="3675888"/>
            <a:ext cx="3749040" cy="292608"/>
          </a:xfrm>
          <a:prstGeom prst="rect">
            <a:avLst/>
          </a:prstGeom>
          <a:noFill/>
          <a:ln/>
        </p:spPr>
        <p:txBody>
          <a:bodyPr wrap="square" lIns="0" tIns="0" rIns="0" bIns="0" rtlCol="0" anchor="t"/>
          <a:lstStyle/>
          <a:p>
            <a:pPr indent="0" marL="0">
              <a:buNone/>
            </a:pPr>
            <a:r>
              <a:rPr lang="en-US" sz="1500" b="1" dirty="0">
                <a:solidFill>
                  <a:srgbClr val="0B2D55"/>
                </a:solidFill>
                <a:latin typeface="Aptos" pitchFamily="34" charset="0"/>
                <a:ea typeface="Aptos" pitchFamily="34" charset="-122"/>
                <a:cs typeface="Aptos" pitchFamily="34" charset="-120"/>
              </a:rPr>
              <a:t>The fine print</a:t>
            </a:r>
            <a:endParaRPr lang="en-US" sz="1500" dirty="0"/>
          </a:p>
        </p:txBody>
      </p:sp>
      <p:sp>
        <p:nvSpPr>
          <p:cNvPr id="14" name="Text 10"/>
          <p:cNvSpPr txBox="1"/>
          <p:nvPr/>
        </p:nvSpPr>
        <p:spPr>
          <a:xfrm>
            <a:off x="7680960" y="4005072"/>
            <a:ext cx="3749040" cy="1755648"/>
          </a:xfrm>
          <a:prstGeom prst="rect">
            <a:avLst/>
          </a:prstGeom>
          <a:noFill/>
          <a:ln/>
        </p:spPr>
        <p:txBody>
          <a:bodyPr wrap="square" lIns="0" tIns="0" rIns="0" bIns="0" rtlCol="0" anchor="t"/>
          <a:lstStyle/>
          <a:p>
            <a:pPr indent="0" marL="0">
              <a:buNone/>
            </a:pPr>
            <a:r>
              <a:rPr lang="en-US" sz="1500" dirty="0">
                <a:solidFill>
                  <a:srgbClr val="132033"/>
                </a:solidFill>
                <a:latin typeface="Aptos" pitchFamily="34" charset="0"/>
                <a:ea typeface="Aptos" pitchFamily="34" charset="-122"/>
                <a:cs typeface="Aptos" pitchFamily="34" charset="-120"/>
              </a:rPr>
              <a:t>Such weights exist; training may not find them, and a close fit to training data can still fail to generalize.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A7D154A9B6B4745A92074A700A40869" ma:contentTypeVersion="24" ma:contentTypeDescription="Create a new document." ma:contentTypeScope="" ma:versionID="49c36a49e684e25092aa685b0fe35842">
  <xsd:schema xmlns:xsd="http://www.w3.org/2001/XMLSchema" xmlns:xs="http://www.w3.org/2001/XMLSchema" xmlns:p="http://schemas.microsoft.com/office/2006/metadata/properties" xmlns:ns1="http://schemas.microsoft.com/sharepoint/v3" xmlns:ns2="fcae3b96-bd14-4ee2-8386-a94084e60018" xmlns:ns3="56f87f42-bac6-49e2-b9d5-04744cb514ee" targetNamespace="http://schemas.microsoft.com/office/2006/metadata/properties" ma:root="true" ma:fieldsID="9c960b9d532a5d3a9032170b89435a2d" ns1:_="" ns2:_="" ns3:_="">
    <xsd:import namespace="http://schemas.microsoft.com/sharepoint/v3"/>
    <xsd:import namespace="fcae3b96-bd14-4ee2-8386-a94084e60018"/>
    <xsd:import namespace="56f87f42-bac6-49e2-b9d5-04744cb514ee"/>
    <xsd:element name="properties">
      <xsd:complexType>
        <xsd:sequence>
          <xsd:element name="documentManagement">
            <xsd:complexType>
              <xsd:all>
                <xsd:element ref="ns1:_ip_UnifiedCompliancePolicyProperties" minOccurs="0"/>
                <xsd:element ref="ns1:_ip_UnifiedCompliancePolicyUIAction" minOccurs="0"/>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2:MediaServiceLocation" minOccurs="0"/>
                <xsd:element ref="ns2:MediaLengthInSeconds" minOccurs="0"/>
                <xsd:element ref="ns3:TaxCatchAll" minOccurs="0"/>
                <xsd:element ref="ns2:lcf76f155ced4ddcb4097134ff3c332f"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8" nillable="true" ma:displayName="Unified Compliance Policy Properties" ma:hidden="true" ma:internalName="_ip_UnifiedCompliancePolicyProperties">
      <xsd:simpleType>
        <xsd:restriction base="dms:Note"/>
      </xsd:simpleType>
    </xsd:element>
    <xsd:element name="_ip_UnifiedCompliancePolicyUIAction" ma:index="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cae3b96-bd14-4ee2-8386-a94084e60018"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d16a427a-858a-487d-80a3-21f23792e0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6f87f42-bac6-49e2-b9d5-04744cb514e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88e345d7-e916-42f7-ade4-36d8c15b0911}" ma:internalName="TaxCatchAll" ma:showField="CatchAllData" ma:web="56f87f42-bac6-49e2-b9d5-04744cb514e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56f87f42-bac6-49e2-b9d5-04744cb514ee" xsi:nil="true"/>
    <lcf76f155ced4ddcb4097134ff3c332f xmlns="fcae3b96-bd14-4ee2-8386-a94084e60018">
      <Terms xmlns="http://schemas.microsoft.com/office/infopath/2007/PartnerControls"/>
    </lcf76f155ced4ddcb4097134ff3c332f>
    <_ip_UnifiedCompliancePolicyProperties xmlns="http://schemas.microsoft.com/sharepoint/v3" xsi:nil="true"/>
  </documentManagement>
</p:properties>
</file>

<file path=customXml/itemProps1.xml><?xml version="1.0" encoding="utf-8"?>
<ds:datastoreItem xmlns:ds="http://schemas.openxmlformats.org/officeDocument/2006/customXml" ds:itemID="{59371DAC-18FB-4075-B601-588600F3D32D}"/>
</file>

<file path=customXml/itemProps2.xml><?xml version="1.0" encoding="utf-8"?>
<ds:datastoreItem xmlns:ds="http://schemas.openxmlformats.org/officeDocument/2006/customXml" ds:itemID="{71954A5C-7CC3-43B6-A3F0-4580F30EA588}"/>
</file>

<file path=customXml/itemProps3.xml><?xml version="1.0" encoding="utf-8"?>
<ds:datastoreItem xmlns:ds="http://schemas.openxmlformats.org/officeDocument/2006/customXml" ds:itemID="{C1603F10-42EA-43CE-BE50-98C47F367CC9}"/>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471 L28: Neural Networks I</dc:title>
  <dc:subject>PptxGenJS Presentation</dc:subject>
  <dc:creator>PptxGenJS</dc:creator>
  <cp:lastModifiedBy>PptxGenJS</cp:lastModifiedBy>
  <cp:revision>1</cp:revision>
  <dcterms:created xsi:type="dcterms:W3CDTF">2026-09-29T02:39:52Z</dcterms:created>
  <dcterms:modified xsi:type="dcterms:W3CDTF">2026-09-29T02:39:52Z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0x0101006A7D154A9B6B4745A92074A700A40869</vt:lpwstr>
  </property>
</Properties>
</file>