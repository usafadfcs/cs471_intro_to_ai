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notesSlides/notesSlide29.xml" ContentType="application/vnd.openxmlformats-officedocument.presentationml.notesSlide+xml"/>
  <Override PartName="/ppt/notesSlides/notesSlide14.xml" ContentType="application/vnd.openxmlformats-officedocument.presentationml.notesSlide+xml"/>
  <Override PartName="/ppt/notesSlides/notesSlide3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5.xml" ContentType="application/vnd.openxmlformats-officedocument.presentationml.notes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8.xml" ContentType="application/vnd.openxmlformats-officedocument.presentationml.notesSlide+xml"/>
  <Override PartName="/ppt/notesSlides/notesSlide22.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10.xml" ContentType="application/vnd.openxmlformats-officedocument.presentationml.notesSlide+xml"/>
  <Override PartName="/ppt/notesSlides/notesSlide36.xml" ContentType="application/vnd.openxmlformats-officedocument.presentationml.notesSlide+xml"/>
  <Override PartName="/ppt/notesSlides/notesSlide25.xml" ContentType="application/vnd.openxmlformats-officedocument.presentationml.notesSlide+xml"/>
  <Override PartName="/ppt/notesSlides/notesSlide11.xml" ContentType="application/vnd.openxmlformats-officedocument.presentationml.notesSlide+xml"/>
  <Override PartName="/ppt/notesSlides/notesSlide31.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643" autoAdjust="0"/>
  </p:normalViewPr>
  <p:slideViewPr>
    <p:cSldViewPr snapToGrid="0" snapToObjects="1">
      <p:cViewPr varScale="1">
        <p:scale>
          <a:sx n="114" d="100"/>
          <a:sy n="114" d="100"/>
        </p:scale>
        <p:origin x="266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D55"/>
                </a:solidFill>
                <a:latin typeface="Aptos"/>
              </a:defRPr>
            </a:pPr>
            <a:r>
              <a:rPr lang="en-US" sz="1300" b="0" i="0" u="none" strike="noStrike">
                <a:solidFill>
                  <a:srgbClr val="0B2D55"/>
                </a:solidFill>
                <a:latin typeface="Aptos"/>
              </a:rPr>
              <a:t>Error vs. model flexibility</a:t>
            </a:r>
          </a:p>
        </c:rich>
      </c:tx>
      <c:overlay val="0"/>
    </c:title>
    <c:autoTitleDeleted val="0"/>
    <c:plotArea>
      <c:layout/>
      <c:lineChart>
        <c:grouping val="standard"/>
        <c:varyColors val="0"/>
        <c:ser>
          <c:idx val="0"/>
          <c:order val="0"/>
          <c:tx>
            <c:strRef>
              <c:f>Sheet1!$B$1</c:f>
              <c:strCache>
                <c:ptCount val="1"/>
                <c:pt idx="0">
                  <c:v>Bias²</c:v>
                </c:pt>
              </c:strCache>
            </c:strRef>
          </c:tx>
          <c:spPr>
            <a:ln w="31750" cap="flat">
              <a:solidFill>
                <a:srgbClr val="1D5FA7"/>
              </a:solidFill>
              <a:prstDash val="solid"/>
              <a:round/>
            </a:ln>
            <a:effectLst/>
          </c:spPr>
          <c:marker>
            <c:symbol val="circle"/>
            <c:size val="5"/>
            <c:spPr>
              <a:solidFill>
                <a:srgbClr val="1D5FA7"/>
              </a:solidFill>
              <a:ln w="9525" cap="flat">
                <a:solidFill>
                  <a:srgbClr val="1D5FA7"/>
                </a:solidFill>
                <a:prstDash val="solid"/>
                <a:round/>
              </a:ln>
              <a:effectLst/>
            </c:spPr>
          </c:marker>
          <c:cat>
            <c:strRef>
              <c:f>Sheet1!$A$2:$A$8</c:f>
              <c:strCache>
                <c:ptCount val="7"/>
                <c:pt idx="0">
                  <c:v>Simple</c:v>
                </c:pt>
                <c:pt idx="3">
                  <c:v>Moderate</c:v>
                </c:pt>
                <c:pt idx="6">
                  <c:v>Very flexible</c:v>
                </c:pt>
              </c:strCache>
            </c:strRef>
          </c:cat>
          <c:val>
            <c:numRef>
              <c:f>Sheet1!$B$2:$B$8</c:f>
              <c:numCache>
                <c:formatCode>General</c:formatCode>
                <c:ptCount val="7"/>
                <c:pt idx="0">
                  <c:v>9</c:v>
                </c:pt>
                <c:pt idx="1">
                  <c:v>6</c:v>
                </c:pt>
                <c:pt idx="2">
                  <c:v>4.2</c:v>
                </c:pt>
                <c:pt idx="3">
                  <c:v>3</c:v>
                </c:pt>
                <c:pt idx="4">
                  <c:v>2</c:v>
                </c:pt>
                <c:pt idx="5">
                  <c:v>1.2</c:v>
                </c:pt>
                <c:pt idx="6">
                  <c:v>0.5</c:v>
                </c:pt>
              </c:numCache>
            </c:numRef>
          </c:val>
          <c:smooth val="0"/>
          <c:extLst>
            <c:ext xmlns:c16="http://schemas.microsoft.com/office/drawing/2014/chart" uri="{C3380CC4-5D6E-409C-BE32-E72D297353CC}">
              <c16:uniqueId val="{00000000-A34D-4DA5-AAC0-0269D4CFAF6F}"/>
            </c:ext>
          </c:extLst>
        </c:ser>
        <c:ser>
          <c:idx val="1"/>
          <c:order val="1"/>
          <c:tx>
            <c:strRef>
              <c:f>Sheet1!$C$1</c:f>
              <c:strCache>
                <c:ptCount val="1"/>
                <c:pt idx="0">
                  <c:v>Variance</c:v>
                </c:pt>
              </c:strCache>
            </c:strRef>
          </c:tx>
          <c:spPr>
            <a:ln w="31750" cap="flat">
              <a:solidFill>
                <a:srgbClr val="D9731A"/>
              </a:solidFill>
              <a:prstDash val="solid"/>
              <a:round/>
            </a:ln>
            <a:effectLst/>
          </c:spPr>
          <c:marker>
            <c:symbol val="circle"/>
            <c:size val="5"/>
            <c:spPr>
              <a:solidFill>
                <a:srgbClr val="D9731A"/>
              </a:solidFill>
              <a:ln w="9525" cap="flat">
                <a:solidFill>
                  <a:srgbClr val="D9731A"/>
                </a:solidFill>
                <a:prstDash val="solid"/>
                <a:round/>
              </a:ln>
              <a:effectLst/>
            </c:spPr>
          </c:marker>
          <c:cat>
            <c:strRef>
              <c:f>Sheet1!$A$2:$A$8</c:f>
              <c:strCache>
                <c:ptCount val="7"/>
                <c:pt idx="0">
                  <c:v>Simple</c:v>
                </c:pt>
                <c:pt idx="3">
                  <c:v>Moderate</c:v>
                </c:pt>
                <c:pt idx="6">
                  <c:v>Very flexible</c:v>
                </c:pt>
              </c:strCache>
            </c:strRef>
          </c:cat>
          <c:val>
            <c:numRef>
              <c:f>Sheet1!$C$2:$C$8</c:f>
              <c:numCache>
                <c:formatCode>General</c:formatCode>
                <c:ptCount val="7"/>
                <c:pt idx="0">
                  <c:v>1</c:v>
                </c:pt>
                <c:pt idx="1">
                  <c:v>1.2</c:v>
                </c:pt>
                <c:pt idx="2">
                  <c:v>1.5</c:v>
                </c:pt>
                <c:pt idx="3">
                  <c:v>2</c:v>
                </c:pt>
                <c:pt idx="4">
                  <c:v>3.5</c:v>
                </c:pt>
                <c:pt idx="5">
                  <c:v>6</c:v>
                </c:pt>
                <c:pt idx="6">
                  <c:v>9.5</c:v>
                </c:pt>
              </c:numCache>
            </c:numRef>
          </c:val>
          <c:smooth val="0"/>
          <c:extLst>
            <c:ext xmlns:c16="http://schemas.microsoft.com/office/drawing/2014/chart" uri="{C3380CC4-5D6E-409C-BE32-E72D297353CC}">
              <c16:uniqueId val="{00000001-A34D-4DA5-AAC0-0269D4CFAF6F}"/>
            </c:ext>
          </c:extLst>
        </c:ser>
        <c:ser>
          <c:idx val="2"/>
          <c:order val="2"/>
          <c:tx>
            <c:strRef>
              <c:f>Sheet1!$D$1</c:f>
              <c:strCache>
                <c:ptCount val="1"/>
                <c:pt idx="0">
                  <c:v>σ²</c:v>
                </c:pt>
              </c:strCache>
            </c:strRef>
          </c:tx>
          <c:spPr>
            <a:ln w="31750" cap="flat">
              <a:solidFill>
                <a:srgbClr val="9AA8B8"/>
              </a:solidFill>
              <a:prstDash val="solid"/>
              <a:round/>
            </a:ln>
            <a:effectLst/>
          </c:spPr>
          <c:marker>
            <c:symbol val="circle"/>
            <c:size val="5"/>
            <c:spPr>
              <a:solidFill>
                <a:srgbClr val="9AA8B8"/>
              </a:solidFill>
              <a:ln w="9525" cap="flat">
                <a:solidFill>
                  <a:srgbClr val="9AA8B8"/>
                </a:solidFill>
                <a:prstDash val="solid"/>
                <a:round/>
              </a:ln>
              <a:effectLst/>
            </c:spPr>
          </c:marker>
          <c:cat>
            <c:strRef>
              <c:f>Sheet1!$A$2:$A$8</c:f>
              <c:strCache>
                <c:ptCount val="7"/>
                <c:pt idx="0">
                  <c:v>Simple</c:v>
                </c:pt>
                <c:pt idx="3">
                  <c:v>Moderate</c:v>
                </c:pt>
                <c:pt idx="6">
                  <c:v>Very flexible</c:v>
                </c:pt>
              </c:strCache>
            </c:strRef>
          </c:cat>
          <c:val>
            <c:numRef>
              <c:f>Sheet1!$D$2:$D$8</c:f>
              <c:numCache>
                <c:formatCode>General</c:formatCode>
                <c:ptCount val="7"/>
                <c:pt idx="0">
                  <c:v>3</c:v>
                </c:pt>
                <c:pt idx="1">
                  <c:v>3</c:v>
                </c:pt>
                <c:pt idx="2">
                  <c:v>3</c:v>
                </c:pt>
                <c:pt idx="3">
                  <c:v>3</c:v>
                </c:pt>
                <c:pt idx="4">
                  <c:v>3</c:v>
                </c:pt>
                <c:pt idx="5">
                  <c:v>3</c:v>
                </c:pt>
                <c:pt idx="6">
                  <c:v>3</c:v>
                </c:pt>
              </c:numCache>
            </c:numRef>
          </c:val>
          <c:smooth val="0"/>
          <c:extLst>
            <c:ext xmlns:c16="http://schemas.microsoft.com/office/drawing/2014/chart" uri="{C3380CC4-5D6E-409C-BE32-E72D297353CC}">
              <c16:uniqueId val="{00000002-A34D-4DA5-AAC0-0269D4CFAF6F}"/>
            </c:ext>
          </c:extLst>
        </c:ser>
        <c:ser>
          <c:idx val="3"/>
          <c:order val="3"/>
          <c:tx>
            <c:strRef>
              <c:f>Sheet1!$E$1</c:f>
              <c:strCache>
                <c:ptCount val="1"/>
                <c:pt idx="0">
                  <c:v>Total error</c:v>
                </c:pt>
              </c:strCache>
            </c:strRef>
          </c:tx>
          <c:spPr>
            <a:ln w="31750" cap="flat">
              <a:solidFill>
                <a:srgbClr val="0B2D55"/>
              </a:solidFill>
              <a:prstDash val="solid"/>
              <a:round/>
            </a:ln>
            <a:effectLst/>
          </c:spPr>
          <c:marker>
            <c:symbol val="circle"/>
            <c:size val="5"/>
            <c:spPr>
              <a:solidFill>
                <a:srgbClr val="0B2D55"/>
              </a:solidFill>
              <a:ln w="9525" cap="flat">
                <a:solidFill>
                  <a:srgbClr val="0B2D55"/>
                </a:solidFill>
                <a:prstDash val="solid"/>
                <a:round/>
              </a:ln>
              <a:effectLst/>
            </c:spPr>
          </c:marker>
          <c:cat>
            <c:strRef>
              <c:f>Sheet1!$A$2:$A$8</c:f>
              <c:strCache>
                <c:ptCount val="7"/>
                <c:pt idx="0">
                  <c:v>Simple</c:v>
                </c:pt>
                <c:pt idx="3">
                  <c:v>Moderate</c:v>
                </c:pt>
                <c:pt idx="6">
                  <c:v>Very flexible</c:v>
                </c:pt>
              </c:strCache>
            </c:strRef>
          </c:cat>
          <c:val>
            <c:numRef>
              <c:f>Sheet1!$E$2:$E$8</c:f>
              <c:numCache>
                <c:formatCode>General</c:formatCode>
                <c:ptCount val="7"/>
                <c:pt idx="0">
                  <c:v>13</c:v>
                </c:pt>
                <c:pt idx="1">
                  <c:v>10.199999999999999</c:v>
                </c:pt>
                <c:pt idx="2">
                  <c:v>8.6999999999999993</c:v>
                </c:pt>
                <c:pt idx="3">
                  <c:v>8</c:v>
                </c:pt>
                <c:pt idx="4">
                  <c:v>8.5</c:v>
                </c:pt>
                <c:pt idx="5">
                  <c:v>10.199999999999999</c:v>
                </c:pt>
                <c:pt idx="6">
                  <c:v>13</c:v>
                </c:pt>
              </c:numCache>
            </c:numRef>
          </c:val>
          <c:smooth val="0"/>
          <c:extLst>
            <c:ext xmlns:c16="http://schemas.microsoft.com/office/drawing/2014/chart" uri="{C3380CC4-5D6E-409C-BE32-E72D297353CC}">
              <c16:uniqueId val="{00000003-A34D-4DA5-AAC0-0269D4CFAF6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2"/>
        <c:crosses val="autoZero"/>
        <c:auto val="1"/>
        <c:lblAlgn val="ctr"/>
        <c:lblOffset val="100"/>
        <c:noMultiLvlLbl val="1"/>
      </c:catAx>
      <c:valAx>
        <c:axId val="2094734552"/>
        <c:scaling>
          <c:orientation val="minMax"/>
          <c:max val="14"/>
          <c:min val="0"/>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132033"/>
              </a:solidFill>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(open, slides 1-3 total 4 min).
INSTRUCTOR: Open with the image. Every point on the right is a past card transaction: blue circles are legitimate, orange triangles are fraud. The curve is a boundary some model learned. Ask: "The white point just arrived. Which side is it on, and would you bet the customer's card on that answer?" Keep the answer open; the lesson is about how that boundary gets drawn (Part 4), whether we can trust it on new data (Part 2), and how we score it (Part 3). The four stage labels (Features, Boundary, Test, Metric) are the lesson's storyline.
CENTRAL CLAIM: A classifier is a learned decision boundary, and it earns trust only on data it has never seen.
ASSESSMENT ALIGNMENT: Framing only. [Confirm lesson placement and assessment timing against the syllabus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Quick retrieval across the course arc. L05 search needed a complete model of the world (states, actions, costs). L15 Q-learning dropped the model and learned from reward signals, one sampled experience at a time. Today's agents learn from a third kind of signal: labeled examples, where someone already recorded the right answer. Ask the closing question, then run the 60-second turn-and-talk. Good student answers: spam filters, photo face grouping, music recommendations, fraud alerts on their own bank card, autocomplete.
CONNECTION: This is the "Understanding AI to Designing AI" pivot: students will soon be choosing and evaluating models, not just using them.
ASSESSMENT ALIGNMENT: Supports Objective 1 (supervised vs. other learning paradigms).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Read the three objectives quickly and point to the performance target: that is what students should be able to do on their own by the end of class. Objective 1 = Part 2 (generalization), Objective 2 = Part 3 (metrics), Objective 3 = Part 4 (model families).
DESIGN NOTE: The source lesson listed four objectives. "Apply statistical ML models" was folded into Objective 3 at the level of assumption, boundary shape, and one core computation per model, which is realistic for 53 minutes.
ASSESSMENT ALIGNMENT: Objectives 1-3 map to the lesson's Knowledge Check (Q1 generalization/overfitting, Q2 model choice, Q3 bagging). [Map each objective to specific GR, quiz, Blackboard homework, and 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(Part 1 total 5 min).
INSTRUCTOR: Introduce the running dataset. Every model today will be drawn on this exact plot, so spend a moment orienting: x axis = how unusual the amount is for this customer; y axis = how far from their usual location. Legit purchases cluster low and tight (people are predictable); fraud is spread out and far from normal. Point out the class imbalance: about 4% fraud. Ask the lazy-model question and let it hang; it pays off on slide 13 (the accuracy trap).
NOTE: The plotted sample oversamples fraud so students can see it; the full dataset is about 4% fraud.
VOCABULARY: features (inputs), label (answer), positive class (the thing we are trying to detect; here, fraud).
ASSESSMENT ALIGNMENT: Establishes vocabulary (features, labels, positive class) used in Objective 2 metrics.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Same points, two situations. Left: every transaction has a label, so the algorithm can learn a boundary that predicts the label for new points (supervised: a student with an answer key). Right: the same data with the labels stripped away; the algorithm can only find structure, such as two clusters. It cannot tell you which cluster is "fraud"; a human has to interpret that. Name k-means as a common clustering method, but do not teach it today.
Third card: RL (L13-L15) is neither. There is no answer key and no fixed dataset; the agent gets a reward after acting.
MILITARY/ENGINEERING EXAMPLE (verbal): A squadron has thousands of unlabeled drone telemetry logs. Clustering can group similar flights so analysts triage the odd cluster first; once analysts label some flights as "fault" vs. "normal," the problem becomes supervised.
ASSESSMENT ALIGNMENT: Objective 1 (distinguish supervised and unsupervised).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INSTRUCTOR: Lock in the vocabulary that the rest of the lesson hangs on. A trained model f-hat takes features x and outputs a prediction y-hat. Geometrically, it splits the feature space into a "predict fraud" region and a "predict legit" region; the dividing line is the decision boundary. Tell students: "Every model in Part 4 is just a different way to draw this line. This particular boundary happens to be logistic regression; we will see why it is straight."
MISCONCEPTION: Students sometimes think the model stores the training points. Most models here keep only the boundary's parameters (a few numbers), which is why they can score new points instantly.
ASSESSMENT ALIGNMENT: Foundation for Objective 3 (boundary shape per model).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(Part 2 total 10 min).
INSTRUCTOR: If a model is scored on the same examples it trained on, a big enough model can simply memorize them and score 100%. That tells us nothing about new transactions tomorrow. So before training we split the data: the model studies the training set (commonly about 80%) and the test set (about 20%) is locked away until the final evaluation. Use the exam analogy: memorizing last year's practice exam answers vs. understanding the material.
VALIDATION SET (say in one sentence): If you need to tune settings or compare models, carve a separate validation set out of the training data; peeking at the test set to tune makes the final test score optimistic.
ASSESSMENT ALIGNMENT: Objective 1 (train/test split, generalization); Knowledge Check Q1.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Same training data, three models of increasing flexibility.
Left (high bias / underfit): a single rigid cut. It misses the real shape, so it is wrong on training AND test data.
Middle (balanced): a smooth curve that follows the real trend and ignores stray points.
Right (high variance / overfit): the boundary bends around individual points, drawing little islands around outliers. Training error near zero, but those islands are noise, so test error is high.
Ask the takeaway question. Answer: the right panel. A new sample would put the outliers in different places, and the islands would move. That sensitivity to the particular sample IS variance (defined on the next slide).
FIGURE NOTE: Real fitted boundaries (a one-split tree, a smooth RBF SVM, and a very high-gamma RBF SVM). The right panel is a good preview of backup slide B3 on kernels.
ASSESSMENT ALIGNMENT: Objective 1 (identify under/overfitting); Knowledge Check Q1.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Read the equation left to right as "wrong on average" + "unstable across samples" + "noise nobody can remove."
Dartboards: imagine retraining the model on many different training samples and plotting where each version's prediction lands. Bias = how far the average shot is from the bullseye. Variance = how scattered the shots are.
Irreducible error in fraud terms: an honest customer who genuinely is traveling and buying something expensive looks exactly like fraud in these two features. No model using only these features can separate them.
MISCONCEPTION: "A better algorithm can drive error to zero." No: sigma-squared is a floor set by the data and features. Only new, more informative features can lower it.
SOURCE NOTE: Decomposition as in James et al. (2023), ISL, p. 31.
ASSESSMENT ALIGNMENT: Objective 1 (bias-variance tradeoff).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Three candidate fraud models, same data, sigma-squared = 3 for all (the noise floor does not depend on the model).
COMPUTE: Simple 9 + 1 + 3 = 13. Moderate 3 + 2 + 3 = 8. Very flexible 0.5 + 9.5 + 3 = 13.
INTERPRET: The two extremes tie at 13 for opposite reasons: the simple model is wrong on average (bias), the flexible model is unstable (variance). The moderate model is the sweet spot. Point to the chart: bias falls and variance rises as flexibility grows; total error is U-shaped.
PREDICT: Ask "What happens if we make the model even more flexible than the rightmost one?" Variance keeps growing faster than bias can shrink (bias is already near 0), so total error rises further. Also ask: can any model get below 3? No.
NOTE: Numbers are illustrative and intentionally different from the reading's example.
ASSESSMENT ALIGNMENT: Objective 1; Compute-Interpret-Predict practice with the decomposition.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Pairs, 60 seconds: fill in the Diagnosis column using the rule card. Then reveal.
ANSWERS: Model A (99% / 71%, 28-point gap) = overfit, high variance: it memorized the training data. Model B (88% / 86%) = generalizes well. Model C (70% / 69%) = underfit, high bias: close together, but both poor, so the model is too simple.
Drone card answer: overfit (high variance). A 33-point drop from lab to flight line means the model learned lab-specific quirks.
WATCH FOR: Students picking Model A because it has the highest number. Ask "which number predicts tomorrow's performance?" (the test number).
CAUTION: The rule of thumb assumes the test set is representative. If the flight-line data differs systematically from lab data (distribution shift), a gap can also mean the test conditions changed; mention only if a student raises it.
ASSESSMENT ALIGNMENT: Objective 1; directly practices Knowledge Check Q1 with different numbers.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The payoff of a diagnosis is choosing the right lever.
High variance: more training data (harder to memorize a larger sample), a simpler or more constrained model, fewer noisy features, or averaging many models (random forest; foreshadow slide 30).
High bias: give the model better information (richer features) or more flexibility.
Ask the question. Answer: mainly high variance. More data does little for a model that is too simple; a straight line stays a straight line no matter how many points you give it.
MISCONCEPTION: "More data always helps." It helps variance problems; it barely touches bias problems.
ASSESSMENT ALIGNMENT: Objective 1 (bias-variance reasoning); sets up Knowledge Check Q3 (bagging reduces variance).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(Part 3 total 10 min).
INSTRUCTOR: Pay off the slide 4 question. The laziest possible fraud model predicts "legit" for every transaction. On a test set of 1,000 transactions with 40 fraud, it is right on all 960 legit ones: 960 / 1,000 = 96% accuracy. It catches zero fraud. Whenever the positive class is rare, accuracy is dominated by the easy majority class.
ASK: "What single number would have exposed this model immediately?" (Fraud caught out of fraud present: that is recall, next two slides.)
MILITARY/ENGINEERING PARALLEL (verbal): Any rare-event detector has this problem: intrusion alerts in network logs, rare targets in satellite imagery, impending component failures in fleet telemetry.
ASSESSMENT ALIGNMENT: Objective 2 (why accuracy misleads under class imbalance).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Build the matrix out loud. Columns = what the model predicted; rows = what was actually true. The diagonal (green) is correct; the off-diagonal (red) are the two kinds of error, and in fraud they have very different costs:
False positive: an honest customer's card is declined at the grocery store (annoyance, lost customer trust).
False negative: fraud goes through (money lost, chargeback).
Emphasize "positive" means "the model said fraud," not "good news."
MILITARY/ENGINEERING PARALLEL: Target detection in satellite imagery maps the same way: TP = real target found; FP = a decoy or civilian structure flagged (wasted analyst time or worse); FN = a real target missed; TN = empty terrain correctly ignored. Ask which error is costlier there.
SOURCE NOTE: Powers (2011) for metric definitions.
ASSESSMENT ALIGNMENT: Objective 2 (confusion matrix interpretation).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Tie each formula to the highlighted cells so students stop memorizing and start reading the matrix.
Precision uses the "Predicted FRAUD" column: of everything we flagged, how much was really fraud? Matters when false alarms are expensive.
Recall uses the "Actual FRAUD" row: of all real fraud, how much did we catch? Matters when misses are expensive.
F1 is the harmonic mean: it is high only when BOTH are reasonably high, so a model cannot hide a terrible recall behind a great precision.
KEY INSIGHT: None of the three uses TN, which is exactly the huge, easy cell that inflated accuracy on the last slide. Quick check: what is the lazy model's recall? 0 / 40 = 0.
ASSESSMENT ALIGNMENT: Objective 2 (compute precision, recall, F1).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together, one row at a time. Have students predict before revealing each value.
Accuracy = (30 + 940) / 1,000 = 0.97.
Precision = 30 / (30 + 20) = 0.60.
Recall = 30 / (30 + 10) = 0.75.
F1 = 2(0.60)(0.75) / (0.60 + 0.75) = 0.90 / 1.35 = about 0.67.
INTERPRET: Only one point better than the lazy model on accuracy, but enormously more useful. Still: 10 of 40 frauds slip through (recall 0.75), and 20 of 50 alerts block an honest customer (precision 0.60). Whether that is acceptable is a business or mission decision, not a math one.
WATCH FOR: Students swapping FP and FN in the denominators. Anchor: precision = "of what we flagged" (column); recall = "of what was really there" (row).
ASSESSMENT ALIGNMENT: Objective 2 (compute and interpret metrics). Numbers are original to this deck.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Most classifiers output a probability; a threshold turns it into a decision (default 0.5). Moving the threshold does not retrain the model, it only changes how cautious the model is.
Raise the threshold: the model flags only very confident cases, so the flags it makes are more often right (precision up), but it misses more fraud (recall down).
Lower the threshold: the reverse.
Scenario answers:
(a) Spam filter: prioritize PRECISION. A false positive sends a real email (a job offer) to the spam folder where no one sees it; a missed spam is a mild annoyance.
(b) Malware detector on a flight-control computer: prioritize RECALL. A miss could be catastrophic; a false alarm costs an inspection.
Push: "Would you ever pick F1 instead?" When both errors matter comparably, or you need one number to compare models.
CONNECTION: This threshold is exactly the "P &gt; 0.5" in logistic regression, coming next.
ASSESSMENT ALIGNMENT: Objective 2 (choose the metric that matches error cost).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(pairs). If short on time, assign as homework.
ANSWERS (do not show until pairs finish):
Accuracy = (18 + 474) / 500 = 0.984.
Precision = 18 / (18 + 6) = 0.75.
Recall = 18 / (18 + 2) = 0.90.
F1 = 2(0.75)(0.90) / (0.75 + 0.90) = 1.35 / 1.65 = about 0.82.
Deployment discussion: It catches 90% of phishing, and 1 in 4 quarantined emails is legitimate. For an organization's mail gateway, a reasonable answer is "deploy with a quarantine folder users can review," which lowers the cost of false positives. The key is that students justify using the metric tied to the cost they care about.
WATCH FOR: Students reporting 98.4% accuracy as the headline. Ask: what would the "never phishing" model score? (480/500 = 96%.)
ASSESSMENT ALIGNMENT: Objective 2 (independent practice: compute and interpret).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(Part 4 total 20 min).
INSTRUCTOR: This is the roadmap for Part 4 and the organizer students should copy into their notes. Each row gets filled in as we go; slide 31 shows it completed on the same fraud data. Frame the whole section with one question per model: "What does this model assume about the data, and what shape of boundary does that assumption produce?"
CONNECTION: The last column ties every model back to Part 2's bias-variance tradeoff.
ASSESSMENT ALIGNMENT: Objective 3 (compare model families). Knowledge Check Q2 (why choose a kernel SVM over logistic regression) is answered by comparing the "boundary shape" column.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Walk the pipeline left to right. Step 1 is ordinary linear regression: a weighted sum of features, z, which can be any number. Step 2 squashes z through the sigmoid into a probability between 0 and 1. Step 3 applies the threshold from slide 17.
Why the boundary is a straight line: P = 0.5 exactly where z = 0, and z = 0 is a linear equation in the features. Point to the right figure: slide 6's boundary was logistic regression.
Name trap: despite "regression," it is a classification method (it models the probability of a class).
SOURCE NOTE: James et al. (2023), ISL, p. 138.
ASSESSMENT ALIGNMENT: Objective 3 (logistic regression mechanism and boundary).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(x = 6): z = -4 + 0.8(6) = 0.8. e^(-0.8) is about 0.449, so P = 1 / 1.449, about 0.69. Above 0.5, so flag.
COMPUTE (x = 3): z = -4 + 0.8(3) = -1.6. e^(1.6) is about 4.95, so P = 1 / 5.95, about 0.17. Approve.
Show both points on the S-curve.
INTERPRET: beta-1 is positive, so more purchases per hour means higher fraud probability. The curve is steepest near the boundary: that is where each extra purchase changes the probability most.
PREDICT: Where is P exactly 0.5? Where z = 0: -4 + 0.8x = 0, so x = 5. Every card with more than 5 purchases in an hour gets flagged. Follow-up: "If the bank raised the threshold to 0.9, would the cutoff move left or right?" (Right: the model needs more evidence.)
CALCULATOR NOTE: Students may need e^x on a calculator; give 0.449 and 4.95 if needed so the focus stays on interpretation.
ASSESSMENT ALIGNMENT: Objective 3 (compute a logistic probability and locate the boundary).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Logistic regression models the probability directly. LDA works the other way around: it models what each class's feature values look like (a bell curve per class), then uses Bayes' rule to flip that into "which class is this point most likely from?"
The key LDA assumption: all classes share the same spread (variance). With equal spreads, the boundary between the curves is a straight line (a single threshold in 1D).
Figure: with equal priors the boundary sits halfway between the means (dashed). Because fraud is rare (4%), the boundary shifts toward the fraud mean: the model demands stronger evidence before calling something fraud.
CONNECTION: Bayes' rule and priors from the course's probability material. [Confirm the lesson number against the syllabus.] Also recall the accuracy trap: the rare class is hard for every model.
SOURCE NOTE: James et al. (2023), ISL, pp. 150-156.
ASSESSMENT ALIGNMENT: Objective 3 (LDA assumptions and Bayes mechanism).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COMPUTE: Fraud score = likelihood x prior = 0.30 x 0.04 = 0.012. Legit score = 0.02 x 0.96 = 0.0192. P(fraud | x) = 0.012 / (0.012 + 0.0192) = 0.012 / 0.0312, about 0.385.
INTERPRET: This transaction's features are 15 times more likely under the fraud profile (0.30 vs. 0.02), yet the prediction is still "legit" (0.385 &lt; 0.5) because legit transactions outnumber fraud 24 to 1. The bars make this visible: the legit bar is longer even though the fraud likelihood was much higher.
PREDICT: Suppose this merchant category has a 20% fraud rate. 0.30 x 0.20 = 0.06; 0.02 x 0.80 = 0.016; 0.06 / 0.076, about 0.79, so flag. Same evidence, different base rate, opposite decision.
MISCONCEPTION: "The density values are probabilities." They are likelihoods (heights of a bell curve), which is why we normalize by the sum.
ASSESSMENT ALIGNMENT: Objective 3 (LDA/Bayes calculation with priors).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Look at the figure: legit transactions form a tight cluster (people are predictable); fraud is widely scattered. LDA forces both classes to share one spread; QDA lets each class have its own. Because the spreads no longer cancel, the boundary becomes a curve that wraps around the tight legit cluster.
Quick 1D example (a balanced review queue, so equal priors and the ln(pi) term is identical for both classes and cancels):
Legit: -0.5 ln(400) = -3.00; (100 - 50)^2 / (2 x 400) = 2500/800 = 3.13; score -6.12.
Fraud: -0.5 ln(3,600) = -4.09; (100 - 120)^2 / (2 x 3,600) = 400/7,200 = 0.06; score -4.15.
Higher (less negative) score wins: fraud. INTERPRET: $100 is 2.5 standard deviations from typical legit, but less than one from typical fraud.
Full calculation with the prior term, plus a second point, is on backup slide B1.
MILITARY/ENGINEERING EXAMPLE (verbal): Scheduled satellite downlinks arrive at tightly predictable times (small spread); anomalous contacts are scattered (large spread). QDA naturally draws a tight window around "normal."
SOURCE NOTE: James et al. (2023), ISL, p. 156.
ASSESSMENT ALIGNMENT: Objective 3 (LDA vs. QDA assumption and boundary). [Confirm whether QDA arithmetic is assessed; if so, teach B1 in class.]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(First slide to cut if running long; state the takeaway verbally instead.)
INSTRUCTOR: Explicit callback to Part 2. QDA estimates a separate spread (covariance) for every class, which means many more parameters. With plenty of data it captures real curvature (lower bias). With little data those extra parameters are estimated noisily, and the boundary jumps around from sample to sample (higher variance). LDA's shared-spread assumption is "wrong" whenever classes truly differ, but it is stable. Rule of thumb from ISL: prefer LDA with small training sets; QDA when the training set is large or the shared-spread assumption is clearly false.
ASK: "Our fraud class has only about 200 examples out of 5,000. Which worries you more here?"
ASSESSMENT ALIGNMENT: Objective 1 and Objective 3 together (apply bias-variance reasoning to model choice).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Many straight lines separate the two groups in the figure. SVM picks the one with the widest "street" (margin) between the classes. The circled points sit on the edges of the street: these support vectors are the only points that determine the boundary. Every other point could move (without crossing the street) and nothing would change.
Kernel trick (bottom right): when no straight line works, add a transformed feature. In 1D, legit values sit in the middle and fraud at both extremes; no single threshold separates them. Add x-squared as a second feature and a flat line separates them. Kernels let SVM do this implicitly, even into very high-dimensional spaces, without computing the new features.
Real data is rarely perfectly separable; practical SVMs allow some points inside the street (soft margin). Mention only if asked; details on backup B3.
SOURCE NOTE: James et al. (2023), ISL, p. 367. Figure: fitted linear SVM on a separable subset of the running data.
ASSESSMENT ALIGNMENT: Objective 3; Knowledge Check Q2 (kernel SVM vs. logistic regression: a kernel SVM can draw non-linear boundaries, logistic regression on raw features cannot).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COMPUTE: For w = [0.6, 0.8]: ||w|| = sqrt(0.36 + 0.64) = sqrt(1) = 1, so margin = 2 / 1 = 2. For w = [6, 8]: ||w|| = sqrt(36 + 64) = sqrt(100) = 10, so margin = 2 / 10 = 0.2. Both vectors point in the same direction, so the boundary line has the same orientation; only the street width differs.
INTERPRET: Smaller weights mean a wider street. A wide margin leaves room for new points that are slightly unusual, which tends to generalize better. That is why SVM training minimizes ||w||.
PREDICT: Delete a point far from the street: nothing changes (it was not a support vector). Delete a support vector: the street can widen or shift.
ASSESSMENT ALIGNMENT: Objective 3 (compute margin from w; support vector reasoning).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A decision tree is a flowchart learned from data. The flowchart on the left is the actual depth-2 tree fitted to our fraud data, and the figure on the right shows what those two questions do to the feature space: every split is a vertical or horizontal cut, so the regions are rectangles. Trace one point through the flowchart and find its rectangle.
How does the tree choose each question? It tries candidate splits and keeps the one that leaves the purest groups, measured by Gini impurity: 0 means a node contains only one class; 0.5 is the most mixed possible with two classes.
NOTE: Feature values are on the plot's relative scale (0 to 10), not dollars or miles.
SOURCE NOTE: James et al. (2023), ISL, p. 331.
ASSESSMENT ALIGNMENT: Objective 3 (tree mechanism, Gini definition).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ROOT: 12 transactions, 3 fraud and 9 legit. p = 0.25 and 0.75. Gini = 1 - (0.0625 + 0.5625) = 0.375.
SPLIT A ("Amount &gt; $500?"): Yes branch has 4 (3 fraud, 1 legit): Gini = 1 - (0.5625 + 0.0625) = 0.375. No branch has 8 (all legit): Gini = 0. Weighted = (4/12)(0.375) + (8/12)(0) = 0.125.
SPLIT B ("Foreign merchant?"): Yes has 6 (2 fraud, 4 legit): 1 - (1/9 + 4/9) = 4/9, about 0.444. No has 6 (1 fraud, 5 legit): 1 - (1/36 + 25/36) = 10/36, about 0.278. Weighted = 0.5(0.444) + 0.5(0.278), about 0.361.
INTERPRET: A drops impurity from 0.375 to 0.125; B barely helps (to 0.361). The tree asks A first.
PREDICT: If the tree keeps splitting until every leaf has Gini 0, it will isolate individual training points: a memorized answer key, high variance (slide 8's right panel). That motivates the random forest.
WATCH FOR: Students averaging child Gini values without weighting by node size.
ASSESSMENT ALIGNMENT: Objective 3 (compute Gini and weighted impurity; choose a split).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The three left panels are real trees, each trained on a different bootstrap sample of the same data (rows drawn at random with replacement). Point out how different their boundaries are: that disagreement is the high variance of a single deep tree. The right panel is a forest of 500 such trees; shading shows the share of trees voting fraud, and the line is the majority-vote boundary. It is far more stable than any single tree.
Two sources of randomness: (1) each tree sees a bootstrap sample of rows (bagging = bootstrap aggregating); (2) at each split, each tree may only consider a random subset of features. The second one makes the trees disagree in different ways (decorrelates them), so their errors cancel when averaged.
Vote example: 7 trees, 5 say fraud, 2 say legit: predict fraud with 5/7, about 71%, of the vote.
CORRECTION TO THE READING: The reading describes forest trees as "shallow." In a standard random forest the individual trees are usually grown deep (low bias, high variance); averaging many decorrelated deep trees is what lowers variance while keeping bias low.
ASSESSMENT ALIGNMENT: Objective 3; Knowledge Check Q3 (how bagging reduces variance).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Return to the slide 19 organizer, now complete, with each boundary fitted to the same fraud data. Read down the "boundary shape" column: line, line, curve, widest-margin line, steps. Then down the last column to connect every model to bias-variance.
Discussion prompt: "Our legit cluster is tight and fraud is spread out. Which rows would you try first, and what would you check before trusting it?" Good answers: QDA or a forest (the data is curved), then confirm on the held-out test set with recall and precision, not accuracy.
Knowledge Check Q2 answer in this language: a kernel SVM can draw curved boundaries for non-linear radar or fraud profiles, while logistic regression on the raw features can only draw a line.
ASSESSMENT ALIGNMENT: Objective 3 (compare model families by assumption and boundary).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(synthesis total 4 min). Pairs vote, then discuss.
ANSWERS:
1. Incorrect. On imbalanced data accuracy can hide a useless model (the lazy model scored 96%). Check recall and precision.
2. Incorrect. LDA assumes a shared spread, which produces a straight boundary. QDA draws curves.
3. Incorrect. Margin = 2 / ||w||, so a larger ||w|| means a NARROWER margin.
4. Correct. Averaging many decorrelated trees (bagging plus random feature subsets) reduces variance.
5. Incorrect. Scoring on training data measures memorization. Generalization is measured on the held-out test set.
WATCH FOR: Claim 3 is the most commonly missed; claim 1 checks whether the Part 3 lesson stuck.
ASSESSMENT ALIGNMENT: Objectives 1-3 (misconception check).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(collect on paper or in Blackboard).
STRONG ANSWERS:
1. Recall (with precision reported alongside). A missed failure can lose an aircraft; a false alarm costs two hours. Accuracy would be misleading because failures are only about 3%.
2. Hold out a test set the model never sees during training (and a validation set for any tuning). Compare train vs. test performance; a large gap means overfitting.
3. Any justified choice. Examples: logistic regression first as a simple, interpretable baseline; a random forest if the relationship looks non-linear and there is enough data; LDA over QDA if failure examples are scarce (fewer parameters, lower variance).
GRADING NOTE: Credit the justification, not the specific model.
CLOSE: Restate the central claim on the slide.
ASSESSMENT ALIGNMENT: Objectives 1-3 integrated (performance target). [Map to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QDA arithmetic is assessed, teach this in place of the brief version on slide 24 (adds about 3 minutes; cut slide 25 to compensate).
WORKED:
Equal priors, ln(0.5) is about -0.69 for both classes.
x = 100: Legit = -3.00 - 3.13 - 0.69 = -6.81. Fraud = -4.09 - 0.06 - 0.69 = -4.84. Fraud wins (same decision as slide 24; the equal prior term only shifts both scores).
x = 20: Legit = -3.00 - (30^2 / 800 = 1.13) - 0.69 = -4.81. Fraud = -4.09 - (100^2 / 7,200 = 1.39) - 0.69 = -6.17. Legit wins.
Realistic prior (4% fraud) at x = 100: ln(0.96) is about -0.04 and ln(0.04) is about -3.22. Legit = -6.12 - 0.04 = -6.16. Fraud = -4.15 - 3.22 = -7.37. Legit wins: the same point flips once the rare-class prior is included (same lesson as the LDA base-rate example).
ASSESSMENT ALIGNMENT: Objective 3 (QDA discriminant computation). [Confirm whether assessed.]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for students who ask how QDA works with more than one feature, or for Data Science majors who want the general form.
EXPLAIN: The 1D formula generalizes by replacing the variance with a covariance matrix Sigma-k (spread and correlation for each class), and the squared distance with the Mahalanobis distance (x - mu)^T Sigma^-1 (x - mu). log|Sigma-k| penalizes classes with large spread. If every class shared the same Sigma, the quadratic terms would cancel between classes and the boundary would be linear: that is exactly LDA.
SOURCE NOTE: James et al. (2023), ISL, p. 156.
ASSESSMENT ALIGNMENT: Enrichment; not expected to be assessed. [Confirm.]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students asking how kernels work, or to connect SVM back to the bias-variance tradeoff.
EXPLAIN: A kernel K(x, x') measures similarity between two points as if they had been mapped into a richer feature space, without computing that mapping. The RBF kernel's gamma controls how local that similarity is: large gamma lets every training point carve out its own small region, which is exactly the overfit panel on slide 8 (it was an RBF SVM with a very large gamma). Soft margin: real data overlaps, so SVMs allow some points inside the street; the cost parameter C controls how heavily violations are penalized. Large C means few violations tolerated (more flexible, higher variance); small C means a wider, more forgiving street (higher bias).
ASSESSMENT ALIGNMENT: Enrichment; supports Knowledge Check Q2 depth. [Confirm.]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62B49"/>
          </a:solidFill>
          <a:ln w="12700">
            <a:solidFill>
              <a:srgbClr val="062B49"/>
            </a:solidFill>
            <a:prstDash val="solid"/>
          </a:ln>
        </p:spPr>
        <p:txBody>
          <a:bodyPr/>
          <a:lstStyle/>
          <a:p>
            <a:endParaRPr lang="en-US"/>
          </a:p>
        </p:txBody>
      </p:sp>
      <p:sp>
        <p:nvSpPr>
          <p:cNvPr id="3" name="Shape 1"/>
          <p:cNvSpPr/>
          <p:nvPr/>
        </p:nvSpPr>
        <p:spPr>
          <a:xfrm>
            <a:off x="0" y="164592"/>
            <a:ext cx="12191695" cy="36576"/>
          </a:xfrm>
          <a:prstGeom prst="rect">
            <a:avLst/>
          </a:prstGeom>
          <a:solidFill>
            <a:srgbClr val="FDB515"/>
          </a:solidFill>
          <a:ln w="12700">
            <a:solidFill>
              <a:srgbClr val="FDB515"/>
            </a:solidFill>
            <a:prstDash val="solid"/>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28600"/>
            <a:ext cx="12191695" cy="6629400"/>
          </a:xfrm>
          <a:prstGeom prst="rect">
            <a:avLst/>
          </a:prstGeom>
          <a:solidFill>
            <a:srgbClr val="F4F8FC"/>
          </a:solidFill>
          <a:ln w="12700">
            <a:solidFill>
              <a:srgbClr val="F4F8FC"/>
            </a:solidFill>
            <a:prstDash val="solid"/>
          </a:ln>
        </p:spPr>
        <p:txBody>
          <a:bodyPr/>
          <a:lstStyle/>
          <a:p>
            <a:endParaRPr lang="en-US"/>
          </a:p>
        </p:txBody>
      </p:sp>
      <p:sp>
        <p:nvSpPr>
          <p:cNvPr id="3" name="Text 1"/>
          <p:cNvSpPr txBox="1"/>
          <p:nvPr/>
        </p:nvSpPr>
        <p:spPr>
          <a:xfrm>
            <a:off x="731520" y="685800"/>
            <a:ext cx="2926080" cy="320040"/>
          </a:xfrm>
          <a:prstGeom prst="rect">
            <a:avLst/>
          </a:prstGeom>
          <a:noFill/>
          <a:ln/>
        </p:spPr>
        <p:txBody>
          <a:bodyPr wrap="square" lIns="0" tIns="0" rIns="0" bIns="0" rtlCol="0" anchor="ctr"/>
          <a:lstStyle/>
          <a:p>
            <a:pPr marL="0" indent="0">
              <a:buNone/>
            </a:pPr>
            <a:r>
              <a:rPr lang="en-US" sz="1800" b="1" dirty="0">
                <a:solidFill>
                  <a:srgbClr val="C9971C"/>
                </a:solidFill>
                <a:latin typeface="Aptos Display" pitchFamily="34" charset="0"/>
                <a:ea typeface="Aptos Display" pitchFamily="34" charset="-122"/>
                <a:cs typeface="Aptos Display" pitchFamily="34" charset="-120"/>
              </a:rPr>
              <a:t>CompSci 471</a:t>
            </a:r>
            <a:endParaRPr lang="en-US" sz="1800" dirty="0"/>
          </a:p>
        </p:txBody>
      </p:sp>
      <p:sp>
        <p:nvSpPr>
          <p:cNvPr id="4" name="Text 2"/>
          <p:cNvSpPr txBox="1"/>
          <p:nvPr/>
        </p:nvSpPr>
        <p:spPr>
          <a:xfrm>
            <a:off x="713232" y="1124712"/>
            <a:ext cx="6309360" cy="685800"/>
          </a:xfrm>
          <a:prstGeom prst="rect">
            <a:avLst/>
          </a:prstGeom>
          <a:noFill/>
          <a:ln/>
        </p:spPr>
        <p:txBody>
          <a:bodyPr wrap="square" lIns="0" tIns="0" rIns="0" bIns="0" rtlCol="0" anchor="ctr"/>
          <a:lstStyle/>
          <a:p>
            <a:pPr marL="0" indent="0">
              <a:buNone/>
            </a:pPr>
            <a:r>
              <a:rPr lang="en-US" sz="4200" b="1" dirty="0">
                <a:solidFill>
                  <a:srgbClr val="0B2D55"/>
                </a:solidFill>
                <a:latin typeface="Aptos Display" pitchFamily="34" charset="0"/>
                <a:ea typeface="Aptos Display" pitchFamily="34" charset="-122"/>
                <a:cs typeface="Aptos Display" pitchFamily="34" charset="-120"/>
              </a:rPr>
              <a:t>Artificial Intelligence</a:t>
            </a:r>
            <a:endParaRPr lang="en-US" sz="4200" dirty="0"/>
          </a:p>
        </p:txBody>
      </p:sp>
      <p:sp>
        <p:nvSpPr>
          <p:cNvPr id="5" name="Text 3"/>
          <p:cNvSpPr txBox="1"/>
          <p:nvPr/>
        </p:nvSpPr>
        <p:spPr>
          <a:xfrm>
            <a:off x="749808" y="1874520"/>
            <a:ext cx="6355080" cy="384048"/>
          </a:xfrm>
          <a:prstGeom prst="rect">
            <a:avLst/>
          </a:prstGeom>
          <a:noFill/>
          <a:ln/>
        </p:spPr>
        <p:txBody>
          <a:bodyPr wrap="square" lIns="0" tIns="0" rIns="0" bIns="0" rtlCol="0" anchor="ctr"/>
          <a:lstStyle/>
          <a:p>
            <a:pPr marL="0" indent="0">
              <a:buNone/>
            </a:pPr>
            <a:r>
              <a:rPr lang="en-US" sz="2100" b="1" dirty="0">
                <a:solidFill>
                  <a:srgbClr val="1D5FA7"/>
                </a:solidFill>
                <a:latin typeface="Aptos" pitchFamily="34" charset="0"/>
                <a:ea typeface="Aptos" pitchFamily="34" charset="-122"/>
                <a:cs typeface="Aptos" pitchFamily="34" charset="-120"/>
              </a:rPr>
              <a:t>Lesson 26: Machine Learning Foundations</a:t>
            </a:r>
            <a:endParaRPr lang="en-US" sz="2100" dirty="0"/>
          </a:p>
        </p:txBody>
      </p:sp>
      <p:sp>
        <p:nvSpPr>
          <p:cNvPr id="6" name="Text 4"/>
          <p:cNvSpPr txBox="1"/>
          <p:nvPr/>
        </p:nvSpPr>
        <p:spPr>
          <a:xfrm>
            <a:off x="749808" y="2450592"/>
            <a:ext cx="6035040" cy="822960"/>
          </a:xfrm>
          <a:prstGeom prst="rect">
            <a:avLst/>
          </a:prstGeom>
          <a:noFill/>
          <a:ln/>
        </p:spPr>
        <p:txBody>
          <a:bodyPr wrap="square" lIns="0" tIns="0" rIns="0" bIns="0" rtlCol="0" anchor="t"/>
          <a:lstStyle/>
          <a:p>
            <a:pPr marL="0" indent="0">
              <a:buNone/>
            </a:pPr>
            <a:r>
              <a:rPr lang="en-US" sz="2000" b="1" dirty="0">
                <a:solidFill>
                  <a:srgbClr val="132033"/>
                </a:solidFill>
                <a:latin typeface="Aptos" pitchFamily="34" charset="0"/>
                <a:ea typeface="Aptos" pitchFamily="34" charset="-122"/>
                <a:cs typeface="Aptos" pitchFamily="34" charset="-120"/>
              </a:rPr>
              <a:t>A model earns trust on data it has never seen.</a:t>
            </a:r>
            <a:endParaRPr lang="en-US" sz="2000" dirty="0"/>
          </a:p>
        </p:txBody>
      </p:sp>
      <p:sp>
        <p:nvSpPr>
          <p:cNvPr id="7" name="Shape 5"/>
          <p:cNvSpPr/>
          <p:nvPr/>
        </p:nvSpPr>
        <p:spPr>
          <a:xfrm>
            <a:off x="1143000" y="4279392"/>
            <a:ext cx="1143000" cy="0"/>
          </a:xfrm>
          <a:prstGeom prst="line">
            <a:avLst/>
          </a:prstGeom>
          <a:noFill/>
          <a:ln w="31750">
            <a:solidFill>
              <a:srgbClr val="F2C14E"/>
            </a:solidFill>
            <a:prstDash val="solid"/>
          </a:ln>
        </p:spPr>
        <p:txBody>
          <a:bodyPr/>
          <a:lstStyle/>
          <a:p>
            <a:endParaRPr lang="en-US"/>
          </a:p>
        </p:txBody>
      </p:sp>
      <p:sp>
        <p:nvSpPr>
          <p:cNvPr id="8" name="Text 6"/>
          <p:cNvSpPr txBox="1"/>
          <p:nvPr/>
        </p:nvSpPr>
        <p:spPr>
          <a:xfrm>
            <a:off x="868680"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Features</a:t>
            </a:r>
            <a:endParaRPr lang="en-US" sz="1450" dirty="0"/>
          </a:p>
        </p:txBody>
      </p:sp>
      <p:sp>
        <p:nvSpPr>
          <p:cNvPr id="9" name="Shape 7"/>
          <p:cNvSpPr/>
          <p:nvPr/>
        </p:nvSpPr>
        <p:spPr>
          <a:xfrm>
            <a:off x="2715768" y="4279392"/>
            <a:ext cx="1143000" cy="0"/>
          </a:xfrm>
          <a:prstGeom prst="line">
            <a:avLst/>
          </a:prstGeom>
          <a:noFill/>
          <a:ln w="31750">
            <a:solidFill>
              <a:srgbClr val="F2C14E"/>
            </a:solidFill>
            <a:prstDash val="solid"/>
          </a:ln>
        </p:spPr>
        <p:txBody>
          <a:bodyPr/>
          <a:lstStyle/>
          <a:p>
            <a:endParaRPr lang="en-US"/>
          </a:p>
        </p:txBody>
      </p:sp>
      <p:sp>
        <p:nvSpPr>
          <p:cNvPr id="10" name="Text 8"/>
          <p:cNvSpPr txBox="1"/>
          <p:nvPr/>
        </p:nvSpPr>
        <p:spPr>
          <a:xfrm>
            <a:off x="2441448"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Boundary</a:t>
            </a:r>
            <a:endParaRPr lang="en-US" sz="1450" dirty="0"/>
          </a:p>
        </p:txBody>
      </p:sp>
      <p:sp>
        <p:nvSpPr>
          <p:cNvPr id="11" name="Shape 9"/>
          <p:cNvSpPr/>
          <p:nvPr/>
        </p:nvSpPr>
        <p:spPr>
          <a:xfrm>
            <a:off x="4288536" y="4279392"/>
            <a:ext cx="1143000" cy="0"/>
          </a:xfrm>
          <a:prstGeom prst="line">
            <a:avLst/>
          </a:prstGeom>
          <a:noFill/>
          <a:ln w="31750">
            <a:solidFill>
              <a:srgbClr val="F2C14E"/>
            </a:solidFill>
            <a:prstDash val="solid"/>
          </a:ln>
        </p:spPr>
        <p:txBody>
          <a:bodyPr/>
          <a:lstStyle/>
          <a:p>
            <a:endParaRPr lang="en-US"/>
          </a:p>
        </p:txBody>
      </p:sp>
      <p:sp>
        <p:nvSpPr>
          <p:cNvPr id="12" name="Text 10"/>
          <p:cNvSpPr txBox="1"/>
          <p:nvPr/>
        </p:nvSpPr>
        <p:spPr>
          <a:xfrm>
            <a:off x="4014216"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Test</a:t>
            </a:r>
            <a:endParaRPr lang="en-US" sz="1450" dirty="0"/>
          </a:p>
        </p:txBody>
      </p:sp>
      <p:sp>
        <p:nvSpPr>
          <p:cNvPr id="13" name="Shape 11"/>
          <p:cNvSpPr/>
          <p:nvPr/>
        </p:nvSpPr>
        <p:spPr>
          <a:xfrm>
            <a:off x="5861304" y="4279392"/>
            <a:ext cx="1143000" cy="0"/>
          </a:xfrm>
          <a:prstGeom prst="line">
            <a:avLst/>
          </a:prstGeom>
          <a:noFill/>
          <a:ln w="31750">
            <a:solidFill>
              <a:srgbClr val="F2C14E"/>
            </a:solidFill>
            <a:prstDash val="solid"/>
          </a:ln>
        </p:spPr>
        <p:txBody>
          <a:bodyPr/>
          <a:lstStyle/>
          <a:p>
            <a:endParaRPr lang="en-US"/>
          </a:p>
        </p:txBody>
      </p:sp>
      <p:sp>
        <p:nvSpPr>
          <p:cNvPr id="14" name="Text 12"/>
          <p:cNvSpPr txBox="1"/>
          <p:nvPr/>
        </p:nvSpPr>
        <p:spPr>
          <a:xfrm>
            <a:off x="5586984"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Metric</a:t>
            </a:r>
            <a:endParaRPr lang="en-US" sz="1450" dirty="0"/>
          </a:p>
        </p:txBody>
      </p:sp>
      <p:sp>
        <p:nvSpPr>
          <p:cNvPr id="15" name="Shape 13"/>
          <p:cNvSpPr/>
          <p:nvPr/>
        </p:nvSpPr>
        <p:spPr>
          <a:xfrm>
            <a:off x="7178040" y="1600200"/>
            <a:ext cx="4343400" cy="3886200"/>
          </a:xfrm>
          <a:prstGeom prst="roundRect">
            <a:avLst>
              <a:gd name="adj" fmla="val 1882"/>
            </a:avLst>
          </a:prstGeom>
          <a:solidFill>
            <a:srgbClr val="FFFFFF"/>
          </a:solidFill>
          <a:ln w="12700">
            <a:solidFill>
              <a:srgbClr val="B8C7D8"/>
            </a:solidFill>
            <a:prstDash val="solid"/>
          </a:ln>
        </p:spPr>
        <p:txBody>
          <a:bodyPr/>
          <a:lstStyle/>
          <a:p>
            <a:endParaRPr lang="en-US"/>
          </a:p>
        </p:txBody>
      </p:sp>
      <p:pic>
        <p:nvPicPr>
          <p:cNvPr id="16" name="Image 0" descr="figs/title.png"/>
          <p:cNvPicPr>
            <a:picLocks noChangeAspect="1"/>
          </p:cNvPicPr>
          <p:nvPr/>
        </p:nvPicPr>
        <p:blipFill>
          <a:blip r:embed="rId3"/>
          <a:stretch>
            <a:fillRect/>
          </a:stretch>
        </p:blipFill>
        <p:spPr>
          <a:xfrm>
            <a:off x="7315200" y="1742311"/>
            <a:ext cx="4069080" cy="3601979"/>
          </a:xfrm>
          <a:prstGeom prst="rect">
            <a:avLst/>
          </a:prstGeom>
        </p:spPr>
      </p:pic>
      <p:sp>
        <p:nvSpPr>
          <p:cNvPr id="17" name="Text 14"/>
          <p:cNvSpPr txBox="1"/>
          <p:nvPr/>
        </p:nvSpPr>
        <p:spPr>
          <a:xfrm>
            <a:off x="7086600" y="5669280"/>
            <a:ext cx="4434840" cy="5486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Which side of the boundary does the new point fall on?</a:t>
            </a:r>
            <a:endParaRPr lang="en-US" sz="1800" dirty="0"/>
          </a:p>
        </p:txBody>
      </p:sp>
      <p:pic>
        <p:nvPicPr>
          <p:cNvPr id="18" name="Image 1" descr="figs/seal.png"/>
          <p:cNvPicPr>
            <a:picLocks noChangeAspect="1"/>
          </p:cNvPicPr>
          <p:nvPr/>
        </p:nvPicPr>
        <p:blipFill>
          <a:blip r:embed="rId4"/>
          <a:stretch>
            <a:fillRect/>
          </a:stretch>
        </p:blipFill>
        <p:spPr>
          <a:xfrm>
            <a:off x="530352" y="5148072"/>
            <a:ext cx="978408" cy="1005840"/>
          </a:xfrm>
          <a:prstGeom prst="rect">
            <a:avLst/>
          </a:prstGeom>
        </p:spPr>
      </p:pic>
      <p:sp>
        <p:nvSpPr>
          <p:cNvPr id="19" name="Text 15"/>
          <p:cNvSpPr txBox="1"/>
          <p:nvPr/>
        </p:nvSpPr>
        <p:spPr>
          <a:xfrm>
            <a:off x="749808" y="6281928"/>
            <a:ext cx="1645920" cy="228600"/>
          </a:xfrm>
          <a:prstGeom prst="rect">
            <a:avLst/>
          </a:prstGeom>
          <a:noFill/>
          <a:ln/>
        </p:spPr>
        <p:txBody>
          <a:bodyPr wrap="square" lIns="0" tIns="0" rIns="0" bIns="0" rtlCol="0" anchor="ctr"/>
          <a:lstStyle/>
          <a:p>
            <a:pPr marL="0" indent="0">
              <a:buNone/>
            </a:pPr>
            <a:r>
              <a:rPr lang="en-US" sz="1100" dirty="0">
                <a:solidFill>
                  <a:srgbClr val="6D7C8F"/>
                </a:solidFill>
                <a:latin typeface="Aptos" pitchFamily="34" charset="0"/>
                <a:ea typeface="Aptos" pitchFamily="34" charset="-122"/>
                <a:cs typeface="Aptos" pitchFamily="34" charset="-120"/>
              </a:rPr>
              <a:t>Fall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Retrieval warm-up</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Our agents have planned from models and learned from rewards.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a:t>
            </a:r>
            <a:endParaRPr lang="en-US" sz="850" dirty="0"/>
          </a:p>
        </p:txBody>
      </p:sp>
      <p:sp>
        <p:nvSpPr>
          <p:cNvPr id="7" name="Shape 4"/>
          <p:cNvSpPr/>
          <p:nvPr/>
        </p:nvSpPr>
        <p:spPr>
          <a:xfrm>
            <a:off x="86868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1097280" y="1783080"/>
            <a:ext cx="283464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9" name="Text 6"/>
          <p:cNvSpPr txBox="1"/>
          <p:nvPr/>
        </p:nvSpPr>
        <p:spPr>
          <a:xfrm>
            <a:off x="109728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L05  |  Search</a:t>
            </a:r>
            <a:endParaRPr lang="en-US" sz="1400" dirty="0"/>
          </a:p>
        </p:txBody>
      </p:sp>
      <p:sp>
        <p:nvSpPr>
          <p:cNvPr id="10" name="Text 7"/>
          <p:cNvSpPr txBox="1"/>
          <p:nvPr/>
        </p:nvSpPr>
        <p:spPr>
          <a:xfrm>
            <a:off x="1097280" y="2304288"/>
            <a:ext cx="2834640" cy="73152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Given a map of the world, explore it systematically.</a:t>
            </a:r>
            <a:endParaRPr lang="en-US" sz="1550" dirty="0"/>
          </a:p>
        </p:txBody>
      </p:sp>
      <p:sp>
        <p:nvSpPr>
          <p:cNvPr id="11" name="Text 8"/>
          <p:cNvSpPr txBox="1"/>
          <p:nvPr/>
        </p:nvSpPr>
        <p:spPr>
          <a:xfrm>
            <a:off x="1097280" y="3063240"/>
            <a:ext cx="2834640" cy="32004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Learns from: a model</a:t>
            </a:r>
            <a:endParaRPr lang="en-US" sz="1550" dirty="0"/>
          </a:p>
        </p:txBody>
      </p:sp>
      <p:sp>
        <p:nvSpPr>
          <p:cNvPr id="12" name="Shape 9"/>
          <p:cNvSpPr/>
          <p:nvPr/>
        </p:nvSpPr>
        <p:spPr>
          <a:xfrm>
            <a:off x="443484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13" name="Shape 10"/>
          <p:cNvSpPr/>
          <p:nvPr/>
        </p:nvSpPr>
        <p:spPr>
          <a:xfrm>
            <a:off x="4663440" y="1783080"/>
            <a:ext cx="2834640" cy="384048"/>
          </a:xfrm>
          <a:prstGeom prst="roundRect">
            <a:avLst>
              <a:gd name="adj" fmla="val 19048"/>
            </a:avLst>
          </a:prstGeom>
          <a:solidFill>
            <a:srgbClr val="39A875"/>
          </a:solidFill>
          <a:ln w="12700">
            <a:solidFill>
              <a:srgbClr val="39A875"/>
            </a:solidFill>
            <a:prstDash val="solid"/>
          </a:ln>
        </p:spPr>
        <p:txBody>
          <a:bodyPr/>
          <a:lstStyle/>
          <a:p>
            <a:endParaRPr lang="en-US"/>
          </a:p>
        </p:txBody>
      </p:sp>
      <p:sp>
        <p:nvSpPr>
          <p:cNvPr id="14" name="Text 11"/>
          <p:cNvSpPr txBox="1"/>
          <p:nvPr/>
        </p:nvSpPr>
        <p:spPr>
          <a:xfrm>
            <a:off x="466344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L15  |  Q-learning</a:t>
            </a:r>
            <a:endParaRPr lang="en-US" sz="1400" dirty="0"/>
          </a:p>
        </p:txBody>
      </p:sp>
      <p:sp>
        <p:nvSpPr>
          <p:cNvPr id="15" name="Text 12"/>
          <p:cNvSpPr txBox="1"/>
          <p:nvPr/>
        </p:nvSpPr>
        <p:spPr>
          <a:xfrm>
            <a:off x="4663440" y="2304288"/>
            <a:ext cx="2834640" cy="73152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No map. Act, observe a reward, update an estimate.</a:t>
            </a:r>
            <a:endParaRPr lang="en-US" sz="1550" dirty="0"/>
          </a:p>
        </p:txBody>
      </p:sp>
      <p:sp>
        <p:nvSpPr>
          <p:cNvPr id="16" name="Text 13"/>
          <p:cNvSpPr txBox="1"/>
          <p:nvPr/>
        </p:nvSpPr>
        <p:spPr>
          <a:xfrm>
            <a:off x="4663440" y="3063240"/>
            <a:ext cx="2834640" cy="32004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Learns from: a reward</a:t>
            </a:r>
            <a:endParaRPr lang="en-US" sz="1550" dirty="0"/>
          </a:p>
        </p:txBody>
      </p:sp>
      <p:sp>
        <p:nvSpPr>
          <p:cNvPr id="17" name="Shape 14"/>
          <p:cNvSpPr/>
          <p:nvPr/>
        </p:nvSpPr>
        <p:spPr>
          <a:xfrm>
            <a:off x="800100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18" name="Shape 15"/>
          <p:cNvSpPr/>
          <p:nvPr/>
        </p:nvSpPr>
        <p:spPr>
          <a:xfrm>
            <a:off x="8229600" y="1783080"/>
            <a:ext cx="2834640" cy="384048"/>
          </a:xfrm>
          <a:prstGeom prst="roundRect">
            <a:avLst>
              <a:gd name="adj" fmla="val 19048"/>
            </a:avLst>
          </a:prstGeom>
          <a:solidFill>
            <a:srgbClr val="C9971C"/>
          </a:solidFill>
          <a:ln w="12700">
            <a:solidFill>
              <a:srgbClr val="C9971C"/>
            </a:solidFill>
            <a:prstDash val="solid"/>
          </a:ln>
        </p:spPr>
        <p:txBody>
          <a:bodyPr/>
          <a:lstStyle/>
          <a:p>
            <a:endParaRPr lang="en-US"/>
          </a:p>
        </p:txBody>
      </p:sp>
      <p:sp>
        <p:nvSpPr>
          <p:cNvPr id="19" name="Text 16"/>
          <p:cNvSpPr txBox="1"/>
          <p:nvPr/>
        </p:nvSpPr>
        <p:spPr>
          <a:xfrm>
            <a:off x="822960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L26  |  Today</a:t>
            </a:r>
            <a:endParaRPr lang="en-US" sz="1400" dirty="0"/>
          </a:p>
        </p:txBody>
      </p:sp>
      <p:sp>
        <p:nvSpPr>
          <p:cNvPr id="20" name="Text 17"/>
          <p:cNvSpPr txBox="1"/>
          <p:nvPr/>
        </p:nvSpPr>
        <p:spPr>
          <a:xfrm>
            <a:off x="8229600" y="2304288"/>
            <a:ext cx="2834640" cy="73152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Learn from past examples where the right answer is attached.</a:t>
            </a:r>
            <a:endParaRPr lang="en-US" sz="1550" dirty="0"/>
          </a:p>
        </p:txBody>
      </p:sp>
      <p:sp>
        <p:nvSpPr>
          <p:cNvPr id="21" name="Text 18"/>
          <p:cNvSpPr txBox="1"/>
          <p:nvPr/>
        </p:nvSpPr>
        <p:spPr>
          <a:xfrm>
            <a:off x="8229600" y="3063240"/>
            <a:ext cx="2834640" cy="32004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Learns from: a label</a:t>
            </a:r>
            <a:endParaRPr lang="en-US" sz="1550" dirty="0"/>
          </a:p>
        </p:txBody>
      </p:sp>
      <p:sp>
        <p:nvSpPr>
          <p:cNvPr id="22" name="Text 19"/>
          <p:cNvSpPr txBox="1"/>
          <p:nvPr/>
        </p:nvSpPr>
        <p:spPr>
          <a:xfrm>
            <a:off x="868680" y="3840480"/>
            <a:ext cx="10515600" cy="868680"/>
          </a:xfrm>
          <a:prstGeom prst="rect">
            <a:avLst/>
          </a:prstGeom>
          <a:noFill/>
          <a:ln/>
        </p:spPr>
        <p:txBody>
          <a:bodyPr wrap="square" lIns="0" tIns="0" rIns="0" bIns="0" rtlCol="0" anchor="ctr"/>
          <a:lstStyle/>
          <a:p>
            <a:pPr marL="0" indent="0" algn="ctr">
              <a:buNone/>
            </a:pPr>
            <a:r>
              <a:rPr lang="en-US" sz="2500" b="1" dirty="0">
                <a:solidFill>
                  <a:srgbClr val="0B2D55"/>
                </a:solidFill>
                <a:latin typeface="Aptos" pitchFamily="34" charset="0"/>
                <a:ea typeface="Aptos" pitchFamily="34" charset="-122"/>
                <a:cs typeface="Aptos" pitchFamily="34" charset="-120"/>
              </a:rPr>
              <a:t>What if we have thousands of past examples with the right answer already attached?</a:t>
            </a:r>
            <a:endParaRPr lang="en-US" sz="2500" dirty="0"/>
          </a:p>
        </p:txBody>
      </p:sp>
      <p:sp>
        <p:nvSpPr>
          <p:cNvPr id="23" name="Shape 20"/>
          <p:cNvSpPr/>
          <p:nvPr/>
        </p:nvSpPr>
        <p:spPr>
          <a:xfrm>
            <a:off x="2194560" y="4983480"/>
            <a:ext cx="7772400" cy="685800"/>
          </a:xfrm>
          <a:prstGeom prst="roundRect">
            <a:avLst>
              <a:gd name="adj" fmla="val 10667"/>
            </a:avLst>
          </a:prstGeom>
          <a:solidFill>
            <a:srgbClr val="FFF4CE"/>
          </a:solidFill>
          <a:ln w="12700">
            <a:solidFill>
              <a:srgbClr val="F2C14E"/>
            </a:solidFill>
            <a:prstDash val="solid"/>
          </a:ln>
        </p:spPr>
        <p:txBody>
          <a:bodyPr/>
          <a:lstStyle/>
          <a:p>
            <a:endParaRPr lang="en-US"/>
          </a:p>
        </p:txBody>
      </p:sp>
      <p:sp>
        <p:nvSpPr>
          <p:cNvPr id="24" name="Text 21"/>
          <p:cNvSpPr txBox="1"/>
          <p:nvPr/>
        </p:nvSpPr>
        <p:spPr>
          <a:xfrm>
            <a:off x="2377440" y="4983480"/>
            <a:ext cx="7406640" cy="68580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Turn and talk (60 s): name one system you use daily that learned from labeled examples.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Today’s mission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By the end of Lesson 26, you should be able to…</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a:t>
            </a:r>
            <a:endParaRPr lang="en-US" sz="850" dirty="0"/>
          </a:p>
        </p:txBody>
      </p:sp>
      <p:sp>
        <p:nvSpPr>
          <p:cNvPr id="7" name="Shape 4"/>
          <p:cNvSpPr/>
          <p:nvPr/>
        </p:nvSpPr>
        <p:spPr>
          <a:xfrm>
            <a:off x="960120" y="1773936"/>
            <a:ext cx="502920" cy="502920"/>
          </a:xfrm>
          <a:prstGeom prst="ellipse">
            <a:avLst/>
          </a:prstGeom>
          <a:solidFill>
            <a:srgbClr val="0B2D55"/>
          </a:solidFill>
          <a:ln w="12700">
            <a:solidFill>
              <a:srgbClr val="0B2D55"/>
            </a:solidFill>
            <a:prstDash val="solid"/>
          </a:ln>
        </p:spPr>
        <p:txBody>
          <a:bodyPr/>
          <a:lstStyle/>
          <a:p>
            <a:endParaRPr lang="en-US"/>
          </a:p>
        </p:txBody>
      </p:sp>
      <p:sp>
        <p:nvSpPr>
          <p:cNvPr id="8" name="Text 5"/>
          <p:cNvSpPr txBox="1"/>
          <p:nvPr/>
        </p:nvSpPr>
        <p:spPr>
          <a:xfrm>
            <a:off x="960120" y="1773936"/>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6"/>
          <p:cNvSpPr txBox="1"/>
          <p:nvPr/>
        </p:nvSpPr>
        <p:spPr>
          <a:xfrm>
            <a:off x="1691640" y="1645920"/>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Distinguish supervised from unsupervised learning, and diagnose under- and overfitting from train/test results.</a:t>
            </a:r>
            <a:endParaRPr lang="en-US" sz="2000" dirty="0"/>
          </a:p>
        </p:txBody>
      </p:sp>
      <p:sp>
        <p:nvSpPr>
          <p:cNvPr id="10" name="Shape 7"/>
          <p:cNvSpPr/>
          <p:nvPr/>
        </p:nvSpPr>
        <p:spPr>
          <a:xfrm>
            <a:off x="960120" y="2852928"/>
            <a:ext cx="502920" cy="502920"/>
          </a:xfrm>
          <a:prstGeom prst="ellipse">
            <a:avLst/>
          </a:prstGeom>
          <a:solidFill>
            <a:srgbClr val="0B2D55"/>
          </a:solidFill>
          <a:ln w="12700">
            <a:solidFill>
              <a:srgbClr val="0B2D55"/>
            </a:solidFill>
            <a:prstDash val="solid"/>
          </a:ln>
        </p:spPr>
        <p:txBody>
          <a:bodyPr/>
          <a:lstStyle/>
          <a:p>
            <a:endParaRPr lang="en-US"/>
          </a:p>
        </p:txBody>
      </p:sp>
      <p:sp>
        <p:nvSpPr>
          <p:cNvPr id="11" name="Text 8"/>
          <p:cNvSpPr txBox="1"/>
          <p:nvPr/>
        </p:nvSpPr>
        <p:spPr>
          <a:xfrm>
            <a:off x="960120" y="285292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2" name="Text 9"/>
          <p:cNvSpPr txBox="1"/>
          <p:nvPr/>
        </p:nvSpPr>
        <p:spPr>
          <a:xfrm>
            <a:off x="1691640" y="2724912"/>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Evaluate a classifier with a confusion matrix (accuracy, precision, recall, F1), matched to the cost of each error.</a:t>
            </a:r>
            <a:endParaRPr lang="en-US" sz="2000" dirty="0"/>
          </a:p>
        </p:txBody>
      </p:sp>
      <p:sp>
        <p:nvSpPr>
          <p:cNvPr id="13" name="Shape 10"/>
          <p:cNvSpPr/>
          <p:nvPr/>
        </p:nvSpPr>
        <p:spPr>
          <a:xfrm>
            <a:off x="960120" y="3931920"/>
            <a:ext cx="502920" cy="502920"/>
          </a:xfrm>
          <a:prstGeom prst="ellipse">
            <a:avLst/>
          </a:prstGeom>
          <a:solidFill>
            <a:srgbClr val="0B2D55"/>
          </a:solidFill>
          <a:ln w="12700">
            <a:solidFill>
              <a:srgbClr val="0B2D55"/>
            </a:solidFill>
            <a:prstDash val="solid"/>
          </a:ln>
        </p:spPr>
        <p:txBody>
          <a:bodyPr/>
          <a:lstStyle/>
          <a:p>
            <a:endParaRPr lang="en-US"/>
          </a:p>
        </p:txBody>
      </p:sp>
      <p:sp>
        <p:nvSpPr>
          <p:cNvPr id="14" name="Text 11"/>
          <p:cNvSpPr txBox="1"/>
          <p:nvPr/>
        </p:nvSpPr>
        <p:spPr>
          <a:xfrm>
            <a:off x="960120" y="39319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5" name="Text 12"/>
          <p:cNvSpPr txBox="1"/>
          <p:nvPr/>
        </p:nvSpPr>
        <p:spPr>
          <a:xfrm>
            <a:off x="1691640" y="3803904"/>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Compare logistic regression, LDA/QDA, SVM, and trees/forests by assumption and boundary shape, and compute each model’s core quantity.</a:t>
            </a:r>
            <a:endParaRPr lang="en-US" sz="2000" dirty="0"/>
          </a:p>
        </p:txBody>
      </p:sp>
      <p:sp>
        <p:nvSpPr>
          <p:cNvPr id="16" name="Shape 13"/>
          <p:cNvSpPr/>
          <p:nvPr/>
        </p:nvSpPr>
        <p:spPr>
          <a:xfrm>
            <a:off x="1005840" y="5074920"/>
            <a:ext cx="10149840" cy="777240"/>
          </a:xfrm>
          <a:prstGeom prst="roundRect">
            <a:avLst>
              <a:gd name="adj" fmla="val 9412"/>
            </a:avLst>
          </a:prstGeom>
          <a:solidFill>
            <a:srgbClr val="FFF4CE"/>
          </a:solidFill>
          <a:ln w="12700">
            <a:solidFill>
              <a:srgbClr val="F2C14E"/>
            </a:solidFill>
            <a:prstDash val="solid"/>
          </a:ln>
        </p:spPr>
        <p:txBody>
          <a:bodyPr/>
          <a:lstStyle/>
          <a:p>
            <a:endParaRPr lang="en-US"/>
          </a:p>
        </p:txBody>
      </p:sp>
      <p:sp>
        <p:nvSpPr>
          <p:cNvPr id="17" name="Text 14"/>
          <p:cNvSpPr txBox="1"/>
          <p:nvPr/>
        </p:nvSpPr>
        <p:spPr>
          <a:xfrm>
            <a:off x="1188720" y="5074920"/>
            <a:ext cx="9784080" cy="77724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Performance target: given a classifier’s results, compute its metrics, diagnose whether it generalizes, and justify which model family fits the data.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Running scenario: catch card fraud</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A bank wants a model that flags fraud before the charge clears.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4</a:t>
            </a:r>
            <a:endParaRPr lang="en-US" sz="850" dirty="0"/>
          </a:p>
        </p:txBody>
      </p:sp>
      <p:sp>
        <p:nvSpPr>
          <p:cNvPr id="7" name="Shape 4"/>
          <p:cNvSpPr/>
          <p:nvPr/>
        </p:nvSpPr>
        <p:spPr>
          <a:xfrm>
            <a:off x="576072" y="1554480"/>
            <a:ext cx="6309360" cy="4251960"/>
          </a:xfrm>
          <a:prstGeom prst="roundRect">
            <a:avLst>
              <a:gd name="adj" fmla="val 1720"/>
            </a:avLst>
          </a:prstGeom>
          <a:solidFill>
            <a:srgbClr val="FFFFFF"/>
          </a:solidFill>
          <a:ln w="12700">
            <a:solidFill>
              <a:srgbClr val="B8C7D8"/>
            </a:solidFill>
            <a:prstDash val="solid"/>
          </a:ln>
        </p:spPr>
        <p:txBody>
          <a:bodyPr/>
          <a:lstStyle/>
          <a:p>
            <a:endParaRPr lang="en-US"/>
          </a:p>
        </p:txBody>
      </p:sp>
      <p:pic>
        <p:nvPicPr>
          <p:cNvPr id="8" name="Image 0" descr="figs/scatter.png"/>
          <p:cNvPicPr>
            <a:picLocks noChangeAspect="1"/>
          </p:cNvPicPr>
          <p:nvPr/>
        </p:nvPicPr>
        <p:blipFill>
          <a:blip r:embed="rId3"/>
          <a:stretch>
            <a:fillRect/>
          </a:stretch>
        </p:blipFill>
        <p:spPr>
          <a:xfrm>
            <a:off x="1162135" y="1645920"/>
            <a:ext cx="5128090" cy="4069080"/>
          </a:xfrm>
          <a:prstGeom prst="rect">
            <a:avLst/>
          </a:prstGeom>
        </p:spPr>
      </p:pic>
      <p:sp>
        <p:nvSpPr>
          <p:cNvPr id="9" name="Text 5"/>
          <p:cNvSpPr txBox="1"/>
          <p:nvPr/>
        </p:nvSpPr>
        <p:spPr>
          <a:xfrm>
            <a:off x="576072" y="5870448"/>
            <a:ext cx="6309360" cy="274320"/>
          </a:xfrm>
          <a:prstGeom prst="rect">
            <a:avLst/>
          </a:prstGeom>
          <a:noFill/>
          <a:ln/>
        </p:spPr>
        <p:txBody>
          <a:bodyPr wrap="square" lIns="0" tIns="0" rIns="0" bIns="0" rtlCol="0" anchor="t"/>
          <a:lstStyle/>
          <a:p>
            <a:pPr marL="0" indent="0" algn="ctr">
              <a:buNone/>
            </a:pPr>
            <a:r>
              <a:rPr lang="en-US" sz="1100" i="1" dirty="0">
                <a:solidFill>
                  <a:srgbClr val="6D7C8F"/>
                </a:solidFill>
                <a:latin typeface="Aptos" pitchFamily="34" charset="0"/>
                <a:ea typeface="Aptos" pitchFamily="34" charset="-122"/>
                <a:cs typeface="Aptos" pitchFamily="34" charset="-120"/>
              </a:rPr>
              <a:t>Plotted sample oversamples fraud so it is visible.</a:t>
            </a:r>
            <a:endParaRPr lang="en-US" sz="1100" dirty="0"/>
          </a:p>
        </p:txBody>
      </p:sp>
      <p:sp>
        <p:nvSpPr>
          <p:cNvPr id="10" name="Shape 6"/>
          <p:cNvSpPr/>
          <p:nvPr/>
        </p:nvSpPr>
        <p:spPr>
          <a:xfrm>
            <a:off x="7178040" y="1554480"/>
            <a:ext cx="4434840" cy="3154680"/>
          </a:xfrm>
          <a:prstGeom prst="roundRect">
            <a:avLst>
              <a:gd name="adj" fmla="val 2319"/>
            </a:avLst>
          </a:prstGeom>
          <a:solidFill>
            <a:srgbClr val="EAF2F8"/>
          </a:solidFill>
          <a:ln w="12700">
            <a:solidFill>
              <a:srgbClr val="1F5D9B"/>
            </a:solidFill>
            <a:prstDash val="solid"/>
          </a:ln>
        </p:spPr>
        <p:txBody>
          <a:bodyPr/>
          <a:lstStyle/>
          <a:p>
            <a:endParaRPr lang="en-US"/>
          </a:p>
        </p:txBody>
      </p:sp>
      <p:sp>
        <p:nvSpPr>
          <p:cNvPr id="11" name="Text 7"/>
          <p:cNvSpPr txBox="1"/>
          <p:nvPr/>
        </p:nvSpPr>
        <p:spPr>
          <a:xfrm>
            <a:off x="7406640" y="1691640"/>
            <a:ext cx="4023360" cy="365760"/>
          </a:xfrm>
          <a:prstGeom prst="rect">
            <a:avLst/>
          </a:prstGeom>
          <a:noFill/>
          <a:ln/>
        </p:spPr>
        <p:txBody>
          <a:bodyPr wrap="square" lIns="0" tIns="0" rIns="0" bIns="0" rtlCol="0" anchor="t"/>
          <a:lstStyle/>
          <a:p>
            <a:pPr marL="0" indent="0">
              <a:buNone/>
            </a:pPr>
            <a:r>
              <a:rPr lang="en-US" sz="2000" b="1" dirty="0">
                <a:solidFill>
                  <a:srgbClr val="0B2D55"/>
                </a:solidFill>
                <a:latin typeface="Aptos" pitchFamily="34" charset="0"/>
                <a:ea typeface="Aptos" pitchFamily="34" charset="-122"/>
                <a:cs typeface="Aptos" pitchFamily="34" charset="-120"/>
              </a:rPr>
              <a:t>Mission setup</a:t>
            </a:r>
            <a:endParaRPr lang="en-US" sz="2000" dirty="0"/>
          </a:p>
        </p:txBody>
      </p:sp>
      <p:sp>
        <p:nvSpPr>
          <p:cNvPr id="12" name="Shape 8"/>
          <p:cNvSpPr/>
          <p:nvPr/>
        </p:nvSpPr>
        <p:spPr>
          <a:xfrm>
            <a:off x="7424928" y="2286000"/>
            <a:ext cx="164592" cy="164592"/>
          </a:xfrm>
          <a:prstGeom prst="ellipse">
            <a:avLst/>
          </a:prstGeom>
          <a:solidFill>
            <a:srgbClr val="1D5FA7"/>
          </a:solidFill>
          <a:ln w="12700">
            <a:solidFill>
              <a:srgbClr val="1D5FA7"/>
            </a:solidFill>
            <a:prstDash val="solid"/>
          </a:ln>
        </p:spPr>
        <p:txBody>
          <a:bodyPr/>
          <a:lstStyle/>
          <a:p>
            <a:endParaRPr lang="en-US"/>
          </a:p>
        </p:txBody>
      </p:sp>
      <p:sp>
        <p:nvSpPr>
          <p:cNvPr id="13" name="Text 9"/>
          <p:cNvSpPr txBox="1"/>
          <p:nvPr/>
        </p:nvSpPr>
        <p:spPr>
          <a:xfrm>
            <a:off x="7726680" y="2194560"/>
            <a:ext cx="3749040" cy="457200"/>
          </a:xfrm>
          <a:prstGeom prst="rect">
            <a:avLst/>
          </a:prstGeom>
          <a:noFill/>
          <a:ln/>
        </p:spPr>
        <p:txBody>
          <a:bodyPr wrap="square" lIns="0" tIns="0" rIns="0" bIns="0" rtlCol="0" anchor="t"/>
          <a:lstStyle/>
          <a:p>
            <a:pPr marL="0" indent="0">
              <a:buNone/>
            </a:pPr>
            <a:r>
              <a:rPr lang="en-US" sz="1450" dirty="0">
                <a:solidFill>
                  <a:srgbClr val="132033"/>
                </a:solidFill>
                <a:latin typeface="Aptos" pitchFamily="34" charset="0"/>
                <a:ea typeface="Aptos" pitchFamily="34" charset="-122"/>
                <a:cs typeface="Aptos" pitchFamily="34" charset="-120"/>
              </a:rPr>
              <a:t>5,000 labeled historical transactions</a:t>
            </a:r>
            <a:endParaRPr lang="en-US" sz="1450" dirty="0"/>
          </a:p>
        </p:txBody>
      </p:sp>
      <p:sp>
        <p:nvSpPr>
          <p:cNvPr id="14" name="Shape 10"/>
          <p:cNvSpPr/>
          <p:nvPr/>
        </p:nvSpPr>
        <p:spPr>
          <a:xfrm>
            <a:off x="7424928" y="2743200"/>
            <a:ext cx="164592" cy="164592"/>
          </a:xfrm>
          <a:prstGeom prst="ellipse">
            <a:avLst/>
          </a:prstGeom>
          <a:solidFill>
            <a:srgbClr val="1D5FA7"/>
          </a:solidFill>
          <a:ln w="12700">
            <a:solidFill>
              <a:srgbClr val="1D5FA7"/>
            </a:solidFill>
            <a:prstDash val="solid"/>
          </a:ln>
        </p:spPr>
        <p:txBody>
          <a:bodyPr/>
          <a:lstStyle/>
          <a:p>
            <a:endParaRPr lang="en-US"/>
          </a:p>
        </p:txBody>
      </p:sp>
      <p:sp>
        <p:nvSpPr>
          <p:cNvPr id="15" name="Text 11"/>
          <p:cNvSpPr txBox="1"/>
          <p:nvPr/>
        </p:nvSpPr>
        <p:spPr>
          <a:xfrm>
            <a:off x="7726680" y="2651760"/>
            <a:ext cx="3749040" cy="457200"/>
          </a:xfrm>
          <a:prstGeom prst="rect">
            <a:avLst/>
          </a:prstGeom>
          <a:noFill/>
          <a:ln/>
        </p:spPr>
        <p:txBody>
          <a:bodyPr wrap="square" lIns="0" tIns="0" rIns="0" bIns="0" rtlCol="0" anchor="t"/>
          <a:lstStyle/>
          <a:p>
            <a:pPr marL="0" indent="0">
              <a:buNone/>
            </a:pPr>
            <a:r>
              <a:rPr lang="en-US" sz="1450" dirty="0">
                <a:solidFill>
                  <a:srgbClr val="132033"/>
                </a:solidFill>
                <a:latin typeface="Aptos" pitchFamily="34" charset="0"/>
                <a:ea typeface="Aptos" pitchFamily="34" charset="-122"/>
                <a:cs typeface="Aptos" pitchFamily="34" charset="-120"/>
              </a:rPr>
              <a:t>Features: amount vs. usual spending; distance from usual location</a:t>
            </a:r>
            <a:endParaRPr lang="en-US" sz="1450" dirty="0"/>
          </a:p>
        </p:txBody>
      </p:sp>
      <p:sp>
        <p:nvSpPr>
          <p:cNvPr id="16" name="Shape 12"/>
          <p:cNvSpPr/>
          <p:nvPr/>
        </p:nvSpPr>
        <p:spPr>
          <a:xfrm>
            <a:off x="7424928" y="3401568"/>
            <a:ext cx="164592" cy="164592"/>
          </a:xfrm>
          <a:prstGeom prst="ellipse">
            <a:avLst/>
          </a:prstGeom>
          <a:solidFill>
            <a:srgbClr val="39A875"/>
          </a:solidFill>
          <a:ln w="12700">
            <a:solidFill>
              <a:srgbClr val="39A875"/>
            </a:solidFill>
            <a:prstDash val="solid"/>
          </a:ln>
        </p:spPr>
        <p:txBody>
          <a:bodyPr/>
          <a:lstStyle/>
          <a:p>
            <a:endParaRPr lang="en-US"/>
          </a:p>
        </p:txBody>
      </p:sp>
      <p:sp>
        <p:nvSpPr>
          <p:cNvPr id="17" name="Text 13"/>
          <p:cNvSpPr txBox="1"/>
          <p:nvPr/>
        </p:nvSpPr>
        <p:spPr>
          <a:xfrm>
            <a:off x="7726680" y="3310128"/>
            <a:ext cx="3749040" cy="457200"/>
          </a:xfrm>
          <a:prstGeom prst="rect">
            <a:avLst/>
          </a:prstGeom>
          <a:noFill/>
          <a:ln/>
        </p:spPr>
        <p:txBody>
          <a:bodyPr wrap="square" lIns="0" tIns="0" rIns="0" bIns="0" rtlCol="0" anchor="t"/>
          <a:lstStyle/>
          <a:p>
            <a:pPr marL="0" indent="0">
              <a:buNone/>
            </a:pPr>
            <a:r>
              <a:rPr lang="en-US" sz="1450" dirty="0">
                <a:solidFill>
                  <a:srgbClr val="132033"/>
                </a:solidFill>
                <a:latin typeface="Aptos" pitchFamily="34" charset="0"/>
                <a:ea typeface="Aptos" pitchFamily="34" charset="-122"/>
                <a:cs typeface="Aptos" pitchFamily="34" charset="-120"/>
              </a:rPr>
              <a:t>Label: fraud or legitimate</a:t>
            </a:r>
            <a:endParaRPr lang="en-US" sz="1450" dirty="0"/>
          </a:p>
        </p:txBody>
      </p:sp>
      <p:sp>
        <p:nvSpPr>
          <p:cNvPr id="18" name="Shape 14"/>
          <p:cNvSpPr/>
          <p:nvPr/>
        </p:nvSpPr>
        <p:spPr>
          <a:xfrm>
            <a:off x="7424928" y="3822192"/>
            <a:ext cx="164592" cy="164592"/>
          </a:xfrm>
          <a:prstGeom prst="ellipse">
            <a:avLst/>
          </a:prstGeom>
          <a:solidFill>
            <a:srgbClr val="D9731A"/>
          </a:solidFill>
          <a:ln w="12700">
            <a:solidFill>
              <a:srgbClr val="D9731A"/>
            </a:solidFill>
            <a:prstDash val="solid"/>
          </a:ln>
        </p:spPr>
        <p:txBody>
          <a:bodyPr/>
          <a:lstStyle/>
          <a:p>
            <a:endParaRPr lang="en-US"/>
          </a:p>
        </p:txBody>
      </p:sp>
      <p:sp>
        <p:nvSpPr>
          <p:cNvPr id="19" name="Text 15"/>
          <p:cNvSpPr txBox="1"/>
          <p:nvPr/>
        </p:nvSpPr>
        <p:spPr>
          <a:xfrm>
            <a:off x="7726680" y="3730752"/>
            <a:ext cx="3749040" cy="457200"/>
          </a:xfrm>
          <a:prstGeom prst="rect">
            <a:avLst/>
          </a:prstGeom>
          <a:noFill/>
          <a:ln/>
        </p:spPr>
        <p:txBody>
          <a:bodyPr wrap="square" lIns="0" tIns="0" rIns="0" bIns="0" rtlCol="0" anchor="t"/>
          <a:lstStyle/>
          <a:p>
            <a:pPr marL="0" indent="0">
              <a:buNone/>
            </a:pPr>
            <a:r>
              <a:rPr lang="en-US" sz="1450" dirty="0">
                <a:solidFill>
                  <a:srgbClr val="132033"/>
                </a:solidFill>
                <a:latin typeface="Aptos" pitchFamily="34" charset="0"/>
                <a:ea typeface="Aptos" pitchFamily="34" charset="-122"/>
                <a:cs typeface="Aptos" pitchFamily="34" charset="-120"/>
              </a:rPr>
              <a:t>Positive class = fraud</a:t>
            </a:r>
            <a:endParaRPr lang="en-US" sz="1450" dirty="0"/>
          </a:p>
        </p:txBody>
      </p:sp>
      <p:sp>
        <p:nvSpPr>
          <p:cNvPr id="20" name="Shape 16"/>
          <p:cNvSpPr/>
          <p:nvPr/>
        </p:nvSpPr>
        <p:spPr>
          <a:xfrm>
            <a:off x="7424928" y="4242816"/>
            <a:ext cx="164592" cy="164592"/>
          </a:xfrm>
          <a:prstGeom prst="ellipse">
            <a:avLst/>
          </a:prstGeom>
          <a:solidFill>
            <a:srgbClr val="B43A3A"/>
          </a:solidFill>
          <a:ln w="12700">
            <a:solidFill>
              <a:srgbClr val="B43A3A"/>
            </a:solidFill>
            <a:prstDash val="solid"/>
          </a:ln>
        </p:spPr>
        <p:txBody>
          <a:bodyPr/>
          <a:lstStyle/>
          <a:p>
            <a:endParaRPr lang="en-US"/>
          </a:p>
        </p:txBody>
      </p:sp>
      <p:sp>
        <p:nvSpPr>
          <p:cNvPr id="21" name="Text 17"/>
          <p:cNvSpPr txBox="1"/>
          <p:nvPr/>
        </p:nvSpPr>
        <p:spPr>
          <a:xfrm>
            <a:off x="7726680" y="4151376"/>
            <a:ext cx="3749040" cy="457200"/>
          </a:xfrm>
          <a:prstGeom prst="rect">
            <a:avLst/>
          </a:prstGeom>
          <a:noFill/>
          <a:ln/>
        </p:spPr>
        <p:txBody>
          <a:bodyPr wrap="square" lIns="0" tIns="0" rIns="0" bIns="0" rtlCol="0" anchor="t"/>
          <a:lstStyle/>
          <a:p>
            <a:pPr marL="0" indent="0">
              <a:buNone/>
            </a:pPr>
            <a:r>
              <a:rPr lang="en-US" sz="1450" dirty="0">
                <a:solidFill>
                  <a:srgbClr val="132033"/>
                </a:solidFill>
                <a:latin typeface="Aptos" pitchFamily="34" charset="0"/>
                <a:ea typeface="Aptos" pitchFamily="34" charset="-122"/>
                <a:cs typeface="Aptos" pitchFamily="34" charset="-120"/>
              </a:rPr>
              <a:t>About 4% of transactions are fraud</a:t>
            </a:r>
            <a:endParaRPr lang="en-US" sz="1450" dirty="0"/>
          </a:p>
        </p:txBody>
      </p:sp>
      <p:sp>
        <p:nvSpPr>
          <p:cNvPr id="22" name="Text 18"/>
          <p:cNvSpPr txBox="1"/>
          <p:nvPr/>
        </p:nvSpPr>
        <p:spPr>
          <a:xfrm>
            <a:off x="7178040" y="4937760"/>
            <a:ext cx="4434840" cy="822960"/>
          </a:xfrm>
          <a:prstGeom prst="rect">
            <a:avLst/>
          </a:prstGeom>
          <a:noFill/>
          <a:ln/>
        </p:spPr>
        <p:txBody>
          <a:bodyPr wrap="square" lIns="0" tIns="0" rIns="0" bIns="0" rtlCol="0" anchor="ctr"/>
          <a:lstStyle/>
          <a:p>
            <a:pPr marL="0" indent="0" algn="ctr">
              <a:buNone/>
            </a:pPr>
            <a:r>
              <a:rPr lang="en-US" sz="1900" b="1" dirty="0">
                <a:solidFill>
                  <a:srgbClr val="1D5FA7"/>
                </a:solidFill>
                <a:latin typeface="Aptos" pitchFamily="34" charset="0"/>
                <a:ea typeface="Aptos" pitchFamily="34" charset="-122"/>
                <a:cs typeface="Aptos" pitchFamily="34" charset="-120"/>
              </a:rPr>
              <a:t>What would a lazy model predict for every transaction?</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Supervised vs. unsupervised learning</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The difference is whether the data comes with an answer key.</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5</a:t>
            </a:r>
            <a:endParaRPr lang="en-US" sz="850" dirty="0"/>
          </a:p>
        </p:txBody>
      </p:sp>
      <p:sp>
        <p:nvSpPr>
          <p:cNvPr id="7" name="Shape 4"/>
          <p:cNvSpPr/>
          <p:nvPr/>
        </p:nvSpPr>
        <p:spPr>
          <a:xfrm>
            <a:off x="576072" y="1554480"/>
            <a:ext cx="4206240" cy="4069080"/>
          </a:xfrm>
          <a:prstGeom prst="roundRect">
            <a:avLst>
              <a:gd name="adj" fmla="val 1798"/>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804672" y="1719072"/>
            <a:ext cx="374904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9" name="Text 6"/>
          <p:cNvSpPr txBox="1"/>
          <p:nvPr/>
        </p:nvSpPr>
        <p:spPr>
          <a:xfrm>
            <a:off x="804672" y="1719072"/>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Supervised: labels included</a:t>
            </a:r>
            <a:endParaRPr lang="en-US" sz="1400" dirty="0"/>
          </a:p>
        </p:txBody>
      </p:sp>
      <p:pic>
        <p:nvPicPr>
          <p:cNvPr id="10" name="Image 0" descr="figs/sup.png"/>
          <p:cNvPicPr>
            <a:picLocks noChangeAspect="1"/>
          </p:cNvPicPr>
          <p:nvPr/>
        </p:nvPicPr>
        <p:blipFill>
          <a:blip r:embed="rId3"/>
          <a:stretch>
            <a:fillRect/>
          </a:stretch>
        </p:blipFill>
        <p:spPr>
          <a:xfrm>
            <a:off x="1068312" y="2240280"/>
            <a:ext cx="3221760" cy="2788920"/>
          </a:xfrm>
          <a:prstGeom prst="rect">
            <a:avLst/>
          </a:prstGeom>
        </p:spPr>
      </p:pic>
      <p:sp>
        <p:nvSpPr>
          <p:cNvPr id="11" name="Text 7"/>
          <p:cNvSpPr txBox="1"/>
          <p:nvPr/>
        </p:nvSpPr>
        <p:spPr>
          <a:xfrm>
            <a:off x="758952" y="5074920"/>
            <a:ext cx="3840480" cy="41148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Learn a boundary that predicts the label.</a:t>
            </a:r>
            <a:endParaRPr lang="en-US" sz="1500" dirty="0"/>
          </a:p>
        </p:txBody>
      </p:sp>
      <p:sp>
        <p:nvSpPr>
          <p:cNvPr id="12" name="Shape 8"/>
          <p:cNvSpPr/>
          <p:nvPr/>
        </p:nvSpPr>
        <p:spPr>
          <a:xfrm>
            <a:off x="5010912" y="1554480"/>
            <a:ext cx="4206240" cy="4069080"/>
          </a:xfrm>
          <a:prstGeom prst="roundRect">
            <a:avLst>
              <a:gd name="adj" fmla="val 1798"/>
            </a:avLst>
          </a:prstGeom>
          <a:solidFill>
            <a:srgbClr val="FFFFFF"/>
          </a:solidFill>
          <a:ln w="12700">
            <a:solidFill>
              <a:srgbClr val="B8C7D8"/>
            </a:solidFill>
            <a:prstDash val="solid"/>
          </a:ln>
        </p:spPr>
        <p:txBody>
          <a:bodyPr/>
          <a:lstStyle/>
          <a:p>
            <a:endParaRPr lang="en-US"/>
          </a:p>
        </p:txBody>
      </p:sp>
      <p:sp>
        <p:nvSpPr>
          <p:cNvPr id="13" name="Shape 9"/>
          <p:cNvSpPr/>
          <p:nvPr/>
        </p:nvSpPr>
        <p:spPr>
          <a:xfrm>
            <a:off x="5239512" y="1719072"/>
            <a:ext cx="3749040" cy="384048"/>
          </a:xfrm>
          <a:prstGeom prst="roundRect">
            <a:avLst>
              <a:gd name="adj" fmla="val 19048"/>
            </a:avLst>
          </a:prstGeom>
          <a:solidFill>
            <a:srgbClr val="6D7C8F"/>
          </a:solidFill>
          <a:ln w="12700">
            <a:solidFill>
              <a:srgbClr val="6D7C8F"/>
            </a:solidFill>
            <a:prstDash val="solid"/>
          </a:ln>
        </p:spPr>
        <p:txBody>
          <a:bodyPr/>
          <a:lstStyle/>
          <a:p>
            <a:endParaRPr lang="en-US"/>
          </a:p>
        </p:txBody>
      </p:sp>
      <p:sp>
        <p:nvSpPr>
          <p:cNvPr id="14" name="Text 10"/>
          <p:cNvSpPr txBox="1"/>
          <p:nvPr/>
        </p:nvSpPr>
        <p:spPr>
          <a:xfrm>
            <a:off x="5239512" y="1719072"/>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Unsupervised: no labels</a:t>
            </a:r>
            <a:endParaRPr lang="en-US" sz="1400" dirty="0"/>
          </a:p>
        </p:txBody>
      </p:sp>
      <p:pic>
        <p:nvPicPr>
          <p:cNvPr id="15" name="Image 1" descr="figs/unsup.png"/>
          <p:cNvPicPr>
            <a:picLocks noChangeAspect="1"/>
          </p:cNvPicPr>
          <p:nvPr/>
        </p:nvPicPr>
        <p:blipFill>
          <a:blip r:embed="rId4"/>
          <a:stretch>
            <a:fillRect/>
          </a:stretch>
        </p:blipFill>
        <p:spPr>
          <a:xfrm>
            <a:off x="5503152" y="2240280"/>
            <a:ext cx="3221760" cy="2788920"/>
          </a:xfrm>
          <a:prstGeom prst="rect">
            <a:avLst/>
          </a:prstGeom>
        </p:spPr>
      </p:pic>
      <p:sp>
        <p:nvSpPr>
          <p:cNvPr id="16" name="Text 11"/>
          <p:cNvSpPr txBox="1"/>
          <p:nvPr/>
        </p:nvSpPr>
        <p:spPr>
          <a:xfrm>
            <a:off x="5193792" y="5074920"/>
            <a:ext cx="3840480" cy="41148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Find structure (clusters) in the data.</a:t>
            </a:r>
            <a:endParaRPr lang="en-US" sz="1500" dirty="0"/>
          </a:p>
        </p:txBody>
      </p:sp>
      <p:sp>
        <p:nvSpPr>
          <p:cNvPr id="17" name="Shape 12"/>
          <p:cNvSpPr/>
          <p:nvPr/>
        </p:nvSpPr>
        <p:spPr>
          <a:xfrm>
            <a:off x="9445752" y="1554480"/>
            <a:ext cx="2167128" cy="4069080"/>
          </a:xfrm>
          <a:prstGeom prst="roundRect">
            <a:avLst>
              <a:gd name="adj" fmla="val 3376"/>
            </a:avLst>
          </a:prstGeom>
          <a:solidFill>
            <a:srgbClr val="DFF0D8"/>
          </a:solidFill>
          <a:ln w="12700">
            <a:solidFill>
              <a:srgbClr val="2E7D32"/>
            </a:solidFill>
            <a:prstDash val="solid"/>
          </a:ln>
        </p:spPr>
        <p:txBody>
          <a:bodyPr/>
          <a:lstStyle/>
          <a:p>
            <a:endParaRPr lang="en-US"/>
          </a:p>
        </p:txBody>
      </p:sp>
      <p:sp>
        <p:nvSpPr>
          <p:cNvPr id="18" name="Text 13"/>
          <p:cNvSpPr txBox="1"/>
          <p:nvPr/>
        </p:nvSpPr>
        <p:spPr>
          <a:xfrm>
            <a:off x="9582912" y="1737360"/>
            <a:ext cx="1892808" cy="640080"/>
          </a:xfrm>
          <a:prstGeom prst="rect">
            <a:avLst/>
          </a:prstGeom>
          <a:noFill/>
          <a:ln/>
        </p:spPr>
        <p:txBody>
          <a:bodyPr wrap="square" lIns="0" tIns="0" rIns="0" bIns="0" rtlCol="0" anchor="t"/>
          <a:lstStyle/>
          <a:p>
            <a:pPr marL="0" indent="0" algn="ctr">
              <a:buNone/>
            </a:pPr>
            <a:r>
              <a:rPr lang="en-US" sz="1600" b="1" dirty="0">
                <a:solidFill>
                  <a:srgbClr val="2E7D32"/>
                </a:solidFill>
                <a:latin typeface="Aptos" pitchFamily="34" charset="0"/>
                <a:ea typeface="Aptos" pitchFamily="34" charset="-122"/>
                <a:cs typeface="Aptos" pitchFamily="34" charset="-120"/>
              </a:rPr>
              <a:t>Reinforcement learning</a:t>
            </a:r>
            <a:endParaRPr lang="en-US" sz="1600" dirty="0"/>
          </a:p>
        </p:txBody>
      </p:sp>
      <p:sp>
        <p:nvSpPr>
          <p:cNvPr id="19" name="Text 14"/>
          <p:cNvSpPr txBox="1"/>
          <p:nvPr/>
        </p:nvSpPr>
        <p:spPr>
          <a:xfrm>
            <a:off x="9582912" y="2377440"/>
            <a:ext cx="1892808" cy="274320"/>
          </a:xfrm>
          <a:prstGeom prst="rect">
            <a:avLst/>
          </a:prstGeom>
          <a:noFill/>
          <a:ln/>
        </p:spPr>
        <p:txBody>
          <a:bodyPr wrap="square" lIns="0" tIns="0" rIns="0" bIns="0" rtlCol="0" anchor="t"/>
          <a:lstStyle/>
          <a:p>
            <a:pPr marL="0" indent="0" algn="ctr">
              <a:buNone/>
            </a:pPr>
            <a:r>
              <a:rPr lang="en-US" sz="1300" dirty="0">
                <a:solidFill>
                  <a:srgbClr val="2E7D32"/>
                </a:solidFill>
                <a:latin typeface="Aptos" pitchFamily="34" charset="0"/>
                <a:ea typeface="Aptos" pitchFamily="34" charset="-122"/>
                <a:cs typeface="Aptos" pitchFamily="34" charset="-120"/>
              </a:rPr>
              <a:t>(L13-L15)</a:t>
            </a:r>
            <a:endParaRPr lang="en-US" sz="1300" dirty="0"/>
          </a:p>
        </p:txBody>
      </p:sp>
      <p:sp>
        <p:nvSpPr>
          <p:cNvPr id="20" name="Text 15"/>
          <p:cNvSpPr txBox="1"/>
          <p:nvPr/>
        </p:nvSpPr>
        <p:spPr>
          <a:xfrm>
            <a:off x="9601200" y="2834640"/>
            <a:ext cx="1856232" cy="2377440"/>
          </a:xfrm>
          <a:prstGeom prst="rect">
            <a:avLst/>
          </a:prstGeom>
          <a:noFill/>
          <a:ln/>
        </p:spPr>
        <p:txBody>
          <a:bodyPr wrap="square" lIns="0" tIns="0" rIns="0" bIns="0" rtlCol="0" anchor="t"/>
          <a:lstStyle/>
          <a:p>
            <a:pPr marL="0" indent="0" algn="ctr">
              <a:buNone/>
            </a:pPr>
            <a:r>
              <a:rPr lang="en-US" sz="1450" dirty="0">
                <a:solidFill>
                  <a:srgbClr val="132033"/>
                </a:solidFill>
                <a:latin typeface="Aptos" pitchFamily="34" charset="0"/>
                <a:ea typeface="Aptos" pitchFamily="34" charset="-122"/>
                <a:cs typeface="Aptos" pitchFamily="34" charset="-120"/>
              </a:rPr>
              <a:t>No answer key and no fixed dataset.</a:t>
            </a:r>
            <a:endParaRPr lang="en-US" sz="1450" dirty="0"/>
          </a:p>
          <a:p>
            <a:pPr marL="0" indent="0" algn="ctr">
              <a:buNone/>
            </a:pPr>
            <a:endParaRPr lang="en-US" sz="1450" dirty="0"/>
          </a:p>
          <a:p>
            <a:pPr marL="0" indent="0" algn="ctr">
              <a:buNone/>
            </a:pPr>
            <a:r>
              <a:rPr lang="en-US" sz="1450" dirty="0">
                <a:solidFill>
                  <a:srgbClr val="132033"/>
                </a:solidFill>
                <a:latin typeface="Aptos" pitchFamily="34" charset="0"/>
                <a:ea typeface="Aptos" pitchFamily="34" charset="-122"/>
                <a:cs typeface="Aptos" pitchFamily="34" charset="-120"/>
              </a:rPr>
              <a:t>The agent acts, then receives a reward signal.</a:t>
            </a:r>
            <a:endParaRPr lang="en-US" sz="1450" dirty="0"/>
          </a:p>
        </p:txBody>
      </p:sp>
      <p:sp>
        <p:nvSpPr>
          <p:cNvPr id="21" name="Text 16"/>
          <p:cNvSpPr txBox="1"/>
          <p:nvPr/>
        </p:nvSpPr>
        <p:spPr>
          <a:xfrm>
            <a:off x="822960" y="580644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Labels are the difference. Today: supervised classification.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A classifier learns a decision boundary</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Training turns labeled examples into a rule that splits the feature space.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6</a:t>
            </a:r>
            <a:endParaRPr lang="en-US" sz="850" dirty="0"/>
          </a:p>
        </p:txBody>
      </p:sp>
      <p:sp>
        <p:nvSpPr>
          <p:cNvPr id="7" name="Shape 4"/>
          <p:cNvSpPr/>
          <p:nvPr/>
        </p:nvSpPr>
        <p:spPr>
          <a:xfrm>
            <a:off x="822960" y="1691640"/>
            <a:ext cx="420624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1005840" y="1691640"/>
            <a:ext cx="3840480" cy="86868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Features  x</a:t>
            </a:r>
            <a:endParaRPr lang="en-US" sz="1600" dirty="0"/>
          </a:p>
          <a:p>
            <a:pPr marL="0" indent="0" algn="ctr">
              <a:buNone/>
            </a:pPr>
            <a:r>
              <a:rPr lang="en-US" sz="1450" dirty="0">
                <a:solidFill>
                  <a:srgbClr val="132033"/>
                </a:solidFill>
                <a:latin typeface="Aptos" pitchFamily="34" charset="0"/>
                <a:ea typeface="Aptos" pitchFamily="34" charset="-122"/>
                <a:cs typeface="Aptos" pitchFamily="34" charset="-120"/>
              </a:rPr>
              <a:t>amount, distance</a:t>
            </a:r>
            <a:endParaRPr lang="en-US" sz="1600" dirty="0"/>
          </a:p>
        </p:txBody>
      </p:sp>
      <p:sp>
        <p:nvSpPr>
          <p:cNvPr id="9" name="Shape 6"/>
          <p:cNvSpPr/>
          <p:nvPr/>
        </p:nvSpPr>
        <p:spPr>
          <a:xfrm>
            <a:off x="2926080" y="2587752"/>
            <a:ext cx="0" cy="402336"/>
          </a:xfrm>
          <a:prstGeom prst="line">
            <a:avLst/>
          </a:prstGeom>
          <a:noFill/>
          <a:ln w="22225">
            <a:solidFill>
              <a:srgbClr val="1D5FA7"/>
            </a:solidFill>
            <a:prstDash val="solid"/>
            <a:tailEnd type="triangle"/>
          </a:ln>
        </p:spPr>
        <p:txBody>
          <a:bodyPr/>
          <a:lstStyle/>
          <a:p>
            <a:endParaRPr lang="en-US"/>
          </a:p>
        </p:txBody>
      </p:sp>
      <p:sp>
        <p:nvSpPr>
          <p:cNvPr id="10" name="Shape 7"/>
          <p:cNvSpPr/>
          <p:nvPr/>
        </p:nvSpPr>
        <p:spPr>
          <a:xfrm>
            <a:off x="822960" y="3017520"/>
            <a:ext cx="4206240" cy="868680"/>
          </a:xfrm>
          <a:prstGeom prst="roundRect">
            <a:avLst>
              <a:gd name="adj" fmla="val 8421"/>
            </a:avLst>
          </a:prstGeom>
          <a:solidFill>
            <a:srgbClr val="FFF4CE"/>
          </a:solidFill>
          <a:ln w="12700">
            <a:solidFill>
              <a:srgbClr val="F2C14E"/>
            </a:solidFill>
            <a:prstDash val="solid"/>
          </a:ln>
        </p:spPr>
        <p:txBody>
          <a:bodyPr/>
          <a:lstStyle/>
          <a:p>
            <a:endParaRPr lang="en-US"/>
          </a:p>
        </p:txBody>
      </p:sp>
      <p:sp>
        <p:nvSpPr>
          <p:cNvPr id="11" name="Text 8"/>
          <p:cNvSpPr txBox="1"/>
          <p:nvPr/>
        </p:nvSpPr>
        <p:spPr>
          <a:xfrm>
            <a:off x="1005840" y="3017520"/>
            <a:ext cx="3840480" cy="86868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Model  f̂</a:t>
            </a:r>
            <a:endParaRPr lang="en-US" sz="1600" dirty="0"/>
          </a:p>
          <a:p>
            <a:pPr marL="0" indent="0" algn="ctr">
              <a:buNone/>
            </a:pPr>
            <a:r>
              <a:rPr lang="en-US" sz="1450" dirty="0">
                <a:solidFill>
                  <a:srgbClr val="132033"/>
                </a:solidFill>
                <a:latin typeface="Aptos" pitchFamily="34" charset="0"/>
                <a:ea typeface="Aptos" pitchFamily="34" charset="-122"/>
                <a:cs typeface="Aptos" pitchFamily="34" charset="-120"/>
              </a:rPr>
              <a:t>learned from labeled data</a:t>
            </a:r>
            <a:endParaRPr lang="en-US" sz="1600" dirty="0"/>
          </a:p>
        </p:txBody>
      </p:sp>
      <p:sp>
        <p:nvSpPr>
          <p:cNvPr id="12" name="Shape 9"/>
          <p:cNvSpPr/>
          <p:nvPr/>
        </p:nvSpPr>
        <p:spPr>
          <a:xfrm>
            <a:off x="2926080" y="3913632"/>
            <a:ext cx="0" cy="402336"/>
          </a:xfrm>
          <a:prstGeom prst="line">
            <a:avLst/>
          </a:prstGeom>
          <a:noFill/>
          <a:ln w="22225">
            <a:solidFill>
              <a:srgbClr val="1D5FA7"/>
            </a:solidFill>
            <a:prstDash val="solid"/>
            <a:tailEnd type="triangle"/>
          </a:ln>
        </p:spPr>
        <p:txBody>
          <a:bodyPr/>
          <a:lstStyle/>
          <a:p>
            <a:endParaRPr lang="en-US"/>
          </a:p>
        </p:txBody>
      </p:sp>
      <p:sp>
        <p:nvSpPr>
          <p:cNvPr id="13" name="Shape 10"/>
          <p:cNvSpPr/>
          <p:nvPr/>
        </p:nvSpPr>
        <p:spPr>
          <a:xfrm>
            <a:off x="822960" y="4343400"/>
            <a:ext cx="4206240" cy="868680"/>
          </a:xfrm>
          <a:prstGeom prst="roundRect">
            <a:avLst>
              <a:gd name="adj" fmla="val 8421"/>
            </a:avLst>
          </a:prstGeom>
          <a:solidFill>
            <a:srgbClr val="DFF0D8"/>
          </a:solidFill>
          <a:ln w="12700">
            <a:solidFill>
              <a:srgbClr val="2E7D32"/>
            </a:solidFill>
            <a:prstDash val="solid"/>
          </a:ln>
        </p:spPr>
        <p:txBody>
          <a:bodyPr/>
          <a:lstStyle/>
          <a:p>
            <a:endParaRPr lang="en-US"/>
          </a:p>
        </p:txBody>
      </p:sp>
      <p:sp>
        <p:nvSpPr>
          <p:cNvPr id="14" name="Text 11"/>
          <p:cNvSpPr txBox="1"/>
          <p:nvPr/>
        </p:nvSpPr>
        <p:spPr>
          <a:xfrm>
            <a:off x="1005840" y="4343400"/>
            <a:ext cx="3840480" cy="86868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Prediction  ŷ</a:t>
            </a:r>
            <a:endParaRPr lang="en-US" sz="1600" dirty="0"/>
          </a:p>
          <a:p>
            <a:pPr marL="0" indent="0" algn="ctr">
              <a:buNone/>
            </a:pPr>
            <a:r>
              <a:rPr lang="en-US" sz="1450" dirty="0">
                <a:solidFill>
                  <a:srgbClr val="132033"/>
                </a:solidFill>
                <a:latin typeface="Aptos" pitchFamily="34" charset="0"/>
                <a:ea typeface="Aptos" pitchFamily="34" charset="-122"/>
                <a:cs typeface="Aptos" pitchFamily="34" charset="-120"/>
              </a:rPr>
              <a:t>fraud or legit</a:t>
            </a:r>
            <a:endParaRPr lang="en-US" sz="1600" dirty="0"/>
          </a:p>
        </p:txBody>
      </p:sp>
      <p:sp>
        <p:nvSpPr>
          <p:cNvPr id="15" name="Shape 12"/>
          <p:cNvSpPr/>
          <p:nvPr/>
        </p:nvSpPr>
        <p:spPr>
          <a:xfrm>
            <a:off x="5532120" y="1508760"/>
            <a:ext cx="6080760" cy="4251960"/>
          </a:xfrm>
          <a:prstGeom prst="roundRect">
            <a:avLst>
              <a:gd name="adj" fmla="val 1720"/>
            </a:avLst>
          </a:prstGeom>
          <a:solidFill>
            <a:srgbClr val="FFFFFF"/>
          </a:solidFill>
          <a:ln w="12700">
            <a:solidFill>
              <a:srgbClr val="B8C7D8"/>
            </a:solidFill>
            <a:prstDash val="solid"/>
          </a:ln>
        </p:spPr>
        <p:txBody>
          <a:bodyPr/>
          <a:lstStyle/>
          <a:p>
            <a:endParaRPr lang="en-US"/>
          </a:p>
        </p:txBody>
      </p:sp>
      <p:pic>
        <p:nvPicPr>
          <p:cNvPr id="16" name="Image 0" descr="figs/boundary.png"/>
          <p:cNvPicPr>
            <a:picLocks noChangeAspect="1"/>
          </p:cNvPicPr>
          <p:nvPr/>
        </p:nvPicPr>
        <p:blipFill>
          <a:blip r:embed="rId3"/>
          <a:stretch>
            <a:fillRect/>
          </a:stretch>
        </p:blipFill>
        <p:spPr>
          <a:xfrm>
            <a:off x="6126422" y="1600200"/>
            <a:ext cx="4892156" cy="4069080"/>
          </a:xfrm>
          <a:prstGeom prst="rect">
            <a:avLst/>
          </a:prstGeom>
        </p:spPr>
      </p:pic>
      <p:sp>
        <p:nvSpPr>
          <p:cNvPr id="17" name="Text 13"/>
          <p:cNvSpPr txBox="1"/>
          <p:nvPr/>
        </p:nvSpPr>
        <p:spPr>
          <a:xfrm>
            <a:off x="822960" y="589788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Every model today is a different way to draw this boundary.</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Memorizing is not learning</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Scoring 100% on the answer key you studied proves nothing.</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7</a:t>
            </a:r>
            <a:endParaRPr lang="en-US" sz="850" dirty="0"/>
          </a:p>
        </p:txBody>
      </p:sp>
      <p:sp>
        <p:nvSpPr>
          <p:cNvPr id="7" name="Shape 4"/>
          <p:cNvSpPr/>
          <p:nvPr/>
        </p:nvSpPr>
        <p:spPr>
          <a:xfrm>
            <a:off x="822960" y="1691640"/>
            <a:ext cx="7955280" cy="822960"/>
          </a:xfrm>
          <a:prstGeom prst="rect">
            <a:avLst/>
          </a:prstGeom>
          <a:solidFill>
            <a:srgbClr val="EAF2F8"/>
          </a:solidFill>
          <a:ln w="15875">
            <a:solidFill>
              <a:srgbClr val="1F5D9B"/>
            </a:solidFill>
            <a:prstDash val="solid"/>
          </a:ln>
        </p:spPr>
        <p:txBody>
          <a:bodyPr/>
          <a:lstStyle/>
          <a:p>
            <a:endParaRPr lang="en-US"/>
          </a:p>
        </p:txBody>
      </p:sp>
      <p:sp>
        <p:nvSpPr>
          <p:cNvPr id="8" name="Text 5"/>
          <p:cNvSpPr txBox="1"/>
          <p:nvPr/>
        </p:nvSpPr>
        <p:spPr>
          <a:xfrm>
            <a:off x="822960" y="1691640"/>
            <a:ext cx="7955280" cy="82296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Training set  80%</a:t>
            </a:r>
            <a:endParaRPr lang="en-US" sz="1600" dirty="0"/>
          </a:p>
          <a:p>
            <a:pPr marL="0" indent="0" algn="ctr">
              <a:buNone/>
            </a:pPr>
            <a:r>
              <a:rPr lang="en-US" sz="1450" dirty="0">
                <a:solidFill>
                  <a:srgbClr val="132033"/>
                </a:solidFill>
                <a:latin typeface="Aptos" pitchFamily="34" charset="0"/>
                <a:ea typeface="Aptos" pitchFamily="34" charset="-122"/>
                <a:cs typeface="Aptos" pitchFamily="34" charset="-120"/>
              </a:rPr>
              <a:t>the model studies these examples</a:t>
            </a:r>
            <a:endParaRPr lang="en-US" sz="1600" dirty="0"/>
          </a:p>
        </p:txBody>
      </p:sp>
      <p:sp>
        <p:nvSpPr>
          <p:cNvPr id="9" name="Shape 6"/>
          <p:cNvSpPr/>
          <p:nvPr/>
        </p:nvSpPr>
        <p:spPr>
          <a:xfrm>
            <a:off x="8778240" y="1691640"/>
            <a:ext cx="2560320" cy="822960"/>
          </a:xfrm>
          <a:prstGeom prst="rect">
            <a:avLst/>
          </a:prstGeom>
          <a:solidFill>
            <a:srgbClr val="FFF4CE"/>
          </a:solidFill>
          <a:ln w="15875">
            <a:solidFill>
              <a:srgbClr val="F2C14E"/>
            </a:solidFill>
            <a:prstDash val="solid"/>
          </a:ln>
        </p:spPr>
        <p:txBody>
          <a:bodyPr/>
          <a:lstStyle/>
          <a:p>
            <a:endParaRPr lang="en-US"/>
          </a:p>
        </p:txBody>
      </p:sp>
      <p:pic>
        <p:nvPicPr>
          <p:cNvPr id="10" name="Image 0" descr="figs/icon_lock.png"/>
          <p:cNvPicPr>
            <a:picLocks noChangeAspect="1"/>
          </p:cNvPicPr>
          <p:nvPr/>
        </p:nvPicPr>
        <p:blipFill>
          <a:blip r:embed="rId3"/>
          <a:stretch>
            <a:fillRect/>
          </a:stretch>
        </p:blipFill>
        <p:spPr>
          <a:xfrm>
            <a:off x="8942832" y="1929384"/>
            <a:ext cx="347472" cy="347472"/>
          </a:xfrm>
          <a:prstGeom prst="rect">
            <a:avLst/>
          </a:prstGeom>
        </p:spPr>
      </p:pic>
      <p:sp>
        <p:nvSpPr>
          <p:cNvPr id="11" name="Text 7"/>
          <p:cNvSpPr txBox="1"/>
          <p:nvPr/>
        </p:nvSpPr>
        <p:spPr>
          <a:xfrm>
            <a:off x="9326880" y="1691640"/>
            <a:ext cx="1965960" cy="82296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Test set  20%</a:t>
            </a:r>
            <a:endParaRPr lang="en-US" sz="1600" dirty="0"/>
          </a:p>
          <a:p>
            <a:pPr marL="0" indent="0" algn="ctr">
              <a:buNone/>
            </a:pPr>
            <a:r>
              <a:rPr lang="en-US" sz="1300" dirty="0">
                <a:solidFill>
                  <a:srgbClr val="132033"/>
                </a:solidFill>
                <a:latin typeface="Aptos" pitchFamily="34" charset="0"/>
                <a:ea typeface="Aptos" pitchFamily="34" charset="-122"/>
                <a:cs typeface="Aptos" pitchFamily="34" charset="-120"/>
              </a:rPr>
              <a:t>locked until the end</a:t>
            </a:r>
            <a:endParaRPr lang="en-US" sz="1600" dirty="0"/>
          </a:p>
        </p:txBody>
      </p:sp>
      <p:sp>
        <p:nvSpPr>
          <p:cNvPr id="12" name="Shape 8"/>
          <p:cNvSpPr/>
          <p:nvPr/>
        </p:nvSpPr>
        <p:spPr>
          <a:xfrm>
            <a:off x="822960" y="2880360"/>
            <a:ext cx="5120640" cy="1920240"/>
          </a:xfrm>
          <a:prstGeom prst="roundRect">
            <a:avLst>
              <a:gd name="adj" fmla="val 3810"/>
            </a:avLst>
          </a:prstGeom>
          <a:solidFill>
            <a:srgbClr val="F7D7D7"/>
          </a:solidFill>
          <a:ln w="12700">
            <a:solidFill>
              <a:srgbClr val="B43A3A"/>
            </a:solidFill>
            <a:prstDash val="solid"/>
          </a:ln>
        </p:spPr>
        <p:txBody>
          <a:bodyPr/>
          <a:lstStyle/>
          <a:p>
            <a:endParaRPr lang="en-US"/>
          </a:p>
        </p:txBody>
      </p:sp>
      <p:pic>
        <p:nvPicPr>
          <p:cNvPr id="13" name="Image 1" descr="figs/icon_cross.png"/>
          <p:cNvPicPr>
            <a:picLocks noChangeAspect="1"/>
          </p:cNvPicPr>
          <p:nvPr/>
        </p:nvPicPr>
        <p:blipFill>
          <a:blip r:embed="rId4"/>
          <a:stretch>
            <a:fillRect/>
          </a:stretch>
        </p:blipFill>
        <p:spPr>
          <a:xfrm>
            <a:off x="1051560" y="3044952"/>
            <a:ext cx="329184" cy="329184"/>
          </a:xfrm>
          <a:prstGeom prst="rect">
            <a:avLst/>
          </a:prstGeom>
        </p:spPr>
      </p:pic>
      <p:sp>
        <p:nvSpPr>
          <p:cNvPr id="14" name="Text 9"/>
          <p:cNvSpPr txBox="1"/>
          <p:nvPr/>
        </p:nvSpPr>
        <p:spPr>
          <a:xfrm>
            <a:off x="1508760" y="3017520"/>
            <a:ext cx="4206240" cy="384048"/>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The memorizer</a:t>
            </a:r>
            <a:endParaRPr lang="en-US" sz="2000" dirty="0"/>
          </a:p>
        </p:txBody>
      </p:sp>
      <p:sp>
        <p:nvSpPr>
          <p:cNvPr id="15" name="Text 10"/>
          <p:cNvSpPr txBox="1"/>
          <p:nvPr/>
        </p:nvSpPr>
        <p:spPr>
          <a:xfrm>
            <a:off x="1097280" y="3520440"/>
            <a:ext cx="4572000" cy="1188720"/>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Studied the answer key.</a:t>
            </a:r>
            <a:endParaRPr lang="en-US" sz="1600" dirty="0"/>
          </a:p>
          <a:p>
            <a:pPr marL="0" indent="0">
              <a:buNone/>
            </a:pPr>
            <a:r>
              <a:rPr lang="en-US" sz="1600" dirty="0">
                <a:solidFill>
                  <a:srgbClr val="132033"/>
                </a:solidFill>
                <a:latin typeface="Aptos" pitchFamily="34" charset="0"/>
                <a:ea typeface="Aptos" pitchFamily="34" charset="-122"/>
                <a:cs typeface="Aptos" pitchFamily="34" charset="-120"/>
              </a:rPr>
              <a:t>100% on the practice exam.</a:t>
            </a:r>
            <a:endParaRPr lang="en-US" sz="1600" dirty="0"/>
          </a:p>
          <a:p>
            <a:pPr marL="0" indent="0">
              <a:buNone/>
            </a:pPr>
            <a:r>
              <a:rPr lang="en-US" sz="1600" dirty="0">
                <a:solidFill>
                  <a:srgbClr val="132033"/>
                </a:solidFill>
                <a:latin typeface="Aptos" pitchFamily="34" charset="0"/>
                <a:ea typeface="Aptos" pitchFamily="34" charset="-122"/>
                <a:cs typeface="Aptos" pitchFamily="34" charset="-120"/>
              </a:rPr>
              <a:t>Lost on new questions.</a:t>
            </a:r>
            <a:endParaRPr lang="en-US" sz="1600" dirty="0"/>
          </a:p>
        </p:txBody>
      </p:sp>
      <p:sp>
        <p:nvSpPr>
          <p:cNvPr id="16" name="Shape 11"/>
          <p:cNvSpPr/>
          <p:nvPr/>
        </p:nvSpPr>
        <p:spPr>
          <a:xfrm>
            <a:off x="6217920" y="2880360"/>
            <a:ext cx="5120640" cy="1920240"/>
          </a:xfrm>
          <a:prstGeom prst="roundRect">
            <a:avLst>
              <a:gd name="adj" fmla="val 3810"/>
            </a:avLst>
          </a:prstGeom>
          <a:solidFill>
            <a:srgbClr val="DFF0D8"/>
          </a:solidFill>
          <a:ln w="12700">
            <a:solidFill>
              <a:srgbClr val="2E7D32"/>
            </a:solidFill>
            <a:prstDash val="solid"/>
          </a:ln>
        </p:spPr>
        <p:txBody>
          <a:bodyPr/>
          <a:lstStyle/>
          <a:p>
            <a:endParaRPr lang="en-US"/>
          </a:p>
        </p:txBody>
      </p:sp>
      <p:pic>
        <p:nvPicPr>
          <p:cNvPr id="17" name="Image 2" descr="figs/icon_check.png"/>
          <p:cNvPicPr>
            <a:picLocks noChangeAspect="1"/>
          </p:cNvPicPr>
          <p:nvPr/>
        </p:nvPicPr>
        <p:blipFill>
          <a:blip r:embed="rId5"/>
          <a:stretch>
            <a:fillRect/>
          </a:stretch>
        </p:blipFill>
        <p:spPr>
          <a:xfrm>
            <a:off x="6446520" y="3044952"/>
            <a:ext cx="329184" cy="329184"/>
          </a:xfrm>
          <a:prstGeom prst="rect">
            <a:avLst/>
          </a:prstGeom>
        </p:spPr>
      </p:pic>
      <p:sp>
        <p:nvSpPr>
          <p:cNvPr id="18" name="Text 12"/>
          <p:cNvSpPr txBox="1"/>
          <p:nvPr/>
        </p:nvSpPr>
        <p:spPr>
          <a:xfrm>
            <a:off x="6903720" y="3017520"/>
            <a:ext cx="4206240" cy="384048"/>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The learner</a:t>
            </a:r>
            <a:endParaRPr lang="en-US" sz="2000" dirty="0"/>
          </a:p>
        </p:txBody>
      </p:sp>
      <p:sp>
        <p:nvSpPr>
          <p:cNvPr id="19" name="Text 13"/>
          <p:cNvSpPr txBox="1"/>
          <p:nvPr/>
        </p:nvSpPr>
        <p:spPr>
          <a:xfrm>
            <a:off x="6492240" y="3520440"/>
            <a:ext cx="4572000" cy="1188720"/>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Learned the underlying pattern.</a:t>
            </a:r>
            <a:endParaRPr lang="en-US" sz="1600" dirty="0"/>
          </a:p>
          <a:p>
            <a:pPr marL="0" indent="0">
              <a:buNone/>
            </a:pPr>
            <a:r>
              <a:rPr lang="en-US" sz="1600" dirty="0">
                <a:solidFill>
                  <a:srgbClr val="132033"/>
                </a:solidFill>
                <a:latin typeface="Aptos" pitchFamily="34" charset="0"/>
                <a:ea typeface="Aptos" pitchFamily="34" charset="-122"/>
                <a:cs typeface="Aptos" pitchFamily="34" charset="-120"/>
              </a:rPr>
              <a:t>Slightly lower on practice.</a:t>
            </a:r>
            <a:endParaRPr lang="en-US" sz="1600" dirty="0"/>
          </a:p>
          <a:p>
            <a:pPr marL="0" indent="0">
              <a:buNone/>
            </a:pPr>
            <a:r>
              <a:rPr lang="en-US" sz="1600" dirty="0">
                <a:solidFill>
                  <a:srgbClr val="132033"/>
                </a:solidFill>
                <a:latin typeface="Aptos" pitchFamily="34" charset="0"/>
                <a:ea typeface="Aptos" pitchFamily="34" charset="-122"/>
                <a:cs typeface="Aptos" pitchFamily="34" charset="-120"/>
              </a:rPr>
              <a:t>Holds up on new questions.</a:t>
            </a:r>
            <a:endParaRPr lang="en-US" sz="1600" dirty="0"/>
          </a:p>
        </p:txBody>
      </p:sp>
      <p:sp>
        <p:nvSpPr>
          <p:cNvPr id="20" name="Text 14"/>
          <p:cNvSpPr txBox="1"/>
          <p:nvPr/>
        </p:nvSpPr>
        <p:spPr>
          <a:xfrm>
            <a:off x="822960" y="5074920"/>
            <a:ext cx="10515600" cy="50292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Generalization = performance on data the model has never seen.</a:t>
            </a:r>
            <a:endParaRPr lang="en-US" sz="2200" dirty="0"/>
          </a:p>
        </p:txBody>
      </p:sp>
      <p:sp>
        <p:nvSpPr>
          <p:cNvPr id="21" name="Text 15"/>
          <p:cNvSpPr txBox="1"/>
          <p:nvPr/>
        </p:nvSpPr>
        <p:spPr>
          <a:xfrm>
            <a:off x="822960" y="5596128"/>
            <a:ext cx="10515600" cy="365760"/>
          </a:xfrm>
          <a:prstGeom prst="rect">
            <a:avLst/>
          </a:prstGeom>
          <a:noFill/>
          <a:ln/>
        </p:spPr>
        <p:txBody>
          <a:bodyPr wrap="square" lIns="0" tIns="0" rIns="0" bIns="0" rtlCol="0" anchor="ctr"/>
          <a:lstStyle/>
          <a:p>
            <a:pPr marL="0" indent="0" algn="ctr">
              <a:buNone/>
            </a:pPr>
            <a:r>
              <a:rPr lang="en-US" sz="1600" b="1" dirty="0">
                <a:solidFill>
                  <a:srgbClr val="1D5FA7"/>
                </a:solidFill>
                <a:latin typeface="Aptos" pitchFamily="34" charset="0"/>
                <a:ea typeface="Aptos" pitchFamily="34" charset="-122"/>
                <a:cs typeface="Aptos" pitchFamily="34" charset="-120"/>
              </a:rPr>
              <a:t>The test set is used once, at the end.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Three fits, same data</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Flexibility helps until the model starts fitting noise.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8</a:t>
            </a:r>
            <a:endParaRPr lang="en-US" sz="850" dirty="0"/>
          </a:p>
        </p:txBody>
      </p:sp>
      <p:sp>
        <p:nvSpPr>
          <p:cNvPr id="7" name="Shape 4"/>
          <p:cNvSpPr/>
          <p:nvPr/>
        </p:nvSpPr>
        <p:spPr>
          <a:xfrm>
            <a:off x="576072" y="1508760"/>
            <a:ext cx="3566160" cy="416052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758952" y="1645920"/>
            <a:ext cx="3200400" cy="384048"/>
          </a:xfrm>
          <a:prstGeom prst="roundRect">
            <a:avLst>
              <a:gd name="adj" fmla="val 19048"/>
            </a:avLst>
          </a:prstGeom>
          <a:solidFill>
            <a:srgbClr val="C9971C"/>
          </a:solidFill>
          <a:ln w="12700">
            <a:solidFill>
              <a:srgbClr val="C9971C"/>
            </a:solidFill>
            <a:prstDash val="solid"/>
          </a:ln>
        </p:spPr>
        <p:txBody>
          <a:bodyPr/>
          <a:lstStyle/>
          <a:p>
            <a:endParaRPr lang="en-US"/>
          </a:p>
        </p:txBody>
      </p:sp>
      <p:sp>
        <p:nvSpPr>
          <p:cNvPr id="9" name="Text 6"/>
          <p:cNvSpPr txBox="1"/>
          <p:nvPr/>
        </p:nvSpPr>
        <p:spPr>
          <a:xfrm>
            <a:off x="758952" y="1645920"/>
            <a:ext cx="320040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High bias  |  underfit</a:t>
            </a:r>
            <a:endParaRPr lang="en-US" sz="1500" dirty="0"/>
          </a:p>
        </p:txBody>
      </p:sp>
      <p:pic>
        <p:nvPicPr>
          <p:cNvPr id="10" name="Image 0" descr="figs/fit_under.png"/>
          <p:cNvPicPr>
            <a:picLocks noChangeAspect="1"/>
          </p:cNvPicPr>
          <p:nvPr/>
        </p:nvPicPr>
        <p:blipFill>
          <a:blip r:embed="rId3"/>
          <a:stretch>
            <a:fillRect/>
          </a:stretch>
        </p:blipFill>
        <p:spPr>
          <a:xfrm>
            <a:off x="937243" y="2148840"/>
            <a:ext cx="2843817" cy="2606040"/>
          </a:xfrm>
          <a:prstGeom prst="rect">
            <a:avLst/>
          </a:prstGeom>
        </p:spPr>
      </p:pic>
      <p:sp>
        <p:nvSpPr>
          <p:cNvPr id="11" name="Text 7"/>
          <p:cNvSpPr txBox="1"/>
          <p:nvPr/>
        </p:nvSpPr>
        <p:spPr>
          <a:xfrm>
            <a:off x="758952" y="4846320"/>
            <a:ext cx="3200400" cy="68580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Train error: high</a:t>
            </a:r>
            <a:endParaRPr lang="en-US" sz="1500" dirty="0"/>
          </a:p>
          <a:p>
            <a:pPr marL="0" indent="0" algn="ctr">
              <a:buNone/>
            </a:pPr>
            <a:r>
              <a:rPr lang="en-US" sz="1500" b="1" dirty="0">
                <a:solidFill>
                  <a:srgbClr val="0B2D55"/>
                </a:solidFill>
                <a:latin typeface="Aptos" pitchFamily="34" charset="0"/>
                <a:ea typeface="Aptos" pitchFamily="34" charset="-122"/>
                <a:cs typeface="Aptos" pitchFamily="34" charset="-120"/>
              </a:rPr>
              <a:t>Test error: high</a:t>
            </a:r>
            <a:endParaRPr lang="en-US" sz="1500" dirty="0"/>
          </a:p>
        </p:txBody>
      </p:sp>
      <p:sp>
        <p:nvSpPr>
          <p:cNvPr id="12" name="Shape 8"/>
          <p:cNvSpPr/>
          <p:nvPr/>
        </p:nvSpPr>
        <p:spPr>
          <a:xfrm>
            <a:off x="4361688" y="1508760"/>
            <a:ext cx="3566160" cy="416052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13" name="Shape 9"/>
          <p:cNvSpPr/>
          <p:nvPr/>
        </p:nvSpPr>
        <p:spPr>
          <a:xfrm>
            <a:off x="4544568" y="1645920"/>
            <a:ext cx="3200400" cy="384048"/>
          </a:xfrm>
          <a:prstGeom prst="roundRect">
            <a:avLst>
              <a:gd name="adj" fmla="val 19048"/>
            </a:avLst>
          </a:prstGeom>
          <a:solidFill>
            <a:srgbClr val="39A875"/>
          </a:solidFill>
          <a:ln w="12700">
            <a:solidFill>
              <a:srgbClr val="39A875"/>
            </a:solidFill>
            <a:prstDash val="solid"/>
          </a:ln>
        </p:spPr>
        <p:txBody>
          <a:bodyPr/>
          <a:lstStyle/>
          <a:p>
            <a:endParaRPr lang="en-US"/>
          </a:p>
        </p:txBody>
      </p:sp>
      <p:sp>
        <p:nvSpPr>
          <p:cNvPr id="14" name="Text 10"/>
          <p:cNvSpPr txBox="1"/>
          <p:nvPr/>
        </p:nvSpPr>
        <p:spPr>
          <a:xfrm>
            <a:off x="4544568" y="1645920"/>
            <a:ext cx="320040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Balanced</a:t>
            </a:r>
            <a:endParaRPr lang="en-US" sz="1500" dirty="0"/>
          </a:p>
        </p:txBody>
      </p:sp>
      <p:pic>
        <p:nvPicPr>
          <p:cNvPr id="15" name="Image 1" descr="figs/fit_balanced.png"/>
          <p:cNvPicPr>
            <a:picLocks noChangeAspect="1"/>
          </p:cNvPicPr>
          <p:nvPr/>
        </p:nvPicPr>
        <p:blipFill>
          <a:blip r:embed="rId4"/>
          <a:stretch>
            <a:fillRect/>
          </a:stretch>
        </p:blipFill>
        <p:spPr>
          <a:xfrm>
            <a:off x="4722859" y="2148840"/>
            <a:ext cx="2843817" cy="2606040"/>
          </a:xfrm>
          <a:prstGeom prst="rect">
            <a:avLst/>
          </a:prstGeom>
        </p:spPr>
      </p:pic>
      <p:sp>
        <p:nvSpPr>
          <p:cNvPr id="16" name="Text 11"/>
          <p:cNvSpPr txBox="1"/>
          <p:nvPr/>
        </p:nvSpPr>
        <p:spPr>
          <a:xfrm>
            <a:off x="4544568" y="4846320"/>
            <a:ext cx="3200400" cy="68580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Train error: low</a:t>
            </a:r>
            <a:endParaRPr lang="en-US" sz="1500" dirty="0"/>
          </a:p>
          <a:p>
            <a:pPr marL="0" indent="0" algn="ctr">
              <a:buNone/>
            </a:pPr>
            <a:r>
              <a:rPr lang="en-US" sz="1500" b="1" dirty="0">
                <a:solidFill>
                  <a:srgbClr val="0B2D55"/>
                </a:solidFill>
                <a:latin typeface="Aptos" pitchFamily="34" charset="0"/>
                <a:ea typeface="Aptos" pitchFamily="34" charset="-122"/>
                <a:cs typeface="Aptos" pitchFamily="34" charset="-120"/>
              </a:rPr>
              <a:t>Test error: low</a:t>
            </a:r>
            <a:endParaRPr lang="en-US" sz="1500" dirty="0"/>
          </a:p>
        </p:txBody>
      </p:sp>
      <p:sp>
        <p:nvSpPr>
          <p:cNvPr id="17" name="Shape 12"/>
          <p:cNvSpPr/>
          <p:nvPr/>
        </p:nvSpPr>
        <p:spPr>
          <a:xfrm>
            <a:off x="8147304" y="1508760"/>
            <a:ext cx="3566160" cy="416052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18" name="Shape 13"/>
          <p:cNvSpPr/>
          <p:nvPr/>
        </p:nvSpPr>
        <p:spPr>
          <a:xfrm>
            <a:off x="8330184" y="1645920"/>
            <a:ext cx="3200400" cy="384048"/>
          </a:xfrm>
          <a:prstGeom prst="roundRect">
            <a:avLst>
              <a:gd name="adj" fmla="val 19048"/>
            </a:avLst>
          </a:prstGeom>
          <a:solidFill>
            <a:srgbClr val="D94E4E"/>
          </a:solidFill>
          <a:ln w="12700">
            <a:solidFill>
              <a:srgbClr val="D94E4E"/>
            </a:solidFill>
            <a:prstDash val="solid"/>
          </a:ln>
        </p:spPr>
        <p:txBody>
          <a:bodyPr/>
          <a:lstStyle/>
          <a:p>
            <a:endParaRPr lang="en-US"/>
          </a:p>
        </p:txBody>
      </p:sp>
      <p:sp>
        <p:nvSpPr>
          <p:cNvPr id="19" name="Text 14"/>
          <p:cNvSpPr txBox="1"/>
          <p:nvPr/>
        </p:nvSpPr>
        <p:spPr>
          <a:xfrm>
            <a:off x="8330184" y="1645920"/>
            <a:ext cx="320040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High variance  |  overfit</a:t>
            </a:r>
            <a:endParaRPr lang="en-US" sz="1500" dirty="0"/>
          </a:p>
        </p:txBody>
      </p:sp>
      <p:pic>
        <p:nvPicPr>
          <p:cNvPr id="20" name="Image 2" descr="figs/fit_over.png"/>
          <p:cNvPicPr>
            <a:picLocks noChangeAspect="1"/>
          </p:cNvPicPr>
          <p:nvPr/>
        </p:nvPicPr>
        <p:blipFill>
          <a:blip r:embed="rId5"/>
          <a:stretch>
            <a:fillRect/>
          </a:stretch>
        </p:blipFill>
        <p:spPr>
          <a:xfrm>
            <a:off x="8508475" y="2148840"/>
            <a:ext cx="2843817" cy="2606040"/>
          </a:xfrm>
          <a:prstGeom prst="rect">
            <a:avLst/>
          </a:prstGeom>
        </p:spPr>
      </p:pic>
      <p:sp>
        <p:nvSpPr>
          <p:cNvPr id="21" name="Text 15"/>
          <p:cNvSpPr txBox="1"/>
          <p:nvPr/>
        </p:nvSpPr>
        <p:spPr>
          <a:xfrm>
            <a:off x="8330184" y="4846320"/>
            <a:ext cx="3200400" cy="68580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Train error: near 0</a:t>
            </a:r>
            <a:endParaRPr lang="en-US" sz="1500" dirty="0"/>
          </a:p>
          <a:p>
            <a:pPr marL="0" indent="0" algn="ctr">
              <a:buNone/>
            </a:pPr>
            <a:r>
              <a:rPr lang="en-US" sz="1500" b="1" dirty="0">
                <a:solidFill>
                  <a:srgbClr val="0B2D55"/>
                </a:solidFill>
                <a:latin typeface="Aptos" pitchFamily="34" charset="0"/>
                <a:ea typeface="Aptos" pitchFamily="34" charset="-122"/>
                <a:cs typeface="Aptos" pitchFamily="34" charset="-120"/>
              </a:rPr>
              <a:t>Test error: high</a:t>
            </a:r>
            <a:endParaRPr lang="en-US" sz="1500" dirty="0"/>
          </a:p>
        </p:txBody>
      </p:sp>
      <p:sp>
        <p:nvSpPr>
          <p:cNvPr id="22" name="Text 16"/>
          <p:cNvSpPr txBox="1"/>
          <p:nvPr/>
        </p:nvSpPr>
        <p:spPr>
          <a:xfrm>
            <a:off x="822960" y="5833872"/>
            <a:ext cx="10515600" cy="502920"/>
          </a:xfrm>
          <a:prstGeom prst="rect">
            <a:avLst/>
          </a:prstGeom>
          <a:noFill/>
          <a:ln/>
        </p:spPr>
        <p:txBody>
          <a:bodyPr wrap="square" lIns="0" tIns="0" rIns="0" bIns="0" rtlCol="0" anchor="ctr"/>
          <a:lstStyle/>
          <a:p>
            <a:pPr marL="0" indent="0" algn="ctr">
              <a:buNone/>
            </a:pPr>
            <a:r>
              <a:rPr lang="en-US" sz="2100" b="1" dirty="0">
                <a:solidFill>
                  <a:srgbClr val="0B2D55"/>
                </a:solidFill>
                <a:latin typeface="Aptos" pitchFamily="34" charset="0"/>
                <a:ea typeface="Aptos" pitchFamily="34" charset="-122"/>
                <a:cs typeface="Aptos" pitchFamily="34" charset="-120"/>
              </a:rPr>
              <a:t>Which boundary would change most if we collected a new sample?</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Where prediction error comes from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Expected error splits into three parts, and only two are yours to control.</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9</a:t>
            </a:r>
            <a:endParaRPr lang="en-US" sz="850" dirty="0"/>
          </a:p>
        </p:txBody>
      </p:sp>
      <p:sp>
        <p:nvSpPr>
          <p:cNvPr id="7" name="Text 4"/>
          <p:cNvSpPr txBox="1"/>
          <p:nvPr/>
        </p:nvSpPr>
        <p:spPr>
          <a:xfrm>
            <a:off x="576072" y="1508760"/>
            <a:ext cx="10972800" cy="640080"/>
          </a:xfrm>
          <a:prstGeom prst="rect">
            <a:avLst/>
          </a:prstGeom>
          <a:noFill/>
          <a:ln/>
        </p:spPr>
        <p:txBody>
          <a:bodyPr wrap="square" lIns="0" tIns="0" rIns="0" bIns="0" rtlCol="0" anchor="ctr"/>
          <a:lstStyle/>
          <a:p>
            <a:pPr marL="0" indent="0" algn="ctr">
              <a:buNone/>
            </a:pPr>
            <a:r>
              <a:rPr lang="en-US" sz="3000" b="1" dirty="0">
                <a:solidFill>
                  <a:srgbClr val="0B2D55"/>
                </a:solidFill>
                <a:latin typeface="Aptos" pitchFamily="34" charset="0"/>
                <a:ea typeface="Aptos" pitchFamily="34" charset="-122"/>
                <a:cs typeface="Aptos" pitchFamily="34" charset="-120"/>
              </a:rPr>
              <a:t>Expected error  =  </a:t>
            </a:r>
            <a:r>
              <a:rPr lang="en-US" sz="3000" b="1" dirty="0">
                <a:solidFill>
                  <a:srgbClr val="1D5FA7"/>
                </a:solidFill>
                <a:latin typeface="Aptos" pitchFamily="34" charset="0"/>
                <a:ea typeface="Aptos" pitchFamily="34" charset="-122"/>
                <a:cs typeface="Aptos" pitchFamily="34" charset="-120"/>
              </a:rPr>
              <a:t>Bias²</a:t>
            </a:r>
            <a:r>
              <a:rPr lang="en-US" sz="3000" b="1" dirty="0">
                <a:solidFill>
                  <a:srgbClr val="0B2D55"/>
                </a:solidFill>
                <a:latin typeface="Aptos" pitchFamily="34" charset="0"/>
                <a:ea typeface="Aptos" pitchFamily="34" charset="-122"/>
                <a:cs typeface="Aptos" pitchFamily="34" charset="-120"/>
              </a:rPr>
              <a:t>  +  </a:t>
            </a:r>
            <a:r>
              <a:rPr lang="en-US" sz="3000" b="1" dirty="0">
                <a:solidFill>
                  <a:srgbClr val="D9731A"/>
                </a:solidFill>
                <a:latin typeface="Aptos" pitchFamily="34" charset="0"/>
                <a:ea typeface="Aptos" pitchFamily="34" charset="-122"/>
                <a:cs typeface="Aptos" pitchFamily="34" charset="-120"/>
              </a:rPr>
              <a:t>Variance</a:t>
            </a:r>
            <a:r>
              <a:rPr lang="en-US" sz="3000" b="1" dirty="0">
                <a:solidFill>
                  <a:srgbClr val="0B2D55"/>
                </a:solidFill>
                <a:latin typeface="Aptos" pitchFamily="34" charset="0"/>
                <a:ea typeface="Aptos" pitchFamily="34" charset="-122"/>
                <a:cs typeface="Aptos" pitchFamily="34" charset="-120"/>
              </a:rPr>
              <a:t>  +  </a:t>
            </a:r>
            <a:r>
              <a:rPr lang="en-US" sz="3000" b="1" dirty="0">
                <a:solidFill>
                  <a:srgbClr val="6D7C8F"/>
                </a:solidFill>
                <a:latin typeface="Aptos" pitchFamily="34" charset="0"/>
                <a:ea typeface="Aptos" pitchFamily="34" charset="-122"/>
                <a:cs typeface="Aptos" pitchFamily="34" charset="-120"/>
              </a:rPr>
              <a:t>σ²</a:t>
            </a:r>
            <a:endParaRPr lang="en-US" sz="3000" dirty="0"/>
          </a:p>
        </p:txBody>
      </p:sp>
      <p:sp>
        <p:nvSpPr>
          <p:cNvPr id="8" name="Shape 5"/>
          <p:cNvSpPr/>
          <p:nvPr/>
        </p:nvSpPr>
        <p:spPr>
          <a:xfrm>
            <a:off x="576072" y="2377440"/>
            <a:ext cx="5943600" cy="960120"/>
          </a:xfrm>
          <a:prstGeom prst="roundRect">
            <a:avLst>
              <a:gd name="adj" fmla="val 7619"/>
            </a:avLst>
          </a:prstGeom>
          <a:solidFill>
            <a:srgbClr val="EAF2F8"/>
          </a:solidFill>
          <a:ln w="12700">
            <a:solidFill>
              <a:srgbClr val="1F5D9B"/>
            </a:solidFill>
            <a:prstDash val="solid"/>
          </a:ln>
        </p:spPr>
        <p:txBody>
          <a:bodyPr/>
          <a:lstStyle/>
          <a:p>
            <a:endParaRPr lang="en-US"/>
          </a:p>
        </p:txBody>
      </p:sp>
      <p:sp>
        <p:nvSpPr>
          <p:cNvPr id="9" name="Text 6"/>
          <p:cNvSpPr txBox="1"/>
          <p:nvPr/>
        </p:nvSpPr>
        <p:spPr>
          <a:xfrm>
            <a:off x="758952" y="2377440"/>
            <a:ext cx="1737360" cy="960120"/>
          </a:xfrm>
          <a:prstGeom prst="rect">
            <a:avLst/>
          </a:prstGeom>
          <a:noFill/>
          <a:ln/>
        </p:spPr>
        <p:txBody>
          <a:bodyPr wrap="square" lIns="0" tIns="0" rIns="0" bIns="0" rtlCol="0" anchor="ctr"/>
          <a:lstStyle/>
          <a:p>
            <a:pPr marL="0" indent="0">
              <a:buNone/>
            </a:pPr>
            <a:r>
              <a:rPr lang="en-US" sz="1800" b="1" dirty="0">
                <a:solidFill>
                  <a:srgbClr val="0B2D55"/>
                </a:solidFill>
                <a:latin typeface="Aptos" pitchFamily="34" charset="0"/>
                <a:ea typeface="Aptos" pitchFamily="34" charset="-122"/>
                <a:cs typeface="Aptos" pitchFamily="34" charset="-120"/>
              </a:rPr>
              <a:t>Bias²</a:t>
            </a:r>
            <a:endParaRPr lang="en-US" sz="1800" dirty="0"/>
          </a:p>
        </p:txBody>
      </p:sp>
      <p:sp>
        <p:nvSpPr>
          <p:cNvPr id="10" name="Text 7"/>
          <p:cNvSpPr txBox="1"/>
          <p:nvPr/>
        </p:nvSpPr>
        <p:spPr>
          <a:xfrm>
            <a:off x="2514600" y="2377440"/>
            <a:ext cx="3886200" cy="960120"/>
          </a:xfrm>
          <a:prstGeom prst="rect">
            <a:avLst/>
          </a:prstGeom>
          <a:noFill/>
          <a:ln/>
        </p:spPr>
        <p:txBody>
          <a:bodyPr wrap="square" lIns="0" tIns="0" rIns="0" bIns="0" rtlCol="0" anchor="ctr"/>
          <a:lstStyle/>
          <a:p>
            <a:pPr marL="0" indent="0">
              <a:buNone/>
            </a:pPr>
            <a:r>
              <a:rPr lang="en-US" sz="1450" dirty="0">
                <a:solidFill>
                  <a:srgbClr val="132033"/>
                </a:solidFill>
                <a:latin typeface="Aptos" pitchFamily="34" charset="0"/>
                <a:ea typeface="Aptos" pitchFamily="34" charset="-122"/>
                <a:cs typeface="Aptos" pitchFamily="34" charset="-120"/>
              </a:rPr>
              <a:t>Error from wrong assumptions: a straight line trying to fit a curve. Leads to underfitting.</a:t>
            </a:r>
            <a:endParaRPr lang="en-US" sz="1450" dirty="0"/>
          </a:p>
        </p:txBody>
      </p:sp>
      <p:sp>
        <p:nvSpPr>
          <p:cNvPr id="11" name="Shape 8"/>
          <p:cNvSpPr/>
          <p:nvPr/>
        </p:nvSpPr>
        <p:spPr>
          <a:xfrm>
            <a:off x="576072" y="3474720"/>
            <a:ext cx="5943600" cy="960120"/>
          </a:xfrm>
          <a:prstGeom prst="roundRect">
            <a:avLst>
              <a:gd name="adj" fmla="val 7619"/>
            </a:avLst>
          </a:prstGeom>
          <a:solidFill>
            <a:srgbClr val="FCE9D8"/>
          </a:solidFill>
          <a:ln w="12700">
            <a:solidFill>
              <a:srgbClr val="D9731A"/>
            </a:solidFill>
            <a:prstDash val="solid"/>
          </a:ln>
        </p:spPr>
        <p:txBody>
          <a:bodyPr/>
          <a:lstStyle/>
          <a:p>
            <a:endParaRPr lang="en-US"/>
          </a:p>
        </p:txBody>
      </p:sp>
      <p:sp>
        <p:nvSpPr>
          <p:cNvPr id="12" name="Text 9"/>
          <p:cNvSpPr txBox="1"/>
          <p:nvPr/>
        </p:nvSpPr>
        <p:spPr>
          <a:xfrm>
            <a:off x="758952" y="3474720"/>
            <a:ext cx="1737360" cy="960120"/>
          </a:xfrm>
          <a:prstGeom prst="rect">
            <a:avLst/>
          </a:prstGeom>
          <a:noFill/>
          <a:ln/>
        </p:spPr>
        <p:txBody>
          <a:bodyPr wrap="square" lIns="0" tIns="0" rIns="0" bIns="0" rtlCol="0" anchor="ctr"/>
          <a:lstStyle/>
          <a:p>
            <a:pPr marL="0" indent="0">
              <a:buNone/>
            </a:pPr>
            <a:r>
              <a:rPr lang="en-US" sz="1800" b="1" dirty="0">
                <a:solidFill>
                  <a:srgbClr val="0B2D55"/>
                </a:solidFill>
                <a:latin typeface="Aptos" pitchFamily="34" charset="0"/>
                <a:ea typeface="Aptos" pitchFamily="34" charset="-122"/>
                <a:cs typeface="Aptos" pitchFamily="34" charset="-120"/>
              </a:rPr>
              <a:t>Variance</a:t>
            </a:r>
            <a:endParaRPr lang="en-US" sz="1800" dirty="0"/>
          </a:p>
        </p:txBody>
      </p:sp>
      <p:sp>
        <p:nvSpPr>
          <p:cNvPr id="13" name="Text 10"/>
          <p:cNvSpPr txBox="1"/>
          <p:nvPr/>
        </p:nvSpPr>
        <p:spPr>
          <a:xfrm>
            <a:off x="2514600" y="3474720"/>
            <a:ext cx="3886200" cy="960120"/>
          </a:xfrm>
          <a:prstGeom prst="rect">
            <a:avLst/>
          </a:prstGeom>
          <a:noFill/>
          <a:ln/>
        </p:spPr>
        <p:txBody>
          <a:bodyPr wrap="square" lIns="0" tIns="0" rIns="0" bIns="0" rtlCol="0" anchor="ctr"/>
          <a:lstStyle/>
          <a:p>
            <a:pPr marL="0" indent="0">
              <a:buNone/>
            </a:pPr>
            <a:r>
              <a:rPr lang="en-US" sz="1450" dirty="0">
                <a:solidFill>
                  <a:srgbClr val="132033"/>
                </a:solidFill>
                <a:latin typeface="Aptos" pitchFamily="34" charset="0"/>
                <a:ea typeface="Aptos" pitchFamily="34" charset="-122"/>
                <a:cs typeface="Aptos" pitchFamily="34" charset="-120"/>
              </a:rPr>
              <a:t>Error from sensitivity to the particular training sample. Leads to overfitting.</a:t>
            </a:r>
            <a:endParaRPr lang="en-US" sz="1450" dirty="0"/>
          </a:p>
        </p:txBody>
      </p:sp>
      <p:sp>
        <p:nvSpPr>
          <p:cNvPr id="14" name="Shape 11"/>
          <p:cNvSpPr/>
          <p:nvPr/>
        </p:nvSpPr>
        <p:spPr>
          <a:xfrm>
            <a:off x="576072" y="4572000"/>
            <a:ext cx="5943600" cy="960120"/>
          </a:xfrm>
          <a:prstGeom prst="roundRect">
            <a:avLst>
              <a:gd name="adj" fmla="val 7619"/>
            </a:avLst>
          </a:prstGeom>
          <a:solidFill>
            <a:srgbClr val="EEF1F5"/>
          </a:solidFill>
          <a:ln w="12700">
            <a:solidFill>
              <a:srgbClr val="6D7C8F"/>
            </a:solidFill>
            <a:prstDash val="solid"/>
          </a:ln>
        </p:spPr>
        <p:txBody>
          <a:bodyPr/>
          <a:lstStyle/>
          <a:p>
            <a:endParaRPr lang="en-US"/>
          </a:p>
        </p:txBody>
      </p:sp>
      <p:sp>
        <p:nvSpPr>
          <p:cNvPr id="15" name="Text 12"/>
          <p:cNvSpPr txBox="1"/>
          <p:nvPr/>
        </p:nvSpPr>
        <p:spPr>
          <a:xfrm>
            <a:off x="758952" y="4572000"/>
            <a:ext cx="1737360" cy="960120"/>
          </a:xfrm>
          <a:prstGeom prst="rect">
            <a:avLst/>
          </a:prstGeom>
          <a:noFill/>
          <a:ln/>
        </p:spPr>
        <p:txBody>
          <a:bodyPr wrap="square" lIns="0" tIns="0" rIns="0" bIns="0" rtlCol="0" anchor="ctr"/>
          <a:lstStyle/>
          <a:p>
            <a:pPr marL="0" indent="0">
              <a:buNone/>
            </a:pPr>
            <a:r>
              <a:rPr lang="en-US" sz="1800" b="1" dirty="0">
                <a:solidFill>
                  <a:srgbClr val="0B2D55"/>
                </a:solidFill>
                <a:latin typeface="Aptos" pitchFamily="34" charset="0"/>
                <a:ea typeface="Aptos" pitchFamily="34" charset="-122"/>
                <a:cs typeface="Aptos" pitchFamily="34" charset="-120"/>
              </a:rPr>
              <a:t>σ²  (irreducible)</a:t>
            </a:r>
            <a:endParaRPr lang="en-US" sz="1800" dirty="0"/>
          </a:p>
        </p:txBody>
      </p:sp>
      <p:sp>
        <p:nvSpPr>
          <p:cNvPr id="16" name="Text 13"/>
          <p:cNvSpPr txBox="1"/>
          <p:nvPr/>
        </p:nvSpPr>
        <p:spPr>
          <a:xfrm>
            <a:off x="2514600" y="4572000"/>
            <a:ext cx="3886200" cy="960120"/>
          </a:xfrm>
          <a:prstGeom prst="rect">
            <a:avLst/>
          </a:prstGeom>
          <a:noFill/>
          <a:ln/>
        </p:spPr>
        <p:txBody>
          <a:bodyPr wrap="square" lIns="0" tIns="0" rIns="0" bIns="0" rtlCol="0" anchor="ctr"/>
          <a:lstStyle/>
          <a:p>
            <a:pPr marL="0" indent="0">
              <a:buNone/>
            </a:pPr>
            <a:r>
              <a:rPr lang="en-US" sz="1450" dirty="0">
                <a:solidFill>
                  <a:srgbClr val="132033"/>
                </a:solidFill>
                <a:latin typeface="Aptos" pitchFamily="34" charset="0"/>
                <a:ea typeface="Aptos" pitchFamily="34" charset="-122"/>
                <a:cs typeface="Aptos" pitchFamily="34" charset="-120"/>
              </a:rPr>
              <a:t>Noise in the data itself: an honest customer who really is traveling looks like fraud.</a:t>
            </a:r>
            <a:endParaRPr lang="en-US" sz="1450" dirty="0"/>
          </a:p>
        </p:txBody>
      </p:sp>
      <p:sp>
        <p:nvSpPr>
          <p:cNvPr id="17" name="Shape 14"/>
          <p:cNvSpPr/>
          <p:nvPr/>
        </p:nvSpPr>
        <p:spPr>
          <a:xfrm>
            <a:off x="6858000" y="2240280"/>
            <a:ext cx="4754880" cy="3611880"/>
          </a:xfrm>
          <a:prstGeom prst="roundRect">
            <a:avLst>
              <a:gd name="adj" fmla="val 2025"/>
            </a:avLst>
          </a:prstGeom>
          <a:solidFill>
            <a:srgbClr val="FFFFFF"/>
          </a:solidFill>
          <a:ln w="12700">
            <a:solidFill>
              <a:srgbClr val="B8C7D8"/>
            </a:solidFill>
            <a:prstDash val="solid"/>
          </a:ln>
        </p:spPr>
        <p:txBody>
          <a:bodyPr/>
          <a:lstStyle/>
          <a:p>
            <a:endParaRPr lang="en-US"/>
          </a:p>
        </p:txBody>
      </p:sp>
      <p:pic>
        <p:nvPicPr>
          <p:cNvPr id="18" name="Image 0" descr="figs/darts.png"/>
          <p:cNvPicPr>
            <a:picLocks noChangeAspect="1"/>
          </p:cNvPicPr>
          <p:nvPr/>
        </p:nvPicPr>
        <p:blipFill>
          <a:blip r:embed="rId3"/>
          <a:stretch>
            <a:fillRect/>
          </a:stretch>
        </p:blipFill>
        <p:spPr>
          <a:xfrm>
            <a:off x="7664624" y="2331720"/>
            <a:ext cx="3141632" cy="3429000"/>
          </a:xfrm>
          <a:prstGeom prst="rect">
            <a:avLst/>
          </a:prstGeom>
        </p:spPr>
      </p:pic>
      <p:sp>
        <p:nvSpPr>
          <p:cNvPr id="19" name="Text 15"/>
          <p:cNvSpPr txBox="1"/>
          <p:nvPr/>
        </p:nvSpPr>
        <p:spPr>
          <a:xfrm>
            <a:off x="822960" y="589788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Only bias and variance are yours to control.</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sweep model complexity</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 Interpret → Predict: total error = bias² + variance + σ².</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10</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6072" y="1645920"/>
          <a:ext cx="5394960" cy="1828800"/>
        </p:xfrm>
        <a:graphic>
          <a:graphicData uri="http://schemas.openxmlformats.org/drawingml/2006/table">
            <a:tbl>
              <a:tblPr/>
              <a:tblGrid>
                <a:gridCol w="1691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45720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Bias²</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Variance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σ²</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Total</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Simple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9</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6D7C8F"/>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B43A3A"/>
                          </a:solidFill>
                          <a:latin typeface="Aptos" pitchFamily="34" charset="0"/>
                          <a:ea typeface="Aptos" pitchFamily="34" charset="-122"/>
                          <a:cs typeface="Aptos" pitchFamily="34" charset="-120"/>
                        </a:rPr>
                        <a:t>13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Moderate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2</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6D7C8F"/>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2E7D32"/>
                          </a:solidFill>
                          <a:latin typeface="Aptos" pitchFamily="34" charset="0"/>
                          <a:ea typeface="Aptos" pitchFamily="34" charset="-122"/>
                          <a:cs typeface="Aptos" pitchFamily="34" charset="-120"/>
                        </a:rPr>
                        <a:t>8</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DFF0D8"/>
                    </a:solidFill>
                  </a:tcPr>
                </a:tc>
                <a:extLst>
                  <a:ext uri="{0D108BD9-81ED-4DB2-BD59-A6C34878D82A}">
                    <a16:rowId xmlns:a16="http://schemas.microsoft.com/office/drawing/2014/main" val="10002"/>
                  </a:ext>
                </a:extLst>
              </a:tr>
              <a:tr h="45720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Very flexible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0.5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9.5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6D7C8F"/>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B43A3A"/>
                          </a:solidFill>
                          <a:latin typeface="Aptos" pitchFamily="34" charset="0"/>
                          <a:ea typeface="Aptos" pitchFamily="34" charset="-122"/>
                          <a:cs typeface="Aptos" pitchFamily="34" charset="-120"/>
                        </a:rPr>
                        <a:t>13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txBox="1"/>
          <p:nvPr/>
        </p:nvSpPr>
        <p:spPr>
          <a:xfrm>
            <a:off x="576072" y="3611880"/>
            <a:ext cx="5394960" cy="365760"/>
          </a:xfrm>
          <a:prstGeom prst="rect">
            <a:avLst/>
          </a:prstGeom>
          <a:noFill/>
          <a:ln/>
        </p:spPr>
        <p:txBody>
          <a:bodyPr wrap="square" lIns="0" tIns="0" rIns="0" bIns="0" rtlCol="0" anchor="ctr"/>
          <a:lstStyle/>
          <a:p>
            <a:pPr marL="0" indent="0" algn="ctr">
              <a:buNone/>
            </a:pPr>
            <a:r>
              <a:rPr lang="en-US" sz="1400" i="1" dirty="0">
                <a:solidFill>
                  <a:srgbClr val="6D7C8F"/>
                </a:solidFill>
                <a:latin typeface="Aptos" pitchFamily="34" charset="0"/>
                <a:ea typeface="Aptos" pitchFamily="34" charset="-122"/>
                <a:cs typeface="Aptos" pitchFamily="34" charset="-120"/>
              </a:rPr>
              <a:t>σ² = 3 for every model: no model can remove it.</a:t>
            </a:r>
            <a:endParaRPr lang="en-US" sz="1400" dirty="0"/>
          </a:p>
        </p:txBody>
      </p:sp>
      <p:graphicFrame>
        <p:nvGraphicFramePr>
          <p:cNvPr id="9" name="Chart 0"/>
          <p:cNvGraphicFramePr/>
          <p:nvPr/>
        </p:nvGraphicFramePr>
        <p:xfrm>
          <a:off x="6263640" y="1463040"/>
          <a:ext cx="534924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5"/>
          <p:cNvSpPr/>
          <p:nvPr/>
        </p:nvSpPr>
        <p:spPr>
          <a:xfrm>
            <a:off x="576072" y="4709160"/>
            <a:ext cx="3566160" cy="1371600"/>
          </a:xfrm>
          <a:prstGeom prst="roundRect">
            <a:avLst>
              <a:gd name="adj" fmla="val 5333"/>
            </a:avLst>
          </a:prstGeom>
          <a:solidFill>
            <a:srgbClr val="EAF2F8"/>
          </a:solidFill>
          <a:ln w="12700">
            <a:solidFill>
              <a:srgbClr val="1F5D9B"/>
            </a:solidFill>
            <a:prstDash val="solid"/>
          </a:ln>
        </p:spPr>
        <p:txBody>
          <a:bodyPr/>
          <a:lstStyle/>
          <a:p>
            <a:endParaRPr lang="en-US"/>
          </a:p>
        </p:txBody>
      </p:sp>
      <p:sp>
        <p:nvSpPr>
          <p:cNvPr id="6" name="Text 6"/>
          <p:cNvSpPr txBox="1"/>
          <p:nvPr/>
        </p:nvSpPr>
        <p:spPr>
          <a:xfrm>
            <a:off x="758952" y="481888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12" name="Text 7"/>
          <p:cNvSpPr txBox="1"/>
          <p:nvPr/>
        </p:nvSpPr>
        <p:spPr>
          <a:xfrm>
            <a:off x="758952" y="5148072"/>
            <a:ext cx="3200400" cy="84124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Add the three terms for each model: 13, 8, and 13.</a:t>
            </a:r>
            <a:endParaRPr lang="en-US" sz="1500" dirty="0"/>
          </a:p>
        </p:txBody>
      </p:sp>
      <p:sp>
        <p:nvSpPr>
          <p:cNvPr id="13" name="Shape 8"/>
          <p:cNvSpPr/>
          <p:nvPr/>
        </p:nvSpPr>
        <p:spPr>
          <a:xfrm>
            <a:off x="4315968" y="4709160"/>
            <a:ext cx="3566160" cy="1371600"/>
          </a:xfrm>
          <a:prstGeom prst="roundRect">
            <a:avLst>
              <a:gd name="adj" fmla="val 5333"/>
            </a:avLst>
          </a:prstGeom>
          <a:solidFill>
            <a:srgbClr val="DFF0D8"/>
          </a:solidFill>
          <a:ln w="12700">
            <a:solidFill>
              <a:srgbClr val="2E7D32"/>
            </a:solidFill>
            <a:prstDash val="solid"/>
          </a:ln>
        </p:spPr>
        <p:txBody>
          <a:bodyPr/>
          <a:lstStyle/>
          <a:p>
            <a:endParaRPr lang="en-US"/>
          </a:p>
        </p:txBody>
      </p:sp>
      <p:sp>
        <p:nvSpPr>
          <p:cNvPr id="14" name="Text 9"/>
          <p:cNvSpPr txBox="1"/>
          <p:nvPr/>
        </p:nvSpPr>
        <p:spPr>
          <a:xfrm>
            <a:off x="4498848" y="481888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15" name="Text 10"/>
          <p:cNvSpPr txBox="1"/>
          <p:nvPr/>
        </p:nvSpPr>
        <p:spPr>
          <a:xfrm>
            <a:off x="4498848" y="5148072"/>
            <a:ext cx="3200400" cy="84124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The extremes tie for opposite reasons. Moderate flexibility is the sweet spot.</a:t>
            </a:r>
            <a:endParaRPr lang="en-US" sz="1500" dirty="0"/>
          </a:p>
        </p:txBody>
      </p:sp>
      <p:sp>
        <p:nvSpPr>
          <p:cNvPr id="16" name="Shape 11"/>
          <p:cNvSpPr/>
          <p:nvPr/>
        </p:nvSpPr>
        <p:spPr>
          <a:xfrm>
            <a:off x="8055864" y="4709160"/>
            <a:ext cx="3566160" cy="1371600"/>
          </a:xfrm>
          <a:prstGeom prst="roundRect">
            <a:avLst>
              <a:gd name="adj" fmla="val 5333"/>
            </a:avLst>
          </a:prstGeom>
          <a:solidFill>
            <a:srgbClr val="FFF4CE"/>
          </a:solidFill>
          <a:ln w="12700">
            <a:solidFill>
              <a:srgbClr val="F2C14E"/>
            </a:solidFill>
            <a:prstDash val="solid"/>
          </a:ln>
        </p:spPr>
        <p:txBody>
          <a:bodyPr/>
          <a:lstStyle/>
          <a:p>
            <a:endParaRPr lang="en-US"/>
          </a:p>
        </p:txBody>
      </p:sp>
      <p:sp>
        <p:nvSpPr>
          <p:cNvPr id="17" name="Text 12"/>
          <p:cNvSpPr txBox="1"/>
          <p:nvPr/>
        </p:nvSpPr>
        <p:spPr>
          <a:xfrm>
            <a:off x="8238744" y="481888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18" name="Text 13"/>
          <p:cNvSpPr txBox="1"/>
          <p:nvPr/>
        </p:nvSpPr>
        <p:spPr>
          <a:xfrm>
            <a:off x="8238744" y="5148072"/>
            <a:ext cx="3200400" cy="84124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Even more flexibility? Variance keeps growing, so total error rises.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Diagnose from train vs. test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The gap between training and testing performance tells the story.</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11</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334005671"/>
              </p:ext>
            </p:extLst>
          </p:nvPr>
        </p:nvGraphicFramePr>
        <p:xfrm>
          <a:off x="822960" y="1600200"/>
          <a:ext cx="10515600" cy="1901952"/>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Train accuracy</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Test accuracy</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Gap</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Diagnosis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99%</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71%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28 pts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8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88%</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86%</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2 pts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8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70%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69%</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1 pt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8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p:cNvSpPr/>
          <p:nvPr/>
        </p:nvSpPr>
        <p:spPr>
          <a:xfrm>
            <a:off x="822960" y="3749040"/>
            <a:ext cx="10515600" cy="960120"/>
          </a:xfrm>
          <a:prstGeom prst="roundRect">
            <a:avLst>
              <a:gd name="adj" fmla="val 7619"/>
            </a:avLst>
          </a:prstGeom>
          <a:solidFill>
            <a:srgbClr val="EAF2F8"/>
          </a:solidFill>
          <a:ln w="12700">
            <a:solidFill>
              <a:srgbClr val="1F5D9B"/>
            </a:solidFill>
            <a:prstDash val="solid"/>
          </a:ln>
        </p:spPr>
        <p:txBody>
          <a:bodyPr/>
          <a:lstStyle/>
          <a:p>
            <a:endParaRPr lang="en-US"/>
          </a:p>
        </p:txBody>
      </p:sp>
      <p:sp>
        <p:nvSpPr>
          <p:cNvPr id="9" name="Text 5"/>
          <p:cNvSpPr txBox="1"/>
          <p:nvPr/>
        </p:nvSpPr>
        <p:spPr>
          <a:xfrm>
            <a:off x="1005840" y="3749040"/>
            <a:ext cx="10149840" cy="960120"/>
          </a:xfrm>
          <a:prstGeom prst="rect">
            <a:avLst/>
          </a:prstGeom>
          <a:noFill/>
          <a:ln/>
        </p:spPr>
        <p:txBody>
          <a:bodyPr wrap="square" lIns="0" tIns="0" rIns="0" bIns="0" rtlCol="0" anchor="ctr"/>
          <a:lstStyle/>
          <a:p>
            <a:pPr marL="0" indent="0" algn="ctr">
              <a:buNone/>
            </a:pPr>
            <a:r>
              <a:rPr lang="en-US" sz="1600" b="1">
                <a:solidFill>
                  <a:srgbClr val="0B2D55"/>
                </a:solidFill>
                <a:latin typeface="Aptos" pitchFamily="34" charset="0"/>
                <a:ea typeface="Aptos" pitchFamily="34" charset="-122"/>
                <a:cs typeface="Aptos" pitchFamily="34" charset="-120"/>
              </a:rPr>
              <a:t>Rule of thumb:  </a:t>
            </a:r>
            <a:r>
              <a:rPr lang="en-US" sz="1600">
                <a:solidFill>
                  <a:srgbClr val="132033"/>
                </a:solidFill>
                <a:latin typeface="Aptos" pitchFamily="34" charset="0"/>
                <a:ea typeface="Aptos" pitchFamily="34" charset="-122"/>
                <a:cs typeface="Aptos" pitchFamily="34" charset="-120"/>
              </a:rPr>
              <a:t>big gap → high variance (overfit)   |   both low and close → high bias (underfit)   |   both high and close → generalizes</a:t>
            </a:r>
            <a:endParaRPr lang="en-US" sz="1600" dirty="0"/>
          </a:p>
        </p:txBody>
      </p:sp>
      <p:sp>
        <p:nvSpPr>
          <p:cNvPr id="10" name="Shape 6"/>
          <p:cNvSpPr/>
          <p:nvPr/>
        </p:nvSpPr>
        <p:spPr>
          <a:xfrm>
            <a:off x="822960" y="4983480"/>
            <a:ext cx="10515600" cy="868680"/>
          </a:xfrm>
          <a:prstGeom prst="roundRect">
            <a:avLst>
              <a:gd name="adj" fmla="val 8421"/>
            </a:avLst>
          </a:prstGeom>
          <a:solidFill>
            <a:srgbClr val="FFF4CE"/>
          </a:solidFill>
          <a:ln w="12700">
            <a:solidFill>
              <a:srgbClr val="F2C14E"/>
            </a:solidFill>
            <a:prstDash val="solid"/>
          </a:ln>
        </p:spPr>
        <p:txBody>
          <a:bodyPr/>
          <a:lstStyle/>
          <a:p>
            <a:endParaRPr lang="en-US"/>
          </a:p>
        </p:txBody>
      </p:sp>
      <p:sp>
        <p:nvSpPr>
          <p:cNvPr id="11" name="Text 7"/>
          <p:cNvSpPr txBox="1"/>
          <p:nvPr/>
        </p:nvSpPr>
        <p:spPr>
          <a:xfrm>
            <a:off x="1005840" y="4983480"/>
            <a:ext cx="10149840" cy="86868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A drone motor-fault model scores 97% in the lab and 64% on the flight line. Diagnosis?</a:t>
            </a:r>
            <a:endParaRPr lang="en-US" sz="1700" dirty="0"/>
          </a:p>
        </p:txBody>
      </p:sp>
      <p:sp>
        <p:nvSpPr>
          <p:cNvPr id="7" name="TextBox 6">
            <a:extLst>
              <a:ext uri="{FF2B5EF4-FFF2-40B4-BE49-F238E27FC236}">
                <a16:creationId xmlns:a16="http://schemas.microsoft.com/office/drawing/2014/main" id="{44D58E22-57C0-8418-F6A2-8F6EBD97FC00}"/>
              </a:ext>
            </a:extLst>
          </p:cNvPr>
          <p:cNvSpPr txBox="1"/>
          <p:nvPr/>
        </p:nvSpPr>
        <p:spPr>
          <a:xfrm>
            <a:off x="9161736" y="2129974"/>
            <a:ext cx="1432692" cy="369332"/>
          </a:xfrm>
          <a:prstGeom prst="rect">
            <a:avLst/>
          </a:prstGeom>
          <a:noFill/>
        </p:spPr>
        <p:txBody>
          <a:bodyPr wrap="square">
            <a:spAutoFit/>
          </a:bodyPr>
          <a:lstStyle/>
          <a:p>
            <a:pPr marL="0" indent="0" algn="ctr">
              <a:buNone/>
            </a:pPr>
            <a:r>
              <a:rPr lang="en-US" sz="1800" b="1" dirty="0">
                <a:solidFill>
                  <a:srgbClr val="1D5FA7"/>
                </a:solidFill>
                <a:latin typeface="Aptos" pitchFamily="34" charset="0"/>
                <a:ea typeface="Aptos" pitchFamily="34" charset="-122"/>
                <a:cs typeface="Aptos" pitchFamily="34" charset="-120"/>
              </a:rPr>
              <a:t>Overfit</a:t>
            </a:r>
            <a:endParaRPr lang="en-US" sz="1800" dirty="0">
              <a:latin typeface="Aptos" charset="0"/>
              <a:ea typeface="Aptos" charset="0"/>
              <a:cs typeface="Aptos" charset="0"/>
            </a:endParaRPr>
          </a:p>
        </p:txBody>
      </p:sp>
      <p:sp>
        <p:nvSpPr>
          <p:cNvPr id="14" name="TextBox 13">
            <a:extLst>
              <a:ext uri="{FF2B5EF4-FFF2-40B4-BE49-F238E27FC236}">
                <a16:creationId xmlns:a16="http://schemas.microsoft.com/office/drawing/2014/main" id="{53DDCFDB-F81E-3E4A-852B-EC2D2AFB930F}"/>
              </a:ext>
            </a:extLst>
          </p:cNvPr>
          <p:cNvSpPr txBox="1"/>
          <p:nvPr/>
        </p:nvSpPr>
        <p:spPr>
          <a:xfrm>
            <a:off x="9291801" y="2602521"/>
            <a:ext cx="1172561" cy="369332"/>
          </a:xfrm>
          <a:prstGeom prst="rect">
            <a:avLst/>
          </a:prstGeom>
          <a:noFill/>
        </p:spPr>
        <p:txBody>
          <a:bodyPr wrap="square">
            <a:spAutoFit/>
          </a:bodyPr>
          <a:lstStyle/>
          <a:p>
            <a:r>
              <a:rPr lang="en-US" sz="1800" b="1" dirty="0">
                <a:solidFill>
                  <a:srgbClr val="1D5FA7"/>
                </a:solidFill>
                <a:latin typeface="Aptos" pitchFamily="34" charset="0"/>
                <a:ea typeface="Aptos" pitchFamily="34" charset="-122"/>
                <a:cs typeface="Aptos" pitchFamily="34" charset="-120"/>
              </a:rPr>
              <a:t>Underfit</a:t>
            </a:r>
            <a:endParaRPr lang="en-US" dirty="0"/>
          </a:p>
        </p:txBody>
      </p:sp>
      <p:sp>
        <p:nvSpPr>
          <p:cNvPr id="16" name="TextBox 15">
            <a:extLst>
              <a:ext uri="{FF2B5EF4-FFF2-40B4-BE49-F238E27FC236}">
                <a16:creationId xmlns:a16="http://schemas.microsoft.com/office/drawing/2014/main" id="{19A89A6A-5FC6-BD5D-5C11-B77BFE3BB64A}"/>
              </a:ext>
            </a:extLst>
          </p:cNvPr>
          <p:cNvSpPr txBox="1"/>
          <p:nvPr/>
        </p:nvSpPr>
        <p:spPr>
          <a:xfrm>
            <a:off x="9169619" y="3050577"/>
            <a:ext cx="1424809" cy="369332"/>
          </a:xfrm>
          <a:prstGeom prst="rect">
            <a:avLst/>
          </a:prstGeom>
          <a:noFill/>
        </p:spPr>
        <p:txBody>
          <a:bodyPr wrap="square">
            <a:spAutoFit/>
          </a:bodyPr>
          <a:lstStyle/>
          <a:p>
            <a:r>
              <a:rPr lang="en-US" sz="1800" b="1" dirty="0">
                <a:solidFill>
                  <a:srgbClr val="1D5FA7"/>
                </a:solidFill>
                <a:latin typeface="Aptos" pitchFamily="34" charset="0"/>
                <a:ea typeface="Aptos" pitchFamily="34" charset="-122"/>
                <a:cs typeface="Aptos" pitchFamily="34" charset="-120"/>
              </a:rPr>
              <a:t>Generalizes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Match the fix to the failure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Underfitting and overfitting need opposite treatments.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12</a:t>
            </a:r>
            <a:endParaRPr lang="en-US" sz="850" dirty="0"/>
          </a:p>
        </p:txBody>
      </p:sp>
      <p:sp>
        <p:nvSpPr>
          <p:cNvPr id="7" name="Shape 4"/>
          <p:cNvSpPr/>
          <p:nvPr/>
        </p:nvSpPr>
        <p:spPr>
          <a:xfrm>
            <a:off x="822960" y="1600200"/>
            <a:ext cx="5120640" cy="3566160"/>
          </a:xfrm>
          <a:prstGeom prst="roundRect">
            <a:avLst>
              <a:gd name="adj" fmla="val 2051"/>
            </a:avLst>
          </a:prstGeom>
          <a:solidFill>
            <a:srgbClr val="F7D7D7"/>
          </a:solidFill>
          <a:ln w="12700">
            <a:solidFill>
              <a:srgbClr val="B43A3A"/>
            </a:solidFill>
            <a:prstDash val="solid"/>
          </a:ln>
        </p:spPr>
        <p:txBody>
          <a:bodyPr/>
          <a:lstStyle/>
          <a:p>
            <a:endParaRPr lang="en-US"/>
          </a:p>
        </p:txBody>
      </p:sp>
      <p:sp>
        <p:nvSpPr>
          <p:cNvPr id="8" name="Text 5"/>
          <p:cNvSpPr txBox="1"/>
          <p:nvPr/>
        </p:nvSpPr>
        <p:spPr>
          <a:xfrm>
            <a:off x="1097280" y="1737360"/>
            <a:ext cx="4572000" cy="411480"/>
          </a:xfrm>
          <a:prstGeom prst="rect">
            <a:avLst/>
          </a:prstGeom>
          <a:noFill/>
          <a:ln/>
        </p:spPr>
        <p:txBody>
          <a:bodyPr wrap="square" lIns="0" tIns="0" rIns="0" bIns="0" rtlCol="0" anchor="t"/>
          <a:lstStyle/>
          <a:p>
            <a:pPr marL="0" indent="0">
              <a:buNone/>
            </a:pPr>
            <a:r>
              <a:rPr lang="en-US" sz="2200" b="1" dirty="0">
                <a:solidFill>
                  <a:srgbClr val="0B2D55"/>
                </a:solidFill>
                <a:latin typeface="Aptos" pitchFamily="34" charset="0"/>
                <a:ea typeface="Aptos" pitchFamily="34" charset="-122"/>
                <a:cs typeface="Aptos" pitchFamily="34" charset="-120"/>
              </a:rPr>
              <a:t>High variance  (overfit)</a:t>
            </a:r>
            <a:endParaRPr lang="en-US" sz="2200" dirty="0"/>
          </a:p>
        </p:txBody>
      </p:sp>
      <p:sp>
        <p:nvSpPr>
          <p:cNvPr id="9" name="Text 6"/>
          <p:cNvSpPr txBox="1"/>
          <p:nvPr/>
        </p:nvSpPr>
        <p:spPr>
          <a:xfrm>
            <a:off x="1097280" y="2240280"/>
            <a:ext cx="4572000" cy="365760"/>
          </a:xfrm>
          <a:prstGeom prst="rect">
            <a:avLst/>
          </a:prstGeom>
          <a:noFill/>
          <a:ln/>
        </p:spPr>
        <p:txBody>
          <a:bodyPr wrap="square" lIns="0" tIns="0" rIns="0" bIns="0" rtlCol="0" anchor="t"/>
          <a:lstStyle/>
          <a:p>
            <a:pPr marL="0" indent="0">
              <a:buNone/>
            </a:pPr>
            <a:r>
              <a:rPr lang="en-US" sz="1600" i="1" dirty="0">
                <a:solidFill>
                  <a:srgbClr val="132033"/>
                </a:solidFill>
                <a:latin typeface="Aptos" pitchFamily="34" charset="0"/>
                <a:ea typeface="Aptos" pitchFamily="34" charset="-122"/>
                <a:cs typeface="Aptos" pitchFamily="34" charset="-120"/>
              </a:rPr>
              <a:t>Symptom: big train/test gap</a:t>
            </a:r>
            <a:endParaRPr lang="en-US" sz="1600" dirty="0"/>
          </a:p>
        </p:txBody>
      </p:sp>
      <p:sp>
        <p:nvSpPr>
          <p:cNvPr id="10" name="Text 7"/>
          <p:cNvSpPr txBox="1"/>
          <p:nvPr/>
        </p:nvSpPr>
        <p:spPr>
          <a:xfrm>
            <a:off x="1097280" y="2743200"/>
            <a:ext cx="4572000" cy="32004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Levers that help:</a:t>
            </a:r>
            <a:endParaRPr lang="en-US" sz="1600" dirty="0"/>
          </a:p>
        </p:txBody>
      </p:sp>
      <p:sp>
        <p:nvSpPr>
          <p:cNvPr id="11" name="Text 8"/>
          <p:cNvSpPr txBox="1"/>
          <p:nvPr/>
        </p:nvSpPr>
        <p:spPr>
          <a:xfrm>
            <a:off x="1097280" y="31089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More training data</a:t>
            </a:r>
            <a:endParaRPr lang="en-US" sz="1600" dirty="0"/>
          </a:p>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Simpler or more constrained model</a:t>
            </a:r>
            <a:endParaRPr lang="en-US" sz="1600" dirty="0"/>
          </a:p>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Average many models (random forest, later today)</a:t>
            </a:r>
            <a:endParaRPr lang="en-US" sz="1600" dirty="0"/>
          </a:p>
        </p:txBody>
      </p:sp>
      <p:sp>
        <p:nvSpPr>
          <p:cNvPr id="12" name="Shape 9"/>
          <p:cNvSpPr/>
          <p:nvPr/>
        </p:nvSpPr>
        <p:spPr>
          <a:xfrm>
            <a:off x="6217920" y="1600200"/>
            <a:ext cx="5120640" cy="3566160"/>
          </a:xfrm>
          <a:prstGeom prst="roundRect">
            <a:avLst>
              <a:gd name="adj" fmla="val 2051"/>
            </a:avLst>
          </a:prstGeom>
          <a:solidFill>
            <a:srgbClr val="FFF4CE"/>
          </a:solidFill>
          <a:ln w="12700">
            <a:solidFill>
              <a:srgbClr val="C9971C"/>
            </a:solidFill>
            <a:prstDash val="solid"/>
          </a:ln>
        </p:spPr>
        <p:txBody>
          <a:bodyPr/>
          <a:lstStyle/>
          <a:p>
            <a:endParaRPr lang="en-US"/>
          </a:p>
        </p:txBody>
      </p:sp>
      <p:sp>
        <p:nvSpPr>
          <p:cNvPr id="13" name="Text 10"/>
          <p:cNvSpPr txBox="1"/>
          <p:nvPr/>
        </p:nvSpPr>
        <p:spPr>
          <a:xfrm>
            <a:off x="6492240" y="1737360"/>
            <a:ext cx="4572000" cy="411480"/>
          </a:xfrm>
          <a:prstGeom prst="rect">
            <a:avLst/>
          </a:prstGeom>
          <a:noFill/>
          <a:ln/>
        </p:spPr>
        <p:txBody>
          <a:bodyPr wrap="square" lIns="0" tIns="0" rIns="0" bIns="0" rtlCol="0" anchor="t"/>
          <a:lstStyle/>
          <a:p>
            <a:pPr marL="0" indent="0">
              <a:buNone/>
            </a:pPr>
            <a:r>
              <a:rPr lang="en-US" sz="2200" b="1" dirty="0">
                <a:solidFill>
                  <a:srgbClr val="0B2D55"/>
                </a:solidFill>
                <a:latin typeface="Aptos" pitchFamily="34" charset="0"/>
                <a:ea typeface="Aptos" pitchFamily="34" charset="-122"/>
                <a:cs typeface="Aptos" pitchFamily="34" charset="-120"/>
              </a:rPr>
              <a:t>High bias  (underfit)</a:t>
            </a:r>
            <a:endParaRPr lang="en-US" sz="2200" dirty="0"/>
          </a:p>
        </p:txBody>
      </p:sp>
      <p:sp>
        <p:nvSpPr>
          <p:cNvPr id="14" name="Text 11"/>
          <p:cNvSpPr txBox="1"/>
          <p:nvPr/>
        </p:nvSpPr>
        <p:spPr>
          <a:xfrm>
            <a:off x="6492240" y="2240280"/>
            <a:ext cx="4572000" cy="365760"/>
          </a:xfrm>
          <a:prstGeom prst="rect">
            <a:avLst/>
          </a:prstGeom>
          <a:noFill/>
          <a:ln/>
        </p:spPr>
        <p:txBody>
          <a:bodyPr wrap="square" lIns="0" tIns="0" rIns="0" bIns="0" rtlCol="0" anchor="t"/>
          <a:lstStyle/>
          <a:p>
            <a:pPr marL="0" indent="0">
              <a:buNone/>
            </a:pPr>
            <a:r>
              <a:rPr lang="en-US" sz="1600" i="1" dirty="0">
                <a:solidFill>
                  <a:srgbClr val="132033"/>
                </a:solidFill>
                <a:latin typeface="Aptos" pitchFamily="34" charset="0"/>
                <a:ea typeface="Aptos" pitchFamily="34" charset="-122"/>
                <a:cs typeface="Aptos" pitchFamily="34" charset="-120"/>
              </a:rPr>
              <a:t>Symptom: train and test both poor</a:t>
            </a:r>
            <a:endParaRPr lang="en-US" sz="1600" dirty="0"/>
          </a:p>
        </p:txBody>
      </p:sp>
      <p:sp>
        <p:nvSpPr>
          <p:cNvPr id="15" name="Text 12"/>
          <p:cNvSpPr txBox="1"/>
          <p:nvPr/>
        </p:nvSpPr>
        <p:spPr>
          <a:xfrm>
            <a:off x="6492240" y="2743200"/>
            <a:ext cx="4572000" cy="32004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Levers that help:</a:t>
            </a:r>
            <a:endParaRPr lang="en-US" sz="1600" dirty="0"/>
          </a:p>
        </p:txBody>
      </p:sp>
      <p:sp>
        <p:nvSpPr>
          <p:cNvPr id="16" name="Text 13"/>
          <p:cNvSpPr txBox="1"/>
          <p:nvPr/>
        </p:nvSpPr>
        <p:spPr>
          <a:xfrm>
            <a:off x="6492240" y="31089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Richer, more informative features</a:t>
            </a:r>
            <a:endParaRPr lang="en-US" sz="1600" dirty="0"/>
          </a:p>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A more flexible model</a:t>
            </a:r>
            <a:endParaRPr lang="en-US" sz="1600" dirty="0"/>
          </a:p>
          <a:p>
            <a:pPr marL="342900" indent="-342900">
              <a:spcAft>
                <a:spcPts val="800"/>
              </a:spcAft>
              <a:buSzPct val="100000"/>
              <a:buChar char="•"/>
            </a:pPr>
            <a:r>
              <a:rPr lang="en-US" sz="1600" dirty="0">
                <a:solidFill>
                  <a:srgbClr val="132033"/>
                </a:solidFill>
                <a:latin typeface="Aptos" pitchFamily="34" charset="0"/>
                <a:ea typeface="Aptos" pitchFamily="34" charset="-122"/>
                <a:cs typeface="Aptos" pitchFamily="34" charset="-120"/>
              </a:rPr>
              <a:t>Fewer restrictions on the model</a:t>
            </a:r>
            <a:endParaRPr lang="en-US" sz="1600" dirty="0"/>
          </a:p>
        </p:txBody>
      </p:sp>
      <p:sp>
        <p:nvSpPr>
          <p:cNvPr id="17" name="Text 14"/>
          <p:cNvSpPr txBox="1"/>
          <p:nvPr/>
        </p:nvSpPr>
        <p:spPr>
          <a:xfrm>
            <a:off x="822960" y="5486400"/>
            <a:ext cx="10515600" cy="50292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Which problem does “collect more data” mainly fix?</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accuracy trap</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A model can look excellent while doing nothing useful.</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13</a:t>
            </a:r>
            <a:endParaRPr lang="en-US" sz="850" dirty="0"/>
          </a:p>
        </p:txBody>
      </p:sp>
      <p:sp>
        <p:nvSpPr>
          <p:cNvPr id="7" name="Shape 4"/>
          <p:cNvSpPr/>
          <p:nvPr/>
        </p:nvSpPr>
        <p:spPr>
          <a:xfrm>
            <a:off x="822960" y="1645920"/>
            <a:ext cx="3291840" cy="2926080"/>
          </a:xfrm>
          <a:prstGeom prst="roundRect">
            <a:avLst>
              <a:gd name="adj" fmla="val 2500"/>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822960" y="1645920"/>
            <a:ext cx="3291840" cy="2926080"/>
          </a:xfrm>
          <a:prstGeom prst="rect">
            <a:avLst/>
          </a:prstGeom>
          <a:noFill/>
          <a:ln/>
        </p:spPr>
        <p:txBody>
          <a:bodyPr wrap="square" lIns="0" tIns="0" rIns="0" bIns="0" rtlCol="0" anchor="ctr"/>
          <a:lstStyle/>
          <a:p>
            <a:pPr marL="0" indent="0" algn="ctr">
              <a:buNone/>
            </a:pPr>
            <a:r>
              <a:rPr lang="en-US" sz="6600" b="1" dirty="0">
                <a:solidFill>
                  <a:srgbClr val="0B2D55"/>
                </a:solidFill>
                <a:latin typeface="Aptos" pitchFamily="34" charset="0"/>
                <a:ea typeface="Aptos" pitchFamily="34" charset="-122"/>
                <a:cs typeface="Aptos" pitchFamily="34" charset="-120"/>
              </a:rPr>
              <a:t>96%</a:t>
            </a:r>
            <a:endParaRPr lang="en-US" sz="1600" dirty="0"/>
          </a:p>
          <a:p>
            <a:pPr marL="0" indent="0" algn="ctr">
              <a:buNone/>
            </a:pPr>
            <a:r>
              <a:rPr lang="en-US" sz="1800" dirty="0">
                <a:solidFill>
                  <a:srgbClr val="132033"/>
                </a:solidFill>
                <a:latin typeface="Aptos" pitchFamily="34" charset="0"/>
                <a:ea typeface="Aptos" pitchFamily="34" charset="-122"/>
                <a:cs typeface="Aptos" pitchFamily="34" charset="-120"/>
              </a:rPr>
              <a:t>accuracy</a:t>
            </a:r>
            <a:endParaRPr lang="en-US" sz="1600" dirty="0"/>
          </a:p>
        </p:txBody>
      </p:sp>
      <p:sp>
        <p:nvSpPr>
          <p:cNvPr id="9" name="Shape 6"/>
          <p:cNvSpPr/>
          <p:nvPr/>
        </p:nvSpPr>
        <p:spPr>
          <a:xfrm>
            <a:off x="4389120" y="1645920"/>
            <a:ext cx="3291840" cy="2926080"/>
          </a:xfrm>
          <a:prstGeom prst="roundRect">
            <a:avLst>
              <a:gd name="adj" fmla="val 2500"/>
            </a:avLst>
          </a:prstGeom>
          <a:solidFill>
            <a:srgbClr val="F7D7D7"/>
          </a:solidFill>
          <a:ln w="12700">
            <a:solidFill>
              <a:srgbClr val="B43A3A"/>
            </a:solidFill>
            <a:prstDash val="solid"/>
          </a:ln>
        </p:spPr>
        <p:txBody>
          <a:bodyPr/>
          <a:lstStyle/>
          <a:p>
            <a:endParaRPr lang="en-US"/>
          </a:p>
        </p:txBody>
      </p:sp>
      <p:sp>
        <p:nvSpPr>
          <p:cNvPr id="10" name="Text 7"/>
          <p:cNvSpPr txBox="1"/>
          <p:nvPr/>
        </p:nvSpPr>
        <p:spPr>
          <a:xfrm>
            <a:off x="4389120" y="1645920"/>
            <a:ext cx="3291840" cy="2926080"/>
          </a:xfrm>
          <a:prstGeom prst="rect">
            <a:avLst/>
          </a:prstGeom>
          <a:noFill/>
          <a:ln/>
        </p:spPr>
        <p:txBody>
          <a:bodyPr wrap="square" lIns="0" tIns="0" rIns="0" bIns="0" rtlCol="0" anchor="ctr"/>
          <a:lstStyle/>
          <a:p>
            <a:pPr marL="0" indent="0" algn="ctr">
              <a:buNone/>
            </a:pPr>
            <a:r>
              <a:rPr lang="en-US" sz="5400" b="1" dirty="0">
                <a:solidFill>
                  <a:srgbClr val="B43A3A"/>
                </a:solidFill>
                <a:latin typeface="Aptos" pitchFamily="34" charset="0"/>
                <a:ea typeface="Aptos" pitchFamily="34" charset="-122"/>
                <a:cs typeface="Aptos" pitchFamily="34" charset="-120"/>
              </a:rPr>
              <a:t>0 of 40</a:t>
            </a:r>
            <a:endParaRPr lang="en-US" sz="1600" dirty="0"/>
          </a:p>
          <a:p>
            <a:pPr marL="0" indent="0" algn="ctr">
              <a:buNone/>
            </a:pPr>
            <a:r>
              <a:rPr lang="en-US" sz="1800" dirty="0">
                <a:solidFill>
                  <a:srgbClr val="132033"/>
                </a:solidFill>
                <a:latin typeface="Aptos" pitchFamily="34" charset="0"/>
                <a:ea typeface="Aptos" pitchFamily="34" charset="-122"/>
                <a:cs typeface="Aptos" pitchFamily="34" charset="-120"/>
              </a:rPr>
              <a:t>fraud cases caught</a:t>
            </a:r>
            <a:endParaRPr lang="en-US" sz="1600" dirty="0"/>
          </a:p>
        </p:txBody>
      </p:sp>
      <p:sp>
        <p:nvSpPr>
          <p:cNvPr id="11" name="Shape 8"/>
          <p:cNvSpPr/>
          <p:nvPr/>
        </p:nvSpPr>
        <p:spPr>
          <a:xfrm>
            <a:off x="7955280" y="1645920"/>
            <a:ext cx="3429000" cy="2926080"/>
          </a:xfrm>
          <a:prstGeom prst="roundRect">
            <a:avLst>
              <a:gd name="adj" fmla="val 2500"/>
            </a:avLst>
          </a:prstGeom>
          <a:solidFill>
            <a:srgbClr val="FFFFFF"/>
          </a:solidFill>
          <a:ln w="12700">
            <a:solidFill>
              <a:srgbClr val="B8C7D8"/>
            </a:solidFill>
            <a:prstDash val="solid"/>
          </a:ln>
        </p:spPr>
        <p:txBody>
          <a:bodyPr/>
          <a:lstStyle/>
          <a:p>
            <a:endParaRPr lang="en-US"/>
          </a:p>
        </p:txBody>
      </p:sp>
      <p:sp>
        <p:nvSpPr>
          <p:cNvPr id="12" name="Text 9"/>
          <p:cNvSpPr txBox="1"/>
          <p:nvPr/>
        </p:nvSpPr>
        <p:spPr>
          <a:xfrm>
            <a:off x="8183880" y="1783080"/>
            <a:ext cx="3017520" cy="365760"/>
          </a:xfrm>
          <a:prstGeom prst="rect">
            <a:avLst/>
          </a:prstGeom>
          <a:noFill/>
          <a:ln/>
        </p:spPr>
        <p:txBody>
          <a:bodyPr wrap="square" lIns="0" tIns="0" rIns="0" bIns="0" rtlCol="0" anchor="t"/>
          <a:lstStyle/>
          <a:p>
            <a:pPr marL="0" indent="0">
              <a:buNone/>
            </a:pPr>
            <a:r>
              <a:rPr lang="en-US" sz="1900" b="1" dirty="0">
                <a:solidFill>
                  <a:srgbClr val="0B2D55"/>
                </a:solidFill>
                <a:latin typeface="Aptos" pitchFamily="34" charset="0"/>
                <a:ea typeface="Aptos" pitchFamily="34" charset="-122"/>
                <a:cs typeface="Aptos" pitchFamily="34" charset="-120"/>
              </a:rPr>
              <a:t>The lazy model</a:t>
            </a:r>
            <a:endParaRPr lang="en-US" sz="1900" dirty="0"/>
          </a:p>
        </p:txBody>
      </p:sp>
      <p:sp>
        <p:nvSpPr>
          <p:cNvPr id="13" name="Text 10"/>
          <p:cNvSpPr txBox="1"/>
          <p:nvPr/>
        </p:nvSpPr>
        <p:spPr>
          <a:xfrm>
            <a:off x="8183880" y="2240280"/>
            <a:ext cx="3063240" cy="219456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rgbClr val="132033"/>
                </a:solidFill>
                <a:latin typeface="Aptos" pitchFamily="34" charset="0"/>
                <a:ea typeface="Aptos" pitchFamily="34" charset="-122"/>
                <a:cs typeface="Aptos" pitchFamily="34" charset="-120"/>
              </a:rPr>
              <a:t>Test set: 1,000 transactions, 40 fraud</a:t>
            </a:r>
            <a:endParaRPr lang="en-US" sz="1550" dirty="0"/>
          </a:p>
          <a:p>
            <a:pPr marL="342900" indent="-342900">
              <a:spcAft>
                <a:spcPts val="800"/>
              </a:spcAft>
              <a:buSzPct val="100000"/>
              <a:buChar char="•"/>
            </a:pPr>
            <a:r>
              <a:rPr lang="en-US" sz="1550" dirty="0">
                <a:solidFill>
                  <a:srgbClr val="132033"/>
                </a:solidFill>
                <a:latin typeface="Aptos" pitchFamily="34" charset="0"/>
                <a:ea typeface="Aptos" pitchFamily="34" charset="-122"/>
                <a:cs typeface="Aptos" pitchFamily="34" charset="-120"/>
              </a:rPr>
              <a:t>Rule: predict LEGIT for everything</a:t>
            </a:r>
            <a:endParaRPr lang="en-US" sz="1550" dirty="0"/>
          </a:p>
          <a:p>
            <a:pPr marL="342900" indent="-342900">
              <a:spcAft>
                <a:spcPts val="800"/>
              </a:spcAft>
              <a:buSzPct val="100000"/>
              <a:buChar char="•"/>
            </a:pPr>
            <a:r>
              <a:rPr lang="en-US" sz="1550" dirty="0">
                <a:solidFill>
                  <a:srgbClr val="132033"/>
                </a:solidFill>
                <a:latin typeface="Aptos" pitchFamily="34" charset="0"/>
                <a:ea typeface="Aptos" pitchFamily="34" charset="-122"/>
                <a:cs typeface="Aptos" pitchFamily="34" charset="-120"/>
              </a:rPr>
              <a:t>Correct on all 960 legit</a:t>
            </a:r>
            <a:endParaRPr lang="en-US" sz="1550" dirty="0"/>
          </a:p>
          <a:p>
            <a:pPr marL="342900" indent="-342900">
              <a:spcAft>
                <a:spcPts val="800"/>
              </a:spcAft>
              <a:buSzPct val="100000"/>
              <a:buChar char="•"/>
            </a:pPr>
            <a:r>
              <a:rPr lang="en-US" sz="1550" dirty="0">
                <a:solidFill>
                  <a:srgbClr val="132033"/>
                </a:solidFill>
                <a:latin typeface="Aptos" pitchFamily="34" charset="0"/>
                <a:ea typeface="Aptos" pitchFamily="34" charset="-122"/>
                <a:cs typeface="Aptos" pitchFamily="34" charset="-120"/>
              </a:rPr>
              <a:t>960 / 1,000 = 96%</a:t>
            </a:r>
            <a:endParaRPr lang="en-US" sz="1550" dirty="0"/>
          </a:p>
        </p:txBody>
      </p:sp>
      <p:sp>
        <p:nvSpPr>
          <p:cNvPr id="14" name="Text 11"/>
          <p:cNvSpPr txBox="1"/>
          <p:nvPr/>
        </p:nvSpPr>
        <p:spPr>
          <a:xfrm>
            <a:off x="822960" y="4983480"/>
            <a:ext cx="10515600" cy="731520"/>
          </a:xfrm>
          <a:prstGeom prst="rect">
            <a:avLst/>
          </a:prstGeom>
          <a:noFill/>
          <a:ln/>
        </p:spPr>
        <p:txBody>
          <a:bodyPr wrap="square" lIns="0" tIns="0" rIns="0" bIns="0" rtlCol="0" anchor="ctr"/>
          <a:lstStyle/>
          <a:p>
            <a:pPr marL="0" indent="0" algn="ctr">
              <a:buNone/>
            </a:pPr>
            <a:r>
              <a:rPr lang="en-US" sz="3000" b="1" dirty="0">
                <a:solidFill>
                  <a:srgbClr val="0B2D55"/>
                </a:solidFill>
                <a:latin typeface="Aptos" pitchFamily="34" charset="0"/>
                <a:ea typeface="Aptos" pitchFamily="34" charset="-122"/>
                <a:cs typeface="Aptos" pitchFamily="34" charset="-120"/>
              </a:rPr>
              <a:t>96% accurate.  0% useful.</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confusion matrix</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Split predictions by what the model said and what was actually true.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14</a:t>
            </a:r>
            <a:endParaRPr lang="en-US" sz="850" dirty="0"/>
          </a:p>
        </p:txBody>
      </p:sp>
      <p:sp>
        <p:nvSpPr>
          <p:cNvPr id="7" name="Text 4"/>
          <p:cNvSpPr txBox="1"/>
          <p:nvPr/>
        </p:nvSpPr>
        <p:spPr>
          <a:xfrm>
            <a:off x="1856232" y="1554480"/>
            <a:ext cx="2834640" cy="45720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FRAUD</a:t>
            </a:r>
            <a:endParaRPr lang="en-US" sz="1400" dirty="0"/>
          </a:p>
        </p:txBody>
      </p:sp>
      <p:sp>
        <p:nvSpPr>
          <p:cNvPr id="8" name="Text 5"/>
          <p:cNvSpPr txBox="1"/>
          <p:nvPr/>
        </p:nvSpPr>
        <p:spPr>
          <a:xfrm>
            <a:off x="4690872" y="1554480"/>
            <a:ext cx="2834640" cy="45720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LEGIT</a:t>
            </a:r>
            <a:endParaRPr lang="en-US" sz="1400" dirty="0"/>
          </a:p>
        </p:txBody>
      </p:sp>
      <p:sp>
        <p:nvSpPr>
          <p:cNvPr id="9" name="Text 6"/>
          <p:cNvSpPr txBox="1"/>
          <p:nvPr/>
        </p:nvSpPr>
        <p:spPr>
          <a:xfrm>
            <a:off x="576072" y="2011680"/>
            <a:ext cx="1188720" cy="178308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FRAUD</a:t>
            </a:r>
            <a:endParaRPr lang="en-US" sz="1400" dirty="0"/>
          </a:p>
        </p:txBody>
      </p:sp>
      <p:sp>
        <p:nvSpPr>
          <p:cNvPr id="10" name="Text 7"/>
          <p:cNvSpPr txBox="1"/>
          <p:nvPr/>
        </p:nvSpPr>
        <p:spPr>
          <a:xfrm>
            <a:off x="576072" y="3794760"/>
            <a:ext cx="1188720" cy="178308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LEGIT</a:t>
            </a:r>
            <a:endParaRPr lang="en-US" sz="1400" dirty="0"/>
          </a:p>
        </p:txBody>
      </p:sp>
      <p:sp>
        <p:nvSpPr>
          <p:cNvPr id="11" name="Shape 8"/>
          <p:cNvSpPr/>
          <p:nvPr/>
        </p:nvSpPr>
        <p:spPr>
          <a:xfrm>
            <a:off x="1856232" y="2011680"/>
            <a:ext cx="2834640" cy="1783080"/>
          </a:xfrm>
          <a:prstGeom prst="rect">
            <a:avLst/>
          </a:prstGeom>
          <a:solidFill>
            <a:srgbClr val="DFF0D8"/>
          </a:solidFill>
          <a:ln w="38100">
            <a:solidFill>
              <a:srgbClr val="FFFFFF"/>
            </a:solidFill>
            <a:prstDash val="solid"/>
          </a:ln>
        </p:spPr>
        <p:txBody>
          <a:bodyPr/>
          <a:lstStyle/>
          <a:p>
            <a:endParaRPr lang="en-US"/>
          </a:p>
        </p:txBody>
      </p:sp>
      <p:sp>
        <p:nvSpPr>
          <p:cNvPr id="12" name="Text 9"/>
          <p:cNvSpPr txBox="1"/>
          <p:nvPr/>
        </p:nvSpPr>
        <p:spPr>
          <a:xfrm>
            <a:off x="1965960" y="2011680"/>
            <a:ext cx="2615184" cy="1783080"/>
          </a:xfrm>
          <a:prstGeom prst="rect">
            <a:avLst/>
          </a:prstGeom>
          <a:noFill/>
          <a:ln/>
        </p:spPr>
        <p:txBody>
          <a:bodyPr wrap="square" lIns="0" tIns="0" rIns="0" bIns="0" rtlCol="0" anchor="ctr"/>
          <a:lstStyle/>
          <a:p>
            <a:pPr marL="0" indent="0" algn="ctr">
              <a:buNone/>
            </a:pPr>
            <a:r>
              <a:rPr lang="en-US" sz="1600" b="1" dirty="0">
                <a:solidFill>
                  <a:srgbClr val="2E7D32"/>
                </a:solidFill>
                <a:latin typeface="Aptos" pitchFamily="34" charset="0"/>
                <a:ea typeface="Aptos" pitchFamily="34" charset="-122"/>
                <a:cs typeface="Aptos" pitchFamily="34" charset="-120"/>
              </a:rPr>
              <a:t>TP</a:t>
            </a:r>
            <a:endParaRPr lang="en-US" sz="1600" dirty="0"/>
          </a:p>
          <a:p>
            <a:pPr marL="0" indent="0" algn="ctr">
              <a:buNone/>
            </a:pPr>
            <a:r>
              <a:rPr lang="en-US" sz="1400" dirty="0">
                <a:solidFill>
                  <a:srgbClr val="132033"/>
                </a:solidFill>
                <a:latin typeface="Aptos" pitchFamily="34" charset="0"/>
                <a:ea typeface="Aptos" pitchFamily="34" charset="-122"/>
                <a:cs typeface="Aptos" pitchFamily="34" charset="-120"/>
              </a:rPr>
              <a:t>Fraud caught</a:t>
            </a:r>
            <a:endParaRPr lang="en-US" sz="1600" dirty="0"/>
          </a:p>
        </p:txBody>
      </p:sp>
      <p:sp>
        <p:nvSpPr>
          <p:cNvPr id="13" name="Shape 10"/>
          <p:cNvSpPr/>
          <p:nvPr/>
        </p:nvSpPr>
        <p:spPr>
          <a:xfrm>
            <a:off x="4690872" y="2011680"/>
            <a:ext cx="2834640" cy="1783080"/>
          </a:xfrm>
          <a:prstGeom prst="rect">
            <a:avLst/>
          </a:prstGeom>
          <a:solidFill>
            <a:srgbClr val="F7D7D7"/>
          </a:solidFill>
          <a:ln w="38100">
            <a:solidFill>
              <a:srgbClr val="FFFFFF"/>
            </a:solidFill>
            <a:prstDash val="solid"/>
          </a:ln>
        </p:spPr>
        <p:txBody>
          <a:bodyPr/>
          <a:lstStyle/>
          <a:p>
            <a:endParaRPr lang="en-US"/>
          </a:p>
        </p:txBody>
      </p:sp>
      <p:sp>
        <p:nvSpPr>
          <p:cNvPr id="14" name="Text 11"/>
          <p:cNvSpPr txBox="1"/>
          <p:nvPr/>
        </p:nvSpPr>
        <p:spPr>
          <a:xfrm>
            <a:off x="4800600" y="2011680"/>
            <a:ext cx="2615184" cy="1783080"/>
          </a:xfrm>
          <a:prstGeom prst="rect">
            <a:avLst/>
          </a:prstGeom>
          <a:noFill/>
          <a:ln/>
        </p:spPr>
        <p:txBody>
          <a:bodyPr wrap="square" lIns="0" tIns="0" rIns="0" bIns="0" rtlCol="0" anchor="ctr"/>
          <a:lstStyle/>
          <a:p>
            <a:pPr marL="0" indent="0" algn="ctr">
              <a:buNone/>
            </a:pPr>
            <a:r>
              <a:rPr lang="en-US" sz="1600" b="1" dirty="0">
                <a:solidFill>
                  <a:srgbClr val="B43A3A"/>
                </a:solidFill>
                <a:latin typeface="Aptos" pitchFamily="34" charset="0"/>
                <a:ea typeface="Aptos" pitchFamily="34" charset="-122"/>
                <a:cs typeface="Aptos" pitchFamily="34" charset="-120"/>
              </a:rPr>
              <a:t>FN</a:t>
            </a:r>
            <a:endParaRPr lang="en-US" sz="1600" dirty="0"/>
          </a:p>
          <a:p>
            <a:pPr marL="0" indent="0" algn="ctr">
              <a:buNone/>
            </a:pPr>
            <a:r>
              <a:rPr lang="en-US" sz="1400" dirty="0">
                <a:solidFill>
                  <a:srgbClr val="132033"/>
                </a:solidFill>
                <a:latin typeface="Aptos" pitchFamily="34" charset="0"/>
                <a:ea typeface="Aptos" pitchFamily="34" charset="-122"/>
                <a:cs typeface="Aptos" pitchFamily="34" charset="-120"/>
              </a:rPr>
              <a:t>Fraud missed</a:t>
            </a:r>
            <a:endParaRPr lang="en-US" sz="1600" dirty="0"/>
          </a:p>
          <a:p>
            <a:pPr marL="0" indent="0" algn="ctr">
              <a:buNone/>
            </a:pPr>
            <a:r>
              <a:rPr lang="en-US" sz="1400" dirty="0">
                <a:solidFill>
                  <a:srgbClr val="132033"/>
                </a:solidFill>
                <a:latin typeface="Aptos" pitchFamily="34" charset="0"/>
                <a:ea typeface="Aptos" pitchFamily="34" charset="-122"/>
                <a:cs typeface="Aptos" pitchFamily="34" charset="-120"/>
              </a:rPr>
              <a:t>(chargeback)</a:t>
            </a:r>
            <a:endParaRPr lang="en-US" sz="1600" dirty="0"/>
          </a:p>
        </p:txBody>
      </p:sp>
      <p:sp>
        <p:nvSpPr>
          <p:cNvPr id="15" name="Shape 12"/>
          <p:cNvSpPr/>
          <p:nvPr/>
        </p:nvSpPr>
        <p:spPr>
          <a:xfrm>
            <a:off x="1856232" y="3794760"/>
            <a:ext cx="2834640" cy="1783080"/>
          </a:xfrm>
          <a:prstGeom prst="rect">
            <a:avLst/>
          </a:prstGeom>
          <a:solidFill>
            <a:srgbClr val="F7D7D7"/>
          </a:solidFill>
          <a:ln w="38100">
            <a:solidFill>
              <a:srgbClr val="FFFFFF"/>
            </a:solidFill>
            <a:prstDash val="solid"/>
          </a:ln>
        </p:spPr>
        <p:txBody>
          <a:bodyPr/>
          <a:lstStyle/>
          <a:p>
            <a:endParaRPr lang="en-US"/>
          </a:p>
        </p:txBody>
      </p:sp>
      <p:sp>
        <p:nvSpPr>
          <p:cNvPr id="16" name="Text 13"/>
          <p:cNvSpPr txBox="1"/>
          <p:nvPr/>
        </p:nvSpPr>
        <p:spPr>
          <a:xfrm>
            <a:off x="1965960" y="3794760"/>
            <a:ext cx="2615184" cy="1783080"/>
          </a:xfrm>
          <a:prstGeom prst="rect">
            <a:avLst/>
          </a:prstGeom>
          <a:noFill/>
          <a:ln/>
        </p:spPr>
        <p:txBody>
          <a:bodyPr wrap="square" lIns="0" tIns="0" rIns="0" bIns="0" rtlCol="0" anchor="ctr"/>
          <a:lstStyle/>
          <a:p>
            <a:pPr marL="0" indent="0" algn="ctr">
              <a:buNone/>
            </a:pPr>
            <a:r>
              <a:rPr lang="en-US" sz="1600" b="1" dirty="0">
                <a:solidFill>
                  <a:srgbClr val="B43A3A"/>
                </a:solidFill>
                <a:latin typeface="Aptos" pitchFamily="34" charset="0"/>
                <a:ea typeface="Aptos" pitchFamily="34" charset="-122"/>
                <a:cs typeface="Aptos" pitchFamily="34" charset="-120"/>
              </a:rPr>
              <a:t>FP</a:t>
            </a:r>
            <a:endParaRPr lang="en-US" sz="1600" dirty="0"/>
          </a:p>
          <a:p>
            <a:pPr marL="0" indent="0" algn="ctr">
              <a:buNone/>
            </a:pPr>
            <a:r>
              <a:rPr lang="en-US" sz="1400" dirty="0">
                <a:solidFill>
                  <a:srgbClr val="132033"/>
                </a:solidFill>
                <a:latin typeface="Aptos" pitchFamily="34" charset="0"/>
                <a:ea typeface="Aptos" pitchFamily="34" charset="-122"/>
                <a:cs typeface="Aptos" pitchFamily="34" charset="-120"/>
              </a:rPr>
              <a:t>Honest card blocked</a:t>
            </a:r>
            <a:endParaRPr lang="en-US" sz="1600" dirty="0"/>
          </a:p>
        </p:txBody>
      </p:sp>
      <p:sp>
        <p:nvSpPr>
          <p:cNvPr id="17" name="Shape 14"/>
          <p:cNvSpPr/>
          <p:nvPr/>
        </p:nvSpPr>
        <p:spPr>
          <a:xfrm>
            <a:off x="4690872" y="3794760"/>
            <a:ext cx="2834640" cy="1783080"/>
          </a:xfrm>
          <a:prstGeom prst="rect">
            <a:avLst/>
          </a:prstGeom>
          <a:solidFill>
            <a:srgbClr val="DFF0D8"/>
          </a:solidFill>
          <a:ln w="38100">
            <a:solidFill>
              <a:srgbClr val="FFFFFF"/>
            </a:solidFill>
            <a:prstDash val="solid"/>
          </a:ln>
        </p:spPr>
        <p:txBody>
          <a:bodyPr/>
          <a:lstStyle/>
          <a:p>
            <a:endParaRPr lang="en-US"/>
          </a:p>
        </p:txBody>
      </p:sp>
      <p:sp>
        <p:nvSpPr>
          <p:cNvPr id="18" name="Text 15"/>
          <p:cNvSpPr txBox="1"/>
          <p:nvPr/>
        </p:nvSpPr>
        <p:spPr>
          <a:xfrm>
            <a:off x="4800600" y="3794760"/>
            <a:ext cx="2615184" cy="1783080"/>
          </a:xfrm>
          <a:prstGeom prst="rect">
            <a:avLst/>
          </a:prstGeom>
          <a:noFill/>
          <a:ln/>
        </p:spPr>
        <p:txBody>
          <a:bodyPr wrap="square" lIns="0" tIns="0" rIns="0" bIns="0" rtlCol="0" anchor="ctr"/>
          <a:lstStyle/>
          <a:p>
            <a:pPr marL="0" indent="0" algn="ctr">
              <a:buNone/>
            </a:pPr>
            <a:r>
              <a:rPr lang="en-US" sz="1600" b="1" dirty="0">
                <a:solidFill>
                  <a:srgbClr val="2E7D32"/>
                </a:solidFill>
                <a:latin typeface="Aptos" pitchFamily="34" charset="0"/>
                <a:ea typeface="Aptos" pitchFamily="34" charset="-122"/>
                <a:cs typeface="Aptos" pitchFamily="34" charset="-120"/>
              </a:rPr>
              <a:t>TN</a:t>
            </a:r>
            <a:endParaRPr lang="en-US" sz="1600" dirty="0"/>
          </a:p>
          <a:p>
            <a:pPr marL="0" indent="0" algn="ctr">
              <a:buNone/>
            </a:pPr>
            <a:r>
              <a:rPr lang="en-US" sz="1400" dirty="0">
                <a:solidFill>
                  <a:srgbClr val="132033"/>
                </a:solidFill>
                <a:latin typeface="Aptos" pitchFamily="34" charset="0"/>
                <a:ea typeface="Aptos" pitchFamily="34" charset="-122"/>
                <a:cs typeface="Aptos" pitchFamily="34" charset="-120"/>
              </a:rPr>
              <a:t>Normal purchase approved</a:t>
            </a:r>
            <a:endParaRPr lang="en-US" sz="1600" dirty="0"/>
          </a:p>
        </p:txBody>
      </p:sp>
      <p:sp>
        <p:nvSpPr>
          <p:cNvPr id="19" name="Shape 16"/>
          <p:cNvSpPr/>
          <p:nvPr/>
        </p:nvSpPr>
        <p:spPr>
          <a:xfrm>
            <a:off x="7863840" y="1645920"/>
            <a:ext cx="3749040" cy="3520440"/>
          </a:xfrm>
          <a:prstGeom prst="roundRect">
            <a:avLst>
              <a:gd name="adj" fmla="val 2078"/>
            </a:avLst>
          </a:prstGeom>
          <a:solidFill>
            <a:srgbClr val="EAF2F8"/>
          </a:solidFill>
          <a:ln w="12700">
            <a:solidFill>
              <a:srgbClr val="1F5D9B"/>
            </a:solidFill>
            <a:prstDash val="solid"/>
          </a:ln>
        </p:spPr>
        <p:txBody>
          <a:bodyPr/>
          <a:lstStyle/>
          <a:p>
            <a:endParaRPr lang="en-US"/>
          </a:p>
        </p:txBody>
      </p:sp>
      <p:sp>
        <p:nvSpPr>
          <p:cNvPr id="20" name="Text 17"/>
          <p:cNvSpPr txBox="1"/>
          <p:nvPr/>
        </p:nvSpPr>
        <p:spPr>
          <a:xfrm>
            <a:off x="8092440" y="1783080"/>
            <a:ext cx="3291840" cy="365760"/>
          </a:xfrm>
          <a:prstGeom prst="rect">
            <a:avLst/>
          </a:prstGeom>
          <a:noFill/>
          <a:ln/>
        </p:spPr>
        <p:txBody>
          <a:bodyPr wrap="square" lIns="0" tIns="0" rIns="0" bIns="0" rtlCol="0" anchor="t"/>
          <a:lstStyle/>
          <a:p>
            <a:pPr marL="0" indent="0">
              <a:buNone/>
            </a:pPr>
            <a:r>
              <a:rPr lang="en-US" sz="1900" b="1" dirty="0">
                <a:solidFill>
                  <a:srgbClr val="0B2D55"/>
                </a:solidFill>
                <a:latin typeface="Aptos" pitchFamily="34" charset="0"/>
                <a:ea typeface="Aptos" pitchFamily="34" charset="-122"/>
                <a:cs typeface="Aptos" pitchFamily="34" charset="-120"/>
              </a:rPr>
              <a:t>Reading the matrix</a:t>
            </a:r>
            <a:endParaRPr lang="en-US" sz="1900" dirty="0"/>
          </a:p>
        </p:txBody>
      </p:sp>
      <p:sp>
        <p:nvSpPr>
          <p:cNvPr id="21" name="Text 18"/>
          <p:cNvSpPr txBox="1"/>
          <p:nvPr/>
        </p:nvSpPr>
        <p:spPr>
          <a:xfrm>
            <a:off x="8092440" y="2240280"/>
            <a:ext cx="3383280"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32033"/>
                </a:solidFill>
                <a:latin typeface="Aptos" pitchFamily="34" charset="0"/>
                <a:ea typeface="Aptos" pitchFamily="34" charset="-122"/>
                <a:cs typeface="Aptos" pitchFamily="34" charset="-120"/>
              </a:rPr>
              <a:t>Rows = what was actually true</a:t>
            </a:r>
            <a:endParaRPr lang="en-US" sz="1500" dirty="0"/>
          </a:p>
          <a:p>
            <a:pPr marL="342900" indent="-342900">
              <a:spcAft>
                <a:spcPts val="800"/>
              </a:spcAft>
              <a:buSzPct val="100000"/>
              <a:buChar char="•"/>
            </a:pPr>
            <a:r>
              <a:rPr lang="en-US" sz="1500" dirty="0">
                <a:solidFill>
                  <a:srgbClr val="132033"/>
                </a:solidFill>
                <a:latin typeface="Aptos" pitchFamily="34" charset="0"/>
                <a:ea typeface="Aptos" pitchFamily="34" charset="-122"/>
                <a:cs typeface="Aptos" pitchFamily="34" charset="-120"/>
              </a:rPr>
              <a:t>Columns = what the model said</a:t>
            </a:r>
            <a:endParaRPr lang="en-US" sz="1500" dirty="0"/>
          </a:p>
          <a:p>
            <a:pPr marL="342900" indent="-342900">
              <a:spcAft>
                <a:spcPts val="800"/>
              </a:spcAft>
              <a:buSzPct val="100000"/>
              <a:buChar char="•"/>
            </a:pPr>
            <a:r>
              <a:rPr lang="en-US" sz="1500" dirty="0">
                <a:solidFill>
                  <a:srgbClr val="132033"/>
                </a:solidFill>
                <a:latin typeface="Aptos" pitchFamily="34" charset="0"/>
                <a:ea typeface="Aptos" pitchFamily="34" charset="-122"/>
                <a:cs typeface="Aptos" pitchFamily="34" charset="-120"/>
              </a:rPr>
              <a:t>Diagonal (green) = correct</a:t>
            </a:r>
            <a:endParaRPr lang="en-US" sz="1500" dirty="0"/>
          </a:p>
          <a:p>
            <a:pPr marL="342900" indent="-342900">
              <a:spcAft>
                <a:spcPts val="800"/>
              </a:spcAft>
              <a:buSzPct val="100000"/>
              <a:buChar char="•"/>
            </a:pPr>
            <a:r>
              <a:rPr lang="en-US" sz="1500" dirty="0">
                <a:solidFill>
                  <a:srgbClr val="132033"/>
                </a:solidFill>
                <a:latin typeface="Aptos" pitchFamily="34" charset="0"/>
                <a:ea typeface="Aptos" pitchFamily="34" charset="-122"/>
                <a:cs typeface="Aptos" pitchFamily="34" charset="-120"/>
              </a:rPr>
              <a:t>Off-diagonal (red) = the two kinds of error</a:t>
            </a:r>
            <a:endParaRPr lang="en-US" sz="1500" dirty="0"/>
          </a:p>
          <a:p>
            <a:pPr marL="342900" indent="-342900">
              <a:spcAft>
                <a:spcPts val="800"/>
              </a:spcAft>
              <a:buSzPct val="100000"/>
              <a:buChar char="•"/>
            </a:pPr>
            <a:r>
              <a:rPr lang="en-US" sz="1500" dirty="0">
                <a:solidFill>
                  <a:srgbClr val="132033"/>
                </a:solidFill>
                <a:latin typeface="Aptos" pitchFamily="34" charset="0"/>
                <a:ea typeface="Aptos" pitchFamily="34" charset="-122"/>
                <a:cs typeface="Aptos" pitchFamily="34" charset="-120"/>
              </a:rPr>
              <a:t>“Positive” = predicted fraud, not “good news”</a:t>
            </a:r>
            <a:endParaRPr lang="en-US" sz="1500" dirty="0"/>
          </a:p>
        </p:txBody>
      </p:sp>
      <p:sp>
        <p:nvSpPr>
          <p:cNvPr id="22" name="Text 19"/>
          <p:cNvSpPr txBox="1"/>
          <p:nvPr/>
        </p:nvSpPr>
        <p:spPr>
          <a:xfrm>
            <a:off x="822960" y="5669280"/>
            <a:ext cx="10515600" cy="502920"/>
          </a:xfrm>
          <a:prstGeom prst="rect">
            <a:avLst/>
          </a:prstGeom>
          <a:noFill/>
          <a:ln/>
        </p:spPr>
        <p:txBody>
          <a:bodyPr wrap="square" lIns="0" tIns="0" rIns="0" bIns="0" rtlCol="0" anchor="ctr"/>
          <a:lstStyle/>
          <a:p>
            <a:pPr marL="0" indent="0" algn="ctr">
              <a:buNone/>
            </a:pPr>
            <a:r>
              <a:rPr lang="en-US" sz="2100" b="1" dirty="0">
                <a:solidFill>
                  <a:srgbClr val="0B2D55"/>
                </a:solidFill>
                <a:latin typeface="Aptos" pitchFamily="34" charset="0"/>
                <a:ea typeface="Aptos" pitchFamily="34" charset="-122"/>
                <a:cs typeface="Aptos" pitchFamily="34" charset="-120"/>
              </a:rPr>
              <a:t>Two kinds of error. Two very different costs.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Three questions, three metrics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Each metric answers a different operational question.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15</a:t>
            </a:r>
            <a:endParaRPr lang="en-US" sz="850" dirty="0"/>
          </a:p>
        </p:txBody>
      </p:sp>
      <p:sp>
        <p:nvSpPr>
          <p:cNvPr id="7" name="Shape 4"/>
          <p:cNvSpPr/>
          <p:nvPr/>
        </p:nvSpPr>
        <p:spPr>
          <a:xfrm>
            <a:off x="576072" y="1554480"/>
            <a:ext cx="3566160" cy="411480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8" name="Text 5"/>
          <p:cNvSpPr txBox="1"/>
          <p:nvPr/>
        </p:nvSpPr>
        <p:spPr>
          <a:xfrm>
            <a:off x="804672" y="1691640"/>
            <a:ext cx="3108960" cy="411480"/>
          </a:xfrm>
          <a:prstGeom prst="rect">
            <a:avLst/>
          </a:prstGeom>
          <a:noFill/>
          <a:ln/>
        </p:spPr>
        <p:txBody>
          <a:bodyPr wrap="square" lIns="0" tIns="0" rIns="0" bIns="0" rtlCol="0" anchor="t"/>
          <a:lstStyle/>
          <a:p>
            <a:pPr marL="0" indent="0" algn="ctr">
              <a:buNone/>
            </a:pPr>
            <a:r>
              <a:rPr lang="en-US" sz="2400" b="1" dirty="0">
                <a:solidFill>
                  <a:srgbClr val="0B2D55"/>
                </a:solidFill>
                <a:latin typeface="Aptos" pitchFamily="34" charset="0"/>
                <a:ea typeface="Aptos" pitchFamily="34" charset="-122"/>
                <a:cs typeface="Aptos" pitchFamily="34" charset="-120"/>
              </a:rPr>
              <a:t>Precision</a:t>
            </a:r>
            <a:endParaRPr lang="en-US" sz="2400" dirty="0"/>
          </a:p>
        </p:txBody>
      </p:sp>
      <p:sp>
        <p:nvSpPr>
          <p:cNvPr id="9" name="Text 6"/>
          <p:cNvSpPr txBox="1"/>
          <p:nvPr/>
        </p:nvSpPr>
        <p:spPr>
          <a:xfrm>
            <a:off x="804672" y="2148840"/>
            <a:ext cx="3108960" cy="59436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When it flags fraud, is it right?</a:t>
            </a:r>
            <a:endParaRPr lang="en-US" sz="1500" dirty="0"/>
          </a:p>
        </p:txBody>
      </p:sp>
      <p:sp>
        <p:nvSpPr>
          <p:cNvPr id="10" name="Text 7"/>
          <p:cNvSpPr txBox="1"/>
          <p:nvPr/>
        </p:nvSpPr>
        <p:spPr>
          <a:xfrm>
            <a:off x="758952" y="2788920"/>
            <a:ext cx="3200400" cy="457200"/>
          </a:xfrm>
          <a:prstGeom prst="rect">
            <a:avLst/>
          </a:prstGeom>
          <a:noFill/>
          <a:ln/>
        </p:spPr>
        <p:txBody>
          <a:bodyPr wrap="square" lIns="0" tIns="0" rIns="0" bIns="0" rtlCol="0" anchor="ctr"/>
          <a:lstStyle/>
          <a:p>
            <a:pPr marL="0" indent="0" algn="ctr">
              <a:buNone/>
            </a:pPr>
            <a:r>
              <a:rPr lang="en-US" sz="2000" b="1" dirty="0">
                <a:solidFill>
                  <a:srgbClr val="1D5FA7"/>
                </a:solidFill>
                <a:latin typeface="Aptos" pitchFamily="34" charset="0"/>
                <a:ea typeface="Aptos" pitchFamily="34" charset="-122"/>
                <a:cs typeface="Aptos" pitchFamily="34" charset="-120"/>
              </a:rPr>
              <a:t>TP / (TP + FP)</a:t>
            </a:r>
            <a:endParaRPr lang="en-US" sz="2000" dirty="0"/>
          </a:p>
        </p:txBody>
      </p:sp>
      <p:sp>
        <p:nvSpPr>
          <p:cNvPr id="11" name="Shape 8"/>
          <p:cNvSpPr/>
          <p:nvPr/>
        </p:nvSpPr>
        <p:spPr>
          <a:xfrm>
            <a:off x="1581912" y="3520440"/>
            <a:ext cx="731520" cy="731520"/>
          </a:xfrm>
          <a:prstGeom prst="rect">
            <a:avLst/>
          </a:prstGeom>
          <a:solidFill>
            <a:srgbClr val="1D5FA7"/>
          </a:solidFill>
          <a:ln w="31750">
            <a:solidFill>
              <a:srgbClr val="FFFFFF"/>
            </a:solidFill>
            <a:prstDash val="solid"/>
          </a:ln>
        </p:spPr>
        <p:txBody>
          <a:bodyPr/>
          <a:lstStyle/>
          <a:p>
            <a:endParaRPr lang="en-US"/>
          </a:p>
        </p:txBody>
      </p:sp>
      <p:sp>
        <p:nvSpPr>
          <p:cNvPr id="12" name="Text 9"/>
          <p:cNvSpPr txBox="1"/>
          <p:nvPr/>
        </p:nvSpPr>
        <p:spPr>
          <a:xfrm>
            <a:off x="1581912" y="35204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TP</a:t>
            </a:r>
            <a:endParaRPr lang="en-US" sz="1500" dirty="0"/>
          </a:p>
        </p:txBody>
      </p:sp>
      <p:sp>
        <p:nvSpPr>
          <p:cNvPr id="13" name="Shape 10"/>
          <p:cNvSpPr/>
          <p:nvPr/>
        </p:nvSpPr>
        <p:spPr>
          <a:xfrm>
            <a:off x="2313432" y="3520440"/>
            <a:ext cx="731520" cy="731520"/>
          </a:xfrm>
          <a:prstGeom prst="rect">
            <a:avLst/>
          </a:prstGeom>
          <a:solidFill>
            <a:srgbClr val="EEF1F5"/>
          </a:solidFill>
          <a:ln w="31750">
            <a:solidFill>
              <a:srgbClr val="FFFFFF"/>
            </a:solidFill>
            <a:prstDash val="solid"/>
          </a:ln>
        </p:spPr>
        <p:txBody>
          <a:bodyPr/>
          <a:lstStyle/>
          <a:p>
            <a:endParaRPr lang="en-US"/>
          </a:p>
        </p:txBody>
      </p:sp>
      <p:sp>
        <p:nvSpPr>
          <p:cNvPr id="14" name="Text 11"/>
          <p:cNvSpPr txBox="1"/>
          <p:nvPr/>
        </p:nvSpPr>
        <p:spPr>
          <a:xfrm>
            <a:off x="2313432" y="3520440"/>
            <a:ext cx="731520" cy="731520"/>
          </a:xfrm>
          <a:prstGeom prst="rect">
            <a:avLst/>
          </a:prstGeom>
          <a:noFill/>
          <a:ln/>
        </p:spPr>
        <p:txBody>
          <a:bodyPr wrap="square" lIns="0" tIns="0" rIns="0" bIns="0" rtlCol="0" anchor="ctr"/>
          <a:lstStyle/>
          <a:p>
            <a:pPr marL="0" indent="0" algn="ctr">
              <a:buNone/>
            </a:pPr>
            <a:r>
              <a:rPr lang="en-US" sz="1500" b="1" dirty="0">
                <a:solidFill>
                  <a:srgbClr val="9AA8B8"/>
                </a:solidFill>
                <a:latin typeface="Aptos" pitchFamily="34" charset="0"/>
                <a:ea typeface="Aptos" pitchFamily="34" charset="-122"/>
                <a:cs typeface="Aptos" pitchFamily="34" charset="-120"/>
              </a:rPr>
              <a:t>FN</a:t>
            </a:r>
            <a:endParaRPr lang="en-US" sz="1500" dirty="0"/>
          </a:p>
        </p:txBody>
      </p:sp>
      <p:sp>
        <p:nvSpPr>
          <p:cNvPr id="15" name="Shape 12"/>
          <p:cNvSpPr/>
          <p:nvPr/>
        </p:nvSpPr>
        <p:spPr>
          <a:xfrm>
            <a:off x="1581912" y="4251960"/>
            <a:ext cx="731520" cy="731520"/>
          </a:xfrm>
          <a:prstGeom prst="rect">
            <a:avLst/>
          </a:prstGeom>
          <a:solidFill>
            <a:srgbClr val="1D5FA7"/>
          </a:solidFill>
          <a:ln w="31750">
            <a:solidFill>
              <a:srgbClr val="FFFFFF"/>
            </a:solidFill>
            <a:prstDash val="solid"/>
          </a:ln>
        </p:spPr>
        <p:txBody>
          <a:bodyPr/>
          <a:lstStyle/>
          <a:p>
            <a:endParaRPr lang="en-US"/>
          </a:p>
        </p:txBody>
      </p:sp>
      <p:sp>
        <p:nvSpPr>
          <p:cNvPr id="16" name="Text 13"/>
          <p:cNvSpPr txBox="1"/>
          <p:nvPr/>
        </p:nvSpPr>
        <p:spPr>
          <a:xfrm>
            <a:off x="1581912" y="425196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FP</a:t>
            </a:r>
            <a:endParaRPr lang="en-US" sz="1500" dirty="0"/>
          </a:p>
        </p:txBody>
      </p:sp>
      <p:sp>
        <p:nvSpPr>
          <p:cNvPr id="17" name="Shape 14"/>
          <p:cNvSpPr/>
          <p:nvPr/>
        </p:nvSpPr>
        <p:spPr>
          <a:xfrm>
            <a:off x="2313432" y="4251960"/>
            <a:ext cx="731520" cy="731520"/>
          </a:xfrm>
          <a:prstGeom prst="rect">
            <a:avLst/>
          </a:prstGeom>
          <a:solidFill>
            <a:srgbClr val="EEF1F5"/>
          </a:solidFill>
          <a:ln w="31750">
            <a:solidFill>
              <a:srgbClr val="FFFFFF"/>
            </a:solidFill>
            <a:prstDash val="solid"/>
          </a:ln>
        </p:spPr>
        <p:txBody>
          <a:bodyPr/>
          <a:lstStyle/>
          <a:p>
            <a:endParaRPr lang="en-US"/>
          </a:p>
        </p:txBody>
      </p:sp>
      <p:sp>
        <p:nvSpPr>
          <p:cNvPr id="18" name="Text 15"/>
          <p:cNvSpPr txBox="1"/>
          <p:nvPr/>
        </p:nvSpPr>
        <p:spPr>
          <a:xfrm>
            <a:off x="2313432" y="4251960"/>
            <a:ext cx="731520" cy="731520"/>
          </a:xfrm>
          <a:prstGeom prst="rect">
            <a:avLst/>
          </a:prstGeom>
          <a:noFill/>
          <a:ln/>
        </p:spPr>
        <p:txBody>
          <a:bodyPr wrap="square" lIns="0" tIns="0" rIns="0" bIns="0" rtlCol="0" anchor="ctr"/>
          <a:lstStyle/>
          <a:p>
            <a:pPr marL="0" indent="0" algn="ctr">
              <a:buNone/>
            </a:pPr>
            <a:r>
              <a:rPr lang="en-US" sz="1500" b="1" dirty="0">
                <a:solidFill>
                  <a:srgbClr val="9AA8B8"/>
                </a:solidFill>
                <a:latin typeface="Aptos" pitchFamily="34" charset="0"/>
                <a:ea typeface="Aptos" pitchFamily="34" charset="-122"/>
                <a:cs typeface="Aptos" pitchFamily="34" charset="-120"/>
              </a:rPr>
              <a:t>TN</a:t>
            </a:r>
            <a:endParaRPr lang="en-US" sz="1500" dirty="0"/>
          </a:p>
        </p:txBody>
      </p:sp>
      <p:sp>
        <p:nvSpPr>
          <p:cNvPr id="19" name="Text 16"/>
          <p:cNvSpPr txBox="1"/>
          <p:nvPr/>
        </p:nvSpPr>
        <p:spPr>
          <a:xfrm>
            <a:off x="758952" y="5074920"/>
            <a:ext cx="3200400" cy="365760"/>
          </a:xfrm>
          <a:prstGeom prst="rect">
            <a:avLst/>
          </a:prstGeom>
          <a:noFill/>
          <a:ln/>
        </p:spPr>
        <p:txBody>
          <a:bodyPr wrap="square" lIns="0" tIns="0" rIns="0" bIns="0" rtlCol="0" anchor="t"/>
          <a:lstStyle/>
          <a:p>
            <a:pPr marL="0" indent="0" algn="ctr">
              <a:buNone/>
            </a:pPr>
            <a:r>
              <a:rPr lang="en-US" sz="1350" i="1" dirty="0">
                <a:solidFill>
                  <a:srgbClr val="6D7C8F"/>
                </a:solidFill>
                <a:latin typeface="Aptos" pitchFamily="34" charset="0"/>
                <a:ea typeface="Aptos" pitchFamily="34" charset="-122"/>
                <a:cs typeface="Aptos" pitchFamily="34" charset="-120"/>
              </a:rPr>
              <a:t>“Predicted fraud” column</a:t>
            </a:r>
            <a:endParaRPr lang="en-US" sz="1350" dirty="0"/>
          </a:p>
        </p:txBody>
      </p:sp>
      <p:sp>
        <p:nvSpPr>
          <p:cNvPr id="20" name="Shape 17"/>
          <p:cNvSpPr/>
          <p:nvPr/>
        </p:nvSpPr>
        <p:spPr>
          <a:xfrm>
            <a:off x="4361688" y="1554480"/>
            <a:ext cx="3566160" cy="411480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21" name="Text 18"/>
          <p:cNvSpPr txBox="1"/>
          <p:nvPr/>
        </p:nvSpPr>
        <p:spPr>
          <a:xfrm>
            <a:off x="4590288" y="1691640"/>
            <a:ext cx="3108960" cy="411480"/>
          </a:xfrm>
          <a:prstGeom prst="rect">
            <a:avLst/>
          </a:prstGeom>
          <a:noFill/>
          <a:ln/>
        </p:spPr>
        <p:txBody>
          <a:bodyPr wrap="square" lIns="0" tIns="0" rIns="0" bIns="0" rtlCol="0" anchor="t"/>
          <a:lstStyle/>
          <a:p>
            <a:pPr marL="0" indent="0" algn="ctr">
              <a:buNone/>
            </a:pPr>
            <a:r>
              <a:rPr lang="en-US" sz="2400" b="1" dirty="0">
                <a:solidFill>
                  <a:srgbClr val="0B2D55"/>
                </a:solidFill>
                <a:latin typeface="Aptos" pitchFamily="34" charset="0"/>
                <a:ea typeface="Aptos" pitchFamily="34" charset="-122"/>
                <a:cs typeface="Aptos" pitchFamily="34" charset="-120"/>
              </a:rPr>
              <a:t>Recall</a:t>
            </a:r>
            <a:endParaRPr lang="en-US" sz="2400" dirty="0"/>
          </a:p>
        </p:txBody>
      </p:sp>
      <p:sp>
        <p:nvSpPr>
          <p:cNvPr id="22" name="Text 19"/>
          <p:cNvSpPr txBox="1"/>
          <p:nvPr/>
        </p:nvSpPr>
        <p:spPr>
          <a:xfrm>
            <a:off x="4590288" y="2148840"/>
            <a:ext cx="3108960" cy="59436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Of all real fraud, how much did it catch?</a:t>
            </a:r>
            <a:endParaRPr lang="en-US" sz="1500" dirty="0"/>
          </a:p>
        </p:txBody>
      </p:sp>
      <p:sp>
        <p:nvSpPr>
          <p:cNvPr id="23" name="Text 20"/>
          <p:cNvSpPr txBox="1"/>
          <p:nvPr/>
        </p:nvSpPr>
        <p:spPr>
          <a:xfrm>
            <a:off x="4544568" y="2788920"/>
            <a:ext cx="3200400" cy="457200"/>
          </a:xfrm>
          <a:prstGeom prst="rect">
            <a:avLst/>
          </a:prstGeom>
          <a:noFill/>
          <a:ln/>
        </p:spPr>
        <p:txBody>
          <a:bodyPr wrap="square" lIns="0" tIns="0" rIns="0" bIns="0" rtlCol="0" anchor="ctr"/>
          <a:lstStyle/>
          <a:p>
            <a:pPr marL="0" indent="0" algn="ctr">
              <a:buNone/>
            </a:pPr>
            <a:r>
              <a:rPr lang="en-US" sz="2000" b="1" dirty="0">
                <a:solidFill>
                  <a:srgbClr val="1D5FA7"/>
                </a:solidFill>
                <a:latin typeface="Aptos" pitchFamily="34" charset="0"/>
                <a:ea typeface="Aptos" pitchFamily="34" charset="-122"/>
                <a:cs typeface="Aptos" pitchFamily="34" charset="-120"/>
              </a:rPr>
              <a:t>TP / (TP + FN)</a:t>
            </a:r>
            <a:endParaRPr lang="en-US" sz="2000" dirty="0"/>
          </a:p>
        </p:txBody>
      </p:sp>
      <p:sp>
        <p:nvSpPr>
          <p:cNvPr id="24" name="Shape 21"/>
          <p:cNvSpPr/>
          <p:nvPr/>
        </p:nvSpPr>
        <p:spPr>
          <a:xfrm>
            <a:off x="5367528" y="3520440"/>
            <a:ext cx="731520" cy="731520"/>
          </a:xfrm>
          <a:prstGeom prst="rect">
            <a:avLst/>
          </a:prstGeom>
          <a:solidFill>
            <a:srgbClr val="1D5FA7"/>
          </a:solidFill>
          <a:ln w="31750">
            <a:solidFill>
              <a:srgbClr val="FFFFFF"/>
            </a:solidFill>
            <a:prstDash val="solid"/>
          </a:ln>
        </p:spPr>
        <p:txBody>
          <a:bodyPr/>
          <a:lstStyle/>
          <a:p>
            <a:endParaRPr lang="en-US"/>
          </a:p>
        </p:txBody>
      </p:sp>
      <p:sp>
        <p:nvSpPr>
          <p:cNvPr id="25" name="Text 22"/>
          <p:cNvSpPr txBox="1"/>
          <p:nvPr/>
        </p:nvSpPr>
        <p:spPr>
          <a:xfrm>
            <a:off x="5367528" y="35204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TP</a:t>
            </a:r>
            <a:endParaRPr lang="en-US" sz="1500" dirty="0"/>
          </a:p>
        </p:txBody>
      </p:sp>
      <p:sp>
        <p:nvSpPr>
          <p:cNvPr id="26" name="Shape 23"/>
          <p:cNvSpPr/>
          <p:nvPr/>
        </p:nvSpPr>
        <p:spPr>
          <a:xfrm>
            <a:off x="6099048" y="3520440"/>
            <a:ext cx="731520" cy="731520"/>
          </a:xfrm>
          <a:prstGeom prst="rect">
            <a:avLst/>
          </a:prstGeom>
          <a:solidFill>
            <a:srgbClr val="1D5FA7"/>
          </a:solidFill>
          <a:ln w="31750">
            <a:solidFill>
              <a:srgbClr val="FFFFFF"/>
            </a:solidFill>
            <a:prstDash val="solid"/>
          </a:ln>
        </p:spPr>
        <p:txBody>
          <a:bodyPr/>
          <a:lstStyle/>
          <a:p>
            <a:endParaRPr lang="en-US"/>
          </a:p>
        </p:txBody>
      </p:sp>
      <p:sp>
        <p:nvSpPr>
          <p:cNvPr id="27" name="Text 24"/>
          <p:cNvSpPr txBox="1"/>
          <p:nvPr/>
        </p:nvSpPr>
        <p:spPr>
          <a:xfrm>
            <a:off x="6099048" y="35204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FN</a:t>
            </a:r>
            <a:endParaRPr lang="en-US" sz="1500" dirty="0"/>
          </a:p>
        </p:txBody>
      </p:sp>
      <p:sp>
        <p:nvSpPr>
          <p:cNvPr id="28" name="Shape 25"/>
          <p:cNvSpPr/>
          <p:nvPr/>
        </p:nvSpPr>
        <p:spPr>
          <a:xfrm>
            <a:off x="5367528" y="4251960"/>
            <a:ext cx="731520" cy="731520"/>
          </a:xfrm>
          <a:prstGeom prst="rect">
            <a:avLst/>
          </a:prstGeom>
          <a:solidFill>
            <a:srgbClr val="EEF1F5"/>
          </a:solidFill>
          <a:ln w="31750">
            <a:solidFill>
              <a:srgbClr val="FFFFFF"/>
            </a:solidFill>
            <a:prstDash val="solid"/>
          </a:ln>
        </p:spPr>
        <p:txBody>
          <a:bodyPr/>
          <a:lstStyle/>
          <a:p>
            <a:endParaRPr lang="en-US"/>
          </a:p>
        </p:txBody>
      </p:sp>
      <p:sp>
        <p:nvSpPr>
          <p:cNvPr id="29" name="Text 26"/>
          <p:cNvSpPr txBox="1"/>
          <p:nvPr/>
        </p:nvSpPr>
        <p:spPr>
          <a:xfrm>
            <a:off x="5367528" y="4251960"/>
            <a:ext cx="731520" cy="731520"/>
          </a:xfrm>
          <a:prstGeom prst="rect">
            <a:avLst/>
          </a:prstGeom>
          <a:noFill/>
          <a:ln/>
        </p:spPr>
        <p:txBody>
          <a:bodyPr wrap="square" lIns="0" tIns="0" rIns="0" bIns="0" rtlCol="0" anchor="ctr"/>
          <a:lstStyle/>
          <a:p>
            <a:pPr marL="0" indent="0" algn="ctr">
              <a:buNone/>
            </a:pPr>
            <a:r>
              <a:rPr lang="en-US" sz="1500" b="1" dirty="0">
                <a:solidFill>
                  <a:srgbClr val="9AA8B8"/>
                </a:solidFill>
                <a:latin typeface="Aptos" pitchFamily="34" charset="0"/>
                <a:ea typeface="Aptos" pitchFamily="34" charset="-122"/>
                <a:cs typeface="Aptos" pitchFamily="34" charset="-120"/>
              </a:rPr>
              <a:t>FP</a:t>
            </a:r>
            <a:endParaRPr lang="en-US" sz="1500" dirty="0"/>
          </a:p>
        </p:txBody>
      </p:sp>
      <p:sp>
        <p:nvSpPr>
          <p:cNvPr id="30" name="Shape 27"/>
          <p:cNvSpPr/>
          <p:nvPr/>
        </p:nvSpPr>
        <p:spPr>
          <a:xfrm>
            <a:off x="6099048" y="4251960"/>
            <a:ext cx="731520" cy="731520"/>
          </a:xfrm>
          <a:prstGeom prst="rect">
            <a:avLst/>
          </a:prstGeom>
          <a:solidFill>
            <a:srgbClr val="EEF1F5"/>
          </a:solidFill>
          <a:ln w="31750">
            <a:solidFill>
              <a:srgbClr val="FFFFFF"/>
            </a:solidFill>
            <a:prstDash val="solid"/>
          </a:ln>
        </p:spPr>
        <p:txBody>
          <a:bodyPr/>
          <a:lstStyle/>
          <a:p>
            <a:endParaRPr lang="en-US"/>
          </a:p>
        </p:txBody>
      </p:sp>
      <p:sp>
        <p:nvSpPr>
          <p:cNvPr id="31" name="Text 28"/>
          <p:cNvSpPr txBox="1"/>
          <p:nvPr/>
        </p:nvSpPr>
        <p:spPr>
          <a:xfrm>
            <a:off x="6099048" y="4251960"/>
            <a:ext cx="731520" cy="731520"/>
          </a:xfrm>
          <a:prstGeom prst="rect">
            <a:avLst/>
          </a:prstGeom>
          <a:noFill/>
          <a:ln/>
        </p:spPr>
        <p:txBody>
          <a:bodyPr wrap="square" lIns="0" tIns="0" rIns="0" bIns="0" rtlCol="0" anchor="ctr"/>
          <a:lstStyle/>
          <a:p>
            <a:pPr marL="0" indent="0" algn="ctr">
              <a:buNone/>
            </a:pPr>
            <a:r>
              <a:rPr lang="en-US" sz="1500" b="1" dirty="0">
                <a:solidFill>
                  <a:srgbClr val="9AA8B8"/>
                </a:solidFill>
                <a:latin typeface="Aptos" pitchFamily="34" charset="0"/>
                <a:ea typeface="Aptos" pitchFamily="34" charset="-122"/>
                <a:cs typeface="Aptos" pitchFamily="34" charset="-120"/>
              </a:rPr>
              <a:t>TN</a:t>
            </a:r>
            <a:endParaRPr lang="en-US" sz="1500" dirty="0"/>
          </a:p>
        </p:txBody>
      </p:sp>
      <p:sp>
        <p:nvSpPr>
          <p:cNvPr id="32" name="Text 29"/>
          <p:cNvSpPr txBox="1"/>
          <p:nvPr/>
        </p:nvSpPr>
        <p:spPr>
          <a:xfrm>
            <a:off x="4544568" y="5074920"/>
            <a:ext cx="3200400" cy="365760"/>
          </a:xfrm>
          <a:prstGeom prst="rect">
            <a:avLst/>
          </a:prstGeom>
          <a:noFill/>
          <a:ln/>
        </p:spPr>
        <p:txBody>
          <a:bodyPr wrap="square" lIns="0" tIns="0" rIns="0" bIns="0" rtlCol="0" anchor="t"/>
          <a:lstStyle/>
          <a:p>
            <a:pPr marL="0" indent="0" algn="ctr">
              <a:buNone/>
            </a:pPr>
            <a:r>
              <a:rPr lang="en-US" sz="1350" i="1" dirty="0">
                <a:solidFill>
                  <a:srgbClr val="6D7C8F"/>
                </a:solidFill>
                <a:latin typeface="Aptos" pitchFamily="34" charset="0"/>
                <a:ea typeface="Aptos" pitchFamily="34" charset="-122"/>
                <a:cs typeface="Aptos" pitchFamily="34" charset="-120"/>
              </a:rPr>
              <a:t>“Actual fraud” row</a:t>
            </a:r>
            <a:endParaRPr lang="en-US" sz="1350" dirty="0"/>
          </a:p>
        </p:txBody>
      </p:sp>
      <p:sp>
        <p:nvSpPr>
          <p:cNvPr id="33" name="Shape 30"/>
          <p:cNvSpPr/>
          <p:nvPr/>
        </p:nvSpPr>
        <p:spPr>
          <a:xfrm>
            <a:off x="8147304" y="1554480"/>
            <a:ext cx="3566160" cy="4114800"/>
          </a:xfrm>
          <a:prstGeom prst="roundRect">
            <a:avLst>
              <a:gd name="adj" fmla="val 2051"/>
            </a:avLst>
          </a:prstGeom>
          <a:solidFill>
            <a:srgbClr val="FFFFFF"/>
          </a:solidFill>
          <a:ln w="12700">
            <a:solidFill>
              <a:srgbClr val="B8C7D8"/>
            </a:solidFill>
            <a:prstDash val="solid"/>
          </a:ln>
        </p:spPr>
        <p:txBody>
          <a:bodyPr/>
          <a:lstStyle/>
          <a:p>
            <a:endParaRPr lang="en-US"/>
          </a:p>
        </p:txBody>
      </p:sp>
      <p:sp>
        <p:nvSpPr>
          <p:cNvPr id="34" name="Text 31"/>
          <p:cNvSpPr txBox="1"/>
          <p:nvPr/>
        </p:nvSpPr>
        <p:spPr>
          <a:xfrm>
            <a:off x="8375904" y="1691640"/>
            <a:ext cx="3108960" cy="411480"/>
          </a:xfrm>
          <a:prstGeom prst="rect">
            <a:avLst/>
          </a:prstGeom>
          <a:noFill/>
          <a:ln/>
        </p:spPr>
        <p:txBody>
          <a:bodyPr wrap="square" lIns="0" tIns="0" rIns="0" bIns="0" rtlCol="0" anchor="t"/>
          <a:lstStyle/>
          <a:p>
            <a:pPr marL="0" indent="0" algn="ctr">
              <a:buNone/>
            </a:pPr>
            <a:r>
              <a:rPr lang="en-US" sz="2400" b="1" dirty="0">
                <a:solidFill>
                  <a:srgbClr val="0B2D55"/>
                </a:solidFill>
                <a:latin typeface="Aptos" pitchFamily="34" charset="0"/>
                <a:ea typeface="Aptos" pitchFamily="34" charset="-122"/>
                <a:cs typeface="Aptos" pitchFamily="34" charset="-120"/>
              </a:rPr>
              <a:t>F1 score</a:t>
            </a:r>
            <a:endParaRPr lang="en-US" sz="2400" dirty="0"/>
          </a:p>
        </p:txBody>
      </p:sp>
      <p:sp>
        <p:nvSpPr>
          <p:cNvPr id="35" name="Text 32"/>
          <p:cNvSpPr txBox="1"/>
          <p:nvPr/>
        </p:nvSpPr>
        <p:spPr>
          <a:xfrm>
            <a:off x="8375904" y="2148840"/>
            <a:ext cx="3108960" cy="59436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One number that balances both</a:t>
            </a:r>
            <a:endParaRPr lang="en-US" sz="1500" dirty="0"/>
          </a:p>
        </p:txBody>
      </p:sp>
      <p:sp>
        <p:nvSpPr>
          <p:cNvPr id="36" name="Text 33"/>
          <p:cNvSpPr txBox="1"/>
          <p:nvPr/>
        </p:nvSpPr>
        <p:spPr>
          <a:xfrm>
            <a:off x="8330184" y="2788920"/>
            <a:ext cx="3200400" cy="457200"/>
          </a:xfrm>
          <a:prstGeom prst="rect">
            <a:avLst/>
          </a:prstGeom>
          <a:noFill/>
          <a:ln/>
        </p:spPr>
        <p:txBody>
          <a:bodyPr wrap="square" lIns="0" tIns="0" rIns="0" bIns="0" rtlCol="0" anchor="ctr"/>
          <a:lstStyle/>
          <a:p>
            <a:pPr marL="0" indent="0" algn="ctr">
              <a:buNone/>
            </a:pPr>
            <a:r>
              <a:rPr lang="en-US" sz="2000" b="1" dirty="0">
                <a:solidFill>
                  <a:srgbClr val="1D5FA7"/>
                </a:solidFill>
                <a:latin typeface="Aptos" pitchFamily="34" charset="0"/>
                <a:ea typeface="Aptos" pitchFamily="34" charset="-122"/>
                <a:cs typeface="Aptos" pitchFamily="34" charset="-120"/>
              </a:rPr>
              <a:t>2 × P × R / (P + R)</a:t>
            </a:r>
            <a:endParaRPr lang="en-US" sz="2000" dirty="0"/>
          </a:p>
        </p:txBody>
      </p:sp>
      <p:sp>
        <p:nvSpPr>
          <p:cNvPr id="37" name="Shape 34"/>
          <p:cNvSpPr/>
          <p:nvPr/>
        </p:nvSpPr>
        <p:spPr>
          <a:xfrm>
            <a:off x="9153144" y="3520440"/>
            <a:ext cx="731520" cy="731520"/>
          </a:xfrm>
          <a:prstGeom prst="rect">
            <a:avLst/>
          </a:prstGeom>
          <a:solidFill>
            <a:srgbClr val="1D5FA7"/>
          </a:solidFill>
          <a:ln w="31750">
            <a:solidFill>
              <a:srgbClr val="FFFFFF"/>
            </a:solidFill>
            <a:prstDash val="solid"/>
          </a:ln>
        </p:spPr>
        <p:txBody>
          <a:bodyPr/>
          <a:lstStyle/>
          <a:p>
            <a:endParaRPr lang="en-US"/>
          </a:p>
        </p:txBody>
      </p:sp>
      <p:sp>
        <p:nvSpPr>
          <p:cNvPr id="38" name="Text 35"/>
          <p:cNvSpPr txBox="1"/>
          <p:nvPr/>
        </p:nvSpPr>
        <p:spPr>
          <a:xfrm>
            <a:off x="9153144" y="35204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TP</a:t>
            </a:r>
            <a:endParaRPr lang="en-US" sz="1500" dirty="0"/>
          </a:p>
        </p:txBody>
      </p:sp>
      <p:sp>
        <p:nvSpPr>
          <p:cNvPr id="39" name="Shape 36"/>
          <p:cNvSpPr/>
          <p:nvPr/>
        </p:nvSpPr>
        <p:spPr>
          <a:xfrm>
            <a:off x="9884664" y="3520440"/>
            <a:ext cx="731520" cy="731520"/>
          </a:xfrm>
          <a:prstGeom prst="rect">
            <a:avLst/>
          </a:prstGeom>
          <a:solidFill>
            <a:srgbClr val="1D5FA7"/>
          </a:solidFill>
          <a:ln w="31750">
            <a:solidFill>
              <a:srgbClr val="FFFFFF"/>
            </a:solidFill>
            <a:prstDash val="solid"/>
          </a:ln>
        </p:spPr>
        <p:txBody>
          <a:bodyPr/>
          <a:lstStyle/>
          <a:p>
            <a:endParaRPr lang="en-US"/>
          </a:p>
        </p:txBody>
      </p:sp>
      <p:sp>
        <p:nvSpPr>
          <p:cNvPr id="40" name="Text 37"/>
          <p:cNvSpPr txBox="1"/>
          <p:nvPr/>
        </p:nvSpPr>
        <p:spPr>
          <a:xfrm>
            <a:off x="9884664" y="352044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FN</a:t>
            </a:r>
            <a:endParaRPr lang="en-US" sz="1500" dirty="0"/>
          </a:p>
        </p:txBody>
      </p:sp>
      <p:sp>
        <p:nvSpPr>
          <p:cNvPr id="41" name="Shape 38"/>
          <p:cNvSpPr/>
          <p:nvPr/>
        </p:nvSpPr>
        <p:spPr>
          <a:xfrm>
            <a:off x="9153144" y="4251960"/>
            <a:ext cx="731520" cy="731520"/>
          </a:xfrm>
          <a:prstGeom prst="rect">
            <a:avLst/>
          </a:prstGeom>
          <a:solidFill>
            <a:srgbClr val="1D5FA7"/>
          </a:solidFill>
          <a:ln w="31750">
            <a:solidFill>
              <a:srgbClr val="FFFFFF"/>
            </a:solidFill>
            <a:prstDash val="solid"/>
          </a:ln>
        </p:spPr>
        <p:txBody>
          <a:bodyPr/>
          <a:lstStyle/>
          <a:p>
            <a:endParaRPr lang="en-US"/>
          </a:p>
        </p:txBody>
      </p:sp>
      <p:sp>
        <p:nvSpPr>
          <p:cNvPr id="42" name="Text 39"/>
          <p:cNvSpPr txBox="1"/>
          <p:nvPr/>
        </p:nvSpPr>
        <p:spPr>
          <a:xfrm>
            <a:off x="9153144" y="4251960"/>
            <a:ext cx="731520" cy="73152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FP</a:t>
            </a:r>
            <a:endParaRPr lang="en-US" sz="1500" dirty="0"/>
          </a:p>
        </p:txBody>
      </p:sp>
      <p:sp>
        <p:nvSpPr>
          <p:cNvPr id="43" name="Shape 40"/>
          <p:cNvSpPr/>
          <p:nvPr/>
        </p:nvSpPr>
        <p:spPr>
          <a:xfrm>
            <a:off x="9884664" y="4251960"/>
            <a:ext cx="731520" cy="731520"/>
          </a:xfrm>
          <a:prstGeom prst="rect">
            <a:avLst/>
          </a:prstGeom>
          <a:solidFill>
            <a:srgbClr val="EEF1F5"/>
          </a:solidFill>
          <a:ln w="31750">
            <a:solidFill>
              <a:srgbClr val="FFFFFF"/>
            </a:solidFill>
            <a:prstDash val="solid"/>
          </a:ln>
        </p:spPr>
        <p:txBody>
          <a:bodyPr/>
          <a:lstStyle/>
          <a:p>
            <a:endParaRPr lang="en-US"/>
          </a:p>
        </p:txBody>
      </p:sp>
      <p:sp>
        <p:nvSpPr>
          <p:cNvPr id="44" name="Text 41"/>
          <p:cNvSpPr txBox="1"/>
          <p:nvPr/>
        </p:nvSpPr>
        <p:spPr>
          <a:xfrm>
            <a:off x="9884664" y="4251960"/>
            <a:ext cx="731520" cy="731520"/>
          </a:xfrm>
          <a:prstGeom prst="rect">
            <a:avLst/>
          </a:prstGeom>
          <a:noFill/>
          <a:ln/>
        </p:spPr>
        <p:txBody>
          <a:bodyPr wrap="square" lIns="0" tIns="0" rIns="0" bIns="0" rtlCol="0" anchor="ctr"/>
          <a:lstStyle/>
          <a:p>
            <a:pPr marL="0" indent="0" algn="ctr">
              <a:buNone/>
            </a:pPr>
            <a:r>
              <a:rPr lang="en-US" sz="1500" b="1" dirty="0">
                <a:solidFill>
                  <a:srgbClr val="9AA8B8"/>
                </a:solidFill>
                <a:latin typeface="Aptos" pitchFamily="34" charset="0"/>
                <a:ea typeface="Aptos" pitchFamily="34" charset="-122"/>
                <a:cs typeface="Aptos" pitchFamily="34" charset="-120"/>
              </a:rPr>
              <a:t>TN</a:t>
            </a:r>
            <a:endParaRPr lang="en-US" sz="1500" dirty="0"/>
          </a:p>
        </p:txBody>
      </p:sp>
      <p:sp>
        <p:nvSpPr>
          <p:cNvPr id="45" name="Text 42"/>
          <p:cNvSpPr txBox="1"/>
          <p:nvPr/>
        </p:nvSpPr>
        <p:spPr>
          <a:xfrm>
            <a:off x="8330184" y="5074920"/>
            <a:ext cx="3200400" cy="365760"/>
          </a:xfrm>
          <a:prstGeom prst="rect">
            <a:avLst/>
          </a:prstGeom>
          <a:noFill/>
          <a:ln/>
        </p:spPr>
        <p:txBody>
          <a:bodyPr wrap="square" lIns="0" tIns="0" rIns="0" bIns="0" rtlCol="0" anchor="t"/>
          <a:lstStyle/>
          <a:p>
            <a:pPr marL="0" indent="0" algn="ctr">
              <a:buNone/>
            </a:pPr>
            <a:r>
              <a:rPr lang="en-US" sz="1350" i="1" dirty="0">
                <a:solidFill>
                  <a:srgbClr val="6D7C8F"/>
                </a:solidFill>
                <a:latin typeface="Aptos" pitchFamily="34" charset="0"/>
                <a:ea typeface="Aptos" pitchFamily="34" charset="-122"/>
                <a:cs typeface="Aptos" pitchFamily="34" charset="-120"/>
              </a:rPr>
              <a:t>Never uses TN</a:t>
            </a:r>
            <a:endParaRPr lang="en-US" sz="1350" dirty="0"/>
          </a:p>
        </p:txBody>
      </p:sp>
      <p:sp>
        <p:nvSpPr>
          <p:cNvPr id="46" name="Text 43"/>
          <p:cNvSpPr txBox="1"/>
          <p:nvPr/>
        </p:nvSpPr>
        <p:spPr>
          <a:xfrm>
            <a:off x="822960" y="585216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None of these metrics rewards the easy true negatives.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score a real fraud model</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Same 1,000-transaction test set, with a model that actually tries.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16</a:t>
            </a:r>
            <a:endParaRPr lang="en-US" sz="850" dirty="0"/>
          </a:p>
        </p:txBody>
      </p:sp>
      <p:sp>
        <p:nvSpPr>
          <p:cNvPr id="7" name="Text 4"/>
          <p:cNvSpPr txBox="1"/>
          <p:nvPr/>
        </p:nvSpPr>
        <p:spPr>
          <a:xfrm>
            <a:off x="1764792" y="1600200"/>
            <a:ext cx="1920240" cy="45720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FRAUD</a:t>
            </a:r>
            <a:endParaRPr lang="en-US" sz="1400" dirty="0"/>
          </a:p>
        </p:txBody>
      </p:sp>
      <p:sp>
        <p:nvSpPr>
          <p:cNvPr id="8" name="Text 5"/>
          <p:cNvSpPr txBox="1"/>
          <p:nvPr/>
        </p:nvSpPr>
        <p:spPr>
          <a:xfrm>
            <a:off x="3685032" y="1600200"/>
            <a:ext cx="1920240" cy="45720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LEGIT</a:t>
            </a:r>
            <a:endParaRPr lang="en-US" sz="1400" dirty="0"/>
          </a:p>
        </p:txBody>
      </p:sp>
      <p:sp>
        <p:nvSpPr>
          <p:cNvPr id="9" name="Text 6"/>
          <p:cNvSpPr txBox="1"/>
          <p:nvPr/>
        </p:nvSpPr>
        <p:spPr>
          <a:xfrm>
            <a:off x="576072" y="2057400"/>
            <a:ext cx="1097280" cy="141732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FRAUD</a:t>
            </a:r>
            <a:endParaRPr lang="en-US" sz="1400" dirty="0"/>
          </a:p>
        </p:txBody>
      </p:sp>
      <p:sp>
        <p:nvSpPr>
          <p:cNvPr id="10" name="Text 7"/>
          <p:cNvSpPr txBox="1"/>
          <p:nvPr/>
        </p:nvSpPr>
        <p:spPr>
          <a:xfrm>
            <a:off x="576072" y="3474720"/>
            <a:ext cx="1097280" cy="141732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LEGIT</a:t>
            </a:r>
            <a:endParaRPr lang="en-US" sz="1400" dirty="0"/>
          </a:p>
        </p:txBody>
      </p:sp>
      <p:sp>
        <p:nvSpPr>
          <p:cNvPr id="11" name="Shape 8"/>
          <p:cNvSpPr/>
          <p:nvPr/>
        </p:nvSpPr>
        <p:spPr>
          <a:xfrm>
            <a:off x="1764792" y="2057400"/>
            <a:ext cx="1920240" cy="1417320"/>
          </a:xfrm>
          <a:prstGeom prst="rect">
            <a:avLst/>
          </a:prstGeom>
          <a:solidFill>
            <a:srgbClr val="DFF0D8"/>
          </a:solidFill>
          <a:ln w="38100">
            <a:solidFill>
              <a:srgbClr val="FFFFFF"/>
            </a:solidFill>
            <a:prstDash val="solid"/>
          </a:ln>
        </p:spPr>
        <p:txBody>
          <a:bodyPr/>
          <a:lstStyle/>
          <a:p>
            <a:endParaRPr lang="en-US"/>
          </a:p>
        </p:txBody>
      </p:sp>
      <p:sp>
        <p:nvSpPr>
          <p:cNvPr id="12" name="Text 9"/>
          <p:cNvSpPr txBox="1"/>
          <p:nvPr/>
        </p:nvSpPr>
        <p:spPr>
          <a:xfrm>
            <a:off x="1764792" y="2057400"/>
            <a:ext cx="1920240" cy="1417320"/>
          </a:xfrm>
          <a:prstGeom prst="rect">
            <a:avLst/>
          </a:prstGeom>
          <a:noFill/>
          <a:ln/>
        </p:spPr>
        <p:txBody>
          <a:bodyPr wrap="square" lIns="0" tIns="0" rIns="0" bIns="0" rtlCol="0" anchor="ctr"/>
          <a:lstStyle/>
          <a:p>
            <a:pPr marL="0" indent="0" algn="ctr">
              <a:buNone/>
            </a:pPr>
            <a:r>
              <a:rPr lang="en-US" sz="1400" b="1" dirty="0">
                <a:solidFill>
                  <a:srgbClr val="2E7D32"/>
                </a:solidFill>
                <a:latin typeface="Aptos" pitchFamily="34" charset="0"/>
                <a:ea typeface="Aptos" pitchFamily="34" charset="-122"/>
                <a:cs typeface="Aptos" pitchFamily="34" charset="-120"/>
              </a:rPr>
              <a:t>TP</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30</a:t>
            </a:r>
            <a:endParaRPr lang="en-US" sz="1600" dirty="0"/>
          </a:p>
        </p:txBody>
      </p:sp>
      <p:sp>
        <p:nvSpPr>
          <p:cNvPr id="13" name="Shape 10"/>
          <p:cNvSpPr/>
          <p:nvPr/>
        </p:nvSpPr>
        <p:spPr>
          <a:xfrm>
            <a:off x="3685032" y="2057400"/>
            <a:ext cx="1920240" cy="1417320"/>
          </a:xfrm>
          <a:prstGeom prst="rect">
            <a:avLst/>
          </a:prstGeom>
          <a:solidFill>
            <a:srgbClr val="F7D7D7"/>
          </a:solidFill>
          <a:ln w="38100">
            <a:solidFill>
              <a:srgbClr val="FFFFFF"/>
            </a:solidFill>
            <a:prstDash val="solid"/>
          </a:ln>
        </p:spPr>
        <p:txBody>
          <a:bodyPr/>
          <a:lstStyle/>
          <a:p>
            <a:endParaRPr lang="en-US"/>
          </a:p>
        </p:txBody>
      </p:sp>
      <p:sp>
        <p:nvSpPr>
          <p:cNvPr id="14" name="Text 11"/>
          <p:cNvSpPr txBox="1"/>
          <p:nvPr/>
        </p:nvSpPr>
        <p:spPr>
          <a:xfrm>
            <a:off x="3685032" y="2057400"/>
            <a:ext cx="1920240" cy="1417320"/>
          </a:xfrm>
          <a:prstGeom prst="rect">
            <a:avLst/>
          </a:prstGeom>
          <a:noFill/>
          <a:ln/>
        </p:spPr>
        <p:txBody>
          <a:bodyPr wrap="square" lIns="0" tIns="0" rIns="0" bIns="0" rtlCol="0" anchor="ctr"/>
          <a:lstStyle/>
          <a:p>
            <a:pPr marL="0" indent="0" algn="ctr">
              <a:buNone/>
            </a:pPr>
            <a:r>
              <a:rPr lang="en-US" sz="1400" b="1" dirty="0">
                <a:solidFill>
                  <a:srgbClr val="B43A3A"/>
                </a:solidFill>
                <a:latin typeface="Aptos" pitchFamily="34" charset="0"/>
                <a:ea typeface="Aptos" pitchFamily="34" charset="-122"/>
                <a:cs typeface="Aptos" pitchFamily="34" charset="-120"/>
              </a:rPr>
              <a:t>FN</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10</a:t>
            </a:r>
            <a:endParaRPr lang="en-US" sz="1600" dirty="0"/>
          </a:p>
        </p:txBody>
      </p:sp>
      <p:sp>
        <p:nvSpPr>
          <p:cNvPr id="15" name="Shape 12"/>
          <p:cNvSpPr/>
          <p:nvPr/>
        </p:nvSpPr>
        <p:spPr>
          <a:xfrm>
            <a:off x="1764792" y="3474720"/>
            <a:ext cx="1920240" cy="1417320"/>
          </a:xfrm>
          <a:prstGeom prst="rect">
            <a:avLst/>
          </a:prstGeom>
          <a:solidFill>
            <a:srgbClr val="F7D7D7"/>
          </a:solidFill>
          <a:ln w="38100">
            <a:solidFill>
              <a:srgbClr val="FFFFFF"/>
            </a:solidFill>
            <a:prstDash val="solid"/>
          </a:ln>
        </p:spPr>
        <p:txBody>
          <a:bodyPr/>
          <a:lstStyle/>
          <a:p>
            <a:endParaRPr lang="en-US"/>
          </a:p>
        </p:txBody>
      </p:sp>
      <p:sp>
        <p:nvSpPr>
          <p:cNvPr id="16" name="Text 13"/>
          <p:cNvSpPr txBox="1"/>
          <p:nvPr/>
        </p:nvSpPr>
        <p:spPr>
          <a:xfrm>
            <a:off x="1764792" y="3474720"/>
            <a:ext cx="1920240" cy="1417320"/>
          </a:xfrm>
          <a:prstGeom prst="rect">
            <a:avLst/>
          </a:prstGeom>
          <a:noFill/>
          <a:ln/>
        </p:spPr>
        <p:txBody>
          <a:bodyPr wrap="square" lIns="0" tIns="0" rIns="0" bIns="0" rtlCol="0" anchor="ctr"/>
          <a:lstStyle/>
          <a:p>
            <a:pPr marL="0" indent="0" algn="ctr">
              <a:buNone/>
            </a:pPr>
            <a:r>
              <a:rPr lang="en-US" sz="1400" b="1" dirty="0">
                <a:solidFill>
                  <a:srgbClr val="B43A3A"/>
                </a:solidFill>
                <a:latin typeface="Aptos" pitchFamily="34" charset="0"/>
                <a:ea typeface="Aptos" pitchFamily="34" charset="-122"/>
                <a:cs typeface="Aptos" pitchFamily="34" charset="-120"/>
              </a:rPr>
              <a:t>FP</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20</a:t>
            </a:r>
            <a:endParaRPr lang="en-US" sz="1600" dirty="0"/>
          </a:p>
        </p:txBody>
      </p:sp>
      <p:sp>
        <p:nvSpPr>
          <p:cNvPr id="17" name="Shape 14"/>
          <p:cNvSpPr/>
          <p:nvPr/>
        </p:nvSpPr>
        <p:spPr>
          <a:xfrm>
            <a:off x="3685032" y="3474720"/>
            <a:ext cx="1920240" cy="1417320"/>
          </a:xfrm>
          <a:prstGeom prst="rect">
            <a:avLst/>
          </a:prstGeom>
          <a:solidFill>
            <a:srgbClr val="DFF0D8"/>
          </a:solidFill>
          <a:ln w="38100">
            <a:solidFill>
              <a:srgbClr val="FFFFFF"/>
            </a:solidFill>
            <a:prstDash val="solid"/>
          </a:ln>
        </p:spPr>
        <p:txBody>
          <a:bodyPr/>
          <a:lstStyle/>
          <a:p>
            <a:endParaRPr lang="en-US"/>
          </a:p>
        </p:txBody>
      </p:sp>
      <p:sp>
        <p:nvSpPr>
          <p:cNvPr id="18" name="Text 15"/>
          <p:cNvSpPr txBox="1"/>
          <p:nvPr/>
        </p:nvSpPr>
        <p:spPr>
          <a:xfrm>
            <a:off x="3685032" y="3474720"/>
            <a:ext cx="1920240" cy="1417320"/>
          </a:xfrm>
          <a:prstGeom prst="rect">
            <a:avLst/>
          </a:prstGeom>
          <a:noFill/>
          <a:ln/>
        </p:spPr>
        <p:txBody>
          <a:bodyPr wrap="square" lIns="0" tIns="0" rIns="0" bIns="0" rtlCol="0" anchor="ctr"/>
          <a:lstStyle/>
          <a:p>
            <a:pPr marL="0" indent="0" algn="ctr">
              <a:buNone/>
            </a:pPr>
            <a:r>
              <a:rPr lang="en-US" sz="1400" b="1" dirty="0">
                <a:solidFill>
                  <a:srgbClr val="2E7D32"/>
                </a:solidFill>
                <a:latin typeface="Aptos" pitchFamily="34" charset="0"/>
                <a:ea typeface="Aptos" pitchFamily="34" charset="-122"/>
                <a:cs typeface="Aptos" pitchFamily="34" charset="-120"/>
              </a:rPr>
              <a:t>TN</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940</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89320" y="1600200"/>
          <a:ext cx="5623560" cy="2377440"/>
        </p:xfrm>
        <a:graphic>
          <a:graphicData uri="http://schemas.openxmlformats.org/drawingml/2006/table">
            <a:tbl>
              <a:tblPr/>
              <a:tblGrid>
                <a:gridCol w="14630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Metric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Calculation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Value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Accuracy</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 + 940) / 1,000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132033"/>
                          </a:solidFill>
                          <a:latin typeface="Aptos" pitchFamily="34" charset="0"/>
                          <a:ea typeface="Aptos" pitchFamily="34" charset="-122"/>
                          <a:cs typeface="Aptos" pitchFamily="34" charset="-120"/>
                        </a:rPr>
                        <a:t>0.97</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Precision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 / (30 + 20)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B43A3A"/>
                          </a:solidFill>
                          <a:latin typeface="Aptos" pitchFamily="34" charset="0"/>
                          <a:ea typeface="Aptos" pitchFamily="34" charset="-122"/>
                          <a:cs typeface="Aptos" pitchFamily="34" charset="-120"/>
                        </a:rPr>
                        <a:t>0.60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Recall</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 / (30 + 10)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B43A3A"/>
                          </a:solidFill>
                          <a:latin typeface="Aptos" pitchFamily="34" charset="0"/>
                          <a:ea typeface="Aptos" pitchFamily="34" charset="-122"/>
                          <a:cs typeface="Aptos" pitchFamily="34" charset="-120"/>
                        </a:rPr>
                        <a:t>0.75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F1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2(0.60)(0.75) / 1.35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132033"/>
                          </a:solidFill>
                          <a:latin typeface="Aptos" pitchFamily="34" charset="0"/>
                          <a:ea typeface="Aptos" pitchFamily="34" charset="-122"/>
                          <a:cs typeface="Aptos" pitchFamily="34" charset="-120"/>
                        </a:rPr>
                        <a:t>0.67</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Shape 16"/>
          <p:cNvSpPr/>
          <p:nvPr/>
        </p:nvSpPr>
        <p:spPr>
          <a:xfrm>
            <a:off x="822960" y="5212082"/>
            <a:ext cx="10515600" cy="1097280"/>
          </a:xfrm>
          <a:prstGeom prst="roundRect">
            <a:avLst>
              <a:gd name="adj" fmla="val 6667"/>
            </a:avLst>
          </a:prstGeom>
          <a:solidFill>
            <a:srgbClr val="DFF0D8"/>
          </a:solidFill>
          <a:ln w="12700">
            <a:solidFill>
              <a:srgbClr val="2E7D32"/>
            </a:solidFill>
            <a:prstDash val="solid"/>
          </a:ln>
        </p:spPr>
        <p:txBody>
          <a:bodyPr/>
          <a:lstStyle/>
          <a:p>
            <a:endParaRPr lang="en-US"/>
          </a:p>
        </p:txBody>
      </p:sp>
      <p:sp>
        <p:nvSpPr>
          <p:cNvPr id="21" name="Text 17"/>
          <p:cNvSpPr txBox="1"/>
          <p:nvPr/>
        </p:nvSpPr>
        <p:spPr>
          <a:xfrm>
            <a:off x="1051560" y="5212082"/>
            <a:ext cx="10058400" cy="109728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Interpret:  </a:t>
            </a:r>
            <a:r>
              <a:rPr lang="en-US" sz="1800" dirty="0">
                <a:solidFill>
                  <a:srgbClr val="132033"/>
                </a:solidFill>
                <a:latin typeface="Aptos" pitchFamily="34" charset="0"/>
                <a:ea typeface="Aptos" pitchFamily="34" charset="-122"/>
                <a:cs typeface="Aptos" pitchFamily="34" charset="-120"/>
              </a:rPr>
              <a:t>97% sounds great, yet 1 in 4 frauds slips through, and 2 of every 5 alerts block an honest customer.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Predict: move the threshold</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Flagging less often trades one error type for the other.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17</a:t>
            </a:r>
            <a:endParaRPr lang="en-US" sz="850" dirty="0"/>
          </a:p>
        </p:txBody>
      </p:sp>
      <p:sp>
        <p:nvSpPr>
          <p:cNvPr id="7" name="Shape 4"/>
          <p:cNvSpPr/>
          <p:nvPr/>
        </p:nvSpPr>
        <p:spPr>
          <a:xfrm>
            <a:off x="1097280" y="2057400"/>
            <a:ext cx="9966960" cy="128016"/>
          </a:xfrm>
          <a:prstGeom prst="rect">
            <a:avLst/>
          </a:prstGeom>
          <a:solidFill>
            <a:srgbClr val="D4DEE8"/>
          </a:solidFill>
          <a:ln w="12700">
            <a:solidFill>
              <a:srgbClr val="D4DEE8"/>
            </a:solidFill>
            <a:prstDash val="solid"/>
          </a:ln>
        </p:spPr>
        <p:txBody>
          <a:bodyPr/>
          <a:lstStyle/>
          <a:p>
            <a:endParaRPr lang="en-US"/>
          </a:p>
        </p:txBody>
      </p:sp>
      <p:sp>
        <p:nvSpPr>
          <p:cNvPr id="8" name="Text 5"/>
          <p:cNvSpPr txBox="1"/>
          <p:nvPr/>
        </p:nvSpPr>
        <p:spPr>
          <a:xfrm>
            <a:off x="640080" y="1938528"/>
            <a:ext cx="411480" cy="365760"/>
          </a:xfrm>
          <a:prstGeom prst="rect">
            <a:avLst/>
          </a:prstGeom>
          <a:noFill/>
          <a:ln/>
        </p:spPr>
        <p:txBody>
          <a:bodyPr wrap="square" lIns="0" tIns="0" rIns="0" bIns="0" rtlCol="0" anchor="ctr"/>
          <a:lstStyle/>
          <a:p>
            <a:pPr marL="0" indent="0" algn="r">
              <a:buNone/>
            </a:pPr>
            <a:r>
              <a:rPr lang="en-US" sz="1400" dirty="0">
                <a:solidFill>
                  <a:srgbClr val="6D7C8F"/>
                </a:solidFill>
                <a:latin typeface="Aptos" pitchFamily="34" charset="0"/>
                <a:ea typeface="Aptos" pitchFamily="34" charset="-122"/>
                <a:cs typeface="Aptos" pitchFamily="34" charset="-120"/>
              </a:rPr>
              <a:t>0.0</a:t>
            </a:r>
            <a:endParaRPr lang="en-US" sz="1400" dirty="0"/>
          </a:p>
        </p:txBody>
      </p:sp>
      <p:sp>
        <p:nvSpPr>
          <p:cNvPr id="9" name="Text 6"/>
          <p:cNvSpPr txBox="1"/>
          <p:nvPr/>
        </p:nvSpPr>
        <p:spPr>
          <a:xfrm>
            <a:off x="11155680" y="1938528"/>
            <a:ext cx="457200" cy="365760"/>
          </a:xfrm>
          <a:prstGeom prst="rect">
            <a:avLst/>
          </a:prstGeom>
          <a:noFill/>
          <a:ln/>
        </p:spPr>
        <p:txBody>
          <a:bodyPr wrap="square" lIns="0" tIns="0" rIns="0" bIns="0" rtlCol="0" anchor="ctr"/>
          <a:lstStyle/>
          <a:p>
            <a:pPr marL="0" indent="0">
              <a:buNone/>
            </a:pPr>
            <a:r>
              <a:rPr lang="en-US" sz="1400" dirty="0">
                <a:solidFill>
                  <a:srgbClr val="6D7C8F"/>
                </a:solidFill>
                <a:latin typeface="Aptos" pitchFamily="34" charset="0"/>
                <a:ea typeface="Aptos" pitchFamily="34" charset="-122"/>
                <a:cs typeface="Aptos" pitchFamily="34" charset="-120"/>
              </a:rPr>
              <a:t>1.0</a:t>
            </a:r>
            <a:endParaRPr lang="en-US" sz="1400" dirty="0"/>
          </a:p>
        </p:txBody>
      </p:sp>
      <p:sp>
        <p:nvSpPr>
          <p:cNvPr id="10" name="Text 7"/>
          <p:cNvSpPr txBox="1"/>
          <p:nvPr/>
        </p:nvSpPr>
        <p:spPr>
          <a:xfrm>
            <a:off x="1097280" y="1554480"/>
            <a:ext cx="9966960" cy="320040"/>
          </a:xfrm>
          <a:prstGeom prst="rect">
            <a:avLst/>
          </a:prstGeom>
          <a:noFill/>
          <a:ln/>
        </p:spPr>
        <p:txBody>
          <a:bodyPr wrap="square" lIns="0" tIns="0" rIns="0" bIns="0" rtlCol="0" anchor="t"/>
          <a:lstStyle/>
          <a:p>
            <a:pPr marL="0" indent="0" algn="ctr">
              <a:buNone/>
            </a:pPr>
            <a:r>
              <a:rPr lang="en-US" sz="1500" b="1" dirty="0">
                <a:solidFill>
                  <a:srgbClr val="0B2D55"/>
                </a:solidFill>
                <a:latin typeface="Aptos" pitchFamily="34" charset="0"/>
                <a:ea typeface="Aptos" pitchFamily="34" charset="-122"/>
                <a:cs typeface="Aptos" pitchFamily="34" charset="-120"/>
              </a:rPr>
              <a:t>Model’s predicted probability of fraud</a:t>
            </a:r>
            <a:endParaRPr lang="en-US" sz="1500" dirty="0"/>
          </a:p>
        </p:txBody>
      </p:sp>
      <p:sp>
        <p:nvSpPr>
          <p:cNvPr id="11" name="Shape 8"/>
          <p:cNvSpPr/>
          <p:nvPr/>
        </p:nvSpPr>
        <p:spPr>
          <a:xfrm>
            <a:off x="5897880" y="1938528"/>
            <a:ext cx="365760" cy="365760"/>
          </a:xfrm>
          <a:prstGeom prst="ellipse">
            <a:avLst/>
          </a:prstGeom>
          <a:solidFill>
            <a:srgbClr val="0B2D55"/>
          </a:solidFill>
          <a:ln w="25400">
            <a:solidFill>
              <a:srgbClr val="FFFFFF"/>
            </a:solidFill>
            <a:prstDash val="solid"/>
          </a:ln>
        </p:spPr>
        <p:txBody>
          <a:bodyPr/>
          <a:lstStyle/>
          <a:p>
            <a:endParaRPr lang="en-US"/>
          </a:p>
        </p:txBody>
      </p:sp>
      <p:sp>
        <p:nvSpPr>
          <p:cNvPr id="12" name="Text 9"/>
          <p:cNvSpPr txBox="1"/>
          <p:nvPr/>
        </p:nvSpPr>
        <p:spPr>
          <a:xfrm>
            <a:off x="5166360" y="2377440"/>
            <a:ext cx="1828800" cy="274320"/>
          </a:xfrm>
          <a:prstGeom prst="rect">
            <a:avLst/>
          </a:prstGeom>
          <a:noFill/>
          <a:ln/>
        </p:spPr>
        <p:txBody>
          <a:bodyPr wrap="square" lIns="0" tIns="0" rIns="0" bIns="0" rtlCol="0" anchor="t"/>
          <a:lstStyle/>
          <a:p>
            <a:pPr marL="0" indent="0" algn="ctr">
              <a:buNone/>
            </a:pPr>
            <a:r>
              <a:rPr lang="en-US" sz="1300" b="1" dirty="0">
                <a:solidFill>
                  <a:srgbClr val="0B2D55"/>
                </a:solidFill>
                <a:latin typeface="Aptos" pitchFamily="34" charset="0"/>
                <a:ea typeface="Aptos" pitchFamily="34" charset="-122"/>
                <a:cs typeface="Aptos" pitchFamily="34" charset="-120"/>
              </a:rPr>
              <a:t>threshold = 0.5</a:t>
            </a:r>
            <a:endParaRPr lang="en-US" sz="1300" dirty="0"/>
          </a:p>
        </p:txBody>
      </p:sp>
      <p:sp>
        <p:nvSpPr>
          <p:cNvPr id="13" name="Shape 10"/>
          <p:cNvSpPr/>
          <p:nvPr/>
        </p:nvSpPr>
        <p:spPr>
          <a:xfrm>
            <a:off x="6583680" y="2697480"/>
            <a:ext cx="3291840" cy="0"/>
          </a:xfrm>
          <a:prstGeom prst="line">
            <a:avLst/>
          </a:prstGeom>
          <a:noFill/>
          <a:ln w="28575">
            <a:solidFill>
              <a:srgbClr val="D9731A"/>
            </a:solidFill>
            <a:prstDash val="solid"/>
            <a:tailEnd type="triangle"/>
          </a:ln>
        </p:spPr>
        <p:txBody>
          <a:bodyPr/>
          <a:lstStyle/>
          <a:p>
            <a:endParaRPr lang="en-US"/>
          </a:p>
        </p:txBody>
      </p:sp>
      <p:sp>
        <p:nvSpPr>
          <p:cNvPr id="14" name="Shape 11"/>
          <p:cNvSpPr/>
          <p:nvPr/>
        </p:nvSpPr>
        <p:spPr>
          <a:xfrm flipH="1">
            <a:off x="2286000" y="2697480"/>
            <a:ext cx="3291840" cy="0"/>
          </a:xfrm>
          <a:prstGeom prst="line">
            <a:avLst/>
          </a:prstGeom>
          <a:noFill/>
          <a:ln w="28575">
            <a:solidFill>
              <a:srgbClr val="1D5FA7"/>
            </a:solidFill>
            <a:prstDash val="solid"/>
            <a:tailEnd type="triangle"/>
          </a:ln>
        </p:spPr>
        <p:txBody>
          <a:bodyPr/>
          <a:lstStyle/>
          <a:p>
            <a:endParaRPr lang="en-US"/>
          </a:p>
        </p:txBody>
      </p:sp>
      <p:sp>
        <p:nvSpPr>
          <p:cNvPr id="15" name="Shape 12"/>
          <p:cNvSpPr/>
          <p:nvPr/>
        </p:nvSpPr>
        <p:spPr>
          <a:xfrm>
            <a:off x="6309360" y="2926080"/>
            <a:ext cx="5029200" cy="1234440"/>
          </a:xfrm>
          <a:prstGeom prst="roundRect">
            <a:avLst>
              <a:gd name="adj" fmla="val 5926"/>
            </a:avLst>
          </a:prstGeom>
          <a:solidFill>
            <a:srgbClr val="FCE9D8"/>
          </a:solidFill>
          <a:ln w="12700">
            <a:solidFill>
              <a:srgbClr val="D9731A"/>
            </a:solidFill>
            <a:prstDash val="solid"/>
          </a:ln>
        </p:spPr>
        <p:txBody>
          <a:bodyPr/>
          <a:lstStyle/>
          <a:p>
            <a:endParaRPr lang="en-US"/>
          </a:p>
        </p:txBody>
      </p:sp>
      <p:sp>
        <p:nvSpPr>
          <p:cNvPr id="16" name="Text 13"/>
          <p:cNvSpPr txBox="1"/>
          <p:nvPr/>
        </p:nvSpPr>
        <p:spPr>
          <a:xfrm>
            <a:off x="6492240" y="2926080"/>
            <a:ext cx="4663440" cy="123444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Raise it (flag less often)</a:t>
            </a:r>
            <a:endParaRPr lang="en-US" sz="1700" dirty="0"/>
          </a:p>
          <a:p>
            <a:pPr marL="0" indent="0" algn="ctr">
              <a:buNone/>
            </a:pPr>
            <a:r>
              <a:rPr lang="en-US" sz="2000" b="1" dirty="0">
                <a:solidFill>
                  <a:srgbClr val="D9731A"/>
                </a:solidFill>
                <a:latin typeface="Aptos" pitchFamily="34" charset="0"/>
                <a:ea typeface="Aptos" pitchFamily="34" charset="-122"/>
                <a:cs typeface="Aptos" pitchFamily="34" charset="-120"/>
              </a:rPr>
              <a:t>Precision ↑     Recall ↓</a:t>
            </a:r>
            <a:endParaRPr lang="en-US" sz="1700" dirty="0"/>
          </a:p>
        </p:txBody>
      </p:sp>
      <p:sp>
        <p:nvSpPr>
          <p:cNvPr id="17" name="Shape 14"/>
          <p:cNvSpPr/>
          <p:nvPr/>
        </p:nvSpPr>
        <p:spPr>
          <a:xfrm>
            <a:off x="822960" y="2926080"/>
            <a:ext cx="5029200" cy="1234440"/>
          </a:xfrm>
          <a:prstGeom prst="roundRect">
            <a:avLst>
              <a:gd name="adj" fmla="val 5926"/>
            </a:avLst>
          </a:prstGeom>
          <a:solidFill>
            <a:srgbClr val="EAF2F8"/>
          </a:solidFill>
          <a:ln w="12700">
            <a:solidFill>
              <a:srgbClr val="1F5D9B"/>
            </a:solidFill>
            <a:prstDash val="solid"/>
          </a:ln>
        </p:spPr>
        <p:txBody>
          <a:bodyPr/>
          <a:lstStyle/>
          <a:p>
            <a:endParaRPr lang="en-US"/>
          </a:p>
        </p:txBody>
      </p:sp>
      <p:sp>
        <p:nvSpPr>
          <p:cNvPr id="18" name="Text 15"/>
          <p:cNvSpPr txBox="1"/>
          <p:nvPr/>
        </p:nvSpPr>
        <p:spPr>
          <a:xfrm>
            <a:off x="1005840" y="2926080"/>
            <a:ext cx="4663440" cy="123444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Lower it (flag more often)</a:t>
            </a:r>
            <a:endParaRPr lang="en-US" sz="1700" dirty="0"/>
          </a:p>
          <a:p>
            <a:pPr marL="0" indent="0" algn="ctr">
              <a:buNone/>
            </a:pPr>
            <a:r>
              <a:rPr lang="en-US" sz="2000" b="1" dirty="0">
                <a:solidFill>
                  <a:srgbClr val="1D5FA7"/>
                </a:solidFill>
                <a:latin typeface="Aptos" pitchFamily="34" charset="0"/>
                <a:ea typeface="Aptos" pitchFamily="34" charset="-122"/>
                <a:cs typeface="Aptos" pitchFamily="34" charset="-120"/>
              </a:rPr>
              <a:t>Precision ↓     Recall ↑</a:t>
            </a:r>
            <a:endParaRPr lang="en-US" sz="1700" dirty="0"/>
          </a:p>
        </p:txBody>
      </p:sp>
      <p:sp>
        <p:nvSpPr>
          <p:cNvPr id="19" name="Text 16"/>
          <p:cNvSpPr txBox="1"/>
          <p:nvPr/>
        </p:nvSpPr>
        <p:spPr>
          <a:xfrm>
            <a:off x="822960" y="4389120"/>
            <a:ext cx="10515600" cy="41148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Which metric would you prioritize?</a:t>
            </a:r>
            <a:endParaRPr lang="en-US" sz="2000" dirty="0"/>
          </a:p>
        </p:txBody>
      </p:sp>
      <p:sp>
        <p:nvSpPr>
          <p:cNvPr id="20" name="Shape 17"/>
          <p:cNvSpPr/>
          <p:nvPr/>
        </p:nvSpPr>
        <p:spPr>
          <a:xfrm>
            <a:off x="822960" y="4937760"/>
            <a:ext cx="5120640" cy="1005840"/>
          </a:xfrm>
          <a:prstGeom prst="roundRect">
            <a:avLst>
              <a:gd name="adj" fmla="val 7273"/>
            </a:avLst>
          </a:prstGeom>
          <a:solidFill>
            <a:srgbClr val="FFF4CE"/>
          </a:solidFill>
          <a:ln w="12700">
            <a:solidFill>
              <a:srgbClr val="F2C14E"/>
            </a:solidFill>
            <a:prstDash val="solid"/>
          </a:ln>
        </p:spPr>
        <p:txBody>
          <a:bodyPr/>
          <a:lstStyle/>
          <a:p>
            <a:endParaRPr lang="en-US"/>
          </a:p>
        </p:txBody>
      </p:sp>
      <p:sp>
        <p:nvSpPr>
          <p:cNvPr id="21" name="Text 18"/>
          <p:cNvSpPr txBox="1"/>
          <p:nvPr/>
        </p:nvSpPr>
        <p:spPr>
          <a:xfrm>
            <a:off x="1005840" y="4937760"/>
            <a:ext cx="4754880" cy="1005840"/>
          </a:xfrm>
          <a:prstGeom prst="rect">
            <a:avLst/>
          </a:prstGeom>
          <a:noFill/>
          <a:ln/>
        </p:spPr>
        <p:txBody>
          <a:bodyPr wrap="square" lIns="0" tIns="0" rIns="0" bIns="0" rtlCol="0" anchor="ctr"/>
          <a:lstStyle/>
          <a:p>
            <a:pPr marL="0" indent="0">
              <a:buNone/>
            </a:pPr>
            <a:r>
              <a:rPr lang="en-US" sz="1550" b="1" dirty="0">
                <a:solidFill>
                  <a:srgbClr val="0B2D55"/>
                </a:solidFill>
                <a:latin typeface="Aptos" pitchFamily="34" charset="0"/>
                <a:ea typeface="Aptos" pitchFamily="34" charset="-122"/>
                <a:cs typeface="Aptos" pitchFamily="34" charset="-120"/>
              </a:rPr>
              <a:t>(a)  </a:t>
            </a:r>
            <a:r>
              <a:rPr lang="en-US" sz="1550" dirty="0">
                <a:solidFill>
                  <a:srgbClr val="132033"/>
                </a:solidFill>
                <a:latin typeface="Aptos" pitchFamily="34" charset="0"/>
                <a:ea typeface="Aptos" pitchFamily="34" charset="-122"/>
                <a:cs typeface="Aptos" pitchFamily="34" charset="-120"/>
              </a:rPr>
              <a:t>Spam filter: a real email lands in the spam folder and is never read.</a:t>
            </a:r>
            <a:endParaRPr lang="en-US" sz="1550" dirty="0"/>
          </a:p>
        </p:txBody>
      </p:sp>
      <p:sp>
        <p:nvSpPr>
          <p:cNvPr id="22" name="Shape 19"/>
          <p:cNvSpPr/>
          <p:nvPr/>
        </p:nvSpPr>
        <p:spPr>
          <a:xfrm>
            <a:off x="6217920" y="4937760"/>
            <a:ext cx="5120640" cy="1005840"/>
          </a:xfrm>
          <a:prstGeom prst="roundRect">
            <a:avLst>
              <a:gd name="adj" fmla="val 7273"/>
            </a:avLst>
          </a:prstGeom>
          <a:solidFill>
            <a:srgbClr val="FFF4CE"/>
          </a:solidFill>
          <a:ln w="12700">
            <a:solidFill>
              <a:srgbClr val="F2C14E"/>
            </a:solidFill>
            <a:prstDash val="solid"/>
          </a:ln>
        </p:spPr>
        <p:txBody>
          <a:bodyPr/>
          <a:lstStyle/>
          <a:p>
            <a:endParaRPr lang="en-US"/>
          </a:p>
        </p:txBody>
      </p:sp>
      <p:sp>
        <p:nvSpPr>
          <p:cNvPr id="23" name="Text 20"/>
          <p:cNvSpPr txBox="1"/>
          <p:nvPr/>
        </p:nvSpPr>
        <p:spPr>
          <a:xfrm>
            <a:off x="6400800" y="4937760"/>
            <a:ext cx="4754880" cy="1005840"/>
          </a:xfrm>
          <a:prstGeom prst="rect">
            <a:avLst/>
          </a:prstGeom>
          <a:noFill/>
          <a:ln/>
        </p:spPr>
        <p:txBody>
          <a:bodyPr wrap="square" lIns="0" tIns="0" rIns="0" bIns="0" rtlCol="0" anchor="ctr"/>
          <a:lstStyle/>
          <a:p>
            <a:pPr marL="0" indent="0">
              <a:buNone/>
            </a:pPr>
            <a:r>
              <a:rPr lang="en-US" sz="1550" b="1" dirty="0">
                <a:solidFill>
                  <a:srgbClr val="0B2D55"/>
                </a:solidFill>
                <a:latin typeface="Aptos" pitchFamily="34" charset="0"/>
                <a:ea typeface="Aptos" pitchFamily="34" charset="-122"/>
                <a:cs typeface="Aptos" pitchFamily="34" charset="-120"/>
              </a:rPr>
              <a:t>(b)  </a:t>
            </a:r>
            <a:r>
              <a:rPr lang="en-US" sz="1550" dirty="0">
                <a:solidFill>
                  <a:srgbClr val="132033"/>
                </a:solidFill>
                <a:latin typeface="Aptos" pitchFamily="34" charset="0"/>
                <a:ea typeface="Aptos" pitchFamily="34" charset="-122"/>
                <a:cs typeface="Aptos" pitchFamily="34" charset="-120"/>
              </a:rPr>
              <a:t>Malware detector on a flight-control computer: a miss could ground or lose the aircraft.</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Practice: phishing email detector</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first. Then decide whether you would deploy it.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18</a:t>
            </a:r>
            <a:endParaRPr lang="en-US" sz="850" dirty="0"/>
          </a:p>
        </p:txBody>
      </p:sp>
      <p:sp>
        <p:nvSpPr>
          <p:cNvPr id="7" name="Text 4"/>
          <p:cNvSpPr txBox="1"/>
          <p:nvPr/>
        </p:nvSpPr>
        <p:spPr>
          <a:xfrm>
            <a:off x="576072" y="1508760"/>
            <a:ext cx="5943600" cy="320040"/>
          </a:xfrm>
          <a:prstGeom prst="rect">
            <a:avLst/>
          </a:prstGeom>
          <a:noFill/>
          <a:ln/>
        </p:spPr>
        <p:txBody>
          <a:bodyPr wrap="square" lIns="0" tIns="0" rIns="0" bIns="0" rtlCol="0" anchor="t"/>
          <a:lstStyle/>
          <a:p>
            <a:pPr marL="0" indent="0">
              <a:buNone/>
            </a:pPr>
            <a:r>
              <a:rPr lang="en-US" sz="1400" b="1" dirty="0">
                <a:solidFill>
                  <a:srgbClr val="1D5FA7"/>
                </a:solidFill>
                <a:latin typeface="Aptos" pitchFamily="34" charset="0"/>
                <a:ea typeface="Aptos" pitchFamily="34" charset="-122"/>
                <a:cs typeface="Aptos" pitchFamily="34" charset="-120"/>
              </a:rPr>
              <a:t>500 emails  |  20 are phishing  |  positive class = phishing</a:t>
            </a:r>
            <a:endParaRPr lang="en-US" sz="1400" dirty="0"/>
          </a:p>
        </p:txBody>
      </p:sp>
      <p:sp>
        <p:nvSpPr>
          <p:cNvPr id="8" name="Text 5"/>
          <p:cNvSpPr txBox="1"/>
          <p:nvPr/>
        </p:nvSpPr>
        <p:spPr>
          <a:xfrm>
            <a:off x="1810512" y="1920240"/>
            <a:ext cx="2011680" cy="41148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PHISH</a:t>
            </a:r>
            <a:endParaRPr lang="en-US" sz="1400" dirty="0"/>
          </a:p>
        </p:txBody>
      </p:sp>
      <p:sp>
        <p:nvSpPr>
          <p:cNvPr id="9" name="Text 6"/>
          <p:cNvSpPr txBox="1"/>
          <p:nvPr/>
        </p:nvSpPr>
        <p:spPr>
          <a:xfrm>
            <a:off x="3822192" y="1920240"/>
            <a:ext cx="2011680" cy="411480"/>
          </a:xfrm>
          <a:prstGeom prst="rect">
            <a:avLst/>
          </a:prstGeom>
          <a:noFill/>
          <a:ln/>
        </p:spPr>
        <p:txBody>
          <a:bodyPr wrap="square" lIns="0" tIns="0" rIns="0" bIns="0" rtlCol="0" anchor="ctr"/>
          <a:lstStyle/>
          <a:p>
            <a:pPr marL="0" indent="0" algn="ctr">
              <a:buNone/>
            </a:pPr>
            <a:r>
              <a:rPr lang="en-US" sz="1400" b="1" dirty="0">
                <a:solidFill>
                  <a:srgbClr val="0B2D55"/>
                </a:solidFill>
                <a:latin typeface="Aptos" pitchFamily="34" charset="0"/>
                <a:ea typeface="Aptos" pitchFamily="34" charset="-122"/>
                <a:cs typeface="Aptos" pitchFamily="34" charset="-120"/>
              </a:rPr>
              <a:t>Predicted: SAFE</a:t>
            </a:r>
            <a:endParaRPr lang="en-US" sz="1400" dirty="0"/>
          </a:p>
        </p:txBody>
      </p:sp>
      <p:sp>
        <p:nvSpPr>
          <p:cNvPr id="10" name="Text 7"/>
          <p:cNvSpPr txBox="1"/>
          <p:nvPr/>
        </p:nvSpPr>
        <p:spPr>
          <a:xfrm>
            <a:off x="576072" y="2331720"/>
            <a:ext cx="1143000" cy="132588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PHISH</a:t>
            </a:r>
            <a:endParaRPr lang="en-US" sz="1400" dirty="0"/>
          </a:p>
        </p:txBody>
      </p:sp>
      <p:sp>
        <p:nvSpPr>
          <p:cNvPr id="11" name="Text 8"/>
          <p:cNvSpPr txBox="1"/>
          <p:nvPr/>
        </p:nvSpPr>
        <p:spPr>
          <a:xfrm>
            <a:off x="576072" y="3657600"/>
            <a:ext cx="1143000" cy="1325880"/>
          </a:xfrm>
          <a:prstGeom prst="rect">
            <a:avLst/>
          </a:prstGeom>
          <a:noFill/>
          <a:ln/>
        </p:spPr>
        <p:txBody>
          <a:bodyPr wrap="square" lIns="0" tIns="0" rIns="0" bIns="0" rtlCol="0" anchor="ctr"/>
          <a:lstStyle/>
          <a:p>
            <a:pPr marL="0" indent="0" algn="r">
              <a:buNone/>
            </a:pPr>
            <a:r>
              <a:rPr lang="en-US" sz="1400" b="1" dirty="0">
                <a:solidFill>
                  <a:srgbClr val="0B2D55"/>
                </a:solidFill>
                <a:latin typeface="Aptos" pitchFamily="34" charset="0"/>
                <a:ea typeface="Aptos" pitchFamily="34" charset="-122"/>
                <a:cs typeface="Aptos" pitchFamily="34" charset="-120"/>
              </a:rPr>
              <a:t>Actual:</a:t>
            </a:r>
            <a:endParaRPr lang="en-US" sz="1400" dirty="0"/>
          </a:p>
          <a:p>
            <a:pPr marL="0" indent="0" algn="r">
              <a:buNone/>
            </a:pPr>
            <a:r>
              <a:rPr lang="en-US" sz="1400" b="1" dirty="0">
                <a:solidFill>
                  <a:srgbClr val="0B2D55"/>
                </a:solidFill>
                <a:latin typeface="Aptos" pitchFamily="34" charset="0"/>
                <a:ea typeface="Aptos" pitchFamily="34" charset="-122"/>
                <a:cs typeface="Aptos" pitchFamily="34" charset="-120"/>
              </a:rPr>
              <a:t>SAFE</a:t>
            </a:r>
            <a:endParaRPr lang="en-US" sz="1400" dirty="0"/>
          </a:p>
        </p:txBody>
      </p:sp>
      <p:sp>
        <p:nvSpPr>
          <p:cNvPr id="12" name="Shape 9"/>
          <p:cNvSpPr/>
          <p:nvPr/>
        </p:nvSpPr>
        <p:spPr>
          <a:xfrm>
            <a:off x="1810512" y="2331720"/>
            <a:ext cx="2011680" cy="1325880"/>
          </a:xfrm>
          <a:prstGeom prst="rect">
            <a:avLst/>
          </a:prstGeom>
          <a:solidFill>
            <a:srgbClr val="DFF0D8"/>
          </a:solidFill>
          <a:ln w="38100">
            <a:solidFill>
              <a:srgbClr val="FFFFFF"/>
            </a:solidFill>
            <a:prstDash val="solid"/>
          </a:ln>
        </p:spPr>
        <p:txBody>
          <a:bodyPr/>
          <a:lstStyle/>
          <a:p>
            <a:endParaRPr lang="en-US"/>
          </a:p>
        </p:txBody>
      </p:sp>
      <p:sp>
        <p:nvSpPr>
          <p:cNvPr id="13" name="Text 10"/>
          <p:cNvSpPr txBox="1"/>
          <p:nvPr/>
        </p:nvSpPr>
        <p:spPr>
          <a:xfrm>
            <a:off x="1810512" y="2331720"/>
            <a:ext cx="2011680" cy="1325880"/>
          </a:xfrm>
          <a:prstGeom prst="rect">
            <a:avLst/>
          </a:prstGeom>
          <a:noFill/>
          <a:ln/>
        </p:spPr>
        <p:txBody>
          <a:bodyPr wrap="square" lIns="0" tIns="0" rIns="0" bIns="0" rtlCol="0" anchor="ctr"/>
          <a:lstStyle/>
          <a:p>
            <a:pPr marL="0" indent="0" algn="ctr">
              <a:buNone/>
            </a:pPr>
            <a:r>
              <a:rPr lang="en-US" sz="1400" b="1" dirty="0">
                <a:solidFill>
                  <a:srgbClr val="2E7D32"/>
                </a:solidFill>
                <a:latin typeface="Aptos" pitchFamily="34" charset="0"/>
                <a:ea typeface="Aptos" pitchFamily="34" charset="-122"/>
                <a:cs typeface="Aptos" pitchFamily="34" charset="-120"/>
              </a:rPr>
              <a:t>TP</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18</a:t>
            </a:r>
            <a:endParaRPr lang="en-US" sz="1600" dirty="0"/>
          </a:p>
        </p:txBody>
      </p:sp>
      <p:sp>
        <p:nvSpPr>
          <p:cNvPr id="14" name="Shape 11"/>
          <p:cNvSpPr/>
          <p:nvPr/>
        </p:nvSpPr>
        <p:spPr>
          <a:xfrm>
            <a:off x="3822192" y="2331720"/>
            <a:ext cx="2011680" cy="1325880"/>
          </a:xfrm>
          <a:prstGeom prst="rect">
            <a:avLst/>
          </a:prstGeom>
          <a:solidFill>
            <a:srgbClr val="F7D7D7"/>
          </a:solidFill>
          <a:ln w="38100">
            <a:solidFill>
              <a:srgbClr val="FFFFFF"/>
            </a:solidFill>
            <a:prstDash val="solid"/>
          </a:ln>
        </p:spPr>
        <p:txBody>
          <a:bodyPr/>
          <a:lstStyle/>
          <a:p>
            <a:endParaRPr lang="en-US"/>
          </a:p>
        </p:txBody>
      </p:sp>
      <p:sp>
        <p:nvSpPr>
          <p:cNvPr id="15" name="Text 12"/>
          <p:cNvSpPr txBox="1"/>
          <p:nvPr/>
        </p:nvSpPr>
        <p:spPr>
          <a:xfrm>
            <a:off x="3822192" y="2331720"/>
            <a:ext cx="2011680" cy="1325880"/>
          </a:xfrm>
          <a:prstGeom prst="rect">
            <a:avLst/>
          </a:prstGeom>
          <a:noFill/>
          <a:ln/>
        </p:spPr>
        <p:txBody>
          <a:bodyPr wrap="square" lIns="0" tIns="0" rIns="0" bIns="0" rtlCol="0" anchor="ctr"/>
          <a:lstStyle/>
          <a:p>
            <a:pPr marL="0" indent="0" algn="ctr">
              <a:buNone/>
            </a:pPr>
            <a:r>
              <a:rPr lang="en-US" sz="1400" b="1" dirty="0">
                <a:solidFill>
                  <a:srgbClr val="B43A3A"/>
                </a:solidFill>
                <a:latin typeface="Aptos" pitchFamily="34" charset="0"/>
                <a:ea typeface="Aptos" pitchFamily="34" charset="-122"/>
                <a:cs typeface="Aptos" pitchFamily="34" charset="-120"/>
              </a:rPr>
              <a:t>FN</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2</a:t>
            </a:r>
            <a:endParaRPr lang="en-US" sz="1600" dirty="0"/>
          </a:p>
        </p:txBody>
      </p:sp>
      <p:sp>
        <p:nvSpPr>
          <p:cNvPr id="16" name="Shape 13"/>
          <p:cNvSpPr/>
          <p:nvPr/>
        </p:nvSpPr>
        <p:spPr>
          <a:xfrm>
            <a:off x="1810512" y="3657600"/>
            <a:ext cx="2011680" cy="1325880"/>
          </a:xfrm>
          <a:prstGeom prst="rect">
            <a:avLst/>
          </a:prstGeom>
          <a:solidFill>
            <a:srgbClr val="F7D7D7"/>
          </a:solidFill>
          <a:ln w="38100">
            <a:solidFill>
              <a:srgbClr val="FFFFFF"/>
            </a:solidFill>
            <a:prstDash val="solid"/>
          </a:ln>
        </p:spPr>
        <p:txBody>
          <a:bodyPr/>
          <a:lstStyle/>
          <a:p>
            <a:endParaRPr lang="en-US"/>
          </a:p>
        </p:txBody>
      </p:sp>
      <p:sp>
        <p:nvSpPr>
          <p:cNvPr id="17" name="Text 14"/>
          <p:cNvSpPr txBox="1"/>
          <p:nvPr/>
        </p:nvSpPr>
        <p:spPr>
          <a:xfrm>
            <a:off x="1810512" y="3657600"/>
            <a:ext cx="2011680" cy="1325880"/>
          </a:xfrm>
          <a:prstGeom prst="rect">
            <a:avLst/>
          </a:prstGeom>
          <a:noFill/>
          <a:ln/>
        </p:spPr>
        <p:txBody>
          <a:bodyPr wrap="square" lIns="0" tIns="0" rIns="0" bIns="0" rtlCol="0" anchor="ctr"/>
          <a:lstStyle/>
          <a:p>
            <a:pPr marL="0" indent="0" algn="ctr">
              <a:buNone/>
            </a:pPr>
            <a:r>
              <a:rPr lang="en-US" sz="1400" b="1" dirty="0">
                <a:solidFill>
                  <a:srgbClr val="B43A3A"/>
                </a:solidFill>
                <a:latin typeface="Aptos" pitchFamily="34" charset="0"/>
                <a:ea typeface="Aptos" pitchFamily="34" charset="-122"/>
                <a:cs typeface="Aptos" pitchFamily="34" charset="-120"/>
              </a:rPr>
              <a:t>FP</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6</a:t>
            </a:r>
            <a:endParaRPr lang="en-US" sz="1600" dirty="0"/>
          </a:p>
        </p:txBody>
      </p:sp>
      <p:sp>
        <p:nvSpPr>
          <p:cNvPr id="18" name="Shape 15"/>
          <p:cNvSpPr/>
          <p:nvPr/>
        </p:nvSpPr>
        <p:spPr>
          <a:xfrm>
            <a:off x="3822192" y="3657600"/>
            <a:ext cx="2011680" cy="1325880"/>
          </a:xfrm>
          <a:prstGeom prst="rect">
            <a:avLst/>
          </a:prstGeom>
          <a:solidFill>
            <a:srgbClr val="DFF0D8"/>
          </a:solidFill>
          <a:ln w="38100">
            <a:solidFill>
              <a:srgbClr val="FFFFFF"/>
            </a:solidFill>
            <a:prstDash val="solid"/>
          </a:ln>
        </p:spPr>
        <p:txBody>
          <a:bodyPr/>
          <a:lstStyle/>
          <a:p>
            <a:endParaRPr lang="en-US"/>
          </a:p>
        </p:txBody>
      </p:sp>
      <p:sp>
        <p:nvSpPr>
          <p:cNvPr id="19" name="Text 16"/>
          <p:cNvSpPr txBox="1"/>
          <p:nvPr/>
        </p:nvSpPr>
        <p:spPr>
          <a:xfrm>
            <a:off x="3822192" y="3657600"/>
            <a:ext cx="2011680" cy="1325880"/>
          </a:xfrm>
          <a:prstGeom prst="rect">
            <a:avLst/>
          </a:prstGeom>
          <a:noFill/>
          <a:ln/>
        </p:spPr>
        <p:txBody>
          <a:bodyPr wrap="square" lIns="0" tIns="0" rIns="0" bIns="0" rtlCol="0" anchor="ctr"/>
          <a:lstStyle/>
          <a:p>
            <a:pPr marL="0" indent="0" algn="ctr">
              <a:buNone/>
            </a:pPr>
            <a:r>
              <a:rPr lang="en-US" sz="1400" b="1" dirty="0">
                <a:solidFill>
                  <a:srgbClr val="2E7D32"/>
                </a:solidFill>
                <a:latin typeface="Aptos" pitchFamily="34" charset="0"/>
                <a:ea typeface="Aptos" pitchFamily="34" charset="-122"/>
                <a:cs typeface="Aptos" pitchFamily="34" charset="-120"/>
              </a:rPr>
              <a:t>TN</a:t>
            </a:r>
            <a:endParaRPr lang="en-US" sz="1600" dirty="0"/>
          </a:p>
          <a:p>
            <a:pPr marL="0" indent="0" algn="ctr">
              <a:buNone/>
            </a:pPr>
            <a:r>
              <a:rPr lang="en-US" sz="3000" b="1" dirty="0">
                <a:solidFill>
                  <a:srgbClr val="0B2D55"/>
                </a:solidFill>
                <a:latin typeface="Aptos" pitchFamily="34" charset="0"/>
                <a:ea typeface="Aptos" pitchFamily="34" charset="-122"/>
                <a:cs typeface="Aptos" pitchFamily="34" charset="-120"/>
              </a:rPr>
              <a:t>474</a:t>
            </a:r>
            <a:endParaRPr lang="en-US" sz="1600" dirty="0"/>
          </a:p>
        </p:txBody>
      </p:sp>
      <p:sp>
        <p:nvSpPr>
          <p:cNvPr id="20" name="Shape 17"/>
          <p:cNvSpPr/>
          <p:nvPr/>
        </p:nvSpPr>
        <p:spPr>
          <a:xfrm>
            <a:off x="6675120" y="1600200"/>
            <a:ext cx="4937760" cy="685800"/>
          </a:xfrm>
          <a:prstGeom prst="roundRect">
            <a:avLst>
              <a:gd name="adj" fmla="val 10667"/>
            </a:avLst>
          </a:prstGeom>
          <a:solidFill>
            <a:srgbClr val="FFFFFF"/>
          </a:solidFill>
          <a:ln w="12700">
            <a:solidFill>
              <a:srgbClr val="B8C7D8"/>
            </a:solidFill>
            <a:prstDash val="solid"/>
          </a:ln>
        </p:spPr>
        <p:txBody>
          <a:bodyPr/>
          <a:lstStyle/>
          <a:p>
            <a:endParaRPr lang="en-US"/>
          </a:p>
        </p:txBody>
      </p:sp>
      <p:sp>
        <p:nvSpPr>
          <p:cNvPr id="21" name="Text 18"/>
          <p:cNvSpPr txBox="1"/>
          <p:nvPr/>
        </p:nvSpPr>
        <p:spPr>
          <a:xfrm>
            <a:off x="6903720" y="1600200"/>
            <a:ext cx="4572000" cy="685800"/>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Accuracy  =  </a:t>
            </a:r>
            <a:endParaRPr lang="en-US" sz="2000" dirty="0"/>
          </a:p>
        </p:txBody>
      </p:sp>
      <p:sp>
        <p:nvSpPr>
          <p:cNvPr id="22" name="Shape 19"/>
          <p:cNvSpPr/>
          <p:nvPr/>
        </p:nvSpPr>
        <p:spPr>
          <a:xfrm>
            <a:off x="6675120" y="2441448"/>
            <a:ext cx="4937760" cy="685800"/>
          </a:xfrm>
          <a:prstGeom prst="roundRect">
            <a:avLst>
              <a:gd name="adj" fmla="val 10667"/>
            </a:avLst>
          </a:prstGeom>
          <a:solidFill>
            <a:srgbClr val="FFFFFF"/>
          </a:solidFill>
          <a:ln w="12700">
            <a:solidFill>
              <a:srgbClr val="B8C7D8"/>
            </a:solidFill>
            <a:prstDash val="solid"/>
          </a:ln>
        </p:spPr>
        <p:txBody>
          <a:bodyPr/>
          <a:lstStyle/>
          <a:p>
            <a:endParaRPr lang="en-US"/>
          </a:p>
        </p:txBody>
      </p:sp>
      <p:sp>
        <p:nvSpPr>
          <p:cNvPr id="23" name="Text 20"/>
          <p:cNvSpPr txBox="1"/>
          <p:nvPr/>
        </p:nvSpPr>
        <p:spPr>
          <a:xfrm>
            <a:off x="6903720" y="2441448"/>
            <a:ext cx="4572000" cy="685800"/>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Precision  =  </a:t>
            </a:r>
            <a:endParaRPr lang="en-US" sz="2000" dirty="0"/>
          </a:p>
        </p:txBody>
      </p:sp>
      <p:sp>
        <p:nvSpPr>
          <p:cNvPr id="24" name="Shape 21"/>
          <p:cNvSpPr/>
          <p:nvPr/>
        </p:nvSpPr>
        <p:spPr>
          <a:xfrm>
            <a:off x="6675120" y="3282696"/>
            <a:ext cx="4937760" cy="685800"/>
          </a:xfrm>
          <a:prstGeom prst="roundRect">
            <a:avLst>
              <a:gd name="adj" fmla="val 10667"/>
            </a:avLst>
          </a:prstGeom>
          <a:solidFill>
            <a:srgbClr val="FFFFFF"/>
          </a:solidFill>
          <a:ln w="12700">
            <a:solidFill>
              <a:srgbClr val="B8C7D8"/>
            </a:solidFill>
            <a:prstDash val="solid"/>
          </a:ln>
        </p:spPr>
        <p:txBody>
          <a:bodyPr/>
          <a:lstStyle/>
          <a:p>
            <a:endParaRPr lang="en-US"/>
          </a:p>
        </p:txBody>
      </p:sp>
      <p:sp>
        <p:nvSpPr>
          <p:cNvPr id="25" name="Text 22"/>
          <p:cNvSpPr txBox="1"/>
          <p:nvPr/>
        </p:nvSpPr>
        <p:spPr>
          <a:xfrm>
            <a:off x="6903720" y="3282696"/>
            <a:ext cx="4572000" cy="685800"/>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Recall  =  </a:t>
            </a:r>
            <a:endParaRPr lang="en-US" sz="2000" dirty="0"/>
          </a:p>
        </p:txBody>
      </p:sp>
      <p:sp>
        <p:nvSpPr>
          <p:cNvPr id="26" name="Shape 23"/>
          <p:cNvSpPr/>
          <p:nvPr/>
        </p:nvSpPr>
        <p:spPr>
          <a:xfrm>
            <a:off x="6675120" y="4123943"/>
            <a:ext cx="4937760" cy="956661"/>
          </a:xfrm>
          <a:prstGeom prst="roundRect">
            <a:avLst>
              <a:gd name="adj" fmla="val 10667"/>
            </a:avLst>
          </a:prstGeom>
          <a:solidFill>
            <a:srgbClr val="FFFFFF"/>
          </a:solidFill>
          <a:ln w="12700">
            <a:solidFill>
              <a:srgbClr val="B8C7D8"/>
            </a:solidFill>
            <a:prstDash val="solid"/>
          </a:ln>
        </p:spPr>
        <p:txBody>
          <a:bodyPr/>
          <a:lstStyle/>
          <a:p>
            <a:endParaRPr lang="en-US"/>
          </a:p>
        </p:txBody>
      </p:sp>
      <p:sp>
        <p:nvSpPr>
          <p:cNvPr id="27" name="Text 24"/>
          <p:cNvSpPr txBox="1"/>
          <p:nvPr/>
        </p:nvSpPr>
        <p:spPr>
          <a:xfrm>
            <a:off x="6903720" y="4123944"/>
            <a:ext cx="4572000" cy="685800"/>
          </a:xfrm>
          <a:prstGeom prst="rect">
            <a:avLst/>
          </a:prstGeom>
          <a:noFill/>
          <a:ln/>
        </p:spPr>
        <p:txBody>
          <a:bodyPr wrap="square" lIns="0" tIns="0" rIns="0" bIns="0" rtlCol="0" anchor="ctr"/>
          <a:lstStyle/>
          <a:p>
            <a:pPr marL="0" indent="0">
              <a:buNone/>
            </a:pPr>
            <a:r>
              <a:rPr lang="en-US" sz="2000" b="1" dirty="0">
                <a:solidFill>
                  <a:srgbClr val="0B2D55"/>
                </a:solidFill>
                <a:latin typeface="Aptos" pitchFamily="34" charset="0"/>
                <a:ea typeface="Aptos" pitchFamily="34" charset="-122"/>
                <a:cs typeface="Aptos" pitchFamily="34" charset="-120"/>
              </a:rPr>
              <a:t>F1  =  </a:t>
            </a:r>
            <a:endParaRPr lang="en-US" sz="2000" dirty="0"/>
          </a:p>
        </p:txBody>
      </p:sp>
      <p:sp>
        <p:nvSpPr>
          <p:cNvPr id="28" name="Shape 25"/>
          <p:cNvSpPr/>
          <p:nvPr/>
        </p:nvSpPr>
        <p:spPr>
          <a:xfrm>
            <a:off x="6675120" y="5234940"/>
            <a:ext cx="4937760" cy="868680"/>
          </a:xfrm>
          <a:prstGeom prst="roundRect">
            <a:avLst>
              <a:gd name="adj" fmla="val 8421"/>
            </a:avLst>
          </a:prstGeom>
          <a:solidFill>
            <a:srgbClr val="FFF4CE"/>
          </a:solidFill>
          <a:ln w="12700">
            <a:solidFill>
              <a:srgbClr val="F2C14E"/>
            </a:solidFill>
            <a:prstDash val="solid"/>
          </a:ln>
        </p:spPr>
        <p:txBody>
          <a:bodyPr/>
          <a:lstStyle/>
          <a:p>
            <a:endParaRPr lang="en-US"/>
          </a:p>
        </p:txBody>
      </p:sp>
      <p:sp>
        <p:nvSpPr>
          <p:cNvPr id="29" name="Text 26"/>
          <p:cNvSpPr txBox="1"/>
          <p:nvPr/>
        </p:nvSpPr>
        <p:spPr>
          <a:xfrm>
            <a:off x="6858000" y="5234940"/>
            <a:ext cx="4572000" cy="86868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Would you deploy it? Justify with the metric that matches the cost.</a:t>
            </a:r>
            <a:endParaRPr lang="en-US" sz="1600" dirty="0"/>
          </a:p>
        </p:txBody>
      </p:sp>
      <p:sp>
        <p:nvSpPr>
          <p:cNvPr id="30" name="TextBox 29">
            <a:extLst>
              <a:ext uri="{FF2B5EF4-FFF2-40B4-BE49-F238E27FC236}">
                <a16:creationId xmlns:a16="http://schemas.microsoft.com/office/drawing/2014/main" id="{C926577D-89BB-B933-33AF-4F00E6569F82}"/>
              </a:ext>
            </a:extLst>
          </p:cNvPr>
          <p:cNvSpPr txBox="1"/>
          <p:nvPr/>
        </p:nvSpPr>
        <p:spPr>
          <a:xfrm>
            <a:off x="8308190" y="1743045"/>
            <a:ext cx="3167530" cy="400110"/>
          </a:xfrm>
          <a:prstGeom prst="rect">
            <a:avLst/>
          </a:prstGeom>
          <a:noFill/>
        </p:spPr>
        <p:txBody>
          <a:bodyPr wrap="square">
            <a:spAutoFit/>
          </a:bodyPr>
          <a:lstStyle/>
          <a:p>
            <a:r>
              <a:rPr lang="en-US" sz="2000" b="1" dirty="0">
                <a:solidFill>
                  <a:srgbClr val="0B2D55"/>
                </a:solidFill>
                <a:latin typeface="Aptos" pitchFamily="34" charset="0"/>
              </a:rPr>
              <a:t>(18 + 474) / 500 = 0.984</a:t>
            </a:r>
            <a:endParaRPr lang="en-US" dirty="0"/>
          </a:p>
        </p:txBody>
      </p:sp>
      <p:sp>
        <p:nvSpPr>
          <p:cNvPr id="34" name="TextBox 33">
            <a:extLst>
              <a:ext uri="{FF2B5EF4-FFF2-40B4-BE49-F238E27FC236}">
                <a16:creationId xmlns:a16="http://schemas.microsoft.com/office/drawing/2014/main" id="{95AB79A7-3739-6DA6-2095-A71011F4F1D8}"/>
              </a:ext>
            </a:extLst>
          </p:cNvPr>
          <p:cNvSpPr txBox="1"/>
          <p:nvPr/>
        </p:nvSpPr>
        <p:spPr>
          <a:xfrm>
            <a:off x="8235038" y="2572803"/>
            <a:ext cx="3167530" cy="400110"/>
          </a:xfrm>
          <a:prstGeom prst="rect">
            <a:avLst/>
          </a:prstGeom>
          <a:noFill/>
        </p:spPr>
        <p:txBody>
          <a:bodyPr wrap="square">
            <a:spAutoFit/>
          </a:bodyPr>
          <a:lstStyle/>
          <a:p>
            <a:r>
              <a:rPr lang="en-US" sz="2000" b="1" dirty="0">
                <a:solidFill>
                  <a:srgbClr val="0B2D55"/>
                </a:solidFill>
                <a:latin typeface="Aptos" pitchFamily="34" charset="0"/>
              </a:rPr>
              <a:t>18 / (18 + 6) = 0.75</a:t>
            </a:r>
            <a:endParaRPr lang="en-US" dirty="0"/>
          </a:p>
        </p:txBody>
      </p:sp>
      <p:sp>
        <p:nvSpPr>
          <p:cNvPr id="36" name="TextBox 35">
            <a:extLst>
              <a:ext uri="{FF2B5EF4-FFF2-40B4-BE49-F238E27FC236}">
                <a16:creationId xmlns:a16="http://schemas.microsoft.com/office/drawing/2014/main" id="{59563F50-1C95-D4A7-2F5A-91EC15BDF80E}"/>
              </a:ext>
            </a:extLst>
          </p:cNvPr>
          <p:cNvSpPr txBox="1"/>
          <p:nvPr/>
        </p:nvSpPr>
        <p:spPr>
          <a:xfrm>
            <a:off x="7916680" y="3414051"/>
            <a:ext cx="3167530" cy="400110"/>
          </a:xfrm>
          <a:prstGeom prst="rect">
            <a:avLst/>
          </a:prstGeom>
          <a:noFill/>
        </p:spPr>
        <p:txBody>
          <a:bodyPr wrap="square">
            <a:spAutoFit/>
          </a:bodyPr>
          <a:lstStyle/>
          <a:p>
            <a:r>
              <a:rPr lang="en-US" sz="2000" b="1" dirty="0">
                <a:solidFill>
                  <a:srgbClr val="0B2D55"/>
                </a:solidFill>
                <a:latin typeface="Aptos" pitchFamily="34" charset="0"/>
              </a:rPr>
              <a:t>18 / (18 + 2) = 0.90</a:t>
            </a:r>
            <a:endParaRPr lang="en-US" dirty="0"/>
          </a:p>
        </p:txBody>
      </p:sp>
      <p:sp>
        <p:nvSpPr>
          <p:cNvPr id="38" name="TextBox 37">
            <a:extLst>
              <a:ext uri="{FF2B5EF4-FFF2-40B4-BE49-F238E27FC236}">
                <a16:creationId xmlns:a16="http://schemas.microsoft.com/office/drawing/2014/main" id="{14987ABC-79D7-C22B-4085-A4AD617CF349}"/>
              </a:ext>
            </a:extLst>
          </p:cNvPr>
          <p:cNvSpPr txBox="1"/>
          <p:nvPr/>
        </p:nvSpPr>
        <p:spPr>
          <a:xfrm>
            <a:off x="7427949" y="4266789"/>
            <a:ext cx="3167530" cy="707886"/>
          </a:xfrm>
          <a:prstGeom prst="rect">
            <a:avLst/>
          </a:prstGeom>
          <a:noFill/>
        </p:spPr>
        <p:txBody>
          <a:bodyPr wrap="square">
            <a:spAutoFit/>
          </a:bodyPr>
          <a:lstStyle/>
          <a:p>
            <a:r>
              <a:rPr lang="en-US" sz="2000" b="1" dirty="0">
                <a:solidFill>
                  <a:srgbClr val="0B2D55"/>
                </a:solidFill>
                <a:latin typeface="Aptos" pitchFamily="34" charset="0"/>
              </a:rPr>
              <a:t>2(0.75)(0.90) / (0.75 + 0.90) = 1.35 / 1.65 = ~ 0.82</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4" grpId="0"/>
      <p:bldP spid="36" grpId="0"/>
      <p:bldP spid="38"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Five ways to draw the boundary</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Same data, five model families. Each makes a different assumption – we will complete this table.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19</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6072" y="1481328"/>
          <a:ext cx="11018520" cy="4636008"/>
        </p:xfrm>
        <a:graphic>
          <a:graphicData uri="http://schemas.openxmlformats.org/drawingml/2006/table">
            <a:tbl>
              <a:tblPr/>
              <a:tblGrid>
                <a:gridCol w="19659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tblGrid>
              <a:tr h="38404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Boundary</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Key assumption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Boundary shape</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Bias / variance lean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Logistic regression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LDA</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QDA</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SVM</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Trees &amp; random forests</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800" b="1" dirty="0">
                          <a:solidFill>
                            <a:srgbClr val="9AA8B8"/>
                          </a:solidFill>
                          <a:latin typeface="Aptos" pitchFamily="34" charset="0"/>
                          <a:ea typeface="Aptos" pitchFamily="34" charset="-122"/>
                          <a:cs typeface="Aptos" pitchFamily="34" charset="-120"/>
                        </a:rPr>
                        <a:t>?</a:t>
                      </a:r>
                      <a:endParaRPr lang="en-US" sz="18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8" name="Image 0" descr="figs/g_logreg_q.png"/>
          <p:cNvPicPr>
            <a:picLocks noChangeAspect="1"/>
          </p:cNvPicPr>
          <p:nvPr/>
        </p:nvPicPr>
        <p:blipFill>
          <a:blip r:embed="rId3"/>
          <a:stretch>
            <a:fillRect/>
          </a:stretch>
        </p:blipFill>
        <p:spPr>
          <a:xfrm>
            <a:off x="2781903" y="1920240"/>
            <a:ext cx="937578" cy="740664"/>
          </a:xfrm>
          <a:prstGeom prst="rect">
            <a:avLst/>
          </a:prstGeom>
        </p:spPr>
      </p:pic>
      <p:pic>
        <p:nvPicPr>
          <p:cNvPr id="9" name="Image 1" descr="figs/g_lda_q.png"/>
          <p:cNvPicPr>
            <a:picLocks noChangeAspect="1"/>
          </p:cNvPicPr>
          <p:nvPr/>
        </p:nvPicPr>
        <p:blipFill>
          <a:blip r:embed="rId3"/>
          <a:stretch>
            <a:fillRect/>
          </a:stretch>
        </p:blipFill>
        <p:spPr>
          <a:xfrm>
            <a:off x="2781903" y="2770632"/>
            <a:ext cx="937578" cy="740664"/>
          </a:xfrm>
          <a:prstGeom prst="rect">
            <a:avLst/>
          </a:prstGeom>
        </p:spPr>
      </p:pic>
      <p:pic>
        <p:nvPicPr>
          <p:cNvPr id="10" name="Image 2" descr="figs/g_qda_q.png"/>
          <p:cNvPicPr>
            <a:picLocks noChangeAspect="1"/>
          </p:cNvPicPr>
          <p:nvPr/>
        </p:nvPicPr>
        <p:blipFill>
          <a:blip r:embed="rId3"/>
          <a:stretch>
            <a:fillRect/>
          </a:stretch>
        </p:blipFill>
        <p:spPr>
          <a:xfrm>
            <a:off x="2781903" y="3621024"/>
            <a:ext cx="937578" cy="740664"/>
          </a:xfrm>
          <a:prstGeom prst="rect">
            <a:avLst/>
          </a:prstGeom>
        </p:spPr>
      </p:pic>
      <p:pic>
        <p:nvPicPr>
          <p:cNvPr id="11" name="Image 3" descr="figs/g_svm_q.png"/>
          <p:cNvPicPr>
            <a:picLocks noChangeAspect="1"/>
          </p:cNvPicPr>
          <p:nvPr/>
        </p:nvPicPr>
        <p:blipFill>
          <a:blip r:embed="rId3"/>
          <a:stretch>
            <a:fillRect/>
          </a:stretch>
        </p:blipFill>
        <p:spPr>
          <a:xfrm>
            <a:off x="2781903" y="4471416"/>
            <a:ext cx="937578" cy="740664"/>
          </a:xfrm>
          <a:prstGeom prst="rect">
            <a:avLst/>
          </a:prstGeom>
        </p:spPr>
      </p:pic>
      <p:pic>
        <p:nvPicPr>
          <p:cNvPr id="12" name="Image 4" descr="figs/g_rf_q.png"/>
          <p:cNvPicPr>
            <a:picLocks noChangeAspect="1"/>
          </p:cNvPicPr>
          <p:nvPr/>
        </p:nvPicPr>
        <p:blipFill>
          <a:blip r:embed="rId3"/>
          <a:stretch>
            <a:fillRect/>
          </a:stretch>
        </p:blipFill>
        <p:spPr>
          <a:xfrm>
            <a:off x="2781903" y="5321808"/>
            <a:ext cx="937578" cy="7406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Logistic regression: a line, then a probability</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Regression in name, classifier in practice.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20</a:t>
            </a:r>
            <a:endParaRPr lang="en-US" sz="850" dirty="0"/>
          </a:p>
        </p:txBody>
      </p:sp>
      <p:sp>
        <p:nvSpPr>
          <p:cNvPr id="7" name="Shape 4"/>
          <p:cNvSpPr/>
          <p:nvPr/>
        </p:nvSpPr>
        <p:spPr>
          <a:xfrm>
            <a:off x="576072" y="1554480"/>
            <a:ext cx="3474720" cy="1234440"/>
          </a:xfrm>
          <a:prstGeom prst="roundRect">
            <a:avLst>
              <a:gd name="adj" fmla="val 5926"/>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13232" y="1554480"/>
            <a:ext cx="3200400" cy="12344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1  Linear score</a:t>
            </a:r>
            <a:endParaRPr lang="en-US" sz="1600" dirty="0"/>
          </a:p>
          <a:p>
            <a:pPr marL="0" indent="0" algn="ctr">
              <a:buNone/>
            </a:pPr>
            <a:r>
              <a:rPr lang="en-US" sz="1800" dirty="0">
                <a:solidFill>
                  <a:srgbClr val="132033"/>
                </a:solidFill>
                <a:latin typeface="Aptos" pitchFamily="34" charset="0"/>
                <a:ea typeface="Aptos" pitchFamily="34" charset="-122"/>
                <a:cs typeface="Aptos" pitchFamily="34" charset="-120"/>
              </a:rPr>
              <a:t>z = β₀ + β₁x₁ + … + βₙxₙ</a:t>
            </a:r>
            <a:endParaRPr lang="en-US" sz="1600" dirty="0"/>
          </a:p>
        </p:txBody>
      </p:sp>
      <p:sp>
        <p:nvSpPr>
          <p:cNvPr id="9" name="Shape 6"/>
          <p:cNvSpPr/>
          <p:nvPr/>
        </p:nvSpPr>
        <p:spPr>
          <a:xfrm>
            <a:off x="4078224" y="2167128"/>
            <a:ext cx="256032" cy="0"/>
          </a:xfrm>
          <a:prstGeom prst="line">
            <a:avLst/>
          </a:prstGeom>
          <a:noFill/>
          <a:ln w="22225">
            <a:solidFill>
              <a:srgbClr val="1D5FA7"/>
            </a:solidFill>
            <a:prstDash val="solid"/>
            <a:tailEnd type="triangle"/>
          </a:ln>
        </p:spPr>
        <p:txBody>
          <a:bodyPr/>
          <a:lstStyle/>
          <a:p>
            <a:endParaRPr lang="en-US"/>
          </a:p>
        </p:txBody>
      </p:sp>
      <p:sp>
        <p:nvSpPr>
          <p:cNvPr id="10" name="Shape 7"/>
          <p:cNvSpPr/>
          <p:nvPr/>
        </p:nvSpPr>
        <p:spPr>
          <a:xfrm>
            <a:off x="4361688" y="1554480"/>
            <a:ext cx="3474720" cy="1234440"/>
          </a:xfrm>
          <a:prstGeom prst="roundRect">
            <a:avLst>
              <a:gd name="adj" fmla="val 5926"/>
            </a:avLst>
          </a:prstGeom>
          <a:solidFill>
            <a:srgbClr val="FFF4CE"/>
          </a:solidFill>
          <a:ln w="12700">
            <a:solidFill>
              <a:srgbClr val="F2C14E"/>
            </a:solidFill>
            <a:prstDash val="solid"/>
          </a:ln>
        </p:spPr>
        <p:txBody>
          <a:bodyPr/>
          <a:lstStyle/>
          <a:p>
            <a:endParaRPr lang="en-US"/>
          </a:p>
        </p:txBody>
      </p:sp>
      <p:sp>
        <p:nvSpPr>
          <p:cNvPr id="11" name="Text 8"/>
          <p:cNvSpPr txBox="1"/>
          <p:nvPr/>
        </p:nvSpPr>
        <p:spPr>
          <a:xfrm>
            <a:off x="4498848" y="1554480"/>
            <a:ext cx="3200400" cy="12344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2  Sigmoid</a:t>
            </a:r>
            <a:endParaRPr lang="en-US" sz="1600" dirty="0"/>
          </a:p>
          <a:p>
            <a:pPr marL="0" indent="0" algn="ctr">
              <a:buNone/>
            </a:pPr>
            <a:r>
              <a:rPr lang="en-US" sz="1800" dirty="0">
                <a:solidFill>
                  <a:srgbClr val="132033"/>
                </a:solidFill>
                <a:latin typeface="Aptos" pitchFamily="34" charset="0"/>
                <a:ea typeface="Aptos" pitchFamily="34" charset="-122"/>
                <a:cs typeface="Aptos" pitchFamily="34" charset="-120"/>
              </a:rPr>
              <a:t>P = 1 / (1 + e⁻ᶻ)</a:t>
            </a:r>
            <a:endParaRPr lang="en-US" sz="1600" dirty="0"/>
          </a:p>
        </p:txBody>
      </p:sp>
      <p:sp>
        <p:nvSpPr>
          <p:cNvPr id="12" name="Shape 9"/>
          <p:cNvSpPr/>
          <p:nvPr/>
        </p:nvSpPr>
        <p:spPr>
          <a:xfrm>
            <a:off x="7863840" y="2167128"/>
            <a:ext cx="256032" cy="0"/>
          </a:xfrm>
          <a:prstGeom prst="line">
            <a:avLst/>
          </a:prstGeom>
          <a:noFill/>
          <a:ln w="22225">
            <a:solidFill>
              <a:srgbClr val="1D5FA7"/>
            </a:solidFill>
            <a:prstDash val="solid"/>
            <a:tailEnd type="triangle"/>
          </a:ln>
        </p:spPr>
        <p:txBody>
          <a:bodyPr/>
          <a:lstStyle/>
          <a:p>
            <a:endParaRPr lang="en-US"/>
          </a:p>
        </p:txBody>
      </p:sp>
      <p:sp>
        <p:nvSpPr>
          <p:cNvPr id="13" name="Shape 10"/>
          <p:cNvSpPr/>
          <p:nvPr/>
        </p:nvSpPr>
        <p:spPr>
          <a:xfrm>
            <a:off x="8147304" y="1554480"/>
            <a:ext cx="3474720" cy="1234440"/>
          </a:xfrm>
          <a:prstGeom prst="roundRect">
            <a:avLst>
              <a:gd name="adj" fmla="val 5926"/>
            </a:avLst>
          </a:prstGeom>
          <a:solidFill>
            <a:srgbClr val="DFF0D8"/>
          </a:solidFill>
          <a:ln w="12700">
            <a:solidFill>
              <a:srgbClr val="2E7D32"/>
            </a:solidFill>
            <a:prstDash val="solid"/>
          </a:ln>
        </p:spPr>
        <p:txBody>
          <a:bodyPr/>
          <a:lstStyle/>
          <a:p>
            <a:endParaRPr lang="en-US"/>
          </a:p>
        </p:txBody>
      </p:sp>
      <p:sp>
        <p:nvSpPr>
          <p:cNvPr id="14" name="Text 11"/>
          <p:cNvSpPr txBox="1"/>
          <p:nvPr/>
        </p:nvSpPr>
        <p:spPr>
          <a:xfrm>
            <a:off x="8284464" y="1554480"/>
            <a:ext cx="3200400" cy="12344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3  Threshold</a:t>
            </a:r>
            <a:endParaRPr lang="en-US" sz="1600" dirty="0"/>
          </a:p>
          <a:p>
            <a:pPr marL="0" indent="0" algn="ctr">
              <a:buNone/>
            </a:pPr>
            <a:r>
              <a:rPr lang="en-US" sz="1800" dirty="0">
                <a:solidFill>
                  <a:srgbClr val="132033"/>
                </a:solidFill>
                <a:latin typeface="Aptos" pitchFamily="34" charset="0"/>
                <a:ea typeface="Aptos" pitchFamily="34" charset="-122"/>
                <a:cs typeface="Aptos" pitchFamily="34" charset="-120"/>
              </a:rPr>
              <a:t>P &gt; 0.5  →  flag fraud</a:t>
            </a:r>
            <a:endParaRPr lang="en-US" sz="1600" dirty="0"/>
          </a:p>
        </p:txBody>
      </p:sp>
      <p:sp>
        <p:nvSpPr>
          <p:cNvPr id="15" name="Shape 12"/>
          <p:cNvSpPr/>
          <p:nvPr/>
        </p:nvSpPr>
        <p:spPr>
          <a:xfrm>
            <a:off x="731520" y="3218688"/>
            <a:ext cx="457200" cy="457200"/>
          </a:xfrm>
          <a:prstGeom prst="ellipse">
            <a:avLst/>
          </a:prstGeom>
          <a:solidFill>
            <a:srgbClr val="1D5FA7"/>
          </a:solidFill>
          <a:ln w="12700">
            <a:solidFill>
              <a:srgbClr val="1D5FA7"/>
            </a:solidFill>
            <a:prstDash val="solid"/>
          </a:ln>
        </p:spPr>
        <p:txBody>
          <a:bodyPr/>
          <a:lstStyle/>
          <a:p>
            <a:endParaRPr lang="en-US"/>
          </a:p>
        </p:txBody>
      </p:sp>
      <p:sp>
        <p:nvSpPr>
          <p:cNvPr id="16" name="Text 13"/>
          <p:cNvSpPr txBox="1"/>
          <p:nvPr/>
        </p:nvSpPr>
        <p:spPr>
          <a:xfrm>
            <a:off x="731520" y="32186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7" name="Text 14"/>
          <p:cNvSpPr txBox="1"/>
          <p:nvPr/>
        </p:nvSpPr>
        <p:spPr>
          <a:xfrm>
            <a:off x="1371600" y="3108960"/>
            <a:ext cx="4846320" cy="73152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z can be any number; the sigmoid squashes it into 0 to 1.</a:t>
            </a:r>
            <a:endParaRPr lang="en-US" sz="1600" dirty="0"/>
          </a:p>
        </p:txBody>
      </p:sp>
      <p:sp>
        <p:nvSpPr>
          <p:cNvPr id="18" name="Shape 15"/>
          <p:cNvSpPr/>
          <p:nvPr/>
        </p:nvSpPr>
        <p:spPr>
          <a:xfrm>
            <a:off x="731520" y="4087368"/>
            <a:ext cx="457200" cy="457200"/>
          </a:xfrm>
          <a:prstGeom prst="ellipse">
            <a:avLst/>
          </a:prstGeom>
          <a:solidFill>
            <a:srgbClr val="1D5FA7"/>
          </a:solidFill>
          <a:ln w="12700">
            <a:solidFill>
              <a:srgbClr val="1D5FA7"/>
            </a:solidFill>
            <a:prstDash val="solid"/>
          </a:ln>
        </p:spPr>
        <p:txBody>
          <a:bodyPr/>
          <a:lstStyle/>
          <a:p>
            <a:endParaRPr lang="en-US"/>
          </a:p>
        </p:txBody>
      </p:sp>
      <p:sp>
        <p:nvSpPr>
          <p:cNvPr id="19" name="Text 16"/>
          <p:cNvSpPr txBox="1"/>
          <p:nvPr/>
        </p:nvSpPr>
        <p:spPr>
          <a:xfrm>
            <a:off x="731520" y="40873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20" name="Text 17"/>
          <p:cNvSpPr txBox="1"/>
          <p:nvPr/>
        </p:nvSpPr>
        <p:spPr>
          <a:xfrm>
            <a:off x="1371600" y="3977640"/>
            <a:ext cx="4846320" cy="73152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z = 0 gives P = 0.5. That line is the decision boundary.</a:t>
            </a:r>
            <a:endParaRPr lang="en-US" sz="1600" dirty="0"/>
          </a:p>
        </p:txBody>
      </p:sp>
      <p:sp>
        <p:nvSpPr>
          <p:cNvPr id="21" name="Shape 18"/>
          <p:cNvSpPr/>
          <p:nvPr/>
        </p:nvSpPr>
        <p:spPr>
          <a:xfrm>
            <a:off x="731520" y="4956048"/>
            <a:ext cx="457200" cy="457200"/>
          </a:xfrm>
          <a:prstGeom prst="ellipse">
            <a:avLst/>
          </a:prstGeom>
          <a:solidFill>
            <a:srgbClr val="1D5FA7"/>
          </a:solidFill>
          <a:ln w="12700">
            <a:solidFill>
              <a:srgbClr val="1D5FA7"/>
            </a:solidFill>
            <a:prstDash val="solid"/>
          </a:ln>
        </p:spPr>
        <p:txBody>
          <a:bodyPr/>
          <a:lstStyle/>
          <a:p>
            <a:endParaRPr lang="en-US"/>
          </a:p>
        </p:txBody>
      </p:sp>
      <p:sp>
        <p:nvSpPr>
          <p:cNvPr id="22" name="Text 19"/>
          <p:cNvSpPr txBox="1"/>
          <p:nvPr/>
        </p:nvSpPr>
        <p:spPr>
          <a:xfrm>
            <a:off x="731520" y="49560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3" name="Text 20"/>
          <p:cNvSpPr txBox="1"/>
          <p:nvPr/>
        </p:nvSpPr>
        <p:spPr>
          <a:xfrm>
            <a:off x="1371600" y="4846320"/>
            <a:ext cx="4846320" cy="73152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A positive β means the feature pushes toward fraud; a bigger β pushes harder.</a:t>
            </a:r>
            <a:endParaRPr lang="en-US" sz="1600" dirty="0"/>
          </a:p>
        </p:txBody>
      </p:sp>
      <p:sp>
        <p:nvSpPr>
          <p:cNvPr id="24" name="Shape 21"/>
          <p:cNvSpPr/>
          <p:nvPr/>
        </p:nvSpPr>
        <p:spPr>
          <a:xfrm>
            <a:off x="6629400" y="3017520"/>
            <a:ext cx="4983480" cy="2880360"/>
          </a:xfrm>
          <a:prstGeom prst="roundRect">
            <a:avLst>
              <a:gd name="adj" fmla="val 2540"/>
            </a:avLst>
          </a:prstGeom>
          <a:solidFill>
            <a:srgbClr val="FFFFFF"/>
          </a:solidFill>
          <a:ln w="12700">
            <a:solidFill>
              <a:srgbClr val="B8C7D8"/>
            </a:solidFill>
            <a:prstDash val="solid"/>
          </a:ln>
        </p:spPr>
        <p:txBody>
          <a:bodyPr/>
          <a:lstStyle/>
          <a:p>
            <a:endParaRPr lang="en-US"/>
          </a:p>
        </p:txBody>
      </p:sp>
      <p:pic>
        <p:nvPicPr>
          <p:cNvPr id="25" name="Image 0" descr="figs/boundary.png"/>
          <p:cNvPicPr>
            <a:picLocks noChangeAspect="1"/>
          </p:cNvPicPr>
          <p:nvPr/>
        </p:nvPicPr>
        <p:blipFill>
          <a:blip r:embed="rId3"/>
          <a:stretch>
            <a:fillRect/>
          </a:stretch>
        </p:blipFill>
        <p:spPr>
          <a:xfrm>
            <a:off x="7664487" y="3090672"/>
            <a:ext cx="2913306" cy="2423160"/>
          </a:xfrm>
          <a:prstGeom prst="rect">
            <a:avLst/>
          </a:prstGeom>
        </p:spPr>
      </p:pic>
      <p:sp>
        <p:nvSpPr>
          <p:cNvPr id="26" name="Text 22"/>
          <p:cNvSpPr txBox="1"/>
          <p:nvPr/>
        </p:nvSpPr>
        <p:spPr>
          <a:xfrm>
            <a:off x="6629400" y="5513832"/>
            <a:ext cx="4983480" cy="320040"/>
          </a:xfrm>
          <a:prstGeom prst="rect">
            <a:avLst/>
          </a:prstGeom>
          <a:noFill/>
          <a:ln/>
        </p:spPr>
        <p:txBody>
          <a:bodyPr wrap="square" lIns="0" tIns="0" rIns="0" bIns="0" rtlCol="0" anchor="t"/>
          <a:lstStyle/>
          <a:p>
            <a:pPr marL="0" indent="0" algn="ctr">
              <a:buNone/>
            </a:pPr>
            <a:r>
              <a:rPr lang="en-US" sz="1300" i="1" dirty="0">
                <a:solidFill>
                  <a:srgbClr val="6D7C8F"/>
                </a:solidFill>
                <a:latin typeface="Aptos" pitchFamily="34" charset="0"/>
                <a:ea typeface="Aptos" pitchFamily="34" charset="-122"/>
                <a:cs typeface="Aptos" pitchFamily="34" charset="-120"/>
              </a:rPr>
              <a:t>Slide 6’s boundary was logistic regression.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logistic regression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One feature: x = card purchases in the last hour.  Trained weights: β₀ = −4, β₁ = 0.8.</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21</a:t>
            </a:r>
            <a:endParaRPr lang="en-US" sz="850" dirty="0"/>
          </a:p>
        </p:txBody>
      </p:sp>
      <p:sp>
        <p:nvSpPr>
          <p:cNvPr id="7" name="Shape 4"/>
          <p:cNvSpPr/>
          <p:nvPr/>
        </p:nvSpPr>
        <p:spPr>
          <a:xfrm>
            <a:off x="576072" y="1600200"/>
            <a:ext cx="5440680" cy="2148840"/>
          </a:xfrm>
          <a:prstGeom prst="roundRect">
            <a:avLst>
              <a:gd name="adj" fmla="val 3404"/>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58952" y="1709928"/>
            <a:ext cx="50749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9" name="Text 6"/>
          <p:cNvSpPr txBox="1"/>
          <p:nvPr/>
        </p:nvSpPr>
        <p:spPr>
          <a:xfrm>
            <a:off x="758952" y="2039112"/>
            <a:ext cx="5074920" cy="1618488"/>
          </a:xfrm>
          <a:prstGeom prst="rect">
            <a:avLst/>
          </a:prstGeom>
          <a:noFill/>
          <a:ln/>
        </p:spPr>
        <p:txBody>
          <a:bodyPr wrap="square" lIns="0" tIns="0" rIns="0" bIns="0" rtlCol="0" anchor="t"/>
          <a:lstStyle/>
          <a:p>
            <a:pPr marL="0" indent="0">
              <a:buNone/>
            </a:pPr>
            <a:endParaRPr lang="en-US" sz="1500" dirty="0"/>
          </a:p>
        </p:txBody>
      </p:sp>
      <p:sp>
        <p:nvSpPr>
          <p:cNvPr id="10" name="Text 7"/>
          <p:cNvSpPr txBox="1"/>
          <p:nvPr/>
        </p:nvSpPr>
        <p:spPr>
          <a:xfrm>
            <a:off x="777240" y="2011680"/>
            <a:ext cx="5120640" cy="1691640"/>
          </a:xfrm>
          <a:prstGeom prst="rect">
            <a:avLst/>
          </a:prstGeom>
          <a:noFill/>
          <a:ln/>
        </p:spPr>
        <p:txBody>
          <a:bodyPr wrap="square" lIns="0" tIns="0" rIns="0" bIns="0" rtlCol="0" anchor="t"/>
          <a:lstStyle/>
          <a:p>
            <a:pPr marL="0" indent="0">
              <a:spcAft>
                <a:spcPts val="400"/>
              </a:spcAft>
              <a:buNone/>
            </a:pPr>
            <a:r>
              <a:rPr lang="en-US" sz="1600" b="1" dirty="0">
                <a:solidFill>
                  <a:srgbClr val="D9731A"/>
                </a:solidFill>
                <a:latin typeface="Aptos" pitchFamily="34" charset="0"/>
                <a:ea typeface="Aptos" pitchFamily="34" charset="-122"/>
                <a:cs typeface="Aptos" pitchFamily="34" charset="-120"/>
              </a:rPr>
              <a:t>x = 6:  </a:t>
            </a:r>
            <a:r>
              <a:rPr lang="en-US" sz="1600" dirty="0">
                <a:solidFill>
                  <a:srgbClr val="132033"/>
                </a:solidFill>
                <a:latin typeface="Aptos" pitchFamily="34" charset="0"/>
                <a:ea typeface="Aptos" pitchFamily="34" charset="-122"/>
                <a:cs typeface="Aptos" pitchFamily="34" charset="-120"/>
              </a:rPr>
              <a:t>z = −4 + 0.8(6) = 0.8</a:t>
            </a:r>
            <a:endParaRPr lang="en-US" sz="1600" dirty="0"/>
          </a:p>
          <a:p>
            <a:pPr marL="0" indent="0">
              <a:spcAft>
                <a:spcPts val="400"/>
              </a:spcAft>
              <a:buNone/>
            </a:pPr>
            <a:r>
              <a:rPr lang="en-US" sz="1600" dirty="0">
                <a:solidFill>
                  <a:srgbClr val="132033"/>
                </a:solidFill>
                <a:latin typeface="Aptos" pitchFamily="34" charset="0"/>
                <a:ea typeface="Aptos" pitchFamily="34" charset="-122"/>
                <a:cs typeface="Aptos" pitchFamily="34" charset="-120"/>
              </a:rPr>
              <a:t>P = 1 / (1 + e⁻⁰·⁸) = 1 / 1.449 ≈ </a:t>
            </a:r>
            <a:r>
              <a:rPr lang="en-US" sz="1600" b="1" dirty="0">
                <a:solidFill>
                  <a:srgbClr val="D9731A"/>
                </a:solidFill>
                <a:latin typeface="Aptos" pitchFamily="34" charset="0"/>
                <a:ea typeface="Aptos" pitchFamily="34" charset="-122"/>
                <a:cs typeface="Aptos" pitchFamily="34" charset="-120"/>
              </a:rPr>
              <a:t>0.69  →  flag</a:t>
            </a:r>
            <a:endParaRPr lang="en-US" sz="1600" dirty="0"/>
          </a:p>
          <a:p>
            <a:pPr marL="0" indent="0">
              <a:spcAft>
                <a:spcPts val="400"/>
              </a:spcAft>
              <a:buNone/>
            </a:pPr>
            <a:r>
              <a:rPr lang="en-US" sz="1600" b="1" dirty="0">
                <a:solidFill>
                  <a:srgbClr val="1D5FA7"/>
                </a:solidFill>
                <a:latin typeface="Aptos" pitchFamily="34" charset="0"/>
                <a:ea typeface="Aptos" pitchFamily="34" charset="-122"/>
                <a:cs typeface="Aptos" pitchFamily="34" charset="-120"/>
              </a:rPr>
              <a:t>x = 3:  </a:t>
            </a:r>
            <a:r>
              <a:rPr lang="en-US" sz="1600" dirty="0">
                <a:solidFill>
                  <a:srgbClr val="132033"/>
                </a:solidFill>
                <a:latin typeface="Aptos" pitchFamily="34" charset="0"/>
                <a:ea typeface="Aptos" pitchFamily="34" charset="-122"/>
                <a:cs typeface="Aptos" pitchFamily="34" charset="-120"/>
              </a:rPr>
              <a:t>z = −4 + 0.8(3) = −1.6</a:t>
            </a:r>
            <a:endParaRPr lang="en-US" sz="1600" dirty="0"/>
          </a:p>
          <a:p>
            <a:pPr marL="0" indent="0">
              <a:spcAft>
                <a:spcPts val="400"/>
              </a:spcAft>
              <a:buNone/>
            </a:pPr>
            <a:r>
              <a:rPr lang="en-US" sz="1600" dirty="0">
                <a:solidFill>
                  <a:srgbClr val="132033"/>
                </a:solidFill>
                <a:latin typeface="Aptos" pitchFamily="34" charset="0"/>
                <a:ea typeface="Aptos" pitchFamily="34" charset="-122"/>
                <a:cs typeface="Aptos" pitchFamily="34" charset="-120"/>
              </a:rPr>
              <a:t>P = 1 / (1 + e¹·⁶) = 1 / 5.95 ≈ </a:t>
            </a:r>
            <a:r>
              <a:rPr lang="en-US" sz="1600" b="1" dirty="0">
                <a:solidFill>
                  <a:srgbClr val="1D5FA7"/>
                </a:solidFill>
                <a:latin typeface="Aptos" pitchFamily="34" charset="0"/>
                <a:ea typeface="Aptos" pitchFamily="34" charset="-122"/>
                <a:cs typeface="Aptos" pitchFamily="34" charset="-120"/>
              </a:rPr>
              <a:t>0.17  →  approve</a:t>
            </a:r>
            <a:endParaRPr lang="en-US" sz="1600" dirty="0"/>
          </a:p>
        </p:txBody>
      </p:sp>
      <p:sp>
        <p:nvSpPr>
          <p:cNvPr id="11" name="Shape 8"/>
          <p:cNvSpPr/>
          <p:nvPr/>
        </p:nvSpPr>
        <p:spPr>
          <a:xfrm>
            <a:off x="576072" y="3886200"/>
            <a:ext cx="5440680" cy="960120"/>
          </a:xfrm>
          <a:prstGeom prst="roundRect">
            <a:avLst>
              <a:gd name="adj" fmla="val 7619"/>
            </a:avLst>
          </a:prstGeom>
          <a:solidFill>
            <a:srgbClr val="DFF0D8"/>
          </a:solidFill>
          <a:ln w="12700">
            <a:solidFill>
              <a:srgbClr val="2E7D32"/>
            </a:solidFill>
            <a:prstDash val="solid"/>
          </a:ln>
        </p:spPr>
        <p:txBody>
          <a:bodyPr/>
          <a:lstStyle/>
          <a:p>
            <a:endParaRPr lang="en-US"/>
          </a:p>
        </p:txBody>
      </p:sp>
      <p:sp>
        <p:nvSpPr>
          <p:cNvPr id="12" name="Text 9"/>
          <p:cNvSpPr txBox="1"/>
          <p:nvPr/>
        </p:nvSpPr>
        <p:spPr>
          <a:xfrm>
            <a:off x="758952" y="3995928"/>
            <a:ext cx="50749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13" name="Text 10"/>
          <p:cNvSpPr txBox="1"/>
          <p:nvPr/>
        </p:nvSpPr>
        <p:spPr>
          <a:xfrm>
            <a:off x="758952" y="4325112"/>
            <a:ext cx="5074920" cy="42976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β₁ &gt; 0: each extra purchase per hour raises the fraud probability.</a:t>
            </a:r>
            <a:endParaRPr lang="en-US" sz="1500" dirty="0"/>
          </a:p>
        </p:txBody>
      </p:sp>
      <p:sp>
        <p:nvSpPr>
          <p:cNvPr id="14" name="Shape 11"/>
          <p:cNvSpPr/>
          <p:nvPr/>
        </p:nvSpPr>
        <p:spPr>
          <a:xfrm>
            <a:off x="576072" y="4983480"/>
            <a:ext cx="5440680" cy="960120"/>
          </a:xfrm>
          <a:prstGeom prst="roundRect">
            <a:avLst>
              <a:gd name="adj" fmla="val 7619"/>
            </a:avLst>
          </a:prstGeom>
          <a:solidFill>
            <a:srgbClr val="FFF4CE"/>
          </a:solidFill>
          <a:ln w="12700">
            <a:solidFill>
              <a:srgbClr val="F2C14E"/>
            </a:solidFill>
            <a:prstDash val="solid"/>
          </a:ln>
        </p:spPr>
        <p:txBody>
          <a:bodyPr/>
          <a:lstStyle/>
          <a:p>
            <a:endParaRPr lang="en-US"/>
          </a:p>
        </p:txBody>
      </p:sp>
      <p:sp>
        <p:nvSpPr>
          <p:cNvPr id="15" name="Text 12"/>
          <p:cNvSpPr txBox="1"/>
          <p:nvPr/>
        </p:nvSpPr>
        <p:spPr>
          <a:xfrm>
            <a:off x="758952" y="5093208"/>
            <a:ext cx="50749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16" name="Text 13"/>
          <p:cNvSpPr txBox="1"/>
          <p:nvPr/>
        </p:nvSpPr>
        <p:spPr>
          <a:xfrm>
            <a:off x="758952" y="5422392"/>
            <a:ext cx="5074920" cy="42976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Where is P = 0.5? Where z = 0: −4 + 0.8x = 0, so x = 5.</a:t>
            </a:r>
            <a:endParaRPr lang="en-US" sz="1500" dirty="0"/>
          </a:p>
        </p:txBody>
      </p:sp>
      <p:sp>
        <p:nvSpPr>
          <p:cNvPr id="17" name="Shape 14"/>
          <p:cNvSpPr/>
          <p:nvPr/>
        </p:nvSpPr>
        <p:spPr>
          <a:xfrm>
            <a:off x="6263640" y="1600200"/>
            <a:ext cx="5349240" cy="4343400"/>
          </a:xfrm>
          <a:prstGeom prst="roundRect">
            <a:avLst>
              <a:gd name="adj" fmla="val 1684"/>
            </a:avLst>
          </a:prstGeom>
          <a:solidFill>
            <a:srgbClr val="FFFFFF"/>
          </a:solidFill>
          <a:ln w="12700">
            <a:solidFill>
              <a:srgbClr val="B8C7D8"/>
            </a:solidFill>
            <a:prstDash val="solid"/>
          </a:ln>
        </p:spPr>
        <p:txBody>
          <a:bodyPr/>
          <a:lstStyle/>
          <a:p>
            <a:endParaRPr lang="en-US"/>
          </a:p>
        </p:txBody>
      </p:sp>
      <p:pic>
        <p:nvPicPr>
          <p:cNvPr id="18" name="Image 0" descr="figs/sigmoid.png"/>
          <p:cNvPicPr>
            <a:picLocks noChangeAspect="1"/>
          </p:cNvPicPr>
          <p:nvPr/>
        </p:nvPicPr>
        <p:blipFill>
          <a:blip r:embed="rId3"/>
          <a:stretch>
            <a:fillRect/>
          </a:stretch>
        </p:blipFill>
        <p:spPr>
          <a:xfrm>
            <a:off x="6400800" y="2069466"/>
            <a:ext cx="5074920" cy="340486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LDA: model what each class looks like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Build a profile for each class, then ask which profile better explains the new point.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22</a:t>
            </a:r>
            <a:endParaRPr lang="en-US" sz="850" dirty="0"/>
          </a:p>
        </p:txBody>
      </p:sp>
      <p:sp>
        <p:nvSpPr>
          <p:cNvPr id="7" name="Shape 4"/>
          <p:cNvSpPr/>
          <p:nvPr/>
        </p:nvSpPr>
        <p:spPr>
          <a:xfrm>
            <a:off x="685800" y="1664208"/>
            <a:ext cx="457200" cy="457200"/>
          </a:xfrm>
          <a:prstGeom prst="ellipse">
            <a:avLst/>
          </a:prstGeom>
          <a:solidFill>
            <a:srgbClr val="0B2D55"/>
          </a:solidFill>
          <a:ln w="12700">
            <a:solidFill>
              <a:srgbClr val="0B2D55"/>
            </a:solidFill>
            <a:prstDash val="solid"/>
          </a:ln>
        </p:spPr>
        <p:txBody>
          <a:bodyPr/>
          <a:lstStyle/>
          <a:p>
            <a:endParaRPr lang="en-US"/>
          </a:p>
        </p:txBody>
      </p:sp>
      <p:sp>
        <p:nvSpPr>
          <p:cNvPr id="8" name="Text 5"/>
          <p:cNvSpPr txBox="1"/>
          <p:nvPr/>
        </p:nvSpPr>
        <p:spPr>
          <a:xfrm>
            <a:off x="685800" y="16642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9" name="Text 6"/>
          <p:cNvSpPr txBox="1"/>
          <p:nvPr/>
        </p:nvSpPr>
        <p:spPr>
          <a:xfrm>
            <a:off x="1325880" y="1572768"/>
            <a:ext cx="4754880" cy="64008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Profile each class: a bell curve with its own mean.</a:t>
            </a:r>
            <a:endParaRPr lang="en-US" sz="1600" dirty="0"/>
          </a:p>
        </p:txBody>
      </p:sp>
      <p:sp>
        <p:nvSpPr>
          <p:cNvPr id="10" name="Shape 7"/>
          <p:cNvSpPr/>
          <p:nvPr/>
        </p:nvSpPr>
        <p:spPr>
          <a:xfrm>
            <a:off x="685800" y="2377440"/>
            <a:ext cx="457200" cy="457200"/>
          </a:xfrm>
          <a:prstGeom prst="ellipse">
            <a:avLst/>
          </a:prstGeom>
          <a:solidFill>
            <a:srgbClr val="0B2D55"/>
          </a:solidFill>
          <a:ln w="12700">
            <a:solidFill>
              <a:srgbClr val="0B2D55"/>
            </a:solidFill>
            <a:prstDash val="solid"/>
          </a:ln>
        </p:spPr>
        <p:txBody>
          <a:bodyPr/>
          <a:lstStyle/>
          <a:p>
            <a:endParaRPr lang="en-US"/>
          </a:p>
        </p:txBody>
      </p:sp>
      <p:sp>
        <p:nvSpPr>
          <p:cNvPr id="11" name="Text 8"/>
          <p:cNvSpPr txBox="1"/>
          <p:nvPr/>
        </p:nvSpPr>
        <p:spPr>
          <a:xfrm>
            <a:off x="685800" y="23774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12" name="Text 9"/>
          <p:cNvSpPr txBox="1"/>
          <p:nvPr/>
        </p:nvSpPr>
        <p:spPr>
          <a:xfrm>
            <a:off x="1325880" y="2286000"/>
            <a:ext cx="4754880" cy="64008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Assume every class shares the same spread (variance).</a:t>
            </a:r>
            <a:endParaRPr lang="en-US" sz="1600" dirty="0"/>
          </a:p>
        </p:txBody>
      </p:sp>
      <p:sp>
        <p:nvSpPr>
          <p:cNvPr id="13" name="Shape 10"/>
          <p:cNvSpPr/>
          <p:nvPr/>
        </p:nvSpPr>
        <p:spPr>
          <a:xfrm>
            <a:off x="685800" y="3090672"/>
            <a:ext cx="457200" cy="457200"/>
          </a:xfrm>
          <a:prstGeom prst="ellipse">
            <a:avLst/>
          </a:prstGeom>
          <a:solidFill>
            <a:srgbClr val="0B2D55"/>
          </a:solidFill>
          <a:ln w="12700">
            <a:solidFill>
              <a:srgbClr val="0B2D55"/>
            </a:solidFill>
            <a:prstDash val="solid"/>
          </a:ln>
        </p:spPr>
        <p:txBody>
          <a:bodyPr/>
          <a:lstStyle/>
          <a:p>
            <a:endParaRPr lang="en-US"/>
          </a:p>
        </p:txBody>
      </p:sp>
      <p:sp>
        <p:nvSpPr>
          <p:cNvPr id="14" name="Text 11"/>
          <p:cNvSpPr txBox="1"/>
          <p:nvPr/>
        </p:nvSpPr>
        <p:spPr>
          <a:xfrm>
            <a:off x="685800" y="30906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5" name="Text 12"/>
          <p:cNvSpPr txBox="1"/>
          <p:nvPr/>
        </p:nvSpPr>
        <p:spPr>
          <a:xfrm>
            <a:off x="1325880" y="2999232"/>
            <a:ext cx="4754880" cy="64008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Weight each profile by how common the class is (prior π).</a:t>
            </a:r>
            <a:endParaRPr lang="en-US" sz="1600" dirty="0"/>
          </a:p>
        </p:txBody>
      </p:sp>
      <p:sp>
        <p:nvSpPr>
          <p:cNvPr id="16" name="Shape 13"/>
          <p:cNvSpPr/>
          <p:nvPr/>
        </p:nvSpPr>
        <p:spPr>
          <a:xfrm>
            <a:off x="685800" y="3803904"/>
            <a:ext cx="457200" cy="457200"/>
          </a:xfrm>
          <a:prstGeom prst="ellipse">
            <a:avLst/>
          </a:prstGeom>
          <a:solidFill>
            <a:srgbClr val="0B2D55"/>
          </a:solidFill>
          <a:ln w="12700">
            <a:solidFill>
              <a:srgbClr val="0B2D55"/>
            </a:solidFill>
            <a:prstDash val="solid"/>
          </a:ln>
        </p:spPr>
        <p:txBody>
          <a:bodyPr/>
          <a:lstStyle/>
          <a:p>
            <a:endParaRPr lang="en-US"/>
          </a:p>
        </p:txBody>
      </p:sp>
      <p:sp>
        <p:nvSpPr>
          <p:cNvPr id="17" name="Text 14"/>
          <p:cNvSpPr txBox="1"/>
          <p:nvPr/>
        </p:nvSpPr>
        <p:spPr>
          <a:xfrm>
            <a:off x="685800" y="38039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18" name="Text 15"/>
          <p:cNvSpPr txBox="1"/>
          <p:nvPr/>
        </p:nvSpPr>
        <p:spPr>
          <a:xfrm>
            <a:off x="1325880" y="3712464"/>
            <a:ext cx="4754880" cy="64008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Bayes’ rule: pick the class with the larger prior × likelihood.</a:t>
            </a:r>
            <a:endParaRPr lang="en-US" sz="1600" dirty="0"/>
          </a:p>
        </p:txBody>
      </p:sp>
      <p:sp>
        <p:nvSpPr>
          <p:cNvPr id="19" name="Shape 16"/>
          <p:cNvSpPr/>
          <p:nvPr/>
        </p:nvSpPr>
        <p:spPr>
          <a:xfrm>
            <a:off x="576072" y="4526280"/>
            <a:ext cx="5577840" cy="1188720"/>
          </a:xfrm>
          <a:prstGeom prst="roundRect">
            <a:avLst>
              <a:gd name="adj" fmla="val 6154"/>
            </a:avLst>
          </a:prstGeom>
          <a:solidFill>
            <a:srgbClr val="EAF2F8"/>
          </a:solidFill>
          <a:ln w="12700">
            <a:solidFill>
              <a:srgbClr val="1F5D9B"/>
            </a:solidFill>
            <a:prstDash val="solid"/>
          </a:ln>
        </p:spPr>
        <p:txBody>
          <a:bodyPr/>
          <a:lstStyle/>
          <a:p>
            <a:endParaRPr lang="en-US"/>
          </a:p>
        </p:txBody>
      </p:sp>
      <p:sp>
        <p:nvSpPr>
          <p:cNvPr id="20" name="Text 17"/>
          <p:cNvSpPr txBox="1"/>
          <p:nvPr/>
        </p:nvSpPr>
        <p:spPr>
          <a:xfrm>
            <a:off x="731520" y="4526280"/>
            <a:ext cx="5303520" cy="118872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P(fraud | x)  =  </a:t>
            </a:r>
            <a:endParaRPr lang="en-US" sz="1700" dirty="0"/>
          </a:p>
          <a:p>
            <a:pPr marL="0" indent="0" algn="ctr">
              <a:buNone/>
            </a:pPr>
            <a:r>
              <a:rPr lang="en-US" sz="1700" dirty="0">
                <a:solidFill>
                  <a:srgbClr val="132033"/>
                </a:solidFill>
                <a:latin typeface="Aptos" pitchFamily="34" charset="0"/>
                <a:ea typeface="Aptos" pitchFamily="34" charset="-122"/>
                <a:cs typeface="Aptos" pitchFamily="34" charset="-120"/>
              </a:rPr>
              <a:t>π</a:t>
            </a:r>
            <a:r>
              <a:rPr lang="en-US" sz="1700" baseline="-40000" dirty="0">
                <a:solidFill>
                  <a:srgbClr val="132033"/>
                </a:solidFill>
                <a:latin typeface="Aptos" pitchFamily="34" charset="0"/>
                <a:ea typeface="Aptos" pitchFamily="34" charset="-122"/>
                <a:cs typeface="Aptos" pitchFamily="34" charset="-120"/>
              </a:rPr>
              <a:t>fraud</a:t>
            </a:r>
            <a:r>
              <a:rPr lang="en-US" sz="1700" dirty="0">
                <a:solidFill>
                  <a:srgbClr val="132033"/>
                </a:solidFill>
                <a:latin typeface="Aptos" pitchFamily="34" charset="0"/>
                <a:ea typeface="Aptos" pitchFamily="34" charset="-122"/>
                <a:cs typeface="Aptos" pitchFamily="34" charset="-120"/>
              </a:rPr>
              <a:t> f</a:t>
            </a:r>
            <a:r>
              <a:rPr lang="en-US" sz="1700" baseline="-40000" dirty="0">
                <a:solidFill>
                  <a:srgbClr val="132033"/>
                </a:solidFill>
                <a:latin typeface="Aptos" pitchFamily="34" charset="0"/>
                <a:ea typeface="Aptos" pitchFamily="34" charset="-122"/>
                <a:cs typeface="Aptos" pitchFamily="34" charset="-120"/>
              </a:rPr>
              <a:t>fraud</a:t>
            </a:r>
            <a:r>
              <a:rPr lang="en-US" sz="1700" dirty="0">
                <a:solidFill>
                  <a:srgbClr val="132033"/>
                </a:solidFill>
                <a:latin typeface="Aptos" pitchFamily="34" charset="0"/>
                <a:ea typeface="Aptos" pitchFamily="34" charset="-122"/>
                <a:cs typeface="Aptos" pitchFamily="34" charset="-120"/>
              </a:rPr>
              <a:t>(x)  /  [ π</a:t>
            </a:r>
            <a:r>
              <a:rPr lang="en-US" sz="1700" baseline="-40000" dirty="0">
                <a:solidFill>
                  <a:srgbClr val="132033"/>
                </a:solidFill>
                <a:latin typeface="Aptos" pitchFamily="34" charset="0"/>
                <a:ea typeface="Aptos" pitchFamily="34" charset="-122"/>
                <a:cs typeface="Aptos" pitchFamily="34" charset="-120"/>
              </a:rPr>
              <a:t>fraud</a:t>
            </a:r>
            <a:r>
              <a:rPr lang="en-US" sz="1700" dirty="0">
                <a:solidFill>
                  <a:srgbClr val="132033"/>
                </a:solidFill>
                <a:latin typeface="Aptos" pitchFamily="34" charset="0"/>
                <a:ea typeface="Aptos" pitchFamily="34" charset="-122"/>
                <a:cs typeface="Aptos" pitchFamily="34" charset="-120"/>
              </a:rPr>
              <a:t> f</a:t>
            </a:r>
            <a:r>
              <a:rPr lang="en-US" sz="1700" baseline="-40000" dirty="0">
                <a:solidFill>
                  <a:srgbClr val="132033"/>
                </a:solidFill>
                <a:latin typeface="Aptos" pitchFamily="34" charset="0"/>
                <a:ea typeface="Aptos" pitchFamily="34" charset="-122"/>
                <a:cs typeface="Aptos" pitchFamily="34" charset="-120"/>
              </a:rPr>
              <a:t>fraud</a:t>
            </a:r>
            <a:r>
              <a:rPr lang="en-US" sz="1700" dirty="0">
                <a:solidFill>
                  <a:srgbClr val="132033"/>
                </a:solidFill>
                <a:latin typeface="Aptos" pitchFamily="34" charset="0"/>
                <a:ea typeface="Aptos" pitchFamily="34" charset="-122"/>
                <a:cs typeface="Aptos" pitchFamily="34" charset="-120"/>
              </a:rPr>
              <a:t>(x) + π</a:t>
            </a:r>
            <a:r>
              <a:rPr lang="en-US" sz="1700" baseline="-40000" dirty="0">
                <a:solidFill>
                  <a:srgbClr val="132033"/>
                </a:solidFill>
                <a:latin typeface="Aptos" pitchFamily="34" charset="0"/>
                <a:ea typeface="Aptos" pitchFamily="34" charset="-122"/>
                <a:cs typeface="Aptos" pitchFamily="34" charset="-120"/>
              </a:rPr>
              <a:t>legit</a:t>
            </a:r>
            <a:r>
              <a:rPr lang="en-US" sz="1700" dirty="0">
                <a:solidFill>
                  <a:srgbClr val="132033"/>
                </a:solidFill>
                <a:latin typeface="Aptos" pitchFamily="34" charset="0"/>
                <a:ea typeface="Aptos" pitchFamily="34" charset="-122"/>
                <a:cs typeface="Aptos" pitchFamily="34" charset="-120"/>
              </a:rPr>
              <a:t> f</a:t>
            </a:r>
            <a:r>
              <a:rPr lang="en-US" sz="1700" baseline="-40000" dirty="0">
                <a:solidFill>
                  <a:srgbClr val="132033"/>
                </a:solidFill>
                <a:latin typeface="Aptos" pitchFamily="34" charset="0"/>
                <a:ea typeface="Aptos" pitchFamily="34" charset="-122"/>
                <a:cs typeface="Aptos" pitchFamily="34" charset="-120"/>
              </a:rPr>
              <a:t>legit</a:t>
            </a:r>
            <a:r>
              <a:rPr lang="en-US" sz="1700" dirty="0">
                <a:solidFill>
                  <a:srgbClr val="132033"/>
                </a:solidFill>
                <a:latin typeface="Aptos" pitchFamily="34" charset="0"/>
                <a:ea typeface="Aptos" pitchFamily="34" charset="-122"/>
                <a:cs typeface="Aptos" pitchFamily="34" charset="-120"/>
              </a:rPr>
              <a:t>(x) ]</a:t>
            </a:r>
            <a:endParaRPr lang="en-US" sz="1700" dirty="0"/>
          </a:p>
        </p:txBody>
      </p:sp>
      <p:sp>
        <p:nvSpPr>
          <p:cNvPr id="21" name="Shape 18"/>
          <p:cNvSpPr/>
          <p:nvPr/>
        </p:nvSpPr>
        <p:spPr>
          <a:xfrm>
            <a:off x="6400800" y="1554480"/>
            <a:ext cx="5212080" cy="4160520"/>
          </a:xfrm>
          <a:prstGeom prst="roundRect">
            <a:avLst>
              <a:gd name="adj" fmla="val 1758"/>
            </a:avLst>
          </a:prstGeom>
          <a:solidFill>
            <a:srgbClr val="FFFFFF"/>
          </a:solidFill>
          <a:ln w="12700">
            <a:solidFill>
              <a:srgbClr val="B8C7D8"/>
            </a:solidFill>
            <a:prstDash val="solid"/>
          </a:ln>
        </p:spPr>
        <p:txBody>
          <a:bodyPr/>
          <a:lstStyle/>
          <a:p>
            <a:endParaRPr lang="en-US"/>
          </a:p>
        </p:txBody>
      </p:sp>
      <p:pic>
        <p:nvPicPr>
          <p:cNvPr id="22" name="Image 0" descr="figs/lda1d.png"/>
          <p:cNvPicPr>
            <a:picLocks noChangeAspect="1"/>
          </p:cNvPicPr>
          <p:nvPr/>
        </p:nvPicPr>
        <p:blipFill>
          <a:blip r:embed="rId3"/>
          <a:stretch>
            <a:fillRect/>
          </a:stretch>
        </p:blipFill>
        <p:spPr>
          <a:xfrm>
            <a:off x="6537960" y="1898385"/>
            <a:ext cx="4937760" cy="3472710"/>
          </a:xfrm>
          <a:prstGeom prst="rect">
            <a:avLst/>
          </a:prstGeom>
        </p:spPr>
      </p:pic>
      <p:sp>
        <p:nvSpPr>
          <p:cNvPr id="23" name="Text 19"/>
          <p:cNvSpPr txBox="1"/>
          <p:nvPr/>
        </p:nvSpPr>
        <p:spPr>
          <a:xfrm>
            <a:off x="822960" y="585216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Shared spread → the boundary is a straight line.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evidence vs. base rate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Strong evidence can still lose to a rare class.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23</a:t>
            </a:r>
            <a:endParaRPr lang="en-US" sz="850" dirty="0"/>
          </a:p>
        </p:txBody>
      </p:sp>
      <p:sp>
        <p:nvSpPr>
          <p:cNvPr id="7" name="Shape 4"/>
          <p:cNvSpPr/>
          <p:nvPr/>
        </p:nvSpPr>
        <p:spPr>
          <a:xfrm>
            <a:off x="576072" y="1554480"/>
            <a:ext cx="2606040" cy="868680"/>
          </a:xfrm>
          <a:prstGeom prst="roundRect">
            <a:avLst>
              <a:gd name="adj" fmla="val 8421"/>
            </a:avLst>
          </a:prstGeom>
          <a:solidFill>
            <a:srgbClr val="FCE9D8"/>
          </a:solidFill>
          <a:ln w="12700">
            <a:solidFill>
              <a:srgbClr val="D9731A"/>
            </a:solidFill>
            <a:prstDash val="solid"/>
          </a:ln>
        </p:spPr>
        <p:txBody>
          <a:bodyPr/>
          <a:lstStyle/>
          <a:p>
            <a:endParaRPr lang="en-US"/>
          </a:p>
        </p:txBody>
      </p:sp>
      <p:sp>
        <p:nvSpPr>
          <p:cNvPr id="8" name="Text 5"/>
          <p:cNvSpPr txBox="1"/>
          <p:nvPr/>
        </p:nvSpPr>
        <p:spPr>
          <a:xfrm>
            <a:off x="576072"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Prior fraud</a:t>
            </a:r>
            <a:endParaRPr lang="en-US" sz="1600" dirty="0"/>
          </a:p>
          <a:p>
            <a:pPr marL="0" indent="0" algn="ctr">
              <a:buNone/>
            </a:pPr>
            <a:r>
              <a:rPr lang="en-US" sz="1900" b="1" dirty="0">
                <a:solidFill>
                  <a:srgbClr val="0B2D55"/>
                </a:solidFill>
                <a:latin typeface="Aptos" pitchFamily="34" charset="0"/>
                <a:ea typeface="Aptos" pitchFamily="34" charset="-122"/>
                <a:cs typeface="Aptos" pitchFamily="34" charset="-120"/>
              </a:rPr>
              <a:t>π</a:t>
            </a:r>
            <a:r>
              <a:rPr lang="en-US" sz="1900" b="1" baseline="-40000" dirty="0">
                <a:solidFill>
                  <a:srgbClr val="132033"/>
                </a:solidFill>
                <a:latin typeface="Aptos" pitchFamily="34" charset="0"/>
                <a:ea typeface="Aptos" pitchFamily="34" charset="-122"/>
                <a:cs typeface="Aptos" pitchFamily="34" charset="-120"/>
              </a:rPr>
              <a:t>fraud</a:t>
            </a:r>
            <a:r>
              <a:rPr lang="en-US" sz="1900" b="1" dirty="0">
                <a:solidFill>
                  <a:srgbClr val="0B2D55"/>
                </a:solidFill>
                <a:latin typeface="Aptos" pitchFamily="34" charset="0"/>
                <a:ea typeface="Aptos" pitchFamily="34" charset="-122"/>
                <a:cs typeface="Aptos" pitchFamily="34" charset="-120"/>
              </a:rPr>
              <a:t> = 0.04</a:t>
            </a:r>
            <a:endParaRPr lang="en-US" sz="1600" dirty="0"/>
          </a:p>
        </p:txBody>
      </p:sp>
      <p:sp>
        <p:nvSpPr>
          <p:cNvPr id="9" name="Shape 6"/>
          <p:cNvSpPr/>
          <p:nvPr/>
        </p:nvSpPr>
        <p:spPr>
          <a:xfrm>
            <a:off x="3392424" y="1554480"/>
            <a:ext cx="260604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10" name="Text 7"/>
          <p:cNvSpPr txBox="1"/>
          <p:nvPr/>
        </p:nvSpPr>
        <p:spPr>
          <a:xfrm>
            <a:off x="3392424"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Prior legit</a:t>
            </a:r>
            <a:endParaRPr lang="en-US" sz="1600" dirty="0"/>
          </a:p>
          <a:p>
            <a:pPr marL="0" indent="0" algn="ctr">
              <a:buNone/>
            </a:pPr>
            <a:r>
              <a:rPr lang="en-US" sz="1900" b="1" dirty="0">
                <a:solidFill>
                  <a:srgbClr val="0B2D55"/>
                </a:solidFill>
                <a:latin typeface="Aptos" pitchFamily="34" charset="0"/>
                <a:ea typeface="Aptos" pitchFamily="34" charset="-122"/>
                <a:cs typeface="Aptos" pitchFamily="34" charset="-120"/>
              </a:rPr>
              <a:t>π</a:t>
            </a:r>
            <a:r>
              <a:rPr lang="en-US" sz="1900" b="1" baseline="-40000" dirty="0">
                <a:solidFill>
                  <a:srgbClr val="132033"/>
                </a:solidFill>
                <a:latin typeface="Aptos" pitchFamily="34" charset="0"/>
                <a:ea typeface="Aptos" pitchFamily="34" charset="-122"/>
                <a:cs typeface="Aptos" pitchFamily="34" charset="-120"/>
              </a:rPr>
              <a:t>legit</a:t>
            </a:r>
            <a:r>
              <a:rPr lang="en-US" sz="1900" b="1" dirty="0">
                <a:solidFill>
                  <a:srgbClr val="0B2D55"/>
                </a:solidFill>
                <a:latin typeface="Aptos" pitchFamily="34" charset="0"/>
                <a:ea typeface="Aptos" pitchFamily="34" charset="-122"/>
                <a:cs typeface="Aptos" pitchFamily="34" charset="-120"/>
              </a:rPr>
              <a:t> = 0.96</a:t>
            </a:r>
            <a:endParaRPr lang="en-US" sz="1600" dirty="0"/>
          </a:p>
        </p:txBody>
      </p:sp>
      <p:sp>
        <p:nvSpPr>
          <p:cNvPr id="11" name="Shape 8"/>
          <p:cNvSpPr/>
          <p:nvPr/>
        </p:nvSpPr>
        <p:spPr>
          <a:xfrm>
            <a:off x="6208776" y="1554480"/>
            <a:ext cx="2606040" cy="868680"/>
          </a:xfrm>
          <a:prstGeom prst="roundRect">
            <a:avLst>
              <a:gd name="adj" fmla="val 8421"/>
            </a:avLst>
          </a:prstGeom>
          <a:solidFill>
            <a:srgbClr val="FCE9D8"/>
          </a:solidFill>
          <a:ln w="12700">
            <a:solidFill>
              <a:srgbClr val="D9731A"/>
            </a:solidFill>
            <a:prstDash val="solid"/>
          </a:ln>
        </p:spPr>
        <p:txBody>
          <a:bodyPr/>
          <a:lstStyle/>
          <a:p>
            <a:endParaRPr lang="en-US"/>
          </a:p>
        </p:txBody>
      </p:sp>
      <p:sp>
        <p:nvSpPr>
          <p:cNvPr id="12" name="Text 9"/>
          <p:cNvSpPr txBox="1"/>
          <p:nvPr/>
        </p:nvSpPr>
        <p:spPr>
          <a:xfrm>
            <a:off x="6208776"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Likelihood | fraud</a:t>
            </a:r>
            <a:endParaRPr lang="en-US" sz="1600" dirty="0"/>
          </a:p>
          <a:p>
            <a:pPr marL="0" indent="0" algn="ctr">
              <a:buNone/>
            </a:pPr>
            <a:r>
              <a:rPr lang="en-US" sz="1900" b="1" dirty="0">
                <a:solidFill>
                  <a:srgbClr val="0B2D55"/>
                </a:solidFill>
                <a:latin typeface="Aptos" pitchFamily="34" charset="0"/>
                <a:ea typeface="Aptos" pitchFamily="34" charset="-122"/>
                <a:cs typeface="Aptos" pitchFamily="34" charset="-120"/>
              </a:rPr>
              <a:t>f</a:t>
            </a:r>
            <a:r>
              <a:rPr lang="en-US" sz="1900" b="1" baseline="-40000" dirty="0">
                <a:solidFill>
                  <a:srgbClr val="132033"/>
                </a:solidFill>
                <a:latin typeface="Aptos" pitchFamily="34" charset="0"/>
                <a:ea typeface="Aptos" pitchFamily="34" charset="-122"/>
                <a:cs typeface="Aptos" pitchFamily="34" charset="-120"/>
              </a:rPr>
              <a:t>fraud</a:t>
            </a:r>
            <a:r>
              <a:rPr lang="en-US" sz="1900" b="1" dirty="0">
                <a:solidFill>
                  <a:srgbClr val="0B2D55"/>
                </a:solidFill>
                <a:latin typeface="Aptos" pitchFamily="34" charset="0"/>
                <a:ea typeface="Aptos" pitchFamily="34" charset="-122"/>
                <a:cs typeface="Aptos" pitchFamily="34" charset="-120"/>
              </a:rPr>
              <a:t>(x) = 0.30</a:t>
            </a:r>
            <a:endParaRPr lang="en-US" sz="1600" dirty="0"/>
          </a:p>
        </p:txBody>
      </p:sp>
      <p:sp>
        <p:nvSpPr>
          <p:cNvPr id="13" name="Shape 10"/>
          <p:cNvSpPr/>
          <p:nvPr/>
        </p:nvSpPr>
        <p:spPr>
          <a:xfrm>
            <a:off x="9025128" y="1554480"/>
            <a:ext cx="260604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14" name="Text 11"/>
          <p:cNvSpPr txBox="1"/>
          <p:nvPr/>
        </p:nvSpPr>
        <p:spPr>
          <a:xfrm>
            <a:off x="9025128"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Likelihood | legit</a:t>
            </a:r>
            <a:endParaRPr lang="en-US" sz="1600" dirty="0"/>
          </a:p>
          <a:p>
            <a:pPr marL="0" indent="0" algn="ctr">
              <a:buNone/>
            </a:pPr>
            <a:r>
              <a:rPr lang="en-US" sz="1900" b="1" dirty="0">
                <a:solidFill>
                  <a:srgbClr val="0B2D55"/>
                </a:solidFill>
                <a:latin typeface="Aptos" pitchFamily="34" charset="0"/>
                <a:ea typeface="Aptos" pitchFamily="34" charset="-122"/>
                <a:cs typeface="Aptos" pitchFamily="34" charset="-120"/>
              </a:rPr>
              <a:t>f</a:t>
            </a:r>
            <a:r>
              <a:rPr lang="en-US" sz="1900" b="1" baseline="-40000" dirty="0">
                <a:solidFill>
                  <a:srgbClr val="132033"/>
                </a:solidFill>
                <a:latin typeface="Aptos" pitchFamily="34" charset="0"/>
                <a:ea typeface="Aptos" pitchFamily="34" charset="-122"/>
                <a:cs typeface="Aptos" pitchFamily="34" charset="-120"/>
              </a:rPr>
              <a:t>legit</a:t>
            </a:r>
            <a:r>
              <a:rPr lang="en-US" sz="1900" b="1" dirty="0">
                <a:solidFill>
                  <a:srgbClr val="0B2D55"/>
                </a:solidFill>
                <a:latin typeface="Aptos" pitchFamily="34" charset="0"/>
                <a:ea typeface="Aptos" pitchFamily="34" charset="-122"/>
                <a:cs typeface="Aptos" pitchFamily="34" charset="-120"/>
              </a:rPr>
              <a:t>(x) = 0.02</a:t>
            </a:r>
            <a:endParaRPr lang="en-US" sz="1600" dirty="0"/>
          </a:p>
        </p:txBody>
      </p:sp>
      <p:sp>
        <p:nvSpPr>
          <p:cNvPr id="15" name="Shape 12"/>
          <p:cNvSpPr/>
          <p:nvPr/>
        </p:nvSpPr>
        <p:spPr>
          <a:xfrm>
            <a:off x="576072" y="2651760"/>
            <a:ext cx="6583680" cy="2057400"/>
          </a:xfrm>
          <a:prstGeom prst="roundRect">
            <a:avLst>
              <a:gd name="adj" fmla="val 3556"/>
            </a:avLst>
          </a:prstGeom>
          <a:solidFill>
            <a:srgbClr val="FFFFFF"/>
          </a:solidFill>
          <a:ln w="12700">
            <a:solidFill>
              <a:srgbClr val="B8C7D8"/>
            </a:solidFill>
            <a:prstDash val="solid"/>
          </a:ln>
        </p:spPr>
        <p:txBody>
          <a:bodyPr/>
          <a:lstStyle/>
          <a:p>
            <a:endParaRPr lang="en-US"/>
          </a:p>
        </p:txBody>
      </p:sp>
      <p:sp>
        <p:nvSpPr>
          <p:cNvPr id="16" name="Text 13"/>
          <p:cNvSpPr txBox="1"/>
          <p:nvPr/>
        </p:nvSpPr>
        <p:spPr>
          <a:xfrm>
            <a:off x="777240" y="2724912"/>
            <a:ext cx="2743200" cy="320040"/>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17" name="Text 14"/>
          <p:cNvSpPr txBox="1"/>
          <p:nvPr/>
        </p:nvSpPr>
        <p:spPr>
          <a:xfrm>
            <a:off x="777240" y="3108960"/>
            <a:ext cx="1280160" cy="411480"/>
          </a:xfrm>
          <a:prstGeom prst="rect">
            <a:avLst/>
          </a:prstGeom>
          <a:noFill/>
          <a:ln/>
        </p:spPr>
        <p:txBody>
          <a:bodyPr wrap="square" lIns="0" tIns="0" rIns="0" bIns="0" rtlCol="0" anchor="ctr"/>
          <a:lstStyle/>
          <a:p>
            <a:pPr marL="0" indent="0">
              <a:buNone/>
            </a:pPr>
            <a:r>
              <a:rPr lang="en-US" sz="1450" b="1" dirty="0">
                <a:solidFill>
                  <a:srgbClr val="0B2D55"/>
                </a:solidFill>
                <a:latin typeface="Aptos" pitchFamily="34" charset="0"/>
                <a:ea typeface="Aptos" pitchFamily="34" charset="-122"/>
                <a:cs typeface="Aptos" pitchFamily="34" charset="-120"/>
              </a:rPr>
              <a:t>Fraud score</a:t>
            </a:r>
            <a:endParaRPr lang="en-US" sz="1450" dirty="0"/>
          </a:p>
        </p:txBody>
      </p:sp>
      <p:sp>
        <p:nvSpPr>
          <p:cNvPr id="18" name="Shape 15"/>
          <p:cNvSpPr/>
          <p:nvPr/>
        </p:nvSpPr>
        <p:spPr>
          <a:xfrm>
            <a:off x="2103120" y="3172968"/>
            <a:ext cx="1371600" cy="292608"/>
          </a:xfrm>
          <a:prstGeom prst="rect">
            <a:avLst/>
          </a:prstGeom>
          <a:solidFill>
            <a:srgbClr val="D9731A"/>
          </a:solidFill>
          <a:ln w="12700">
            <a:solidFill>
              <a:srgbClr val="D9731A"/>
            </a:solidFill>
            <a:prstDash val="solid"/>
          </a:ln>
        </p:spPr>
        <p:txBody>
          <a:bodyPr/>
          <a:lstStyle/>
          <a:p>
            <a:endParaRPr lang="en-US"/>
          </a:p>
        </p:txBody>
      </p:sp>
      <p:sp>
        <p:nvSpPr>
          <p:cNvPr id="19" name="Text 16"/>
          <p:cNvSpPr txBox="1"/>
          <p:nvPr/>
        </p:nvSpPr>
        <p:spPr>
          <a:xfrm>
            <a:off x="4434840" y="3108960"/>
            <a:ext cx="2651760" cy="411480"/>
          </a:xfrm>
          <a:prstGeom prst="rect">
            <a:avLst/>
          </a:prstGeom>
          <a:noFill/>
          <a:ln/>
        </p:spPr>
        <p:txBody>
          <a:bodyPr wrap="square" lIns="0" tIns="0" rIns="0" bIns="0" rtlCol="0" anchor="ctr"/>
          <a:lstStyle/>
          <a:p>
            <a:pPr marL="0" indent="0">
              <a:buNone/>
            </a:pPr>
            <a:r>
              <a:rPr lang="en-US" sz="1450" dirty="0">
                <a:solidFill>
                  <a:srgbClr val="132033"/>
                </a:solidFill>
                <a:latin typeface="Aptos" pitchFamily="34" charset="0"/>
                <a:ea typeface="Aptos" pitchFamily="34" charset="-122"/>
                <a:cs typeface="Aptos" pitchFamily="34" charset="-120"/>
              </a:rPr>
              <a:t>0.30 × 0.04 = 0.012</a:t>
            </a:r>
            <a:endParaRPr lang="en-US" sz="1450" dirty="0"/>
          </a:p>
        </p:txBody>
      </p:sp>
      <p:sp>
        <p:nvSpPr>
          <p:cNvPr id="20" name="Text 17"/>
          <p:cNvSpPr txBox="1"/>
          <p:nvPr/>
        </p:nvSpPr>
        <p:spPr>
          <a:xfrm>
            <a:off x="777240" y="3675888"/>
            <a:ext cx="1280160" cy="411480"/>
          </a:xfrm>
          <a:prstGeom prst="rect">
            <a:avLst/>
          </a:prstGeom>
          <a:noFill/>
          <a:ln/>
        </p:spPr>
        <p:txBody>
          <a:bodyPr wrap="square" lIns="0" tIns="0" rIns="0" bIns="0" rtlCol="0" anchor="ctr"/>
          <a:lstStyle/>
          <a:p>
            <a:pPr marL="0" indent="0">
              <a:buNone/>
            </a:pPr>
            <a:r>
              <a:rPr lang="en-US" sz="1450" b="1" dirty="0">
                <a:solidFill>
                  <a:srgbClr val="0B2D55"/>
                </a:solidFill>
                <a:latin typeface="Aptos" pitchFamily="34" charset="0"/>
                <a:ea typeface="Aptos" pitchFamily="34" charset="-122"/>
                <a:cs typeface="Aptos" pitchFamily="34" charset="-120"/>
              </a:rPr>
              <a:t>Legit score</a:t>
            </a:r>
            <a:endParaRPr lang="en-US" sz="1450" dirty="0"/>
          </a:p>
        </p:txBody>
      </p:sp>
      <p:sp>
        <p:nvSpPr>
          <p:cNvPr id="21" name="Shape 18"/>
          <p:cNvSpPr/>
          <p:nvPr/>
        </p:nvSpPr>
        <p:spPr>
          <a:xfrm>
            <a:off x="2103120" y="3739896"/>
            <a:ext cx="2194560" cy="292608"/>
          </a:xfrm>
          <a:prstGeom prst="rect">
            <a:avLst/>
          </a:prstGeom>
          <a:solidFill>
            <a:srgbClr val="1D5FA7"/>
          </a:solidFill>
          <a:ln w="12700">
            <a:solidFill>
              <a:srgbClr val="1D5FA7"/>
            </a:solidFill>
            <a:prstDash val="solid"/>
          </a:ln>
        </p:spPr>
        <p:txBody>
          <a:bodyPr/>
          <a:lstStyle/>
          <a:p>
            <a:endParaRPr lang="en-US"/>
          </a:p>
        </p:txBody>
      </p:sp>
      <p:sp>
        <p:nvSpPr>
          <p:cNvPr id="22" name="Text 19"/>
          <p:cNvSpPr txBox="1"/>
          <p:nvPr/>
        </p:nvSpPr>
        <p:spPr>
          <a:xfrm>
            <a:off x="4434840" y="3675888"/>
            <a:ext cx="2651760" cy="411480"/>
          </a:xfrm>
          <a:prstGeom prst="rect">
            <a:avLst/>
          </a:prstGeom>
          <a:noFill/>
          <a:ln/>
        </p:spPr>
        <p:txBody>
          <a:bodyPr wrap="square" lIns="0" tIns="0" rIns="0" bIns="0" rtlCol="0" anchor="ctr"/>
          <a:lstStyle/>
          <a:p>
            <a:pPr marL="0" indent="0">
              <a:buNone/>
            </a:pPr>
            <a:r>
              <a:rPr lang="en-US" sz="1450" dirty="0">
                <a:solidFill>
                  <a:srgbClr val="132033"/>
                </a:solidFill>
                <a:latin typeface="Aptos" pitchFamily="34" charset="0"/>
                <a:ea typeface="Aptos" pitchFamily="34" charset="-122"/>
                <a:cs typeface="Aptos" pitchFamily="34" charset="-120"/>
              </a:rPr>
              <a:t>0.02 × 0.96 = 0.0192</a:t>
            </a:r>
            <a:endParaRPr lang="en-US" sz="1450" dirty="0"/>
          </a:p>
        </p:txBody>
      </p:sp>
      <p:sp>
        <p:nvSpPr>
          <p:cNvPr id="23" name="Text 20"/>
          <p:cNvSpPr txBox="1"/>
          <p:nvPr/>
        </p:nvSpPr>
        <p:spPr>
          <a:xfrm>
            <a:off x="777240" y="4224528"/>
            <a:ext cx="6309360" cy="384048"/>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P(fraud | x) = 0.012 / 0.0312 ≈ </a:t>
            </a:r>
            <a:r>
              <a:rPr lang="en-US" sz="1600" b="1" dirty="0">
                <a:solidFill>
                  <a:srgbClr val="1D5FA7"/>
                </a:solidFill>
                <a:latin typeface="Aptos" pitchFamily="34" charset="0"/>
                <a:ea typeface="Aptos" pitchFamily="34" charset="-122"/>
                <a:cs typeface="Aptos" pitchFamily="34" charset="-120"/>
              </a:rPr>
              <a:t>0.385  →  legit</a:t>
            </a:r>
            <a:endParaRPr lang="en-US" sz="1600" dirty="0"/>
          </a:p>
        </p:txBody>
      </p:sp>
      <p:sp>
        <p:nvSpPr>
          <p:cNvPr id="24" name="Shape 21"/>
          <p:cNvSpPr/>
          <p:nvPr/>
        </p:nvSpPr>
        <p:spPr>
          <a:xfrm>
            <a:off x="7360920" y="2651760"/>
            <a:ext cx="4251960" cy="2057400"/>
          </a:xfrm>
          <a:prstGeom prst="roundRect">
            <a:avLst>
              <a:gd name="adj" fmla="val 3556"/>
            </a:avLst>
          </a:prstGeom>
          <a:solidFill>
            <a:srgbClr val="DFF0D8"/>
          </a:solidFill>
          <a:ln w="12700">
            <a:solidFill>
              <a:srgbClr val="2E7D32"/>
            </a:solidFill>
            <a:prstDash val="solid"/>
          </a:ln>
        </p:spPr>
        <p:txBody>
          <a:bodyPr/>
          <a:lstStyle/>
          <a:p>
            <a:endParaRPr lang="en-US"/>
          </a:p>
        </p:txBody>
      </p:sp>
      <p:sp>
        <p:nvSpPr>
          <p:cNvPr id="25" name="Text 22"/>
          <p:cNvSpPr txBox="1"/>
          <p:nvPr/>
        </p:nvSpPr>
        <p:spPr>
          <a:xfrm>
            <a:off x="7543800" y="2761488"/>
            <a:ext cx="38862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26" name="Text 23"/>
          <p:cNvSpPr txBox="1"/>
          <p:nvPr/>
        </p:nvSpPr>
        <p:spPr>
          <a:xfrm>
            <a:off x="7543800" y="3090672"/>
            <a:ext cx="3886200" cy="152704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The evidence is 15× more likely under fraud, but fraud is so rare that legit still wins.</a:t>
            </a:r>
            <a:endParaRPr lang="en-US" sz="1600" dirty="0"/>
          </a:p>
        </p:txBody>
      </p:sp>
      <p:sp>
        <p:nvSpPr>
          <p:cNvPr id="27" name="Shape 24"/>
          <p:cNvSpPr/>
          <p:nvPr/>
        </p:nvSpPr>
        <p:spPr>
          <a:xfrm>
            <a:off x="576072" y="4892040"/>
            <a:ext cx="6583680" cy="1005840"/>
          </a:xfrm>
          <a:prstGeom prst="roundRect">
            <a:avLst>
              <a:gd name="adj" fmla="val 7273"/>
            </a:avLst>
          </a:prstGeom>
          <a:solidFill>
            <a:srgbClr val="FFF4CE"/>
          </a:solidFill>
          <a:ln w="12700">
            <a:solidFill>
              <a:srgbClr val="F2C14E"/>
            </a:solidFill>
            <a:prstDash val="solid"/>
          </a:ln>
        </p:spPr>
        <p:txBody>
          <a:bodyPr/>
          <a:lstStyle/>
          <a:p>
            <a:endParaRPr lang="en-US"/>
          </a:p>
        </p:txBody>
      </p:sp>
      <p:sp>
        <p:nvSpPr>
          <p:cNvPr id="28" name="Text 25"/>
          <p:cNvSpPr txBox="1"/>
          <p:nvPr/>
        </p:nvSpPr>
        <p:spPr>
          <a:xfrm>
            <a:off x="758952" y="5001768"/>
            <a:ext cx="62179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29" name="Text 26"/>
          <p:cNvSpPr txBox="1"/>
          <p:nvPr/>
        </p:nvSpPr>
        <p:spPr>
          <a:xfrm>
            <a:off x="758952" y="5330952"/>
            <a:ext cx="6217920" cy="47548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If 20% of this merchant’s charges were fraud:  0.06 / (0.06 + 0.016) ≈ 0.79  →  flag.</a:t>
            </a:r>
            <a:endParaRPr lang="en-US" sz="1500" dirty="0"/>
          </a:p>
        </p:txBody>
      </p:sp>
      <p:sp>
        <p:nvSpPr>
          <p:cNvPr id="30" name="Text 27"/>
          <p:cNvSpPr txBox="1"/>
          <p:nvPr/>
        </p:nvSpPr>
        <p:spPr>
          <a:xfrm>
            <a:off x="7360920" y="4892040"/>
            <a:ext cx="4251960" cy="100584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Rare classes need strong evidence.</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QDA: each class gets its own spread</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When classes vary differently, the boundary bends.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24</a:t>
            </a:r>
            <a:endParaRPr lang="en-US" sz="850" dirty="0"/>
          </a:p>
        </p:txBody>
      </p:sp>
      <p:sp>
        <p:nvSpPr>
          <p:cNvPr id="7" name="Shape 4"/>
          <p:cNvSpPr/>
          <p:nvPr/>
        </p:nvSpPr>
        <p:spPr>
          <a:xfrm>
            <a:off x="576072" y="1554480"/>
            <a:ext cx="4846320" cy="4343400"/>
          </a:xfrm>
          <a:prstGeom prst="roundRect">
            <a:avLst>
              <a:gd name="adj" fmla="val 1684"/>
            </a:avLst>
          </a:prstGeom>
          <a:solidFill>
            <a:srgbClr val="FFFFFF"/>
          </a:solidFill>
          <a:ln w="12700">
            <a:solidFill>
              <a:srgbClr val="B8C7D8"/>
            </a:solidFill>
            <a:prstDash val="solid"/>
          </a:ln>
        </p:spPr>
        <p:txBody>
          <a:bodyPr/>
          <a:lstStyle/>
          <a:p>
            <a:endParaRPr lang="en-US"/>
          </a:p>
        </p:txBody>
      </p:sp>
      <p:pic>
        <p:nvPicPr>
          <p:cNvPr id="8" name="Image 0" descr="figs/qda.png"/>
          <p:cNvPicPr>
            <a:picLocks noChangeAspect="1"/>
          </p:cNvPicPr>
          <p:nvPr/>
        </p:nvPicPr>
        <p:blipFill>
          <a:blip r:embed="rId3"/>
          <a:stretch>
            <a:fillRect/>
          </a:stretch>
        </p:blipFill>
        <p:spPr>
          <a:xfrm>
            <a:off x="731520" y="1706809"/>
            <a:ext cx="4526280" cy="4038742"/>
          </a:xfrm>
          <a:prstGeom prst="rect">
            <a:avLst/>
          </a:prstGeom>
        </p:spPr>
      </p:pic>
      <p:sp>
        <p:nvSpPr>
          <p:cNvPr id="9" name="Shape 5"/>
          <p:cNvSpPr/>
          <p:nvPr/>
        </p:nvSpPr>
        <p:spPr>
          <a:xfrm>
            <a:off x="5669280" y="1554480"/>
            <a:ext cx="5943600" cy="1005840"/>
          </a:xfrm>
          <a:prstGeom prst="roundRect">
            <a:avLst>
              <a:gd name="adj" fmla="val 7273"/>
            </a:avLst>
          </a:prstGeom>
          <a:solidFill>
            <a:srgbClr val="EAF2F8"/>
          </a:solidFill>
          <a:ln w="12700">
            <a:solidFill>
              <a:srgbClr val="1F5D9B"/>
            </a:solidFill>
            <a:prstDash val="solid"/>
          </a:ln>
        </p:spPr>
        <p:txBody>
          <a:bodyPr/>
          <a:lstStyle/>
          <a:p>
            <a:endParaRPr lang="en-US"/>
          </a:p>
        </p:txBody>
      </p:sp>
      <p:sp>
        <p:nvSpPr>
          <p:cNvPr id="10" name="Text 6"/>
          <p:cNvSpPr txBox="1"/>
          <p:nvPr/>
        </p:nvSpPr>
        <p:spPr>
          <a:xfrm>
            <a:off x="5760720" y="1554480"/>
            <a:ext cx="5760720" cy="100584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δₖ(x) = −½ ln σₖ²  −  (x − μₖ)² / (2σₖ²)  +  ln πₖ</a:t>
            </a:r>
            <a:endParaRPr lang="en-US" sz="1600" dirty="0"/>
          </a:p>
        </p:txBody>
      </p:sp>
      <p:sp>
        <p:nvSpPr>
          <p:cNvPr id="11" name="Text 7"/>
          <p:cNvSpPr txBox="1"/>
          <p:nvPr/>
        </p:nvSpPr>
        <p:spPr>
          <a:xfrm>
            <a:off x="5669280" y="2697480"/>
            <a:ext cx="5943600" cy="548640"/>
          </a:xfrm>
          <a:prstGeom prst="rect">
            <a:avLst/>
          </a:prstGeom>
          <a:noFill/>
          <a:ln/>
        </p:spPr>
        <p:txBody>
          <a:bodyPr wrap="square" lIns="0" tIns="0" rIns="0" bIns="0" rtlCol="0" anchor="t"/>
          <a:lstStyle/>
          <a:p>
            <a:pPr marL="0" indent="0">
              <a:buNone/>
            </a:pPr>
            <a:r>
              <a:rPr lang="en-US" sz="1450" i="1" dirty="0">
                <a:solidFill>
                  <a:srgbClr val="6D7C8F"/>
                </a:solidFill>
                <a:latin typeface="Aptos" pitchFamily="34" charset="0"/>
                <a:ea typeface="Aptos" pitchFamily="34" charset="-122"/>
                <a:cs typeface="Aptos" pitchFamily="34" charset="-120"/>
              </a:rPr>
              <a:t>Balanced review queue (equal priors, so ln π cancels).  Transaction amount x = $100.</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0" y="3291840"/>
          <a:ext cx="5943600" cy="1371600"/>
        </p:xfrm>
        <a:graphic>
          <a:graphicData uri="http://schemas.openxmlformats.org/drawingml/2006/table">
            <a:tbl>
              <a:tblPr/>
              <a:tblGrid>
                <a:gridCol w="1097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45720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Class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μ</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σ²</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Score at x = 100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57200">
                <a:tc>
                  <a:txBody>
                    <a:bodyPr/>
                    <a:lstStyle/>
                    <a:p>
                      <a:pPr marL="0" indent="0" algn="ctr">
                        <a:buNone/>
                      </a:pPr>
                      <a:r>
                        <a:rPr lang="en-US" sz="1500" b="1" dirty="0">
                          <a:solidFill>
                            <a:srgbClr val="1D5FA7"/>
                          </a:solidFill>
                          <a:latin typeface="Aptos" pitchFamily="34" charset="0"/>
                          <a:ea typeface="Aptos" pitchFamily="34" charset="-122"/>
                          <a:cs typeface="Aptos" pitchFamily="34" charset="-120"/>
                        </a:rPr>
                        <a:t>Legit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50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400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−3.00 − 3.13 = −6.12</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500" b="1" dirty="0">
                          <a:solidFill>
                            <a:srgbClr val="D9731A"/>
                          </a:solidFill>
                          <a:latin typeface="Aptos" pitchFamily="34" charset="0"/>
                          <a:ea typeface="Aptos" pitchFamily="34" charset="-122"/>
                          <a:cs typeface="Aptos" pitchFamily="34" charset="-120"/>
                        </a:rPr>
                        <a:t>Fraud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120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3,600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D9731A"/>
                          </a:solidFill>
                          <a:latin typeface="Aptos" pitchFamily="34" charset="0"/>
                          <a:ea typeface="Aptos" pitchFamily="34" charset="-122"/>
                          <a:cs typeface="Aptos" pitchFamily="34" charset="-120"/>
                        </a:rPr>
                        <a:t>−4.09 − 0.06 = −4.15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extLst>
                  <a:ext uri="{0D108BD9-81ED-4DB2-BD59-A6C34878D82A}">
                    <a16:rowId xmlns:a16="http://schemas.microsoft.com/office/drawing/2014/main" val="10002"/>
                  </a:ext>
                </a:extLst>
              </a:tr>
            </a:tbl>
          </a:graphicData>
        </a:graphic>
      </p:graphicFrame>
      <p:sp>
        <p:nvSpPr>
          <p:cNvPr id="13" name="Text 8"/>
          <p:cNvSpPr txBox="1"/>
          <p:nvPr/>
        </p:nvSpPr>
        <p:spPr>
          <a:xfrm>
            <a:off x="5669280" y="4800600"/>
            <a:ext cx="5943600" cy="68580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Higher score wins: fraud. $100 is unusual for a tight legit profile, ordinary for a wide fraud profile.</a:t>
            </a:r>
            <a:endParaRPr lang="en-US" sz="1500" dirty="0"/>
          </a:p>
        </p:txBody>
      </p:sp>
      <p:sp>
        <p:nvSpPr>
          <p:cNvPr id="14" name="Text 9"/>
          <p:cNvSpPr txBox="1"/>
          <p:nvPr/>
        </p:nvSpPr>
        <p:spPr>
          <a:xfrm>
            <a:off x="822960" y="5943600"/>
            <a:ext cx="10515600" cy="41148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Its own spread per class → the boundary bends.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LDA vs. QDA is a bias-variance choice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More flexibility needs more data.</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25</a:t>
            </a:r>
            <a:endParaRPr lang="en-US" sz="850" dirty="0"/>
          </a:p>
        </p:txBody>
      </p:sp>
      <p:sp>
        <p:nvSpPr>
          <p:cNvPr id="7" name="Shape 4"/>
          <p:cNvSpPr/>
          <p:nvPr/>
        </p:nvSpPr>
        <p:spPr>
          <a:xfrm>
            <a:off x="576072" y="1508760"/>
            <a:ext cx="3200400" cy="3291840"/>
          </a:xfrm>
          <a:prstGeom prst="roundRect">
            <a:avLst>
              <a:gd name="adj" fmla="val 2286"/>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1490472" y="1645920"/>
            <a:ext cx="137160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9" name="Text 6"/>
          <p:cNvSpPr txBox="1"/>
          <p:nvPr/>
        </p:nvSpPr>
        <p:spPr>
          <a:xfrm>
            <a:off x="1490472" y="1645920"/>
            <a:ext cx="13716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LDA</a:t>
            </a:r>
            <a:endParaRPr lang="en-US" sz="1400" dirty="0"/>
          </a:p>
        </p:txBody>
      </p:sp>
      <p:pic>
        <p:nvPicPr>
          <p:cNvPr id="10" name="Image 0" descr="figs/lda.png"/>
          <p:cNvPicPr>
            <a:picLocks noChangeAspect="1"/>
          </p:cNvPicPr>
          <p:nvPr/>
        </p:nvPicPr>
        <p:blipFill>
          <a:blip r:embed="rId3"/>
          <a:stretch>
            <a:fillRect/>
          </a:stretch>
        </p:blipFill>
        <p:spPr>
          <a:xfrm>
            <a:off x="792816" y="2194560"/>
            <a:ext cx="2766912" cy="2468880"/>
          </a:xfrm>
          <a:prstGeom prst="rect">
            <a:avLst/>
          </a:prstGeom>
        </p:spPr>
      </p:pic>
      <p:sp>
        <p:nvSpPr>
          <p:cNvPr id="11" name="Shape 7"/>
          <p:cNvSpPr/>
          <p:nvPr/>
        </p:nvSpPr>
        <p:spPr>
          <a:xfrm>
            <a:off x="8412480" y="1508760"/>
            <a:ext cx="3200400" cy="3291840"/>
          </a:xfrm>
          <a:prstGeom prst="roundRect">
            <a:avLst>
              <a:gd name="adj" fmla="val 2286"/>
            </a:avLst>
          </a:prstGeom>
          <a:solidFill>
            <a:srgbClr val="FFFFFF"/>
          </a:solidFill>
          <a:ln w="12700">
            <a:solidFill>
              <a:srgbClr val="B8C7D8"/>
            </a:solidFill>
            <a:prstDash val="solid"/>
          </a:ln>
        </p:spPr>
        <p:txBody>
          <a:bodyPr/>
          <a:lstStyle/>
          <a:p>
            <a:endParaRPr lang="en-US"/>
          </a:p>
        </p:txBody>
      </p:sp>
      <p:sp>
        <p:nvSpPr>
          <p:cNvPr id="12" name="Shape 8"/>
          <p:cNvSpPr/>
          <p:nvPr/>
        </p:nvSpPr>
        <p:spPr>
          <a:xfrm>
            <a:off x="9326880" y="1645920"/>
            <a:ext cx="1371600" cy="384048"/>
          </a:xfrm>
          <a:prstGeom prst="roundRect">
            <a:avLst>
              <a:gd name="adj" fmla="val 19048"/>
            </a:avLst>
          </a:prstGeom>
          <a:solidFill>
            <a:srgbClr val="0B2D55"/>
          </a:solidFill>
          <a:ln w="12700">
            <a:solidFill>
              <a:srgbClr val="0B2D55"/>
            </a:solidFill>
            <a:prstDash val="solid"/>
          </a:ln>
        </p:spPr>
        <p:txBody>
          <a:bodyPr/>
          <a:lstStyle/>
          <a:p>
            <a:endParaRPr lang="en-US"/>
          </a:p>
        </p:txBody>
      </p:sp>
      <p:sp>
        <p:nvSpPr>
          <p:cNvPr id="13" name="Text 9"/>
          <p:cNvSpPr txBox="1"/>
          <p:nvPr/>
        </p:nvSpPr>
        <p:spPr>
          <a:xfrm>
            <a:off x="9326880" y="1645920"/>
            <a:ext cx="13716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QDA</a:t>
            </a:r>
            <a:endParaRPr lang="en-US" sz="1400" dirty="0"/>
          </a:p>
        </p:txBody>
      </p:sp>
      <p:pic>
        <p:nvPicPr>
          <p:cNvPr id="14" name="Image 1" descr="figs/qda.png"/>
          <p:cNvPicPr>
            <a:picLocks noChangeAspect="1"/>
          </p:cNvPicPr>
          <p:nvPr/>
        </p:nvPicPr>
        <p:blipFill>
          <a:blip r:embed="rId4"/>
          <a:stretch>
            <a:fillRect/>
          </a:stretch>
        </p:blipFill>
        <p:spPr>
          <a:xfrm>
            <a:off x="8629224" y="2194560"/>
            <a:ext cx="2766912" cy="246888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959352" y="1508760"/>
          <a:ext cx="4270248" cy="3291840"/>
        </p:xfrm>
        <a:graphic>
          <a:graphicData uri="http://schemas.openxmlformats.org/drawingml/2006/table">
            <a:tbl>
              <a:tblPr/>
              <a:tblGrid>
                <a:gridCol w="1417320">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1426464">
                  <a:extLst>
                    <a:ext uri="{9D8B030D-6E8A-4147-A177-3AD203B41FA5}">
                      <a16:colId xmlns:a16="http://schemas.microsoft.com/office/drawing/2014/main" val="20002"/>
                    </a:ext>
                  </a:extLst>
                </a:gridCol>
              </a:tblGrid>
              <a:tr h="548640">
                <a:tc>
                  <a:txBody>
                    <a:bodyPr/>
                    <a:lstStyle/>
                    <a:p>
                      <a:pPr marL="0" indent="0" algn="ctr">
                        <a:buNone/>
                      </a:pP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LDA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QDA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548640">
                <a:tc>
                  <a:txBody>
                    <a:bodyPr/>
                    <a:lstStyle/>
                    <a:p>
                      <a:pPr marL="0" indent="0" algn="ctr">
                        <a:buNone/>
                      </a:pPr>
                      <a:r>
                        <a:rPr lang="en-US" sz="1300" b="1" dirty="0">
                          <a:solidFill>
                            <a:srgbClr val="0B2D55"/>
                          </a:solidFill>
                          <a:latin typeface="Aptos" pitchFamily="34" charset="0"/>
                          <a:ea typeface="Aptos" pitchFamily="34" charset="-122"/>
                          <a:cs typeface="Aptos" pitchFamily="34" charset="-120"/>
                        </a:rPr>
                        <a:t>Spread</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Shared by all classes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One per class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ctr">
                        <a:buNone/>
                      </a:pPr>
                      <a:r>
                        <a:rPr lang="en-US" sz="1300" b="1" dirty="0">
                          <a:solidFill>
                            <a:srgbClr val="0B2D55"/>
                          </a:solidFill>
                          <a:latin typeface="Aptos" pitchFamily="34" charset="0"/>
                          <a:ea typeface="Aptos" pitchFamily="34" charset="-122"/>
                          <a:cs typeface="Aptos" pitchFamily="34" charset="-120"/>
                        </a:rPr>
                        <a:t>Boundary</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Line</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Curve</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ctr">
                        <a:buNone/>
                      </a:pPr>
                      <a:r>
                        <a:rPr lang="en-US" sz="1300" b="1" dirty="0">
                          <a:solidFill>
                            <a:srgbClr val="0B2D55"/>
                          </a:solidFill>
                          <a:latin typeface="Aptos" pitchFamily="34" charset="0"/>
                          <a:ea typeface="Aptos" pitchFamily="34" charset="-122"/>
                          <a:cs typeface="Aptos" pitchFamily="34" charset="-120"/>
                        </a:rPr>
                        <a:t>Parameters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Fewer</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More</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ctr">
                        <a:buNone/>
                      </a:pPr>
                      <a:r>
                        <a:rPr lang="en-US" sz="1300" b="1" dirty="0">
                          <a:solidFill>
                            <a:srgbClr val="0B2D55"/>
                          </a:solidFill>
                          <a:latin typeface="Aptos" pitchFamily="34" charset="0"/>
                          <a:ea typeface="Aptos" pitchFamily="34" charset="-122"/>
                          <a:cs typeface="Aptos" pitchFamily="34" charset="-120"/>
                        </a:rPr>
                        <a:t>Lean</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Higher bias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Higher variance</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ctr">
                        <a:buNone/>
                      </a:pPr>
                      <a:r>
                        <a:rPr lang="en-US" sz="1300" b="1" dirty="0">
                          <a:solidFill>
                            <a:srgbClr val="0B2D55"/>
                          </a:solidFill>
                          <a:latin typeface="Aptos" pitchFamily="34" charset="0"/>
                          <a:ea typeface="Aptos" pitchFamily="34" charset="-122"/>
                          <a:cs typeface="Aptos" pitchFamily="34" charset="-120"/>
                        </a:rPr>
                        <a:t>Best with</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Smaller datasets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00" dirty="0">
                          <a:solidFill>
                            <a:srgbClr val="132033"/>
                          </a:solidFill>
                          <a:latin typeface="Aptos" pitchFamily="34" charset="0"/>
                          <a:ea typeface="Aptos" pitchFamily="34" charset="-122"/>
                          <a:cs typeface="Aptos" pitchFamily="34" charset="-120"/>
                        </a:rPr>
                        <a:t>Larger datasets</a:t>
                      </a:r>
                      <a:endParaRPr lang="en-US" sz="13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 10"/>
          <p:cNvSpPr txBox="1"/>
          <p:nvPr/>
        </p:nvSpPr>
        <p:spPr>
          <a:xfrm>
            <a:off x="822960" y="5120640"/>
            <a:ext cx="10515600" cy="82296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More flexible boundary, more parameters, more data needed: the bias-variance tradeoff again.</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Support vector machines: the widest street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Only the points nearest the boundary decide where it goes.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26</a:t>
            </a:r>
            <a:endParaRPr lang="en-US" sz="850" dirty="0"/>
          </a:p>
        </p:txBody>
      </p:sp>
      <p:sp>
        <p:nvSpPr>
          <p:cNvPr id="7" name="Shape 4"/>
          <p:cNvSpPr/>
          <p:nvPr/>
        </p:nvSpPr>
        <p:spPr>
          <a:xfrm>
            <a:off x="576072" y="1554480"/>
            <a:ext cx="5212080" cy="4343400"/>
          </a:xfrm>
          <a:prstGeom prst="roundRect">
            <a:avLst>
              <a:gd name="adj" fmla="val 1684"/>
            </a:avLst>
          </a:prstGeom>
          <a:solidFill>
            <a:srgbClr val="FFFFFF"/>
          </a:solidFill>
          <a:ln w="12700">
            <a:solidFill>
              <a:srgbClr val="B8C7D8"/>
            </a:solidFill>
            <a:prstDash val="solid"/>
          </a:ln>
        </p:spPr>
        <p:txBody>
          <a:bodyPr/>
          <a:lstStyle/>
          <a:p>
            <a:endParaRPr lang="en-US"/>
          </a:p>
        </p:txBody>
      </p:sp>
      <p:pic>
        <p:nvPicPr>
          <p:cNvPr id="8" name="Image 0" descr="figs/svm.png"/>
          <p:cNvPicPr>
            <a:picLocks noChangeAspect="1"/>
          </p:cNvPicPr>
          <p:nvPr/>
        </p:nvPicPr>
        <p:blipFill>
          <a:blip r:embed="rId3"/>
          <a:stretch>
            <a:fillRect/>
          </a:stretch>
        </p:blipFill>
        <p:spPr>
          <a:xfrm>
            <a:off x="792123" y="1691640"/>
            <a:ext cx="4770833" cy="4069080"/>
          </a:xfrm>
          <a:prstGeom prst="rect">
            <a:avLst/>
          </a:prstGeom>
        </p:spPr>
      </p:pic>
      <p:sp>
        <p:nvSpPr>
          <p:cNvPr id="9" name="Shape 5"/>
          <p:cNvSpPr/>
          <p:nvPr/>
        </p:nvSpPr>
        <p:spPr>
          <a:xfrm>
            <a:off x="6035040" y="1554480"/>
            <a:ext cx="5577840" cy="896112"/>
          </a:xfrm>
          <a:prstGeom prst="roundRect">
            <a:avLst>
              <a:gd name="adj" fmla="val 8163"/>
            </a:avLst>
          </a:prstGeom>
          <a:solidFill>
            <a:srgbClr val="EAF2F8"/>
          </a:solidFill>
          <a:ln w="12700">
            <a:solidFill>
              <a:srgbClr val="1F5D9B"/>
            </a:solidFill>
            <a:prstDash val="solid"/>
          </a:ln>
        </p:spPr>
        <p:txBody>
          <a:bodyPr/>
          <a:lstStyle/>
          <a:p>
            <a:endParaRPr lang="en-US"/>
          </a:p>
        </p:txBody>
      </p:sp>
      <p:sp>
        <p:nvSpPr>
          <p:cNvPr id="10" name="Text 6"/>
          <p:cNvSpPr txBox="1"/>
          <p:nvPr/>
        </p:nvSpPr>
        <p:spPr>
          <a:xfrm>
            <a:off x="6217920" y="1664208"/>
            <a:ext cx="52120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Widest street</a:t>
            </a:r>
            <a:endParaRPr lang="en-US" sz="1500" dirty="0"/>
          </a:p>
        </p:txBody>
      </p:sp>
      <p:sp>
        <p:nvSpPr>
          <p:cNvPr id="11" name="Text 7"/>
          <p:cNvSpPr txBox="1"/>
          <p:nvPr/>
        </p:nvSpPr>
        <p:spPr>
          <a:xfrm>
            <a:off x="6217920" y="1993392"/>
            <a:ext cx="5212080" cy="36576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SVM picks the separating line with the largest margin between classes.</a:t>
            </a:r>
            <a:endParaRPr lang="en-US" sz="1500" dirty="0"/>
          </a:p>
        </p:txBody>
      </p:sp>
      <p:sp>
        <p:nvSpPr>
          <p:cNvPr id="12" name="Shape 8"/>
          <p:cNvSpPr/>
          <p:nvPr/>
        </p:nvSpPr>
        <p:spPr>
          <a:xfrm>
            <a:off x="6035040" y="2560320"/>
            <a:ext cx="5577840" cy="896112"/>
          </a:xfrm>
          <a:prstGeom prst="roundRect">
            <a:avLst>
              <a:gd name="adj" fmla="val 8163"/>
            </a:avLst>
          </a:prstGeom>
          <a:solidFill>
            <a:srgbClr val="FFF4CE"/>
          </a:solidFill>
          <a:ln w="12700">
            <a:solidFill>
              <a:srgbClr val="F2C14E"/>
            </a:solidFill>
            <a:prstDash val="solid"/>
          </a:ln>
        </p:spPr>
        <p:txBody>
          <a:bodyPr/>
          <a:lstStyle/>
          <a:p>
            <a:endParaRPr lang="en-US"/>
          </a:p>
        </p:txBody>
      </p:sp>
      <p:sp>
        <p:nvSpPr>
          <p:cNvPr id="13" name="Text 9"/>
          <p:cNvSpPr txBox="1"/>
          <p:nvPr/>
        </p:nvSpPr>
        <p:spPr>
          <a:xfrm>
            <a:off x="6217920" y="2670048"/>
            <a:ext cx="52120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Support vectors (circled)</a:t>
            </a:r>
            <a:endParaRPr lang="en-US" sz="1500" dirty="0"/>
          </a:p>
        </p:txBody>
      </p:sp>
      <p:sp>
        <p:nvSpPr>
          <p:cNvPr id="14" name="Text 10"/>
          <p:cNvSpPr txBox="1"/>
          <p:nvPr/>
        </p:nvSpPr>
        <p:spPr>
          <a:xfrm>
            <a:off x="6217920" y="2999232"/>
            <a:ext cx="5212080" cy="36576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The only points that hold the boundary in place.</a:t>
            </a:r>
            <a:endParaRPr lang="en-US" sz="1500" dirty="0"/>
          </a:p>
        </p:txBody>
      </p:sp>
      <p:sp>
        <p:nvSpPr>
          <p:cNvPr id="15" name="Shape 11"/>
          <p:cNvSpPr/>
          <p:nvPr/>
        </p:nvSpPr>
        <p:spPr>
          <a:xfrm>
            <a:off x="6035040" y="3566160"/>
            <a:ext cx="5577840" cy="2331720"/>
          </a:xfrm>
          <a:prstGeom prst="roundRect">
            <a:avLst>
              <a:gd name="adj" fmla="val 3137"/>
            </a:avLst>
          </a:prstGeom>
          <a:solidFill>
            <a:srgbClr val="FFFFFF"/>
          </a:solidFill>
          <a:ln w="12700">
            <a:solidFill>
              <a:srgbClr val="B8C7D8"/>
            </a:solidFill>
            <a:prstDash val="solid"/>
          </a:ln>
        </p:spPr>
        <p:txBody>
          <a:bodyPr/>
          <a:lstStyle/>
          <a:p>
            <a:endParaRPr lang="en-US"/>
          </a:p>
        </p:txBody>
      </p:sp>
      <p:sp>
        <p:nvSpPr>
          <p:cNvPr id="16" name="Text 12"/>
          <p:cNvSpPr txBox="1"/>
          <p:nvPr/>
        </p:nvSpPr>
        <p:spPr>
          <a:xfrm>
            <a:off x="6217920" y="3630168"/>
            <a:ext cx="5212080" cy="320040"/>
          </a:xfrm>
          <a:prstGeom prst="rect">
            <a:avLst/>
          </a:prstGeom>
          <a:noFill/>
          <a:ln/>
        </p:spPr>
        <p:txBody>
          <a:bodyPr wrap="square" lIns="0" tIns="0" rIns="0" bIns="0" rtlCol="0" anchor="t"/>
          <a:lstStyle/>
          <a:p>
            <a:pPr marL="0" indent="0">
              <a:buNone/>
            </a:pPr>
            <a:r>
              <a:rPr lang="en-US" sz="1400" b="1" dirty="0">
                <a:solidFill>
                  <a:srgbClr val="0B2D55"/>
                </a:solidFill>
                <a:latin typeface="Aptos" pitchFamily="34" charset="0"/>
                <a:ea typeface="Aptos" pitchFamily="34" charset="-122"/>
                <a:cs typeface="Aptos" pitchFamily="34" charset="-120"/>
              </a:rPr>
              <a:t>Kernel trick: add a feature so a line works.</a:t>
            </a:r>
            <a:endParaRPr lang="en-US" sz="1400" dirty="0"/>
          </a:p>
        </p:txBody>
      </p:sp>
      <p:pic>
        <p:nvPicPr>
          <p:cNvPr id="17" name="Image 1" descr="figs/kernel.png"/>
          <p:cNvPicPr>
            <a:picLocks noChangeAspect="1"/>
          </p:cNvPicPr>
          <p:nvPr/>
        </p:nvPicPr>
        <p:blipFill>
          <a:blip r:embed="rId4"/>
          <a:stretch>
            <a:fillRect/>
          </a:stretch>
        </p:blipFill>
        <p:spPr>
          <a:xfrm>
            <a:off x="6651948" y="4023360"/>
            <a:ext cx="4344024" cy="18105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margin width</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 Interpret → Predict with  margin = 2 / ‖w‖.</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27</a:t>
            </a:r>
            <a:endParaRPr lang="en-US" sz="850" dirty="0"/>
          </a:p>
        </p:txBody>
      </p:sp>
      <p:sp>
        <p:nvSpPr>
          <p:cNvPr id="7" name="Shape 4"/>
          <p:cNvSpPr/>
          <p:nvPr/>
        </p:nvSpPr>
        <p:spPr>
          <a:xfrm>
            <a:off x="576072" y="1554480"/>
            <a:ext cx="5349240" cy="2240280"/>
          </a:xfrm>
          <a:prstGeom prst="roundRect">
            <a:avLst>
              <a:gd name="adj" fmla="val 3265"/>
            </a:avLst>
          </a:prstGeom>
          <a:solidFill>
            <a:srgbClr val="DFF0D8"/>
          </a:solidFill>
          <a:ln w="12700">
            <a:solidFill>
              <a:srgbClr val="2E7D32"/>
            </a:solidFill>
            <a:prstDash val="solid"/>
          </a:ln>
        </p:spPr>
        <p:txBody>
          <a:bodyPr/>
          <a:lstStyle/>
          <a:p>
            <a:endParaRPr lang="en-US"/>
          </a:p>
        </p:txBody>
      </p:sp>
      <p:sp>
        <p:nvSpPr>
          <p:cNvPr id="8" name="Text 5"/>
          <p:cNvSpPr txBox="1"/>
          <p:nvPr/>
        </p:nvSpPr>
        <p:spPr>
          <a:xfrm>
            <a:off x="804672" y="1645920"/>
            <a:ext cx="3017520" cy="2057400"/>
          </a:xfrm>
          <a:prstGeom prst="rect">
            <a:avLst/>
          </a:prstGeom>
          <a:noFill/>
          <a:ln/>
        </p:spPr>
        <p:txBody>
          <a:bodyPr wrap="square" lIns="0" tIns="0" rIns="0" bIns="0" rtlCol="0" anchor="ctr"/>
          <a:lstStyle/>
          <a:p>
            <a:pPr marL="0" indent="0">
              <a:spcAft>
                <a:spcPts val="600"/>
              </a:spcAft>
              <a:buNone/>
            </a:pPr>
            <a:r>
              <a:rPr lang="en-US" sz="2000" b="1" dirty="0">
                <a:solidFill>
                  <a:srgbClr val="0B2D55"/>
                </a:solidFill>
                <a:latin typeface="Aptos" pitchFamily="34" charset="0"/>
                <a:ea typeface="Aptos" pitchFamily="34" charset="-122"/>
                <a:cs typeface="Aptos" pitchFamily="34" charset="-120"/>
              </a:rPr>
              <a:t>w = [0.6, 0.8]</a:t>
            </a:r>
            <a:endParaRPr lang="en-US" sz="1600" dirty="0"/>
          </a:p>
          <a:p>
            <a:pPr marL="0" indent="0">
              <a:spcAft>
                <a:spcPts val="600"/>
              </a:spcAft>
              <a:buNone/>
            </a:pPr>
            <a:r>
              <a:rPr lang="en-US" sz="1600" dirty="0">
                <a:solidFill>
                  <a:srgbClr val="132033"/>
                </a:solidFill>
                <a:latin typeface="Aptos" pitchFamily="34" charset="0"/>
                <a:ea typeface="Aptos" pitchFamily="34" charset="-122"/>
                <a:cs typeface="Aptos" pitchFamily="34" charset="-120"/>
              </a:rPr>
              <a:t>‖w‖ = √(0.36 + 0.64) = 1</a:t>
            </a:r>
            <a:endParaRPr lang="en-US" sz="1600" dirty="0"/>
          </a:p>
          <a:p>
            <a:pPr marL="0" indent="0">
              <a:spcAft>
                <a:spcPts val="600"/>
              </a:spcAft>
              <a:buNone/>
            </a:pPr>
            <a:r>
              <a:rPr lang="en-US" sz="1600" b="1" dirty="0">
                <a:solidFill>
                  <a:srgbClr val="2E7D32"/>
                </a:solidFill>
                <a:latin typeface="Aptos" pitchFamily="34" charset="0"/>
                <a:ea typeface="Aptos" pitchFamily="34" charset="-122"/>
                <a:cs typeface="Aptos" pitchFamily="34" charset="-120"/>
              </a:rPr>
              <a:t>margin = 2 / 1 = 2</a:t>
            </a:r>
            <a:endParaRPr lang="en-US" sz="1600" dirty="0"/>
          </a:p>
        </p:txBody>
      </p:sp>
      <p:sp>
        <p:nvSpPr>
          <p:cNvPr id="9" name="Shape 6"/>
          <p:cNvSpPr/>
          <p:nvPr/>
        </p:nvSpPr>
        <p:spPr>
          <a:xfrm>
            <a:off x="4050792" y="1783080"/>
            <a:ext cx="1188720" cy="1783080"/>
          </a:xfrm>
          <a:prstGeom prst="rect">
            <a:avLst/>
          </a:prstGeom>
          <a:solidFill>
            <a:srgbClr val="FFFFFF"/>
          </a:solidFill>
          <a:ln w="12700">
            <a:solidFill>
              <a:srgbClr val="FFFFFF"/>
            </a:solidFill>
            <a:prstDash val="solid"/>
          </a:ln>
        </p:spPr>
        <p:txBody>
          <a:bodyPr/>
          <a:lstStyle/>
          <a:p>
            <a:endParaRPr lang="en-US"/>
          </a:p>
        </p:txBody>
      </p:sp>
      <p:sp>
        <p:nvSpPr>
          <p:cNvPr id="10" name="Shape 7"/>
          <p:cNvSpPr/>
          <p:nvPr/>
        </p:nvSpPr>
        <p:spPr>
          <a:xfrm>
            <a:off x="4050792" y="1783080"/>
            <a:ext cx="0" cy="1783080"/>
          </a:xfrm>
          <a:prstGeom prst="line">
            <a:avLst/>
          </a:prstGeom>
          <a:noFill/>
          <a:ln w="15875">
            <a:solidFill>
              <a:srgbClr val="6D7C8F"/>
            </a:solidFill>
            <a:prstDash val="dash"/>
          </a:ln>
        </p:spPr>
        <p:txBody>
          <a:bodyPr/>
          <a:lstStyle/>
          <a:p>
            <a:endParaRPr lang="en-US"/>
          </a:p>
        </p:txBody>
      </p:sp>
      <p:sp>
        <p:nvSpPr>
          <p:cNvPr id="11" name="Shape 8"/>
          <p:cNvSpPr/>
          <p:nvPr/>
        </p:nvSpPr>
        <p:spPr>
          <a:xfrm>
            <a:off x="5239512" y="1783080"/>
            <a:ext cx="0" cy="1783080"/>
          </a:xfrm>
          <a:prstGeom prst="line">
            <a:avLst/>
          </a:prstGeom>
          <a:noFill/>
          <a:ln w="15875">
            <a:solidFill>
              <a:srgbClr val="6D7C8F"/>
            </a:solidFill>
            <a:prstDash val="dash"/>
          </a:ln>
        </p:spPr>
        <p:txBody>
          <a:bodyPr/>
          <a:lstStyle/>
          <a:p>
            <a:endParaRPr lang="en-US"/>
          </a:p>
        </p:txBody>
      </p:sp>
      <p:sp>
        <p:nvSpPr>
          <p:cNvPr id="12" name="Shape 9"/>
          <p:cNvSpPr/>
          <p:nvPr/>
        </p:nvSpPr>
        <p:spPr>
          <a:xfrm>
            <a:off x="4645152" y="1783080"/>
            <a:ext cx="0" cy="1783080"/>
          </a:xfrm>
          <a:prstGeom prst="line">
            <a:avLst/>
          </a:prstGeom>
          <a:noFill/>
          <a:ln w="28575">
            <a:solidFill>
              <a:srgbClr val="0B2D55"/>
            </a:solidFill>
            <a:prstDash val="solid"/>
          </a:ln>
        </p:spPr>
        <p:txBody>
          <a:bodyPr/>
          <a:lstStyle/>
          <a:p>
            <a:endParaRPr lang="en-US"/>
          </a:p>
        </p:txBody>
      </p:sp>
      <p:sp>
        <p:nvSpPr>
          <p:cNvPr id="13" name="Shape 10"/>
          <p:cNvSpPr/>
          <p:nvPr/>
        </p:nvSpPr>
        <p:spPr>
          <a:xfrm>
            <a:off x="3666744" y="2331720"/>
            <a:ext cx="237744" cy="237744"/>
          </a:xfrm>
          <a:prstGeom prst="ellipse">
            <a:avLst/>
          </a:prstGeom>
          <a:solidFill>
            <a:srgbClr val="1D5FA7"/>
          </a:solidFill>
          <a:ln w="12700">
            <a:solidFill>
              <a:srgbClr val="FFFFFF"/>
            </a:solidFill>
            <a:prstDash val="solid"/>
          </a:ln>
        </p:spPr>
        <p:txBody>
          <a:bodyPr/>
          <a:lstStyle/>
          <a:p>
            <a:endParaRPr lang="en-US"/>
          </a:p>
        </p:txBody>
      </p:sp>
      <p:sp>
        <p:nvSpPr>
          <p:cNvPr id="14" name="Shape 11"/>
          <p:cNvSpPr/>
          <p:nvPr/>
        </p:nvSpPr>
        <p:spPr>
          <a:xfrm>
            <a:off x="5385816" y="2788920"/>
            <a:ext cx="274320" cy="256032"/>
          </a:xfrm>
          <a:prstGeom prst="triangle">
            <a:avLst/>
          </a:prstGeom>
          <a:solidFill>
            <a:srgbClr val="D9731A"/>
          </a:solidFill>
          <a:ln w="12700">
            <a:solidFill>
              <a:srgbClr val="FFFFFF"/>
            </a:solidFill>
            <a:prstDash val="solid"/>
          </a:ln>
        </p:spPr>
        <p:txBody>
          <a:bodyPr/>
          <a:lstStyle/>
          <a:p>
            <a:endParaRPr lang="en-US"/>
          </a:p>
        </p:txBody>
      </p:sp>
      <p:sp>
        <p:nvSpPr>
          <p:cNvPr id="15" name="Shape 12"/>
          <p:cNvSpPr/>
          <p:nvPr/>
        </p:nvSpPr>
        <p:spPr>
          <a:xfrm>
            <a:off x="6153912" y="1554480"/>
            <a:ext cx="5349240" cy="2240280"/>
          </a:xfrm>
          <a:prstGeom prst="roundRect">
            <a:avLst>
              <a:gd name="adj" fmla="val 3265"/>
            </a:avLst>
          </a:prstGeom>
          <a:solidFill>
            <a:srgbClr val="F7D7D7"/>
          </a:solidFill>
          <a:ln w="12700">
            <a:solidFill>
              <a:srgbClr val="B43A3A"/>
            </a:solidFill>
            <a:prstDash val="solid"/>
          </a:ln>
        </p:spPr>
        <p:txBody>
          <a:bodyPr/>
          <a:lstStyle/>
          <a:p>
            <a:endParaRPr lang="en-US"/>
          </a:p>
        </p:txBody>
      </p:sp>
      <p:sp>
        <p:nvSpPr>
          <p:cNvPr id="16" name="Text 13"/>
          <p:cNvSpPr txBox="1"/>
          <p:nvPr/>
        </p:nvSpPr>
        <p:spPr>
          <a:xfrm>
            <a:off x="6382512" y="1645920"/>
            <a:ext cx="3017520" cy="2057400"/>
          </a:xfrm>
          <a:prstGeom prst="rect">
            <a:avLst/>
          </a:prstGeom>
          <a:noFill/>
          <a:ln/>
        </p:spPr>
        <p:txBody>
          <a:bodyPr wrap="square" lIns="0" tIns="0" rIns="0" bIns="0" rtlCol="0" anchor="ctr"/>
          <a:lstStyle/>
          <a:p>
            <a:pPr marL="0" indent="0">
              <a:spcAft>
                <a:spcPts val="600"/>
              </a:spcAft>
              <a:buNone/>
            </a:pPr>
            <a:r>
              <a:rPr lang="en-US" sz="2000" b="1" dirty="0">
                <a:solidFill>
                  <a:srgbClr val="0B2D55"/>
                </a:solidFill>
                <a:latin typeface="Aptos" pitchFamily="34" charset="0"/>
                <a:ea typeface="Aptos" pitchFamily="34" charset="-122"/>
                <a:cs typeface="Aptos" pitchFamily="34" charset="-120"/>
              </a:rPr>
              <a:t>w = [6, 8]</a:t>
            </a:r>
            <a:endParaRPr lang="en-US" sz="1600" dirty="0"/>
          </a:p>
          <a:p>
            <a:pPr marL="0" indent="0">
              <a:spcAft>
                <a:spcPts val="600"/>
              </a:spcAft>
              <a:buNone/>
            </a:pPr>
            <a:r>
              <a:rPr lang="en-US" sz="1600" dirty="0">
                <a:solidFill>
                  <a:srgbClr val="132033"/>
                </a:solidFill>
                <a:latin typeface="Aptos" pitchFamily="34" charset="0"/>
                <a:ea typeface="Aptos" pitchFamily="34" charset="-122"/>
                <a:cs typeface="Aptos" pitchFamily="34" charset="-120"/>
              </a:rPr>
              <a:t>‖w‖ = √(36 + 64) = 10</a:t>
            </a:r>
            <a:endParaRPr lang="en-US" sz="1600" dirty="0"/>
          </a:p>
          <a:p>
            <a:pPr marL="0" indent="0">
              <a:spcAft>
                <a:spcPts val="600"/>
              </a:spcAft>
              <a:buNone/>
            </a:pPr>
            <a:r>
              <a:rPr lang="en-US" sz="1600" b="1" dirty="0">
                <a:solidFill>
                  <a:srgbClr val="B43A3A"/>
                </a:solidFill>
                <a:latin typeface="Aptos" pitchFamily="34" charset="0"/>
                <a:ea typeface="Aptos" pitchFamily="34" charset="-122"/>
                <a:cs typeface="Aptos" pitchFamily="34" charset="-120"/>
              </a:rPr>
              <a:t>margin = 2 / 10 = 0.2</a:t>
            </a:r>
            <a:endParaRPr lang="en-US" sz="1600" dirty="0"/>
          </a:p>
        </p:txBody>
      </p:sp>
      <p:sp>
        <p:nvSpPr>
          <p:cNvPr id="17" name="Shape 14"/>
          <p:cNvSpPr/>
          <p:nvPr/>
        </p:nvSpPr>
        <p:spPr>
          <a:xfrm>
            <a:off x="10158984" y="1783080"/>
            <a:ext cx="128016" cy="1783080"/>
          </a:xfrm>
          <a:prstGeom prst="rect">
            <a:avLst/>
          </a:prstGeom>
          <a:solidFill>
            <a:srgbClr val="FFFFFF"/>
          </a:solidFill>
          <a:ln w="12700">
            <a:solidFill>
              <a:srgbClr val="FFFFFF"/>
            </a:solidFill>
            <a:prstDash val="solid"/>
          </a:ln>
        </p:spPr>
        <p:txBody>
          <a:bodyPr/>
          <a:lstStyle/>
          <a:p>
            <a:endParaRPr lang="en-US"/>
          </a:p>
        </p:txBody>
      </p:sp>
      <p:sp>
        <p:nvSpPr>
          <p:cNvPr id="18" name="Shape 15"/>
          <p:cNvSpPr/>
          <p:nvPr/>
        </p:nvSpPr>
        <p:spPr>
          <a:xfrm>
            <a:off x="10158984" y="1783080"/>
            <a:ext cx="0" cy="1783080"/>
          </a:xfrm>
          <a:prstGeom prst="line">
            <a:avLst/>
          </a:prstGeom>
          <a:noFill/>
          <a:ln w="15875">
            <a:solidFill>
              <a:srgbClr val="6D7C8F"/>
            </a:solidFill>
            <a:prstDash val="dash"/>
          </a:ln>
        </p:spPr>
        <p:txBody>
          <a:bodyPr/>
          <a:lstStyle/>
          <a:p>
            <a:endParaRPr lang="en-US"/>
          </a:p>
        </p:txBody>
      </p:sp>
      <p:sp>
        <p:nvSpPr>
          <p:cNvPr id="19" name="Shape 16"/>
          <p:cNvSpPr/>
          <p:nvPr/>
        </p:nvSpPr>
        <p:spPr>
          <a:xfrm>
            <a:off x="10287000" y="1783080"/>
            <a:ext cx="0" cy="1783080"/>
          </a:xfrm>
          <a:prstGeom prst="line">
            <a:avLst/>
          </a:prstGeom>
          <a:noFill/>
          <a:ln w="15875">
            <a:solidFill>
              <a:srgbClr val="6D7C8F"/>
            </a:solidFill>
            <a:prstDash val="dash"/>
          </a:ln>
        </p:spPr>
        <p:txBody>
          <a:bodyPr/>
          <a:lstStyle/>
          <a:p>
            <a:endParaRPr lang="en-US"/>
          </a:p>
        </p:txBody>
      </p:sp>
      <p:sp>
        <p:nvSpPr>
          <p:cNvPr id="20" name="Shape 17"/>
          <p:cNvSpPr/>
          <p:nvPr/>
        </p:nvSpPr>
        <p:spPr>
          <a:xfrm>
            <a:off x="10222992" y="1783080"/>
            <a:ext cx="0" cy="1783080"/>
          </a:xfrm>
          <a:prstGeom prst="line">
            <a:avLst/>
          </a:prstGeom>
          <a:noFill/>
          <a:ln w="28575">
            <a:solidFill>
              <a:srgbClr val="0B2D55"/>
            </a:solidFill>
            <a:prstDash val="solid"/>
          </a:ln>
        </p:spPr>
        <p:txBody>
          <a:bodyPr/>
          <a:lstStyle/>
          <a:p>
            <a:endParaRPr lang="en-US"/>
          </a:p>
        </p:txBody>
      </p:sp>
      <p:sp>
        <p:nvSpPr>
          <p:cNvPr id="21" name="Shape 18"/>
          <p:cNvSpPr/>
          <p:nvPr/>
        </p:nvSpPr>
        <p:spPr>
          <a:xfrm>
            <a:off x="9774936" y="2331720"/>
            <a:ext cx="237744" cy="237744"/>
          </a:xfrm>
          <a:prstGeom prst="ellipse">
            <a:avLst/>
          </a:prstGeom>
          <a:solidFill>
            <a:srgbClr val="1D5FA7"/>
          </a:solidFill>
          <a:ln w="12700">
            <a:solidFill>
              <a:srgbClr val="FFFFFF"/>
            </a:solidFill>
            <a:prstDash val="solid"/>
          </a:ln>
        </p:spPr>
        <p:txBody>
          <a:bodyPr/>
          <a:lstStyle/>
          <a:p>
            <a:endParaRPr lang="en-US"/>
          </a:p>
        </p:txBody>
      </p:sp>
      <p:sp>
        <p:nvSpPr>
          <p:cNvPr id="22" name="Shape 19"/>
          <p:cNvSpPr/>
          <p:nvPr/>
        </p:nvSpPr>
        <p:spPr>
          <a:xfrm>
            <a:off x="10433304" y="2788920"/>
            <a:ext cx="274320" cy="256032"/>
          </a:xfrm>
          <a:prstGeom prst="triangle">
            <a:avLst/>
          </a:prstGeom>
          <a:solidFill>
            <a:srgbClr val="D9731A"/>
          </a:solidFill>
          <a:ln w="12700">
            <a:solidFill>
              <a:srgbClr val="FFFFFF"/>
            </a:solidFill>
            <a:prstDash val="solid"/>
          </a:ln>
        </p:spPr>
        <p:txBody>
          <a:bodyPr/>
          <a:lstStyle/>
          <a:p>
            <a:endParaRPr lang="en-US"/>
          </a:p>
        </p:txBody>
      </p:sp>
      <p:sp>
        <p:nvSpPr>
          <p:cNvPr id="23" name="Shape 20"/>
          <p:cNvSpPr/>
          <p:nvPr/>
        </p:nvSpPr>
        <p:spPr>
          <a:xfrm>
            <a:off x="576072" y="4023360"/>
            <a:ext cx="5349240" cy="1463040"/>
          </a:xfrm>
          <a:prstGeom prst="roundRect">
            <a:avLst>
              <a:gd name="adj" fmla="val 5000"/>
            </a:avLst>
          </a:prstGeom>
          <a:solidFill>
            <a:srgbClr val="EAF2F8"/>
          </a:solidFill>
          <a:ln w="12700">
            <a:solidFill>
              <a:srgbClr val="1F5D9B"/>
            </a:solidFill>
            <a:prstDash val="solid"/>
          </a:ln>
        </p:spPr>
        <p:txBody>
          <a:bodyPr/>
          <a:lstStyle/>
          <a:p>
            <a:endParaRPr lang="en-US"/>
          </a:p>
        </p:txBody>
      </p:sp>
      <p:sp>
        <p:nvSpPr>
          <p:cNvPr id="24" name="Text 21"/>
          <p:cNvSpPr txBox="1"/>
          <p:nvPr/>
        </p:nvSpPr>
        <p:spPr>
          <a:xfrm>
            <a:off x="758952" y="4133088"/>
            <a:ext cx="49834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25" name="Text 22"/>
          <p:cNvSpPr txBox="1"/>
          <p:nvPr/>
        </p:nvSpPr>
        <p:spPr>
          <a:xfrm>
            <a:off x="758952" y="4462272"/>
            <a:ext cx="4983480" cy="93268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Smaller weights mean a wider street: more room for slightly unusual new points, so better generalization.</a:t>
            </a:r>
            <a:endParaRPr lang="en-US" sz="1550" dirty="0"/>
          </a:p>
        </p:txBody>
      </p:sp>
      <p:sp>
        <p:nvSpPr>
          <p:cNvPr id="26" name="Shape 23"/>
          <p:cNvSpPr/>
          <p:nvPr/>
        </p:nvSpPr>
        <p:spPr>
          <a:xfrm>
            <a:off x="6153912" y="4023360"/>
            <a:ext cx="5458968" cy="1463040"/>
          </a:xfrm>
          <a:prstGeom prst="roundRect">
            <a:avLst>
              <a:gd name="adj" fmla="val 5000"/>
            </a:avLst>
          </a:prstGeom>
          <a:solidFill>
            <a:srgbClr val="FFF4CE"/>
          </a:solidFill>
          <a:ln w="12700">
            <a:solidFill>
              <a:srgbClr val="F2C14E"/>
            </a:solidFill>
            <a:prstDash val="solid"/>
          </a:ln>
        </p:spPr>
        <p:txBody>
          <a:bodyPr/>
          <a:lstStyle/>
          <a:p>
            <a:endParaRPr lang="en-US"/>
          </a:p>
        </p:txBody>
      </p:sp>
      <p:sp>
        <p:nvSpPr>
          <p:cNvPr id="27" name="Text 24"/>
          <p:cNvSpPr txBox="1"/>
          <p:nvPr/>
        </p:nvSpPr>
        <p:spPr>
          <a:xfrm>
            <a:off x="6336792" y="4133088"/>
            <a:ext cx="5093208"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28" name="Text 25"/>
          <p:cNvSpPr txBox="1"/>
          <p:nvPr/>
        </p:nvSpPr>
        <p:spPr>
          <a:xfrm>
            <a:off x="6336792" y="4462272"/>
            <a:ext cx="5093208" cy="93268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Delete a point far from the street: nothing changes. Delete a support vector: the street can move.</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Decision trees: questions that carve the map</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Each split asks one yes/no question about one feature.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28</a:t>
            </a:r>
            <a:endParaRPr lang="en-US" sz="850" dirty="0"/>
          </a:p>
        </p:txBody>
      </p:sp>
      <p:sp>
        <p:nvSpPr>
          <p:cNvPr id="7" name="Shape 4"/>
          <p:cNvSpPr/>
          <p:nvPr/>
        </p:nvSpPr>
        <p:spPr>
          <a:xfrm>
            <a:off x="960120" y="1600200"/>
            <a:ext cx="4206240" cy="685800"/>
          </a:xfrm>
          <a:prstGeom prst="roundRect">
            <a:avLst>
              <a:gd name="adj" fmla="val 10667"/>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960120" y="1600200"/>
            <a:ext cx="4206240" cy="68580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Distance from usual location &gt; 4.1?</a:t>
            </a:r>
            <a:endParaRPr lang="en-US" sz="1500" dirty="0"/>
          </a:p>
        </p:txBody>
      </p:sp>
      <p:sp>
        <p:nvSpPr>
          <p:cNvPr id="9" name="Shape 6"/>
          <p:cNvSpPr/>
          <p:nvPr/>
        </p:nvSpPr>
        <p:spPr>
          <a:xfrm>
            <a:off x="3794760" y="2834640"/>
            <a:ext cx="1645920" cy="685800"/>
          </a:xfrm>
          <a:prstGeom prst="roundRect">
            <a:avLst>
              <a:gd name="adj" fmla="val 10667"/>
            </a:avLst>
          </a:prstGeom>
          <a:solidFill>
            <a:srgbClr val="FCE9D8"/>
          </a:solidFill>
          <a:ln w="12700">
            <a:solidFill>
              <a:srgbClr val="D9731A"/>
            </a:solidFill>
            <a:prstDash val="solid"/>
          </a:ln>
        </p:spPr>
        <p:txBody>
          <a:bodyPr/>
          <a:lstStyle/>
          <a:p>
            <a:endParaRPr lang="en-US"/>
          </a:p>
        </p:txBody>
      </p:sp>
      <p:sp>
        <p:nvSpPr>
          <p:cNvPr id="10" name="Text 7"/>
          <p:cNvSpPr txBox="1"/>
          <p:nvPr/>
        </p:nvSpPr>
        <p:spPr>
          <a:xfrm>
            <a:off x="3794760" y="2834640"/>
            <a:ext cx="1645920" cy="685800"/>
          </a:xfrm>
          <a:prstGeom prst="rect">
            <a:avLst/>
          </a:prstGeom>
          <a:noFill/>
          <a:ln/>
        </p:spPr>
        <p:txBody>
          <a:bodyPr wrap="square" lIns="0" tIns="0" rIns="0" bIns="0" rtlCol="0" anchor="ctr"/>
          <a:lstStyle/>
          <a:p>
            <a:pPr marL="0" indent="0" algn="ctr">
              <a:buNone/>
            </a:pPr>
            <a:r>
              <a:rPr lang="en-US" sz="1500" b="1" dirty="0">
                <a:solidFill>
                  <a:srgbClr val="D9731A"/>
                </a:solidFill>
                <a:latin typeface="Aptos" pitchFamily="34" charset="0"/>
                <a:ea typeface="Aptos" pitchFamily="34" charset="-122"/>
                <a:cs typeface="Aptos" pitchFamily="34" charset="-120"/>
              </a:rPr>
              <a:t>FRAUD</a:t>
            </a:r>
            <a:endParaRPr lang="en-US" sz="1500" dirty="0"/>
          </a:p>
        </p:txBody>
      </p:sp>
      <p:sp>
        <p:nvSpPr>
          <p:cNvPr id="11" name="Shape 8"/>
          <p:cNvSpPr/>
          <p:nvPr/>
        </p:nvSpPr>
        <p:spPr>
          <a:xfrm>
            <a:off x="576072" y="2834640"/>
            <a:ext cx="2926080" cy="685800"/>
          </a:xfrm>
          <a:prstGeom prst="roundRect">
            <a:avLst>
              <a:gd name="adj" fmla="val 10667"/>
            </a:avLst>
          </a:prstGeom>
          <a:solidFill>
            <a:srgbClr val="EAF2F8"/>
          </a:solidFill>
          <a:ln w="12700">
            <a:solidFill>
              <a:srgbClr val="1F5D9B"/>
            </a:solidFill>
            <a:prstDash val="solid"/>
          </a:ln>
        </p:spPr>
        <p:txBody>
          <a:bodyPr/>
          <a:lstStyle/>
          <a:p>
            <a:endParaRPr lang="en-US"/>
          </a:p>
        </p:txBody>
      </p:sp>
      <p:sp>
        <p:nvSpPr>
          <p:cNvPr id="12" name="Text 9"/>
          <p:cNvSpPr txBox="1"/>
          <p:nvPr/>
        </p:nvSpPr>
        <p:spPr>
          <a:xfrm>
            <a:off x="576072" y="2834640"/>
            <a:ext cx="2926080" cy="68580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Amount vs. usual &gt; 5.5?</a:t>
            </a:r>
            <a:endParaRPr lang="en-US" sz="1500" dirty="0"/>
          </a:p>
        </p:txBody>
      </p:sp>
      <p:sp>
        <p:nvSpPr>
          <p:cNvPr id="13" name="Shape 10"/>
          <p:cNvSpPr/>
          <p:nvPr/>
        </p:nvSpPr>
        <p:spPr>
          <a:xfrm>
            <a:off x="2148840" y="4114800"/>
            <a:ext cx="1463040" cy="685800"/>
          </a:xfrm>
          <a:prstGeom prst="roundRect">
            <a:avLst>
              <a:gd name="adj" fmla="val 10667"/>
            </a:avLst>
          </a:prstGeom>
          <a:solidFill>
            <a:srgbClr val="FCE9D8"/>
          </a:solidFill>
          <a:ln w="12700">
            <a:solidFill>
              <a:srgbClr val="D9731A"/>
            </a:solidFill>
            <a:prstDash val="solid"/>
          </a:ln>
        </p:spPr>
        <p:txBody>
          <a:bodyPr/>
          <a:lstStyle/>
          <a:p>
            <a:endParaRPr lang="en-US"/>
          </a:p>
        </p:txBody>
      </p:sp>
      <p:sp>
        <p:nvSpPr>
          <p:cNvPr id="14" name="Text 11"/>
          <p:cNvSpPr txBox="1"/>
          <p:nvPr/>
        </p:nvSpPr>
        <p:spPr>
          <a:xfrm>
            <a:off x="2148840" y="4114800"/>
            <a:ext cx="1463040" cy="685800"/>
          </a:xfrm>
          <a:prstGeom prst="rect">
            <a:avLst/>
          </a:prstGeom>
          <a:noFill/>
          <a:ln/>
        </p:spPr>
        <p:txBody>
          <a:bodyPr wrap="square" lIns="0" tIns="0" rIns="0" bIns="0" rtlCol="0" anchor="ctr"/>
          <a:lstStyle/>
          <a:p>
            <a:pPr marL="0" indent="0" algn="ctr">
              <a:buNone/>
            </a:pPr>
            <a:r>
              <a:rPr lang="en-US" sz="1500" b="1" dirty="0">
                <a:solidFill>
                  <a:srgbClr val="D9731A"/>
                </a:solidFill>
                <a:latin typeface="Aptos" pitchFamily="34" charset="0"/>
                <a:ea typeface="Aptos" pitchFamily="34" charset="-122"/>
                <a:cs typeface="Aptos" pitchFamily="34" charset="-120"/>
              </a:rPr>
              <a:t>FRAUD</a:t>
            </a:r>
            <a:endParaRPr lang="en-US" sz="1500" dirty="0"/>
          </a:p>
        </p:txBody>
      </p:sp>
      <p:sp>
        <p:nvSpPr>
          <p:cNvPr id="15" name="Shape 12"/>
          <p:cNvSpPr/>
          <p:nvPr/>
        </p:nvSpPr>
        <p:spPr>
          <a:xfrm>
            <a:off x="576072" y="4114800"/>
            <a:ext cx="1371600" cy="685800"/>
          </a:xfrm>
          <a:prstGeom prst="roundRect">
            <a:avLst>
              <a:gd name="adj" fmla="val 10667"/>
            </a:avLst>
          </a:prstGeom>
          <a:solidFill>
            <a:srgbClr val="E3EEF8"/>
          </a:solidFill>
          <a:ln w="12700">
            <a:solidFill>
              <a:srgbClr val="1D5FA7"/>
            </a:solidFill>
            <a:prstDash val="solid"/>
          </a:ln>
        </p:spPr>
        <p:txBody>
          <a:bodyPr/>
          <a:lstStyle/>
          <a:p>
            <a:endParaRPr lang="en-US"/>
          </a:p>
        </p:txBody>
      </p:sp>
      <p:sp>
        <p:nvSpPr>
          <p:cNvPr id="16" name="Text 13"/>
          <p:cNvSpPr txBox="1"/>
          <p:nvPr/>
        </p:nvSpPr>
        <p:spPr>
          <a:xfrm>
            <a:off x="576072" y="4114800"/>
            <a:ext cx="1371600" cy="685800"/>
          </a:xfrm>
          <a:prstGeom prst="rect">
            <a:avLst/>
          </a:prstGeom>
          <a:noFill/>
          <a:ln/>
        </p:spPr>
        <p:txBody>
          <a:bodyPr wrap="square" lIns="0" tIns="0" rIns="0" bIns="0" rtlCol="0" anchor="ctr"/>
          <a:lstStyle/>
          <a:p>
            <a:pPr marL="0" indent="0" algn="ctr">
              <a:buNone/>
            </a:pPr>
            <a:r>
              <a:rPr lang="en-US" sz="1500" b="1" dirty="0">
                <a:solidFill>
                  <a:srgbClr val="1D5FA7"/>
                </a:solidFill>
                <a:latin typeface="Aptos" pitchFamily="34" charset="0"/>
                <a:ea typeface="Aptos" pitchFamily="34" charset="-122"/>
                <a:cs typeface="Aptos" pitchFamily="34" charset="-120"/>
              </a:rPr>
              <a:t>LEGIT</a:t>
            </a:r>
            <a:endParaRPr lang="en-US" sz="1500" dirty="0"/>
          </a:p>
        </p:txBody>
      </p:sp>
      <p:sp>
        <p:nvSpPr>
          <p:cNvPr id="17" name="Shape 14"/>
          <p:cNvSpPr/>
          <p:nvPr/>
        </p:nvSpPr>
        <p:spPr>
          <a:xfrm>
            <a:off x="3931920" y="2286000"/>
            <a:ext cx="640080" cy="548640"/>
          </a:xfrm>
          <a:prstGeom prst="line">
            <a:avLst/>
          </a:prstGeom>
          <a:noFill/>
          <a:ln w="22225">
            <a:solidFill>
              <a:srgbClr val="1D5FA7"/>
            </a:solidFill>
            <a:prstDash val="solid"/>
            <a:tailEnd type="triangle"/>
          </a:ln>
        </p:spPr>
        <p:txBody>
          <a:bodyPr/>
          <a:lstStyle/>
          <a:p>
            <a:endParaRPr lang="en-US"/>
          </a:p>
        </p:txBody>
      </p:sp>
      <p:sp>
        <p:nvSpPr>
          <p:cNvPr id="18" name="Shape 15"/>
          <p:cNvSpPr/>
          <p:nvPr/>
        </p:nvSpPr>
        <p:spPr>
          <a:xfrm>
            <a:off x="2194560" y="2286000"/>
            <a:ext cx="0" cy="548640"/>
          </a:xfrm>
          <a:prstGeom prst="line">
            <a:avLst/>
          </a:prstGeom>
          <a:noFill/>
          <a:ln w="22225">
            <a:solidFill>
              <a:srgbClr val="1D5FA7"/>
            </a:solidFill>
            <a:prstDash val="solid"/>
            <a:tailEnd type="triangle"/>
          </a:ln>
        </p:spPr>
        <p:txBody>
          <a:bodyPr/>
          <a:lstStyle/>
          <a:p>
            <a:endParaRPr lang="en-US"/>
          </a:p>
        </p:txBody>
      </p:sp>
      <p:sp>
        <p:nvSpPr>
          <p:cNvPr id="19" name="Shape 16"/>
          <p:cNvSpPr/>
          <p:nvPr/>
        </p:nvSpPr>
        <p:spPr>
          <a:xfrm>
            <a:off x="2560320" y="3520440"/>
            <a:ext cx="320040" cy="594360"/>
          </a:xfrm>
          <a:prstGeom prst="line">
            <a:avLst/>
          </a:prstGeom>
          <a:noFill/>
          <a:ln w="22225">
            <a:solidFill>
              <a:srgbClr val="1D5FA7"/>
            </a:solidFill>
            <a:prstDash val="solid"/>
            <a:tailEnd type="triangle"/>
          </a:ln>
        </p:spPr>
        <p:txBody>
          <a:bodyPr/>
          <a:lstStyle/>
          <a:p>
            <a:endParaRPr lang="en-US"/>
          </a:p>
        </p:txBody>
      </p:sp>
      <p:sp>
        <p:nvSpPr>
          <p:cNvPr id="20" name="Shape 17"/>
          <p:cNvSpPr/>
          <p:nvPr/>
        </p:nvSpPr>
        <p:spPr>
          <a:xfrm flipH="1">
            <a:off x="1234440" y="3520440"/>
            <a:ext cx="228600" cy="594360"/>
          </a:xfrm>
          <a:prstGeom prst="line">
            <a:avLst/>
          </a:prstGeom>
          <a:noFill/>
          <a:ln w="22225">
            <a:solidFill>
              <a:srgbClr val="1D5FA7"/>
            </a:solidFill>
            <a:prstDash val="solid"/>
            <a:tailEnd type="triangle"/>
          </a:ln>
        </p:spPr>
        <p:txBody>
          <a:bodyPr/>
          <a:lstStyle/>
          <a:p>
            <a:endParaRPr lang="en-US"/>
          </a:p>
        </p:txBody>
      </p:sp>
      <p:sp>
        <p:nvSpPr>
          <p:cNvPr id="21" name="Text 18"/>
          <p:cNvSpPr txBox="1"/>
          <p:nvPr/>
        </p:nvSpPr>
        <p:spPr>
          <a:xfrm>
            <a:off x="4343400" y="2286000"/>
            <a:ext cx="548640" cy="274320"/>
          </a:xfrm>
          <a:prstGeom prst="rect">
            <a:avLst/>
          </a:prstGeom>
          <a:noFill/>
          <a:ln/>
        </p:spPr>
        <p:txBody>
          <a:bodyPr wrap="square" lIns="0" tIns="0" rIns="0" bIns="0" rtlCol="0" anchor="t"/>
          <a:lstStyle/>
          <a:p>
            <a:pPr marL="0" indent="0">
              <a:buNone/>
            </a:pPr>
            <a:r>
              <a:rPr lang="en-US" sz="1300" b="1" dirty="0">
                <a:solidFill>
                  <a:srgbClr val="6D7C8F"/>
                </a:solidFill>
                <a:latin typeface="Aptos" pitchFamily="34" charset="0"/>
                <a:ea typeface="Aptos" pitchFamily="34" charset="-122"/>
                <a:cs typeface="Aptos" pitchFamily="34" charset="-120"/>
              </a:rPr>
              <a:t>yes</a:t>
            </a:r>
            <a:endParaRPr lang="en-US" sz="1300" dirty="0"/>
          </a:p>
        </p:txBody>
      </p:sp>
      <p:sp>
        <p:nvSpPr>
          <p:cNvPr id="22" name="Text 19"/>
          <p:cNvSpPr txBox="1"/>
          <p:nvPr/>
        </p:nvSpPr>
        <p:spPr>
          <a:xfrm>
            <a:off x="1783080" y="2395728"/>
            <a:ext cx="365760" cy="274320"/>
          </a:xfrm>
          <a:prstGeom prst="rect">
            <a:avLst/>
          </a:prstGeom>
          <a:noFill/>
          <a:ln/>
        </p:spPr>
        <p:txBody>
          <a:bodyPr wrap="square" lIns="0" tIns="0" rIns="0" bIns="0" rtlCol="0" anchor="t"/>
          <a:lstStyle/>
          <a:p>
            <a:pPr marL="0" indent="0">
              <a:buNone/>
            </a:pPr>
            <a:r>
              <a:rPr lang="en-US" sz="1300" b="1" dirty="0">
                <a:solidFill>
                  <a:srgbClr val="6D7C8F"/>
                </a:solidFill>
                <a:latin typeface="Aptos" pitchFamily="34" charset="0"/>
                <a:ea typeface="Aptos" pitchFamily="34" charset="-122"/>
                <a:cs typeface="Aptos" pitchFamily="34" charset="-120"/>
              </a:rPr>
              <a:t>no</a:t>
            </a:r>
            <a:endParaRPr lang="en-US" sz="1300" dirty="0"/>
          </a:p>
        </p:txBody>
      </p:sp>
      <p:sp>
        <p:nvSpPr>
          <p:cNvPr id="23" name="Text 20"/>
          <p:cNvSpPr txBox="1"/>
          <p:nvPr/>
        </p:nvSpPr>
        <p:spPr>
          <a:xfrm>
            <a:off x="2788920" y="3611880"/>
            <a:ext cx="548640" cy="274320"/>
          </a:xfrm>
          <a:prstGeom prst="rect">
            <a:avLst/>
          </a:prstGeom>
          <a:noFill/>
          <a:ln/>
        </p:spPr>
        <p:txBody>
          <a:bodyPr wrap="square" lIns="0" tIns="0" rIns="0" bIns="0" rtlCol="0" anchor="t"/>
          <a:lstStyle/>
          <a:p>
            <a:pPr marL="0" indent="0">
              <a:buNone/>
            </a:pPr>
            <a:r>
              <a:rPr lang="en-US" sz="1300" b="1" dirty="0">
                <a:solidFill>
                  <a:srgbClr val="6D7C8F"/>
                </a:solidFill>
                <a:latin typeface="Aptos" pitchFamily="34" charset="0"/>
                <a:ea typeface="Aptos" pitchFamily="34" charset="-122"/>
                <a:cs typeface="Aptos" pitchFamily="34" charset="-120"/>
              </a:rPr>
              <a:t>yes</a:t>
            </a:r>
            <a:endParaRPr lang="en-US" sz="1300" dirty="0"/>
          </a:p>
        </p:txBody>
      </p:sp>
      <p:sp>
        <p:nvSpPr>
          <p:cNvPr id="24" name="Text 21"/>
          <p:cNvSpPr txBox="1"/>
          <p:nvPr/>
        </p:nvSpPr>
        <p:spPr>
          <a:xfrm>
            <a:off x="868680" y="3611880"/>
            <a:ext cx="365760" cy="274320"/>
          </a:xfrm>
          <a:prstGeom prst="rect">
            <a:avLst/>
          </a:prstGeom>
          <a:noFill/>
          <a:ln/>
        </p:spPr>
        <p:txBody>
          <a:bodyPr wrap="square" lIns="0" tIns="0" rIns="0" bIns="0" rtlCol="0" anchor="t"/>
          <a:lstStyle/>
          <a:p>
            <a:pPr marL="0" indent="0">
              <a:buNone/>
            </a:pPr>
            <a:r>
              <a:rPr lang="en-US" sz="1300" b="1" dirty="0">
                <a:solidFill>
                  <a:srgbClr val="6D7C8F"/>
                </a:solidFill>
                <a:latin typeface="Aptos" pitchFamily="34" charset="0"/>
                <a:ea typeface="Aptos" pitchFamily="34" charset="-122"/>
                <a:cs typeface="Aptos" pitchFamily="34" charset="-120"/>
              </a:rPr>
              <a:t>no</a:t>
            </a:r>
            <a:endParaRPr lang="en-US" sz="1300" dirty="0"/>
          </a:p>
        </p:txBody>
      </p:sp>
      <p:sp>
        <p:nvSpPr>
          <p:cNvPr id="25" name="Shape 22"/>
          <p:cNvSpPr/>
          <p:nvPr/>
        </p:nvSpPr>
        <p:spPr>
          <a:xfrm>
            <a:off x="576072" y="5029200"/>
            <a:ext cx="4937760" cy="868680"/>
          </a:xfrm>
          <a:prstGeom prst="roundRect">
            <a:avLst>
              <a:gd name="adj" fmla="val 8421"/>
            </a:avLst>
          </a:prstGeom>
          <a:solidFill>
            <a:srgbClr val="FFF4CE"/>
          </a:solidFill>
          <a:ln w="12700">
            <a:solidFill>
              <a:srgbClr val="F2C14E"/>
            </a:solidFill>
            <a:prstDash val="solid"/>
          </a:ln>
        </p:spPr>
        <p:txBody>
          <a:bodyPr/>
          <a:lstStyle/>
          <a:p>
            <a:endParaRPr lang="en-US"/>
          </a:p>
        </p:txBody>
      </p:sp>
      <p:sp>
        <p:nvSpPr>
          <p:cNvPr id="26" name="Text 23"/>
          <p:cNvSpPr txBox="1"/>
          <p:nvPr/>
        </p:nvSpPr>
        <p:spPr>
          <a:xfrm>
            <a:off x="731520" y="5029200"/>
            <a:ext cx="4663440" cy="86868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Gini = 1 − Σ pᵢ²</a:t>
            </a:r>
            <a:endParaRPr lang="en-US" sz="1600" dirty="0"/>
          </a:p>
          <a:p>
            <a:pPr marL="0" indent="0" algn="ctr">
              <a:buNone/>
            </a:pPr>
            <a:r>
              <a:rPr lang="en-US" sz="1450" dirty="0">
                <a:solidFill>
                  <a:srgbClr val="132033"/>
                </a:solidFill>
                <a:latin typeface="Aptos" pitchFamily="34" charset="0"/>
                <a:ea typeface="Aptos" pitchFamily="34" charset="-122"/>
                <a:cs typeface="Aptos" pitchFamily="34" charset="-120"/>
              </a:rPr>
              <a:t>0 = pure node;  higher = more mixed</a:t>
            </a:r>
            <a:endParaRPr lang="en-US" sz="1600" dirty="0"/>
          </a:p>
        </p:txBody>
      </p:sp>
      <p:sp>
        <p:nvSpPr>
          <p:cNvPr id="27" name="Shape 24"/>
          <p:cNvSpPr/>
          <p:nvPr/>
        </p:nvSpPr>
        <p:spPr>
          <a:xfrm>
            <a:off x="5852160" y="1508760"/>
            <a:ext cx="5760720" cy="4389120"/>
          </a:xfrm>
          <a:prstGeom prst="roundRect">
            <a:avLst>
              <a:gd name="adj" fmla="val 1667"/>
            </a:avLst>
          </a:prstGeom>
          <a:solidFill>
            <a:srgbClr val="FFFFFF"/>
          </a:solidFill>
          <a:ln w="12700">
            <a:solidFill>
              <a:srgbClr val="B8C7D8"/>
            </a:solidFill>
            <a:prstDash val="solid"/>
          </a:ln>
        </p:spPr>
        <p:txBody>
          <a:bodyPr/>
          <a:lstStyle/>
          <a:p>
            <a:endParaRPr lang="en-US"/>
          </a:p>
        </p:txBody>
      </p:sp>
      <p:pic>
        <p:nvPicPr>
          <p:cNvPr id="28" name="Image 0" descr="figs/tree.png"/>
          <p:cNvPicPr>
            <a:picLocks noChangeAspect="1"/>
          </p:cNvPicPr>
          <p:nvPr/>
        </p:nvPicPr>
        <p:blipFill>
          <a:blip r:embed="rId3"/>
          <a:stretch>
            <a:fillRect/>
          </a:stretch>
        </p:blipFill>
        <p:spPr>
          <a:xfrm>
            <a:off x="6346676" y="1600200"/>
            <a:ext cx="4771688" cy="42062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choose the first split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Pick the split that leaves the purest groups.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29</a:t>
            </a:r>
            <a:endParaRPr lang="en-US" sz="850" dirty="0"/>
          </a:p>
        </p:txBody>
      </p:sp>
      <p:sp>
        <p:nvSpPr>
          <p:cNvPr id="7" name="Shape 4"/>
          <p:cNvSpPr/>
          <p:nvPr/>
        </p:nvSpPr>
        <p:spPr>
          <a:xfrm>
            <a:off x="1188720" y="1481328"/>
            <a:ext cx="978408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1325880" y="1481328"/>
            <a:ext cx="9509760" cy="86868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Root: 12 transactions   </a:t>
            </a:r>
            <a:r>
              <a:rPr lang="en-US" sz="1600" dirty="0">
                <a:solidFill>
                  <a:srgbClr val="D9731A"/>
                </a:solidFill>
                <a:latin typeface="Aptos" pitchFamily="34" charset="0"/>
                <a:ea typeface="Aptos" pitchFamily="34" charset="-122"/>
                <a:cs typeface="Aptos" pitchFamily="34" charset="-120"/>
              </a:rPr>
              <a:t>▲▲▲</a:t>
            </a:r>
            <a:r>
              <a:rPr lang="en-US" sz="1600" dirty="0">
                <a:solidFill>
                  <a:srgbClr val="1D5FA7"/>
                </a:solidFill>
                <a:latin typeface="Aptos" pitchFamily="34" charset="0"/>
                <a:ea typeface="Aptos" pitchFamily="34" charset="-122"/>
                <a:cs typeface="Aptos" pitchFamily="34" charset="-120"/>
              </a:rPr>
              <a:t> ●●●●●●●●●</a:t>
            </a:r>
            <a:r>
              <a:rPr lang="en-US" sz="1600" b="1" dirty="0">
                <a:solidFill>
                  <a:srgbClr val="0B2D55"/>
                </a:solidFill>
                <a:latin typeface="Aptos" pitchFamily="34" charset="0"/>
                <a:ea typeface="Aptos" pitchFamily="34" charset="-122"/>
                <a:cs typeface="Aptos" pitchFamily="34" charset="-120"/>
              </a:rPr>
              <a:t>   Gini = 1 − (0.25² + 0.75²) = 0.375</a:t>
            </a:r>
            <a:endParaRPr lang="en-US" sz="1600" dirty="0"/>
          </a:p>
        </p:txBody>
      </p:sp>
      <p:sp>
        <p:nvSpPr>
          <p:cNvPr id="9" name="Shape 6"/>
          <p:cNvSpPr/>
          <p:nvPr/>
        </p:nvSpPr>
        <p:spPr>
          <a:xfrm>
            <a:off x="576072" y="2560320"/>
            <a:ext cx="5349240" cy="2148840"/>
          </a:xfrm>
          <a:prstGeom prst="roundRect">
            <a:avLst>
              <a:gd name="adj" fmla="val 3404"/>
            </a:avLst>
          </a:prstGeom>
          <a:solidFill>
            <a:srgbClr val="FFFFFF"/>
          </a:solidFill>
          <a:ln w="12700">
            <a:solidFill>
              <a:srgbClr val="B8C7D8"/>
            </a:solidFill>
            <a:prstDash val="solid"/>
          </a:ln>
        </p:spPr>
        <p:txBody>
          <a:bodyPr/>
          <a:lstStyle/>
          <a:p>
            <a:endParaRPr lang="en-US"/>
          </a:p>
        </p:txBody>
      </p:sp>
      <p:sp>
        <p:nvSpPr>
          <p:cNvPr id="10" name="Text 7"/>
          <p:cNvSpPr txBox="1"/>
          <p:nvPr/>
        </p:nvSpPr>
        <p:spPr>
          <a:xfrm>
            <a:off x="758952" y="2633472"/>
            <a:ext cx="4983480" cy="365760"/>
          </a:xfrm>
          <a:prstGeom prst="rect">
            <a:avLst/>
          </a:prstGeom>
          <a:noFill/>
          <a:ln/>
        </p:spPr>
        <p:txBody>
          <a:bodyPr wrap="square" lIns="0" tIns="0" rIns="0" bIns="0" rtlCol="0" anchor="t"/>
          <a:lstStyle/>
          <a:p>
            <a:pPr marL="0" indent="0">
              <a:buNone/>
            </a:pPr>
            <a:r>
              <a:rPr lang="en-US" sz="1700" b="1" dirty="0">
                <a:solidFill>
                  <a:srgbClr val="0B2D55"/>
                </a:solidFill>
                <a:latin typeface="Aptos" pitchFamily="34" charset="0"/>
                <a:ea typeface="Aptos" pitchFamily="34" charset="-122"/>
                <a:cs typeface="Aptos" pitchFamily="34" charset="-120"/>
              </a:rPr>
              <a:t>Split A:  “Amount &gt; $500?”</a:t>
            </a:r>
            <a:endParaRPr lang="en-US" sz="1700" dirty="0"/>
          </a:p>
        </p:txBody>
      </p:sp>
      <p:sp>
        <p:nvSpPr>
          <p:cNvPr id="11" name="Text 8"/>
          <p:cNvSpPr txBox="1"/>
          <p:nvPr/>
        </p:nvSpPr>
        <p:spPr>
          <a:xfrm>
            <a:off x="804672" y="3063240"/>
            <a:ext cx="3017520" cy="411480"/>
          </a:xfrm>
          <a:prstGeom prst="rect">
            <a:avLst/>
          </a:prstGeom>
          <a:noFill/>
          <a:ln/>
        </p:spPr>
        <p:txBody>
          <a:bodyPr wrap="square" lIns="0" tIns="0" rIns="0" bIns="0" rtlCol="0" anchor="ctr"/>
          <a:lstStyle/>
          <a:p>
            <a:pPr marL="0" indent="0">
              <a:buNone/>
            </a:pPr>
            <a:r>
              <a:rPr lang="en-US" sz="1500" b="1" dirty="0">
                <a:solidFill>
                  <a:srgbClr val="6D7C8F"/>
                </a:solidFill>
                <a:latin typeface="Aptos" pitchFamily="34" charset="0"/>
                <a:ea typeface="Aptos" pitchFamily="34" charset="-122"/>
                <a:cs typeface="Aptos" pitchFamily="34" charset="-120"/>
              </a:rPr>
              <a:t>Yes: </a:t>
            </a:r>
            <a:r>
              <a:rPr lang="en-US" sz="1500" dirty="0">
                <a:solidFill>
                  <a:srgbClr val="D9731A"/>
                </a:solidFill>
                <a:latin typeface="Aptos" pitchFamily="34" charset="0"/>
                <a:ea typeface="Aptos" pitchFamily="34" charset="-122"/>
                <a:cs typeface="Aptos" pitchFamily="34" charset="-120"/>
              </a:rPr>
              <a:t>▲▲▲</a:t>
            </a:r>
            <a:r>
              <a:rPr lang="en-US" sz="1500" dirty="0">
                <a:solidFill>
                  <a:srgbClr val="1D5FA7"/>
                </a:solidFill>
                <a:latin typeface="Aptos" pitchFamily="34" charset="0"/>
                <a:ea typeface="Aptos" pitchFamily="34" charset="-122"/>
                <a:cs typeface="Aptos" pitchFamily="34" charset="-120"/>
              </a:rPr>
              <a:t> ●</a:t>
            </a:r>
            <a:endParaRPr lang="en-US" sz="1500" dirty="0"/>
          </a:p>
        </p:txBody>
      </p:sp>
      <p:sp>
        <p:nvSpPr>
          <p:cNvPr id="12" name="Text 9"/>
          <p:cNvSpPr txBox="1"/>
          <p:nvPr/>
        </p:nvSpPr>
        <p:spPr>
          <a:xfrm>
            <a:off x="3867912" y="3063240"/>
            <a:ext cx="192024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Gini = 0.375</a:t>
            </a:r>
            <a:endParaRPr lang="en-US" sz="1500" dirty="0"/>
          </a:p>
        </p:txBody>
      </p:sp>
      <p:sp>
        <p:nvSpPr>
          <p:cNvPr id="13" name="Text 10"/>
          <p:cNvSpPr txBox="1"/>
          <p:nvPr/>
        </p:nvSpPr>
        <p:spPr>
          <a:xfrm>
            <a:off x="804672" y="3566160"/>
            <a:ext cx="3017520" cy="411480"/>
          </a:xfrm>
          <a:prstGeom prst="rect">
            <a:avLst/>
          </a:prstGeom>
          <a:noFill/>
          <a:ln/>
        </p:spPr>
        <p:txBody>
          <a:bodyPr wrap="square" lIns="0" tIns="0" rIns="0" bIns="0" rtlCol="0" anchor="ctr"/>
          <a:lstStyle/>
          <a:p>
            <a:pPr marL="0" indent="0">
              <a:buNone/>
            </a:pPr>
            <a:r>
              <a:rPr lang="en-US" sz="1500" b="1" dirty="0">
                <a:solidFill>
                  <a:srgbClr val="6D7C8F"/>
                </a:solidFill>
                <a:latin typeface="Aptos" pitchFamily="34" charset="0"/>
                <a:ea typeface="Aptos" pitchFamily="34" charset="-122"/>
                <a:cs typeface="Aptos" pitchFamily="34" charset="-120"/>
              </a:rPr>
              <a:t>No:  </a:t>
            </a:r>
            <a:r>
              <a:rPr lang="en-US" sz="1500" dirty="0">
                <a:solidFill>
                  <a:srgbClr val="1D5FA7"/>
                </a:solidFill>
                <a:latin typeface="Aptos" pitchFamily="34" charset="0"/>
                <a:ea typeface="Aptos" pitchFamily="34" charset="-122"/>
                <a:cs typeface="Aptos" pitchFamily="34" charset="-120"/>
              </a:rPr>
              <a:t>●●●●●●●●</a:t>
            </a:r>
            <a:endParaRPr lang="en-US" sz="1500" dirty="0"/>
          </a:p>
        </p:txBody>
      </p:sp>
      <p:sp>
        <p:nvSpPr>
          <p:cNvPr id="14" name="Text 11"/>
          <p:cNvSpPr txBox="1"/>
          <p:nvPr/>
        </p:nvSpPr>
        <p:spPr>
          <a:xfrm>
            <a:off x="3867912" y="3566160"/>
            <a:ext cx="192024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Gini = 0</a:t>
            </a:r>
            <a:endParaRPr lang="en-US" sz="1500" dirty="0"/>
          </a:p>
        </p:txBody>
      </p:sp>
      <p:sp>
        <p:nvSpPr>
          <p:cNvPr id="15" name="Shape 12"/>
          <p:cNvSpPr/>
          <p:nvPr/>
        </p:nvSpPr>
        <p:spPr>
          <a:xfrm>
            <a:off x="758952" y="4114800"/>
            <a:ext cx="4983480" cy="502920"/>
          </a:xfrm>
          <a:prstGeom prst="roundRect">
            <a:avLst>
              <a:gd name="adj" fmla="val 14545"/>
            </a:avLst>
          </a:prstGeom>
          <a:solidFill>
            <a:srgbClr val="DFF0D8"/>
          </a:solidFill>
          <a:ln w="12700">
            <a:solidFill>
              <a:srgbClr val="2E7D32"/>
            </a:solidFill>
            <a:prstDash val="solid"/>
          </a:ln>
        </p:spPr>
        <p:txBody>
          <a:bodyPr/>
          <a:lstStyle/>
          <a:p>
            <a:endParaRPr lang="en-US"/>
          </a:p>
        </p:txBody>
      </p:sp>
      <p:sp>
        <p:nvSpPr>
          <p:cNvPr id="16" name="Text 13"/>
          <p:cNvSpPr txBox="1"/>
          <p:nvPr/>
        </p:nvSpPr>
        <p:spPr>
          <a:xfrm>
            <a:off x="850392" y="4114800"/>
            <a:ext cx="4800600" cy="502920"/>
          </a:xfrm>
          <a:prstGeom prst="rect">
            <a:avLst/>
          </a:prstGeom>
          <a:noFill/>
          <a:ln/>
        </p:spPr>
        <p:txBody>
          <a:bodyPr wrap="square" lIns="0" tIns="0" rIns="0" bIns="0" rtlCol="0" anchor="ctr"/>
          <a:lstStyle/>
          <a:p>
            <a:pPr marL="0" indent="0" algn="ctr">
              <a:buNone/>
            </a:pPr>
            <a:r>
              <a:rPr lang="en-US" sz="1350" b="1" dirty="0">
                <a:solidFill>
                  <a:srgbClr val="0B2D55"/>
                </a:solidFill>
                <a:latin typeface="Aptos" pitchFamily="34" charset="0"/>
                <a:ea typeface="Aptos" pitchFamily="34" charset="-122"/>
                <a:cs typeface="Aptos" pitchFamily="34" charset="-120"/>
              </a:rPr>
              <a:t>Weighted: (4/12)(0.375) + (8/12)(0) = 0.125</a:t>
            </a:r>
            <a:endParaRPr lang="en-US" sz="1350" dirty="0"/>
          </a:p>
        </p:txBody>
      </p:sp>
      <p:sp>
        <p:nvSpPr>
          <p:cNvPr id="17" name="Shape 14"/>
          <p:cNvSpPr/>
          <p:nvPr/>
        </p:nvSpPr>
        <p:spPr>
          <a:xfrm>
            <a:off x="6153912" y="2560320"/>
            <a:ext cx="5349240" cy="2148840"/>
          </a:xfrm>
          <a:prstGeom prst="roundRect">
            <a:avLst>
              <a:gd name="adj" fmla="val 3404"/>
            </a:avLst>
          </a:prstGeom>
          <a:solidFill>
            <a:srgbClr val="FFFFFF"/>
          </a:solidFill>
          <a:ln w="12700">
            <a:solidFill>
              <a:srgbClr val="B8C7D8"/>
            </a:solidFill>
            <a:prstDash val="solid"/>
          </a:ln>
        </p:spPr>
        <p:txBody>
          <a:bodyPr/>
          <a:lstStyle/>
          <a:p>
            <a:endParaRPr lang="en-US"/>
          </a:p>
        </p:txBody>
      </p:sp>
      <p:sp>
        <p:nvSpPr>
          <p:cNvPr id="18" name="Text 15"/>
          <p:cNvSpPr txBox="1"/>
          <p:nvPr/>
        </p:nvSpPr>
        <p:spPr>
          <a:xfrm>
            <a:off x="6336792" y="2633472"/>
            <a:ext cx="4983480" cy="365760"/>
          </a:xfrm>
          <a:prstGeom prst="rect">
            <a:avLst/>
          </a:prstGeom>
          <a:noFill/>
          <a:ln/>
        </p:spPr>
        <p:txBody>
          <a:bodyPr wrap="square" lIns="0" tIns="0" rIns="0" bIns="0" rtlCol="0" anchor="t"/>
          <a:lstStyle/>
          <a:p>
            <a:pPr marL="0" indent="0">
              <a:buNone/>
            </a:pPr>
            <a:r>
              <a:rPr lang="en-US" sz="1700" b="1" dirty="0">
                <a:solidFill>
                  <a:srgbClr val="0B2D55"/>
                </a:solidFill>
                <a:latin typeface="Aptos" pitchFamily="34" charset="0"/>
                <a:ea typeface="Aptos" pitchFamily="34" charset="-122"/>
                <a:cs typeface="Aptos" pitchFamily="34" charset="-120"/>
              </a:rPr>
              <a:t>Split B:  “Foreign merchant?”</a:t>
            </a:r>
            <a:endParaRPr lang="en-US" sz="1700" dirty="0"/>
          </a:p>
        </p:txBody>
      </p:sp>
      <p:sp>
        <p:nvSpPr>
          <p:cNvPr id="19" name="Text 16"/>
          <p:cNvSpPr txBox="1"/>
          <p:nvPr/>
        </p:nvSpPr>
        <p:spPr>
          <a:xfrm>
            <a:off x="6382512" y="3063240"/>
            <a:ext cx="3017520" cy="411480"/>
          </a:xfrm>
          <a:prstGeom prst="rect">
            <a:avLst/>
          </a:prstGeom>
          <a:noFill/>
          <a:ln/>
        </p:spPr>
        <p:txBody>
          <a:bodyPr wrap="square" lIns="0" tIns="0" rIns="0" bIns="0" rtlCol="0" anchor="ctr"/>
          <a:lstStyle/>
          <a:p>
            <a:pPr marL="0" indent="0">
              <a:buNone/>
            </a:pPr>
            <a:r>
              <a:rPr lang="en-US" sz="1500" b="1" dirty="0">
                <a:solidFill>
                  <a:srgbClr val="6D7C8F"/>
                </a:solidFill>
                <a:latin typeface="Aptos" pitchFamily="34" charset="0"/>
                <a:ea typeface="Aptos" pitchFamily="34" charset="-122"/>
                <a:cs typeface="Aptos" pitchFamily="34" charset="-120"/>
              </a:rPr>
              <a:t>Yes: </a:t>
            </a:r>
            <a:r>
              <a:rPr lang="en-US" sz="1500" dirty="0">
                <a:solidFill>
                  <a:srgbClr val="D9731A"/>
                </a:solidFill>
                <a:latin typeface="Aptos" pitchFamily="34" charset="0"/>
                <a:ea typeface="Aptos" pitchFamily="34" charset="-122"/>
                <a:cs typeface="Aptos" pitchFamily="34" charset="-120"/>
              </a:rPr>
              <a:t>▲▲</a:t>
            </a:r>
            <a:r>
              <a:rPr lang="en-US" sz="1500" dirty="0">
                <a:solidFill>
                  <a:srgbClr val="1D5FA7"/>
                </a:solidFill>
                <a:latin typeface="Aptos" pitchFamily="34" charset="0"/>
                <a:ea typeface="Aptos" pitchFamily="34" charset="-122"/>
                <a:cs typeface="Aptos" pitchFamily="34" charset="-120"/>
              </a:rPr>
              <a:t> ●●●●</a:t>
            </a:r>
            <a:endParaRPr lang="en-US" sz="1500" dirty="0"/>
          </a:p>
        </p:txBody>
      </p:sp>
      <p:sp>
        <p:nvSpPr>
          <p:cNvPr id="20" name="Text 17"/>
          <p:cNvSpPr txBox="1"/>
          <p:nvPr/>
        </p:nvSpPr>
        <p:spPr>
          <a:xfrm>
            <a:off x="9445752" y="3063240"/>
            <a:ext cx="192024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Gini = 0.444</a:t>
            </a:r>
            <a:endParaRPr lang="en-US" sz="1500" dirty="0"/>
          </a:p>
        </p:txBody>
      </p:sp>
      <p:sp>
        <p:nvSpPr>
          <p:cNvPr id="21" name="Text 18"/>
          <p:cNvSpPr txBox="1"/>
          <p:nvPr/>
        </p:nvSpPr>
        <p:spPr>
          <a:xfrm>
            <a:off x="6382512" y="3566160"/>
            <a:ext cx="3017520" cy="411480"/>
          </a:xfrm>
          <a:prstGeom prst="rect">
            <a:avLst/>
          </a:prstGeom>
          <a:noFill/>
          <a:ln/>
        </p:spPr>
        <p:txBody>
          <a:bodyPr wrap="square" lIns="0" tIns="0" rIns="0" bIns="0" rtlCol="0" anchor="ctr"/>
          <a:lstStyle/>
          <a:p>
            <a:pPr marL="0" indent="0">
              <a:buNone/>
            </a:pPr>
            <a:r>
              <a:rPr lang="en-US" sz="1500" b="1" dirty="0">
                <a:solidFill>
                  <a:srgbClr val="6D7C8F"/>
                </a:solidFill>
                <a:latin typeface="Aptos" pitchFamily="34" charset="0"/>
                <a:ea typeface="Aptos" pitchFamily="34" charset="-122"/>
                <a:cs typeface="Aptos" pitchFamily="34" charset="-120"/>
              </a:rPr>
              <a:t>No:  </a:t>
            </a:r>
            <a:r>
              <a:rPr lang="en-US" sz="1500" dirty="0">
                <a:solidFill>
                  <a:srgbClr val="D9731A"/>
                </a:solidFill>
                <a:latin typeface="Aptos" pitchFamily="34" charset="0"/>
                <a:ea typeface="Aptos" pitchFamily="34" charset="-122"/>
                <a:cs typeface="Aptos" pitchFamily="34" charset="-120"/>
              </a:rPr>
              <a:t>▲</a:t>
            </a:r>
            <a:r>
              <a:rPr lang="en-US" sz="1500" dirty="0">
                <a:solidFill>
                  <a:srgbClr val="1D5FA7"/>
                </a:solidFill>
                <a:latin typeface="Aptos" pitchFamily="34" charset="0"/>
                <a:ea typeface="Aptos" pitchFamily="34" charset="-122"/>
                <a:cs typeface="Aptos" pitchFamily="34" charset="-120"/>
              </a:rPr>
              <a:t> ●●●●●</a:t>
            </a:r>
            <a:endParaRPr lang="en-US" sz="1500" dirty="0"/>
          </a:p>
        </p:txBody>
      </p:sp>
      <p:sp>
        <p:nvSpPr>
          <p:cNvPr id="22" name="Text 19"/>
          <p:cNvSpPr txBox="1"/>
          <p:nvPr/>
        </p:nvSpPr>
        <p:spPr>
          <a:xfrm>
            <a:off x="9445752" y="3566160"/>
            <a:ext cx="192024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Gini = 0.278</a:t>
            </a:r>
            <a:endParaRPr lang="en-US" sz="1500" dirty="0"/>
          </a:p>
        </p:txBody>
      </p:sp>
      <p:sp>
        <p:nvSpPr>
          <p:cNvPr id="23" name="Shape 20"/>
          <p:cNvSpPr/>
          <p:nvPr/>
        </p:nvSpPr>
        <p:spPr>
          <a:xfrm>
            <a:off x="6336792" y="4114800"/>
            <a:ext cx="4983480" cy="502920"/>
          </a:xfrm>
          <a:prstGeom prst="roundRect">
            <a:avLst>
              <a:gd name="adj" fmla="val 14545"/>
            </a:avLst>
          </a:prstGeom>
          <a:solidFill>
            <a:srgbClr val="F7D7D7"/>
          </a:solidFill>
          <a:ln w="12700">
            <a:solidFill>
              <a:srgbClr val="B43A3A"/>
            </a:solidFill>
            <a:prstDash val="solid"/>
          </a:ln>
        </p:spPr>
        <p:txBody>
          <a:bodyPr/>
          <a:lstStyle/>
          <a:p>
            <a:endParaRPr lang="en-US"/>
          </a:p>
        </p:txBody>
      </p:sp>
      <p:sp>
        <p:nvSpPr>
          <p:cNvPr id="24" name="Text 21"/>
          <p:cNvSpPr txBox="1"/>
          <p:nvPr/>
        </p:nvSpPr>
        <p:spPr>
          <a:xfrm>
            <a:off x="6428232" y="4114800"/>
            <a:ext cx="4800600" cy="502920"/>
          </a:xfrm>
          <a:prstGeom prst="rect">
            <a:avLst/>
          </a:prstGeom>
          <a:noFill/>
          <a:ln/>
        </p:spPr>
        <p:txBody>
          <a:bodyPr wrap="square" lIns="0" tIns="0" rIns="0" bIns="0" rtlCol="0" anchor="ctr"/>
          <a:lstStyle/>
          <a:p>
            <a:pPr marL="0" indent="0" algn="ctr">
              <a:buNone/>
            </a:pPr>
            <a:r>
              <a:rPr lang="en-US" sz="1350" b="1" dirty="0">
                <a:solidFill>
                  <a:srgbClr val="0B2D55"/>
                </a:solidFill>
                <a:latin typeface="Aptos" pitchFamily="34" charset="0"/>
                <a:ea typeface="Aptos" pitchFamily="34" charset="-122"/>
                <a:cs typeface="Aptos" pitchFamily="34" charset="-120"/>
              </a:rPr>
              <a:t>Weighted: (6/12)(0.444) + (6/12)(0.278) ≈ 0.361</a:t>
            </a:r>
            <a:endParaRPr lang="en-US" sz="1350" dirty="0"/>
          </a:p>
        </p:txBody>
      </p:sp>
      <p:sp>
        <p:nvSpPr>
          <p:cNvPr id="25" name="Shape 22"/>
          <p:cNvSpPr/>
          <p:nvPr/>
        </p:nvSpPr>
        <p:spPr>
          <a:xfrm>
            <a:off x="576072" y="4892040"/>
            <a:ext cx="5349240" cy="1051560"/>
          </a:xfrm>
          <a:prstGeom prst="roundRect">
            <a:avLst>
              <a:gd name="adj" fmla="val 6957"/>
            </a:avLst>
          </a:prstGeom>
          <a:solidFill>
            <a:srgbClr val="DFF0D8"/>
          </a:solidFill>
          <a:ln w="12700">
            <a:solidFill>
              <a:srgbClr val="2E7D32"/>
            </a:solidFill>
            <a:prstDash val="solid"/>
          </a:ln>
        </p:spPr>
        <p:txBody>
          <a:bodyPr/>
          <a:lstStyle/>
          <a:p>
            <a:endParaRPr lang="en-US"/>
          </a:p>
        </p:txBody>
      </p:sp>
      <p:sp>
        <p:nvSpPr>
          <p:cNvPr id="26" name="Text 23"/>
          <p:cNvSpPr txBox="1"/>
          <p:nvPr/>
        </p:nvSpPr>
        <p:spPr>
          <a:xfrm>
            <a:off x="758952" y="5001768"/>
            <a:ext cx="49834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27" name="Text 24"/>
          <p:cNvSpPr txBox="1"/>
          <p:nvPr/>
        </p:nvSpPr>
        <p:spPr>
          <a:xfrm>
            <a:off x="758952" y="5330952"/>
            <a:ext cx="4983480" cy="52120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A cuts impurity 0.375 → 0.125; B only to 0.361. The tree asks A first.</a:t>
            </a:r>
            <a:endParaRPr lang="en-US" sz="1500" dirty="0"/>
          </a:p>
        </p:txBody>
      </p:sp>
      <p:sp>
        <p:nvSpPr>
          <p:cNvPr id="28" name="Shape 25"/>
          <p:cNvSpPr/>
          <p:nvPr/>
        </p:nvSpPr>
        <p:spPr>
          <a:xfrm>
            <a:off x="6153912" y="4892040"/>
            <a:ext cx="5458968" cy="1051560"/>
          </a:xfrm>
          <a:prstGeom prst="roundRect">
            <a:avLst>
              <a:gd name="adj" fmla="val 6957"/>
            </a:avLst>
          </a:prstGeom>
          <a:solidFill>
            <a:srgbClr val="FFF4CE"/>
          </a:solidFill>
          <a:ln w="12700">
            <a:solidFill>
              <a:srgbClr val="F2C14E"/>
            </a:solidFill>
            <a:prstDash val="solid"/>
          </a:ln>
        </p:spPr>
        <p:txBody>
          <a:bodyPr/>
          <a:lstStyle/>
          <a:p>
            <a:endParaRPr lang="en-US"/>
          </a:p>
        </p:txBody>
      </p:sp>
      <p:sp>
        <p:nvSpPr>
          <p:cNvPr id="29" name="Text 26"/>
          <p:cNvSpPr txBox="1"/>
          <p:nvPr/>
        </p:nvSpPr>
        <p:spPr>
          <a:xfrm>
            <a:off x="6336792" y="5001768"/>
            <a:ext cx="5093208"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30" name="Text 27"/>
          <p:cNvSpPr txBox="1"/>
          <p:nvPr/>
        </p:nvSpPr>
        <p:spPr>
          <a:xfrm>
            <a:off x="6336792" y="5330952"/>
            <a:ext cx="5093208" cy="52120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Keep splitting until every leaf is pure → it memorizes the training data (overfit).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Random forests: many trees, one vote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Averaging many noisy trees cancels much of their variance.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30</a:t>
            </a:r>
            <a:endParaRPr lang="en-US" sz="850" dirty="0"/>
          </a:p>
        </p:txBody>
      </p:sp>
      <p:sp>
        <p:nvSpPr>
          <p:cNvPr id="7" name="Shape 4"/>
          <p:cNvSpPr/>
          <p:nvPr/>
        </p:nvSpPr>
        <p:spPr>
          <a:xfrm>
            <a:off x="576072" y="1508760"/>
            <a:ext cx="2331720" cy="2606040"/>
          </a:xfrm>
          <a:prstGeom prst="roundRect">
            <a:avLst>
              <a:gd name="adj" fmla="val 3137"/>
            </a:avLst>
          </a:prstGeom>
          <a:solidFill>
            <a:srgbClr val="FFFFFF"/>
          </a:solidFill>
          <a:ln w="12700">
            <a:solidFill>
              <a:srgbClr val="B8C7D8"/>
            </a:solidFill>
            <a:prstDash val="solid"/>
          </a:ln>
        </p:spPr>
        <p:txBody>
          <a:bodyPr/>
          <a:lstStyle/>
          <a:p>
            <a:endParaRPr lang="en-US"/>
          </a:p>
        </p:txBody>
      </p:sp>
      <p:pic>
        <p:nvPicPr>
          <p:cNvPr id="8" name="Image 0" descr="figs/rf_tree1.png"/>
          <p:cNvPicPr>
            <a:picLocks noChangeAspect="1"/>
          </p:cNvPicPr>
          <p:nvPr/>
        </p:nvPicPr>
        <p:blipFill>
          <a:blip r:embed="rId3"/>
          <a:stretch>
            <a:fillRect/>
          </a:stretch>
        </p:blipFill>
        <p:spPr>
          <a:xfrm>
            <a:off x="685800" y="1646200"/>
            <a:ext cx="2112264" cy="1965399"/>
          </a:xfrm>
          <a:prstGeom prst="rect">
            <a:avLst/>
          </a:prstGeom>
        </p:spPr>
      </p:pic>
      <p:sp>
        <p:nvSpPr>
          <p:cNvPr id="9" name="Text 5"/>
          <p:cNvSpPr txBox="1"/>
          <p:nvPr/>
        </p:nvSpPr>
        <p:spPr>
          <a:xfrm>
            <a:off x="576072" y="3703320"/>
            <a:ext cx="2331720" cy="320040"/>
          </a:xfrm>
          <a:prstGeom prst="rect">
            <a:avLst/>
          </a:prstGeom>
          <a:noFill/>
          <a:ln/>
        </p:spPr>
        <p:txBody>
          <a:bodyPr wrap="square" lIns="0" tIns="0" rIns="0" bIns="0" rtlCol="0" anchor="t"/>
          <a:lstStyle/>
          <a:p>
            <a:pPr marL="0" indent="0" algn="ctr">
              <a:buNone/>
            </a:pPr>
            <a:r>
              <a:rPr lang="en-US" sz="1250" b="1" dirty="0">
                <a:solidFill>
                  <a:srgbClr val="0B2D55"/>
                </a:solidFill>
                <a:latin typeface="Aptos" pitchFamily="34" charset="0"/>
                <a:ea typeface="Aptos" pitchFamily="34" charset="-122"/>
                <a:cs typeface="Aptos" pitchFamily="34" charset="-120"/>
              </a:rPr>
              <a:t>Tree 1 (bootstrap 1)</a:t>
            </a:r>
            <a:endParaRPr lang="en-US" sz="1250" dirty="0"/>
          </a:p>
        </p:txBody>
      </p:sp>
      <p:sp>
        <p:nvSpPr>
          <p:cNvPr id="10" name="Shape 6"/>
          <p:cNvSpPr/>
          <p:nvPr/>
        </p:nvSpPr>
        <p:spPr>
          <a:xfrm>
            <a:off x="3063240" y="1508760"/>
            <a:ext cx="2331720" cy="2606040"/>
          </a:xfrm>
          <a:prstGeom prst="roundRect">
            <a:avLst>
              <a:gd name="adj" fmla="val 3137"/>
            </a:avLst>
          </a:prstGeom>
          <a:solidFill>
            <a:srgbClr val="FFFFFF"/>
          </a:solidFill>
          <a:ln w="12700">
            <a:solidFill>
              <a:srgbClr val="B8C7D8"/>
            </a:solidFill>
            <a:prstDash val="solid"/>
          </a:ln>
        </p:spPr>
        <p:txBody>
          <a:bodyPr/>
          <a:lstStyle/>
          <a:p>
            <a:endParaRPr lang="en-US"/>
          </a:p>
        </p:txBody>
      </p:sp>
      <p:pic>
        <p:nvPicPr>
          <p:cNvPr id="11" name="Image 1" descr="figs/rf_tree2.png"/>
          <p:cNvPicPr>
            <a:picLocks noChangeAspect="1"/>
          </p:cNvPicPr>
          <p:nvPr/>
        </p:nvPicPr>
        <p:blipFill>
          <a:blip r:embed="rId4"/>
          <a:stretch>
            <a:fillRect/>
          </a:stretch>
        </p:blipFill>
        <p:spPr>
          <a:xfrm>
            <a:off x="3172968" y="1646200"/>
            <a:ext cx="2112264" cy="1965399"/>
          </a:xfrm>
          <a:prstGeom prst="rect">
            <a:avLst/>
          </a:prstGeom>
        </p:spPr>
      </p:pic>
      <p:sp>
        <p:nvSpPr>
          <p:cNvPr id="12" name="Text 7"/>
          <p:cNvSpPr txBox="1"/>
          <p:nvPr/>
        </p:nvSpPr>
        <p:spPr>
          <a:xfrm>
            <a:off x="3063240" y="3703320"/>
            <a:ext cx="2331720" cy="320040"/>
          </a:xfrm>
          <a:prstGeom prst="rect">
            <a:avLst/>
          </a:prstGeom>
          <a:noFill/>
          <a:ln/>
        </p:spPr>
        <p:txBody>
          <a:bodyPr wrap="square" lIns="0" tIns="0" rIns="0" bIns="0" rtlCol="0" anchor="t"/>
          <a:lstStyle/>
          <a:p>
            <a:pPr marL="0" indent="0" algn="ctr">
              <a:buNone/>
            </a:pPr>
            <a:r>
              <a:rPr lang="en-US" sz="1250" b="1" dirty="0">
                <a:solidFill>
                  <a:srgbClr val="0B2D55"/>
                </a:solidFill>
                <a:latin typeface="Aptos" pitchFamily="34" charset="0"/>
                <a:ea typeface="Aptos" pitchFamily="34" charset="-122"/>
                <a:cs typeface="Aptos" pitchFamily="34" charset="-120"/>
              </a:rPr>
              <a:t>Tree 2 (bootstrap 2)</a:t>
            </a:r>
            <a:endParaRPr lang="en-US" sz="1250" dirty="0"/>
          </a:p>
        </p:txBody>
      </p:sp>
      <p:sp>
        <p:nvSpPr>
          <p:cNvPr id="13" name="Shape 8"/>
          <p:cNvSpPr/>
          <p:nvPr/>
        </p:nvSpPr>
        <p:spPr>
          <a:xfrm>
            <a:off x="5550408" y="1508760"/>
            <a:ext cx="2331720" cy="2606040"/>
          </a:xfrm>
          <a:prstGeom prst="roundRect">
            <a:avLst>
              <a:gd name="adj" fmla="val 3137"/>
            </a:avLst>
          </a:prstGeom>
          <a:solidFill>
            <a:srgbClr val="FFFFFF"/>
          </a:solidFill>
          <a:ln w="12700">
            <a:solidFill>
              <a:srgbClr val="B8C7D8"/>
            </a:solidFill>
            <a:prstDash val="solid"/>
          </a:ln>
        </p:spPr>
        <p:txBody>
          <a:bodyPr/>
          <a:lstStyle/>
          <a:p>
            <a:endParaRPr lang="en-US"/>
          </a:p>
        </p:txBody>
      </p:sp>
      <p:pic>
        <p:nvPicPr>
          <p:cNvPr id="14" name="Image 2" descr="figs/rf_tree3.png"/>
          <p:cNvPicPr>
            <a:picLocks noChangeAspect="1"/>
          </p:cNvPicPr>
          <p:nvPr/>
        </p:nvPicPr>
        <p:blipFill>
          <a:blip r:embed="rId5"/>
          <a:stretch>
            <a:fillRect/>
          </a:stretch>
        </p:blipFill>
        <p:spPr>
          <a:xfrm>
            <a:off x="5660136" y="1646200"/>
            <a:ext cx="2112264" cy="1965399"/>
          </a:xfrm>
          <a:prstGeom prst="rect">
            <a:avLst/>
          </a:prstGeom>
        </p:spPr>
      </p:pic>
      <p:sp>
        <p:nvSpPr>
          <p:cNvPr id="15" name="Text 9"/>
          <p:cNvSpPr txBox="1"/>
          <p:nvPr/>
        </p:nvSpPr>
        <p:spPr>
          <a:xfrm>
            <a:off x="5550408" y="3703320"/>
            <a:ext cx="2331720" cy="320040"/>
          </a:xfrm>
          <a:prstGeom prst="rect">
            <a:avLst/>
          </a:prstGeom>
          <a:noFill/>
          <a:ln/>
        </p:spPr>
        <p:txBody>
          <a:bodyPr wrap="square" lIns="0" tIns="0" rIns="0" bIns="0" rtlCol="0" anchor="t"/>
          <a:lstStyle/>
          <a:p>
            <a:pPr marL="0" indent="0" algn="ctr">
              <a:buNone/>
            </a:pPr>
            <a:r>
              <a:rPr lang="en-US" sz="1250" b="1" dirty="0">
                <a:solidFill>
                  <a:srgbClr val="0B2D55"/>
                </a:solidFill>
                <a:latin typeface="Aptos" pitchFamily="34" charset="0"/>
                <a:ea typeface="Aptos" pitchFamily="34" charset="-122"/>
                <a:cs typeface="Aptos" pitchFamily="34" charset="-120"/>
              </a:rPr>
              <a:t>Tree 3 (bootstrap 3)</a:t>
            </a:r>
            <a:endParaRPr lang="en-US" sz="1250" dirty="0"/>
          </a:p>
        </p:txBody>
      </p:sp>
      <p:sp>
        <p:nvSpPr>
          <p:cNvPr id="16" name="Shape 10"/>
          <p:cNvSpPr/>
          <p:nvPr/>
        </p:nvSpPr>
        <p:spPr>
          <a:xfrm>
            <a:off x="8092440" y="2788920"/>
            <a:ext cx="457200" cy="0"/>
          </a:xfrm>
          <a:prstGeom prst="line">
            <a:avLst/>
          </a:prstGeom>
          <a:noFill/>
          <a:ln w="31750">
            <a:solidFill>
              <a:srgbClr val="0B2D55"/>
            </a:solidFill>
            <a:prstDash val="solid"/>
            <a:tailEnd type="triangle"/>
          </a:ln>
        </p:spPr>
        <p:txBody>
          <a:bodyPr/>
          <a:lstStyle/>
          <a:p>
            <a:endParaRPr lang="en-US"/>
          </a:p>
        </p:txBody>
      </p:sp>
      <p:sp>
        <p:nvSpPr>
          <p:cNvPr id="17" name="Shape 11"/>
          <p:cNvSpPr/>
          <p:nvPr/>
        </p:nvSpPr>
        <p:spPr>
          <a:xfrm>
            <a:off x="8686800" y="1508760"/>
            <a:ext cx="2926080" cy="2606040"/>
          </a:xfrm>
          <a:prstGeom prst="roundRect">
            <a:avLst>
              <a:gd name="adj" fmla="val 2807"/>
            </a:avLst>
          </a:prstGeom>
          <a:solidFill>
            <a:srgbClr val="EAF2F8"/>
          </a:solidFill>
          <a:ln w="12700">
            <a:solidFill>
              <a:srgbClr val="1F5D9B"/>
            </a:solidFill>
            <a:prstDash val="solid"/>
          </a:ln>
        </p:spPr>
        <p:txBody>
          <a:bodyPr/>
          <a:lstStyle/>
          <a:p>
            <a:endParaRPr lang="en-US"/>
          </a:p>
        </p:txBody>
      </p:sp>
      <p:pic>
        <p:nvPicPr>
          <p:cNvPr id="18" name="Image 3" descr="figs/rf_forest.png"/>
          <p:cNvPicPr>
            <a:picLocks noChangeAspect="1"/>
          </p:cNvPicPr>
          <p:nvPr/>
        </p:nvPicPr>
        <p:blipFill>
          <a:blip r:embed="rId6"/>
          <a:stretch>
            <a:fillRect/>
          </a:stretch>
        </p:blipFill>
        <p:spPr>
          <a:xfrm>
            <a:off x="9044270" y="1600200"/>
            <a:ext cx="2211140" cy="2057400"/>
          </a:xfrm>
          <a:prstGeom prst="rect">
            <a:avLst/>
          </a:prstGeom>
        </p:spPr>
      </p:pic>
      <p:sp>
        <p:nvSpPr>
          <p:cNvPr id="19" name="Text 12"/>
          <p:cNvSpPr txBox="1"/>
          <p:nvPr/>
        </p:nvSpPr>
        <p:spPr>
          <a:xfrm>
            <a:off x="8686800" y="3703320"/>
            <a:ext cx="2926080" cy="320040"/>
          </a:xfrm>
          <a:prstGeom prst="rect">
            <a:avLst/>
          </a:prstGeom>
          <a:noFill/>
          <a:ln/>
        </p:spPr>
        <p:txBody>
          <a:bodyPr wrap="square" lIns="0" tIns="0" rIns="0" bIns="0" rtlCol="0" anchor="t"/>
          <a:lstStyle/>
          <a:p>
            <a:pPr marL="0" indent="0" algn="ctr">
              <a:buNone/>
            </a:pPr>
            <a:r>
              <a:rPr lang="en-US" sz="1250" b="1" dirty="0">
                <a:solidFill>
                  <a:srgbClr val="0B2D55"/>
                </a:solidFill>
                <a:latin typeface="Aptos" pitchFamily="34" charset="0"/>
                <a:ea typeface="Aptos" pitchFamily="34" charset="-122"/>
                <a:cs typeface="Aptos" pitchFamily="34" charset="-120"/>
              </a:rPr>
              <a:t>Forest of 500 trees: vote share</a:t>
            </a:r>
            <a:endParaRPr lang="en-US" sz="1250" dirty="0"/>
          </a:p>
        </p:txBody>
      </p:sp>
      <p:sp>
        <p:nvSpPr>
          <p:cNvPr id="20" name="Shape 13"/>
          <p:cNvSpPr/>
          <p:nvPr/>
        </p:nvSpPr>
        <p:spPr>
          <a:xfrm>
            <a:off x="576072" y="4343400"/>
            <a:ext cx="5806440" cy="1371600"/>
          </a:xfrm>
          <a:prstGeom prst="roundRect">
            <a:avLst>
              <a:gd name="adj" fmla="val 5333"/>
            </a:avLst>
          </a:prstGeom>
          <a:solidFill>
            <a:srgbClr val="FFFFFF"/>
          </a:solidFill>
          <a:ln w="12700">
            <a:solidFill>
              <a:srgbClr val="B8C7D8"/>
            </a:solidFill>
            <a:prstDash val="solid"/>
          </a:ln>
        </p:spPr>
        <p:txBody>
          <a:bodyPr/>
          <a:lstStyle/>
          <a:p>
            <a:endParaRPr lang="en-US"/>
          </a:p>
        </p:txBody>
      </p:sp>
      <p:sp>
        <p:nvSpPr>
          <p:cNvPr id="21" name="Text 14"/>
          <p:cNvSpPr txBox="1"/>
          <p:nvPr/>
        </p:nvSpPr>
        <p:spPr>
          <a:xfrm>
            <a:off x="758952" y="4453128"/>
            <a:ext cx="54406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How it works</a:t>
            </a:r>
            <a:endParaRPr lang="en-US" sz="1500" dirty="0"/>
          </a:p>
        </p:txBody>
      </p:sp>
      <p:sp>
        <p:nvSpPr>
          <p:cNvPr id="22" name="Text 15"/>
          <p:cNvSpPr txBox="1"/>
          <p:nvPr/>
        </p:nvSpPr>
        <p:spPr>
          <a:xfrm>
            <a:off x="758952" y="4782312"/>
            <a:ext cx="5440680" cy="84124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Each tree trains on a bootstrap sample of the rows and considers a random subset of features at each split. Then the trees vote.</a:t>
            </a:r>
            <a:endParaRPr lang="en-US" sz="1500" dirty="0"/>
          </a:p>
        </p:txBody>
      </p:sp>
      <p:sp>
        <p:nvSpPr>
          <p:cNvPr id="23" name="Shape 16"/>
          <p:cNvSpPr/>
          <p:nvPr/>
        </p:nvSpPr>
        <p:spPr>
          <a:xfrm>
            <a:off x="6583680" y="4343400"/>
            <a:ext cx="5029200" cy="1371600"/>
          </a:xfrm>
          <a:prstGeom prst="roundRect">
            <a:avLst>
              <a:gd name="adj" fmla="val 5333"/>
            </a:avLst>
          </a:prstGeom>
          <a:solidFill>
            <a:srgbClr val="FFF4CE"/>
          </a:solidFill>
          <a:ln w="12700">
            <a:solidFill>
              <a:srgbClr val="F2C14E"/>
            </a:solidFill>
            <a:prstDash val="solid"/>
          </a:ln>
        </p:spPr>
        <p:txBody>
          <a:bodyPr/>
          <a:lstStyle/>
          <a:p>
            <a:endParaRPr lang="en-US"/>
          </a:p>
        </p:txBody>
      </p:sp>
      <p:sp>
        <p:nvSpPr>
          <p:cNvPr id="24" name="Text 17"/>
          <p:cNvSpPr txBox="1"/>
          <p:nvPr/>
        </p:nvSpPr>
        <p:spPr>
          <a:xfrm>
            <a:off x="6766560" y="4389120"/>
            <a:ext cx="4663440" cy="128016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Vote on one transaction</a:t>
            </a:r>
            <a:endParaRPr lang="en-US" sz="1600" dirty="0"/>
          </a:p>
          <a:p>
            <a:pPr marL="0" indent="0" algn="ctr">
              <a:buNone/>
            </a:pPr>
            <a:r>
              <a:rPr lang="en-US" sz="2200" dirty="0">
                <a:solidFill>
                  <a:srgbClr val="D9731A"/>
                </a:solidFill>
                <a:latin typeface="Aptos" pitchFamily="34" charset="0"/>
                <a:ea typeface="Aptos" pitchFamily="34" charset="-122"/>
                <a:cs typeface="Aptos" pitchFamily="34" charset="-120"/>
              </a:rPr>
              <a:t>▲▲▲▲▲ </a:t>
            </a:r>
            <a:r>
              <a:rPr lang="en-US" sz="2200" dirty="0">
                <a:solidFill>
                  <a:srgbClr val="1D5FA7"/>
                </a:solidFill>
                <a:latin typeface="Aptos" pitchFamily="34" charset="0"/>
                <a:ea typeface="Aptos" pitchFamily="34" charset="-122"/>
                <a:cs typeface="Aptos" pitchFamily="34" charset="-120"/>
              </a:rPr>
              <a:t>●●</a:t>
            </a:r>
            <a:endParaRPr lang="en-US" sz="1600" dirty="0"/>
          </a:p>
          <a:p>
            <a:pPr marL="0" indent="0" algn="ctr">
              <a:buNone/>
            </a:pPr>
            <a:r>
              <a:rPr lang="en-US" sz="1500" dirty="0">
                <a:solidFill>
                  <a:srgbClr val="132033"/>
                </a:solidFill>
                <a:latin typeface="Aptos" pitchFamily="34" charset="0"/>
                <a:ea typeface="Aptos" pitchFamily="34" charset="-122"/>
                <a:cs typeface="Aptos" pitchFamily="34" charset="-120"/>
              </a:rPr>
              <a:t>5 of 7 trees say FRAUD → predict fraud (71%)</a:t>
            </a:r>
            <a:endParaRPr lang="en-US" sz="1600" dirty="0"/>
          </a:p>
        </p:txBody>
      </p:sp>
      <p:sp>
        <p:nvSpPr>
          <p:cNvPr id="25" name="Text 18"/>
          <p:cNvSpPr txBox="1"/>
          <p:nvPr/>
        </p:nvSpPr>
        <p:spPr>
          <a:xfrm>
            <a:off x="822960" y="5852160"/>
            <a:ext cx="10515600" cy="41148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Individual trees disagree (high variance). Their vote is far more stable.</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Same data, five boundaries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Choose by the shape of your data and the cost of your errors.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31</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6072" y="1481328"/>
          <a:ext cx="11018520" cy="4636008"/>
        </p:xfrm>
        <a:graphic>
          <a:graphicData uri="http://schemas.openxmlformats.org/drawingml/2006/table">
            <a:tbl>
              <a:tblPr/>
              <a:tblGrid>
                <a:gridCol w="196596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148840">
                  <a:extLst>
                    <a:ext uri="{9D8B030D-6E8A-4147-A177-3AD203B41FA5}">
                      <a16:colId xmlns:a16="http://schemas.microsoft.com/office/drawing/2014/main" val="20004"/>
                    </a:ext>
                  </a:extLst>
                </a:gridCol>
              </a:tblGrid>
              <a:tr h="38404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Boundary</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Key assumption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Boundary shape</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Bias / variance lean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Logistic regression</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l">
                        <a:buNone/>
                      </a:pPr>
                      <a:r>
                        <a:rPr lang="en-US" sz="1350" dirty="0">
                          <a:solidFill>
                            <a:srgbClr val="132033"/>
                          </a:solidFill>
                          <a:latin typeface="Aptos" pitchFamily="34" charset="0"/>
                          <a:ea typeface="Aptos" pitchFamily="34" charset="-122"/>
                          <a:cs typeface="Aptos" pitchFamily="34" charset="-120"/>
                        </a:rPr>
                        <a:t>Log-odds of fraud are a linear function of the features</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Line (probability rises along an S-curve)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Higher bias, low variance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LDA</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l">
                        <a:buNone/>
                      </a:pPr>
                      <a:r>
                        <a:rPr lang="en-US" sz="1350" dirty="0">
                          <a:solidFill>
                            <a:srgbClr val="132033"/>
                          </a:solidFill>
                          <a:latin typeface="Aptos" pitchFamily="34" charset="0"/>
                          <a:ea typeface="Aptos" pitchFamily="34" charset="-122"/>
                          <a:cs typeface="Aptos" pitchFamily="34" charset="-120"/>
                        </a:rPr>
                        <a:t>Each class is a bell curve; all classes share one spread</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Line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Higher bias, low variance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QDA</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l">
                        <a:buNone/>
                      </a:pPr>
                      <a:r>
                        <a:rPr lang="en-US" sz="1350" dirty="0">
                          <a:solidFill>
                            <a:srgbClr val="132033"/>
                          </a:solidFill>
                          <a:latin typeface="Aptos" pitchFamily="34" charset="0"/>
                          <a:ea typeface="Aptos" pitchFamily="34" charset="-122"/>
                          <a:cs typeface="Aptos" pitchFamily="34" charset="-120"/>
                        </a:rPr>
                        <a:t>Each class is a bell curve with its own spread</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Curve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Lower bias, more variance</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SVM</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l">
                        <a:buNone/>
                      </a:pPr>
                      <a:r>
                        <a:rPr lang="en-US" sz="1350" dirty="0">
                          <a:solidFill>
                            <a:srgbClr val="132033"/>
                          </a:solidFill>
                          <a:latin typeface="Aptos" pitchFamily="34" charset="0"/>
                          <a:ea typeface="Aptos" pitchFamily="34" charset="-122"/>
                          <a:cs typeface="Aptos" pitchFamily="34" charset="-120"/>
                        </a:rPr>
                        <a:t>Only the points nearest the boundary matter</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Widest-margin line (curved with a kernel)</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Depends on kernel</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850392">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Trees &amp; random forests</a:t>
                      </a: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50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l">
                        <a:buNone/>
                      </a:pPr>
                      <a:r>
                        <a:rPr lang="en-US" sz="1350" dirty="0">
                          <a:solidFill>
                            <a:srgbClr val="132033"/>
                          </a:solidFill>
                          <a:latin typeface="Aptos" pitchFamily="34" charset="0"/>
                          <a:ea typeface="Aptos" pitchFamily="34" charset="-122"/>
                          <a:cs typeface="Aptos" pitchFamily="34" charset="-120"/>
                        </a:rPr>
                        <a:t>Split with yes/no feature questions; forest votes over many trees</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Axis-aligned steps</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350" dirty="0">
                          <a:solidFill>
                            <a:srgbClr val="132033"/>
                          </a:solidFill>
                          <a:latin typeface="Aptos" pitchFamily="34" charset="0"/>
                          <a:ea typeface="Aptos" pitchFamily="34" charset="-122"/>
                          <a:cs typeface="Aptos" pitchFamily="34" charset="-120"/>
                        </a:rPr>
                        <a:t>Tree: high variance; forest: much lower</a:t>
                      </a:r>
                      <a:endParaRPr lang="en-US" sz="1350" dirty="0">
                        <a:latin typeface="Aptos" charset="0"/>
                        <a:ea typeface="Aptos" charset="0"/>
                        <a:cs typeface="Aptos" charset="0"/>
                      </a:endParaRPr>
                    </a:p>
                  </a:txBody>
                  <a:tcPr marT="36576" marB="36576"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8" name="Image 0" descr="figs/g_logreg.png"/>
          <p:cNvPicPr>
            <a:picLocks noChangeAspect="1"/>
          </p:cNvPicPr>
          <p:nvPr/>
        </p:nvPicPr>
        <p:blipFill>
          <a:blip r:embed="rId3"/>
          <a:stretch>
            <a:fillRect/>
          </a:stretch>
        </p:blipFill>
        <p:spPr>
          <a:xfrm>
            <a:off x="2781903" y="1920240"/>
            <a:ext cx="937578" cy="740664"/>
          </a:xfrm>
          <a:prstGeom prst="rect">
            <a:avLst/>
          </a:prstGeom>
        </p:spPr>
      </p:pic>
      <p:pic>
        <p:nvPicPr>
          <p:cNvPr id="9" name="Image 1" descr="figs/g_lda.png"/>
          <p:cNvPicPr>
            <a:picLocks noChangeAspect="1"/>
          </p:cNvPicPr>
          <p:nvPr/>
        </p:nvPicPr>
        <p:blipFill>
          <a:blip r:embed="rId4"/>
          <a:stretch>
            <a:fillRect/>
          </a:stretch>
        </p:blipFill>
        <p:spPr>
          <a:xfrm>
            <a:off x="2781903" y="2770632"/>
            <a:ext cx="937578" cy="740664"/>
          </a:xfrm>
          <a:prstGeom prst="rect">
            <a:avLst/>
          </a:prstGeom>
        </p:spPr>
      </p:pic>
      <p:pic>
        <p:nvPicPr>
          <p:cNvPr id="10" name="Image 2" descr="figs/g_qda.png"/>
          <p:cNvPicPr>
            <a:picLocks noChangeAspect="1"/>
          </p:cNvPicPr>
          <p:nvPr/>
        </p:nvPicPr>
        <p:blipFill>
          <a:blip r:embed="rId5"/>
          <a:stretch>
            <a:fillRect/>
          </a:stretch>
        </p:blipFill>
        <p:spPr>
          <a:xfrm>
            <a:off x="2781903" y="3621024"/>
            <a:ext cx="937578" cy="740664"/>
          </a:xfrm>
          <a:prstGeom prst="rect">
            <a:avLst/>
          </a:prstGeom>
        </p:spPr>
      </p:pic>
      <p:pic>
        <p:nvPicPr>
          <p:cNvPr id="11" name="Image 3" descr="figs/g_svm.png"/>
          <p:cNvPicPr>
            <a:picLocks noChangeAspect="1"/>
          </p:cNvPicPr>
          <p:nvPr/>
        </p:nvPicPr>
        <p:blipFill>
          <a:blip r:embed="rId6"/>
          <a:stretch>
            <a:fillRect/>
          </a:stretch>
        </p:blipFill>
        <p:spPr>
          <a:xfrm>
            <a:off x="2781903" y="4471416"/>
            <a:ext cx="937578" cy="740664"/>
          </a:xfrm>
          <a:prstGeom prst="rect">
            <a:avLst/>
          </a:prstGeom>
        </p:spPr>
      </p:pic>
      <p:pic>
        <p:nvPicPr>
          <p:cNvPr id="12" name="Image 4" descr="figs/g_rf.png"/>
          <p:cNvPicPr>
            <a:picLocks noChangeAspect="1"/>
          </p:cNvPicPr>
          <p:nvPr/>
        </p:nvPicPr>
        <p:blipFill>
          <a:blip r:embed="rId7"/>
          <a:stretch>
            <a:fillRect/>
          </a:stretch>
        </p:blipFill>
        <p:spPr>
          <a:xfrm>
            <a:off x="2781903" y="5321808"/>
            <a:ext cx="937578" cy="7406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Diagnose the claim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Correct or incorrect? Be ready to fix the incorrect ones.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32</a:t>
            </a:r>
            <a:endParaRPr lang="en-US" sz="850" dirty="0"/>
          </a:p>
        </p:txBody>
      </p:sp>
      <p:sp>
        <p:nvSpPr>
          <p:cNvPr id="7" name="Shape 4"/>
          <p:cNvSpPr/>
          <p:nvPr/>
        </p:nvSpPr>
        <p:spPr>
          <a:xfrm>
            <a:off x="822960" y="1554480"/>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1005840" y="1700784"/>
            <a:ext cx="420624" cy="420624"/>
          </a:xfrm>
          <a:prstGeom prst="ellipse">
            <a:avLst/>
          </a:prstGeom>
          <a:solidFill>
            <a:srgbClr val="0B2D55"/>
          </a:solidFill>
          <a:ln w="12700">
            <a:solidFill>
              <a:srgbClr val="0B2D55"/>
            </a:solidFill>
            <a:prstDash val="solid"/>
          </a:ln>
        </p:spPr>
        <p:txBody>
          <a:bodyPr/>
          <a:lstStyle/>
          <a:p>
            <a:endParaRPr lang="en-US"/>
          </a:p>
        </p:txBody>
      </p:sp>
      <p:sp>
        <p:nvSpPr>
          <p:cNvPr id="9" name="Text 6"/>
          <p:cNvSpPr txBox="1"/>
          <p:nvPr/>
        </p:nvSpPr>
        <p:spPr>
          <a:xfrm>
            <a:off x="1005840" y="170078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7"/>
          <p:cNvSpPr txBox="1"/>
          <p:nvPr/>
        </p:nvSpPr>
        <p:spPr>
          <a:xfrm>
            <a:off x="1645920" y="1554480"/>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A fraud model with 97% accuracy is always good fraud model.</a:t>
            </a:r>
            <a:endParaRPr lang="en-US" sz="1800" dirty="0"/>
          </a:p>
        </p:txBody>
      </p:sp>
      <p:grpSp>
        <p:nvGrpSpPr>
          <p:cNvPr id="48" name="Group 47">
            <a:extLst>
              <a:ext uri="{FF2B5EF4-FFF2-40B4-BE49-F238E27FC236}">
                <a16:creationId xmlns:a16="http://schemas.microsoft.com/office/drawing/2014/main" id="{1FED69C1-A128-73FE-CF9A-D51ED1CC6E4C}"/>
              </a:ext>
            </a:extLst>
          </p:cNvPr>
          <p:cNvGrpSpPr/>
          <p:nvPr/>
        </p:nvGrpSpPr>
        <p:grpSpPr>
          <a:xfrm>
            <a:off x="8961120" y="1719072"/>
            <a:ext cx="1097280" cy="384048"/>
            <a:chOff x="8961120" y="1719072"/>
            <a:chExt cx="1097280" cy="384048"/>
          </a:xfrm>
        </p:grpSpPr>
        <p:sp>
          <p:nvSpPr>
            <p:cNvPr id="11" name="Shape 8"/>
            <p:cNvSpPr/>
            <p:nvPr/>
          </p:nvSpPr>
          <p:spPr>
            <a:xfrm>
              <a:off x="8961120" y="1719072"/>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12" name="Text 9"/>
            <p:cNvSpPr txBox="1"/>
            <p:nvPr/>
          </p:nvSpPr>
          <p:spPr>
            <a:xfrm>
              <a:off x="8961120" y="1719072"/>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13" name="Shape 10"/>
          <p:cNvSpPr/>
          <p:nvPr/>
        </p:nvSpPr>
        <p:spPr>
          <a:xfrm>
            <a:off x="10149840" y="1719072"/>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14" name="Text 11"/>
          <p:cNvSpPr txBox="1"/>
          <p:nvPr/>
        </p:nvSpPr>
        <p:spPr>
          <a:xfrm>
            <a:off x="10149840" y="1719072"/>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15" name="Shape 12"/>
          <p:cNvSpPr/>
          <p:nvPr/>
        </p:nvSpPr>
        <p:spPr>
          <a:xfrm>
            <a:off x="822960" y="2404872"/>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16" name="Shape 13"/>
          <p:cNvSpPr/>
          <p:nvPr/>
        </p:nvSpPr>
        <p:spPr>
          <a:xfrm>
            <a:off x="1005840" y="2551176"/>
            <a:ext cx="420624" cy="420624"/>
          </a:xfrm>
          <a:prstGeom prst="ellipse">
            <a:avLst/>
          </a:prstGeom>
          <a:solidFill>
            <a:srgbClr val="0B2D55"/>
          </a:solidFill>
          <a:ln w="12700">
            <a:solidFill>
              <a:srgbClr val="0B2D55"/>
            </a:solidFill>
            <a:prstDash val="solid"/>
          </a:ln>
        </p:spPr>
        <p:txBody>
          <a:bodyPr/>
          <a:lstStyle/>
          <a:p>
            <a:endParaRPr lang="en-US"/>
          </a:p>
        </p:txBody>
      </p:sp>
      <p:sp>
        <p:nvSpPr>
          <p:cNvPr id="17" name="Text 14"/>
          <p:cNvSpPr txBox="1"/>
          <p:nvPr/>
        </p:nvSpPr>
        <p:spPr>
          <a:xfrm>
            <a:off x="1005840" y="25511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8" name="Text 15"/>
          <p:cNvSpPr txBox="1"/>
          <p:nvPr/>
        </p:nvSpPr>
        <p:spPr>
          <a:xfrm>
            <a:off x="1645920" y="2404872"/>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LDA draws curved decision boundaries.</a:t>
            </a:r>
            <a:endParaRPr lang="en-US" sz="1800" dirty="0"/>
          </a:p>
        </p:txBody>
      </p:sp>
      <p:grpSp>
        <p:nvGrpSpPr>
          <p:cNvPr id="52" name="Group 51">
            <a:extLst>
              <a:ext uri="{FF2B5EF4-FFF2-40B4-BE49-F238E27FC236}">
                <a16:creationId xmlns:a16="http://schemas.microsoft.com/office/drawing/2014/main" id="{34082169-5DAE-14AE-D2EA-F881F76DA85A}"/>
              </a:ext>
            </a:extLst>
          </p:cNvPr>
          <p:cNvGrpSpPr/>
          <p:nvPr/>
        </p:nvGrpSpPr>
        <p:grpSpPr>
          <a:xfrm>
            <a:off x="8961120" y="2569464"/>
            <a:ext cx="1097280" cy="384048"/>
            <a:chOff x="8961120" y="2569464"/>
            <a:chExt cx="1097280" cy="384048"/>
          </a:xfrm>
        </p:grpSpPr>
        <p:sp>
          <p:nvSpPr>
            <p:cNvPr id="19" name="Shape 16"/>
            <p:cNvSpPr/>
            <p:nvPr/>
          </p:nvSpPr>
          <p:spPr>
            <a:xfrm>
              <a:off x="8961120" y="2569464"/>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0" name="Text 17"/>
            <p:cNvSpPr txBox="1"/>
            <p:nvPr/>
          </p:nvSpPr>
          <p:spPr>
            <a:xfrm>
              <a:off x="8961120" y="2569464"/>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21" name="Shape 18"/>
          <p:cNvSpPr/>
          <p:nvPr/>
        </p:nvSpPr>
        <p:spPr>
          <a:xfrm>
            <a:off x="10149840" y="2569464"/>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2" name="Text 19"/>
          <p:cNvSpPr txBox="1"/>
          <p:nvPr/>
        </p:nvSpPr>
        <p:spPr>
          <a:xfrm>
            <a:off x="10149840" y="2569464"/>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23" name="Shape 20"/>
          <p:cNvSpPr/>
          <p:nvPr/>
        </p:nvSpPr>
        <p:spPr>
          <a:xfrm>
            <a:off x="822960" y="3255264"/>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24" name="Shape 21"/>
          <p:cNvSpPr/>
          <p:nvPr/>
        </p:nvSpPr>
        <p:spPr>
          <a:xfrm>
            <a:off x="1005840" y="3401568"/>
            <a:ext cx="420624" cy="420624"/>
          </a:xfrm>
          <a:prstGeom prst="ellipse">
            <a:avLst/>
          </a:prstGeom>
          <a:solidFill>
            <a:srgbClr val="0B2D55"/>
          </a:solidFill>
          <a:ln w="12700">
            <a:solidFill>
              <a:srgbClr val="0B2D55"/>
            </a:solidFill>
            <a:prstDash val="solid"/>
          </a:ln>
        </p:spPr>
        <p:txBody>
          <a:bodyPr/>
          <a:lstStyle/>
          <a:p>
            <a:endParaRPr lang="en-US"/>
          </a:p>
        </p:txBody>
      </p:sp>
      <p:sp>
        <p:nvSpPr>
          <p:cNvPr id="25" name="Text 22"/>
          <p:cNvSpPr txBox="1"/>
          <p:nvPr/>
        </p:nvSpPr>
        <p:spPr>
          <a:xfrm>
            <a:off x="1005840" y="340156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645920" y="3255264"/>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A larger ‖w‖ gives an SVM a wider margin.</a:t>
            </a:r>
            <a:endParaRPr lang="en-US" sz="1800" dirty="0"/>
          </a:p>
        </p:txBody>
      </p:sp>
      <p:grpSp>
        <p:nvGrpSpPr>
          <p:cNvPr id="53" name="Group 52">
            <a:extLst>
              <a:ext uri="{FF2B5EF4-FFF2-40B4-BE49-F238E27FC236}">
                <a16:creationId xmlns:a16="http://schemas.microsoft.com/office/drawing/2014/main" id="{5AD3939E-B8BC-CA1B-933C-8CE637AE96DB}"/>
              </a:ext>
            </a:extLst>
          </p:cNvPr>
          <p:cNvGrpSpPr/>
          <p:nvPr/>
        </p:nvGrpSpPr>
        <p:grpSpPr>
          <a:xfrm>
            <a:off x="8961120" y="3419856"/>
            <a:ext cx="1097280" cy="384048"/>
            <a:chOff x="8961120" y="3419856"/>
            <a:chExt cx="1097280" cy="384048"/>
          </a:xfrm>
        </p:grpSpPr>
        <p:sp>
          <p:nvSpPr>
            <p:cNvPr id="27" name="Shape 24"/>
            <p:cNvSpPr/>
            <p:nvPr/>
          </p:nvSpPr>
          <p:spPr>
            <a:xfrm>
              <a:off x="8961120" y="3419856"/>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8" name="Text 25"/>
            <p:cNvSpPr txBox="1"/>
            <p:nvPr/>
          </p:nvSpPr>
          <p:spPr>
            <a:xfrm>
              <a:off x="8961120" y="3419856"/>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29" name="Shape 26"/>
          <p:cNvSpPr/>
          <p:nvPr/>
        </p:nvSpPr>
        <p:spPr>
          <a:xfrm>
            <a:off x="10149840" y="3419856"/>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0" name="Text 27"/>
          <p:cNvSpPr txBox="1"/>
          <p:nvPr/>
        </p:nvSpPr>
        <p:spPr>
          <a:xfrm>
            <a:off x="10149840" y="3419856"/>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31" name="Shape 28"/>
          <p:cNvSpPr/>
          <p:nvPr/>
        </p:nvSpPr>
        <p:spPr>
          <a:xfrm>
            <a:off x="822960" y="4105656"/>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32" name="Shape 29"/>
          <p:cNvSpPr/>
          <p:nvPr/>
        </p:nvSpPr>
        <p:spPr>
          <a:xfrm>
            <a:off x="1005840" y="4251960"/>
            <a:ext cx="420624" cy="420624"/>
          </a:xfrm>
          <a:prstGeom prst="ellipse">
            <a:avLst/>
          </a:prstGeom>
          <a:solidFill>
            <a:srgbClr val="0B2D55"/>
          </a:solidFill>
          <a:ln w="12700">
            <a:solidFill>
              <a:srgbClr val="0B2D55"/>
            </a:solidFill>
            <a:prstDash val="solid"/>
          </a:ln>
        </p:spPr>
        <p:txBody>
          <a:bodyPr/>
          <a:lstStyle/>
          <a:p>
            <a:endParaRPr lang="en-US"/>
          </a:p>
        </p:txBody>
      </p:sp>
      <p:sp>
        <p:nvSpPr>
          <p:cNvPr id="33" name="Text 30"/>
          <p:cNvSpPr txBox="1"/>
          <p:nvPr/>
        </p:nvSpPr>
        <p:spPr>
          <a:xfrm>
            <a:off x="1005840" y="4251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34" name="Text 31"/>
          <p:cNvSpPr txBox="1"/>
          <p:nvPr/>
        </p:nvSpPr>
        <p:spPr>
          <a:xfrm>
            <a:off x="1645920" y="4105656"/>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A random forest reduces variance by averaging many trees.</a:t>
            </a:r>
            <a:endParaRPr lang="en-US" sz="1800" dirty="0"/>
          </a:p>
        </p:txBody>
      </p:sp>
      <p:sp>
        <p:nvSpPr>
          <p:cNvPr id="35" name="Shape 32"/>
          <p:cNvSpPr/>
          <p:nvPr/>
        </p:nvSpPr>
        <p:spPr>
          <a:xfrm>
            <a:off x="8961120" y="4270248"/>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6" name="Text 33"/>
          <p:cNvSpPr txBox="1"/>
          <p:nvPr/>
        </p:nvSpPr>
        <p:spPr>
          <a:xfrm>
            <a:off x="8961120" y="4270248"/>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nvGrpSpPr>
          <p:cNvPr id="54" name="Group 53">
            <a:extLst>
              <a:ext uri="{FF2B5EF4-FFF2-40B4-BE49-F238E27FC236}">
                <a16:creationId xmlns:a16="http://schemas.microsoft.com/office/drawing/2014/main" id="{AFA32774-5265-65A0-02B5-55A5BE5CC146}"/>
              </a:ext>
            </a:extLst>
          </p:cNvPr>
          <p:cNvGrpSpPr/>
          <p:nvPr/>
        </p:nvGrpSpPr>
        <p:grpSpPr>
          <a:xfrm>
            <a:off x="10149840" y="4270248"/>
            <a:ext cx="1051560" cy="384048"/>
            <a:chOff x="10149840" y="4270248"/>
            <a:chExt cx="1051560" cy="384048"/>
          </a:xfrm>
        </p:grpSpPr>
        <p:sp>
          <p:nvSpPr>
            <p:cNvPr id="37" name="Shape 34"/>
            <p:cNvSpPr/>
            <p:nvPr/>
          </p:nvSpPr>
          <p:spPr>
            <a:xfrm>
              <a:off x="10149840" y="4270248"/>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8" name="Text 35"/>
            <p:cNvSpPr txBox="1"/>
            <p:nvPr/>
          </p:nvSpPr>
          <p:spPr>
            <a:xfrm>
              <a:off x="10149840" y="4270248"/>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grpSp>
      <p:sp>
        <p:nvSpPr>
          <p:cNvPr id="39" name="Shape 36"/>
          <p:cNvSpPr/>
          <p:nvPr/>
        </p:nvSpPr>
        <p:spPr>
          <a:xfrm>
            <a:off x="822960" y="4956048"/>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40" name="Shape 37"/>
          <p:cNvSpPr/>
          <p:nvPr/>
        </p:nvSpPr>
        <p:spPr>
          <a:xfrm>
            <a:off x="1005840" y="5102352"/>
            <a:ext cx="420624" cy="420624"/>
          </a:xfrm>
          <a:prstGeom prst="ellipse">
            <a:avLst/>
          </a:prstGeom>
          <a:solidFill>
            <a:srgbClr val="0B2D55"/>
          </a:solidFill>
          <a:ln w="12700">
            <a:solidFill>
              <a:srgbClr val="0B2D55"/>
            </a:solidFill>
            <a:prstDash val="solid"/>
          </a:ln>
        </p:spPr>
        <p:txBody>
          <a:bodyPr/>
          <a:lstStyle/>
          <a:p>
            <a:endParaRPr lang="en-US"/>
          </a:p>
        </p:txBody>
      </p:sp>
      <p:sp>
        <p:nvSpPr>
          <p:cNvPr id="41" name="Text 38"/>
          <p:cNvSpPr txBox="1"/>
          <p:nvPr/>
        </p:nvSpPr>
        <p:spPr>
          <a:xfrm>
            <a:off x="1005840" y="510235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42" name="Text 39"/>
          <p:cNvSpPr txBox="1"/>
          <p:nvPr/>
        </p:nvSpPr>
        <p:spPr>
          <a:xfrm>
            <a:off x="1645920" y="4956048"/>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Scoring a model on its training data measures generalization.</a:t>
            </a:r>
            <a:endParaRPr lang="en-US" sz="1800" dirty="0"/>
          </a:p>
        </p:txBody>
      </p:sp>
      <p:grpSp>
        <p:nvGrpSpPr>
          <p:cNvPr id="55" name="Group 54">
            <a:extLst>
              <a:ext uri="{FF2B5EF4-FFF2-40B4-BE49-F238E27FC236}">
                <a16:creationId xmlns:a16="http://schemas.microsoft.com/office/drawing/2014/main" id="{F316667A-E6CB-9375-2B8D-EF29C96E95FC}"/>
              </a:ext>
            </a:extLst>
          </p:cNvPr>
          <p:cNvGrpSpPr/>
          <p:nvPr/>
        </p:nvGrpSpPr>
        <p:grpSpPr>
          <a:xfrm>
            <a:off x="8961120" y="5120640"/>
            <a:ext cx="1097280" cy="384048"/>
            <a:chOff x="8961120" y="5120640"/>
            <a:chExt cx="1097280" cy="384048"/>
          </a:xfrm>
        </p:grpSpPr>
        <p:sp>
          <p:nvSpPr>
            <p:cNvPr id="43" name="Shape 40"/>
            <p:cNvSpPr/>
            <p:nvPr/>
          </p:nvSpPr>
          <p:spPr>
            <a:xfrm>
              <a:off x="8961120" y="5120640"/>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44" name="Text 41"/>
            <p:cNvSpPr txBox="1"/>
            <p:nvPr/>
          </p:nvSpPr>
          <p:spPr>
            <a:xfrm>
              <a:off x="8961120" y="5120640"/>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45" name="Shape 42"/>
          <p:cNvSpPr/>
          <p:nvPr/>
        </p:nvSpPr>
        <p:spPr>
          <a:xfrm>
            <a:off x="10149840" y="5120640"/>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46" name="Text 43"/>
          <p:cNvSpPr txBox="1"/>
          <p:nvPr/>
        </p:nvSpPr>
        <p:spPr>
          <a:xfrm>
            <a:off x="10149840" y="5120640"/>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56" name="TextBox 55">
            <a:extLst>
              <a:ext uri="{FF2B5EF4-FFF2-40B4-BE49-F238E27FC236}">
                <a16:creationId xmlns:a16="http://schemas.microsoft.com/office/drawing/2014/main" id="{49CBA51C-2BA4-04CD-166F-21C8A1290E0A}"/>
              </a:ext>
            </a:extLst>
          </p:cNvPr>
          <p:cNvSpPr txBox="1"/>
          <p:nvPr/>
        </p:nvSpPr>
        <p:spPr>
          <a:xfrm>
            <a:off x="6896386" y="3416284"/>
            <a:ext cx="2019014" cy="369332"/>
          </a:xfrm>
          <a:prstGeom prst="rect">
            <a:avLst/>
          </a:prstGeom>
          <a:noFill/>
        </p:spPr>
        <p:txBody>
          <a:bodyPr wrap="none" rtlCol="0">
            <a:spAutoFit/>
          </a:bodyPr>
          <a:lstStyle/>
          <a:p>
            <a:r>
              <a:rPr lang="en-US" b="1" dirty="0"/>
              <a:t>Margin = 2 / ||w||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Exit ticket: design the model</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Put the whole pipeline together.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33</a:t>
            </a:r>
            <a:endParaRPr lang="en-US" sz="850" dirty="0"/>
          </a:p>
        </p:txBody>
      </p:sp>
      <p:sp>
        <p:nvSpPr>
          <p:cNvPr id="7" name="Shape 4"/>
          <p:cNvSpPr/>
          <p:nvPr/>
        </p:nvSpPr>
        <p:spPr>
          <a:xfrm>
            <a:off x="822960" y="1554480"/>
            <a:ext cx="10515600" cy="1188720"/>
          </a:xfrm>
          <a:prstGeom prst="roundRect">
            <a:avLst>
              <a:gd name="adj" fmla="val 6154"/>
            </a:avLst>
          </a:prstGeom>
          <a:solidFill>
            <a:srgbClr val="FFF4CE"/>
          </a:solidFill>
          <a:ln w="12700">
            <a:solidFill>
              <a:srgbClr val="F2C14E"/>
            </a:solidFill>
            <a:prstDash val="solid"/>
          </a:ln>
        </p:spPr>
        <p:txBody>
          <a:bodyPr/>
          <a:lstStyle/>
          <a:p>
            <a:endParaRPr lang="en-US"/>
          </a:p>
        </p:txBody>
      </p:sp>
      <p:sp>
        <p:nvSpPr>
          <p:cNvPr id="8" name="Text 5"/>
          <p:cNvSpPr txBox="1"/>
          <p:nvPr/>
        </p:nvSpPr>
        <p:spPr>
          <a:xfrm>
            <a:off x="1051560" y="1554480"/>
            <a:ext cx="10058400" cy="1188720"/>
          </a:xfrm>
          <a:prstGeom prst="rect">
            <a:avLst/>
          </a:prstGeom>
          <a:noFill/>
          <a:ln/>
        </p:spPr>
        <p:txBody>
          <a:bodyPr wrap="square" lIns="0" tIns="0" rIns="0" bIns="0" rtlCol="0" anchor="ctr"/>
          <a:lstStyle/>
          <a:p>
            <a:pPr marL="0" indent="0">
              <a:buNone/>
            </a:pPr>
            <a:r>
              <a:rPr lang="en-US" sz="1700" dirty="0">
                <a:solidFill>
                  <a:srgbClr val="132033"/>
                </a:solidFill>
                <a:latin typeface="Aptos" pitchFamily="34" charset="0"/>
                <a:ea typeface="Aptos" pitchFamily="34" charset="-122"/>
                <a:cs typeface="Aptos" pitchFamily="34" charset="-120"/>
              </a:rPr>
              <a:t>A maintenance team wants to flag drone motors likely to fail before the next sortie. Failures are rare (about 3% of motors). A missed failure can lose the aircraft; a false alarm costs a two-hour inspection.</a:t>
            </a:r>
            <a:endParaRPr lang="en-US" sz="1700" dirty="0"/>
          </a:p>
        </p:txBody>
      </p:sp>
      <p:sp>
        <p:nvSpPr>
          <p:cNvPr id="9" name="Shape 6"/>
          <p:cNvSpPr/>
          <p:nvPr/>
        </p:nvSpPr>
        <p:spPr>
          <a:xfrm>
            <a:off x="82296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0" name="Shape 7"/>
          <p:cNvSpPr/>
          <p:nvPr/>
        </p:nvSpPr>
        <p:spPr>
          <a:xfrm>
            <a:off x="100584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1" name="Text 8"/>
          <p:cNvSpPr txBox="1"/>
          <p:nvPr/>
        </p:nvSpPr>
        <p:spPr>
          <a:xfrm>
            <a:off x="100584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00584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Which metric do you prioritize, and why?</a:t>
            </a:r>
            <a:endParaRPr lang="en-US" sz="1600" dirty="0"/>
          </a:p>
        </p:txBody>
      </p:sp>
      <p:sp>
        <p:nvSpPr>
          <p:cNvPr id="13" name="Shape 10"/>
          <p:cNvSpPr/>
          <p:nvPr/>
        </p:nvSpPr>
        <p:spPr>
          <a:xfrm>
            <a:off x="438912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4" name="Shape 11"/>
          <p:cNvSpPr/>
          <p:nvPr/>
        </p:nvSpPr>
        <p:spPr>
          <a:xfrm>
            <a:off x="457200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5" name="Text 12"/>
          <p:cNvSpPr txBox="1"/>
          <p:nvPr/>
        </p:nvSpPr>
        <p:spPr>
          <a:xfrm>
            <a:off x="457200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6" name="Text 13"/>
          <p:cNvSpPr txBox="1"/>
          <p:nvPr/>
        </p:nvSpPr>
        <p:spPr>
          <a:xfrm>
            <a:off x="457200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How will you check that the model generalizes?</a:t>
            </a:r>
            <a:endParaRPr lang="en-US" sz="1600" dirty="0"/>
          </a:p>
        </p:txBody>
      </p:sp>
      <p:sp>
        <p:nvSpPr>
          <p:cNvPr id="17" name="Shape 14"/>
          <p:cNvSpPr/>
          <p:nvPr/>
        </p:nvSpPr>
        <p:spPr>
          <a:xfrm>
            <a:off x="795528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8" name="Shape 15"/>
          <p:cNvSpPr/>
          <p:nvPr/>
        </p:nvSpPr>
        <p:spPr>
          <a:xfrm>
            <a:off x="813816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9" name="Text 16"/>
          <p:cNvSpPr txBox="1"/>
          <p:nvPr/>
        </p:nvSpPr>
        <p:spPr>
          <a:xfrm>
            <a:off x="813816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7"/>
          <p:cNvSpPr txBox="1"/>
          <p:nvPr/>
        </p:nvSpPr>
        <p:spPr>
          <a:xfrm>
            <a:off x="813816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Which model family would you try first? Justify with boundary shape and data size.</a:t>
            </a:r>
            <a:endParaRPr lang="en-US" sz="1600" dirty="0"/>
          </a:p>
        </p:txBody>
      </p:sp>
      <p:sp>
        <p:nvSpPr>
          <p:cNvPr id="21" name="Shape 18"/>
          <p:cNvSpPr/>
          <p:nvPr/>
        </p:nvSpPr>
        <p:spPr>
          <a:xfrm>
            <a:off x="822960" y="4937760"/>
            <a:ext cx="10515600" cy="1436146"/>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22" name="Text 19"/>
          <p:cNvSpPr txBox="1"/>
          <p:nvPr/>
        </p:nvSpPr>
        <p:spPr>
          <a:xfrm>
            <a:off x="1005840" y="4937760"/>
            <a:ext cx="10149840" cy="1353312"/>
          </a:xfrm>
          <a:prstGeom prst="rect">
            <a:avLst/>
          </a:prstGeom>
          <a:noFill/>
          <a:ln/>
        </p:spPr>
        <p:txBody>
          <a:bodyPr wrap="square" lIns="0" tIns="0" rIns="0" bIns="0" rtlCol="0" anchor="ctr"/>
          <a:lstStyle/>
          <a:p>
            <a:pPr algn="ctr"/>
            <a:r>
              <a:rPr lang="en-US" sz="2000" b="1" dirty="0"/>
              <a:t>Recall</a:t>
            </a:r>
            <a:r>
              <a:rPr lang="en-US" sz="2000" dirty="0"/>
              <a:t> is most important here – why? </a:t>
            </a:r>
          </a:p>
          <a:p>
            <a:pPr algn="ctr"/>
            <a:r>
              <a:rPr lang="en-US" sz="2000" dirty="0"/>
              <a:t>Many possible answers: </a:t>
            </a:r>
            <a:r>
              <a:rPr lang="en-US" sz="2000" b="1" dirty="0"/>
              <a:t>Log Reg</a:t>
            </a:r>
            <a:r>
              <a:rPr lang="en-US" sz="2000" dirty="0"/>
              <a:t> interpretable baseline; </a:t>
            </a:r>
            <a:r>
              <a:rPr lang="en-US" sz="2000" b="1" dirty="0"/>
              <a:t>Random Forrest </a:t>
            </a:r>
            <a:r>
              <a:rPr lang="en-US" sz="2000" dirty="0"/>
              <a:t>if the relationship looks non-linear and there is enough data; </a:t>
            </a:r>
            <a:r>
              <a:rPr lang="en-US" sz="2000" b="1" dirty="0"/>
              <a:t>LDA</a:t>
            </a:r>
            <a:r>
              <a:rPr lang="en-US" sz="2000" dirty="0"/>
              <a:t> over </a:t>
            </a:r>
            <a:r>
              <a:rPr lang="en-US" sz="2000" b="1" dirty="0"/>
              <a:t>QDA</a:t>
            </a:r>
            <a:r>
              <a:rPr lang="en-US" sz="2000" dirty="0"/>
              <a:t> if failure examples are scarce (fewer parameters, lower variance).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B1: QDA calculation in full</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Include the prior term, then test a second point and a realistic prior.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34</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6072" y="1600200"/>
          <a:ext cx="11036808" cy="2267712"/>
        </p:xfrm>
        <a:graphic>
          <a:graphicData uri="http://schemas.openxmlformats.org/drawingml/2006/table">
            <a:tbl>
              <a:tblPr/>
              <a:tblGrid>
                <a:gridCol w="2743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709928">
                  <a:extLst>
                    <a:ext uri="{9D8B030D-6E8A-4147-A177-3AD203B41FA5}">
                      <a16:colId xmlns:a16="http://schemas.microsoft.com/office/drawing/2014/main" val="20003"/>
                    </a:ext>
                  </a:extLst>
                </a:gridCol>
              </a:tblGrid>
              <a:tr h="56692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Case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Legit score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Fraud score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Decision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566928">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x = 100, equal priors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−3.00 − 3.13 − 0.69 = −6.81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−4.09 − 0.06 − 0.69 = −4.84</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D9731A"/>
                          </a:solidFill>
                          <a:latin typeface="Aptos" pitchFamily="34" charset="0"/>
                          <a:ea typeface="Aptos" pitchFamily="34" charset="-122"/>
                          <a:cs typeface="Aptos" pitchFamily="34" charset="-120"/>
                        </a:rPr>
                        <a:t>Fraud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x = 20, equal priors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−3.00 − 1.13 − 0.69 = −4.81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−4.09 − 1.39 − 0.69 = −6.17</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1D5FA7"/>
                          </a:solidFill>
                          <a:latin typeface="Aptos" pitchFamily="34" charset="0"/>
                          <a:ea typeface="Aptos" pitchFamily="34" charset="-122"/>
                          <a:cs typeface="Aptos" pitchFamily="34" charset="-120"/>
                        </a:rPr>
                        <a:t>Legit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x = 100, 4% fraud prior</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−6.12 + ln 0.96 = −6.16</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−4.15 + ln 0.04 = −7.37</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1D5FA7"/>
                          </a:solidFill>
                          <a:latin typeface="Aptos" pitchFamily="34" charset="0"/>
                          <a:ea typeface="Aptos" pitchFamily="34" charset="-122"/>
                          <a:cs typeface="Aptos" pitchFamily="34" charset="-120"/>
                        </a:rPr>
                        <a:t>Legit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Shape 4"/>
          <p:cNvSpPr/>
          <p:nvPr/>
        </p:nvSpPr>
        <p:spPr>
          <a:xfrm>
            <a:off x="576072" y="4206240"/>
            <a:ext cx="11036808" cy="1005840"/>
          </a:xfrm>
          <a:prstGeom prst="roundRect">
            <a:avLst>
              <a:gd name="adj" fmla="val 7273"/>
            </a:avLst>
          </a:prstGeom>
          <a:solidFill>
            <a:srgbClr val="EAF2F8"/>
          </a:solidFill>
          <a:ln w="12700">
            <a:solidFill>
              <a:srgbClr val="1F5D9B"/>
            </a:solidFill>
            <a:prstDash val="solid"/>
          </a:ln>
        </p:spPr>
        <p:txBody>
          <a:bodyPr/>
          <a:lstStyle/>
          <a:p>
            <a:endParaRPr lang="en-US"/>
          </a:p>
        </p:txBody>
      </p:sp>
      <p:sp>
        <p:nvSpPr>
          <p:cNvPr id="9" name="Text 5"/>
          <p:cNvSpPr txBox="1"/>
          <p:nvPr/>
        </p:nvSpPr>
        <p:spPr>
          <a:xfrm>
            <a:off x="731520" y="4206240"/>
            <a:ext cx="10698480" cy="100584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Legit: μ = 50, σ² = 400.   Fraud: μ = 120, σ² = 3,600.</a:t>
            </a:r>
            <a:endParaRPr lang="en-US" sz="1600" dirty="0"/>
          </a:p>
          <a:p>
            <a:pPr marL="0" indent="0" algn="ctr">
              <a:buNone/>
            </a:pPr>
            <a:r>
              <a:rPr lang="en-US" sz="1600" b="1" dirty="0">
                <a:solidFill>
                  <a:srgbClr val="0B2D55"/>
                </a:solidFill>
                <a:latin typeface="Aptos" pitchFamily="34" charset="0"/>
                <a:ea typeface="Aptos" pitchFamily="34" charset="-122"/>
                <a:cs typeface="Aptos" pitchFamily="34" charset="-120"/>
              </a:rPr>
              <a:t>δₖ(x) = −½ ln σₖ² − (x − μₖ)² / (2σₖ²) + ln πₖ</a:t>
            </a:r>
            <a:endParaRPr lang="en-US" sz="1600" dirty="0"/>
          </a:p>
        </p:txBody>
      </p:sp>
      <p:sp>
        <p:nvSpPr>
          <p:cNvPr id="10" name="Text 6"/>
          <p:cNvSpPr txBox="1"/>
          <p:nvPr/>
        </p:nvSpPr>
        <p:spPr>
          <a:xfrm>
            <a:off x="822960" y="548640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Including a realistic 4% prior flips the $100 transaction back to legit.</a:t>
            </a:r>
            <a:endParaRPr lang="en-US" sz="1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B2: QDA with many features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The same idea with vectors and covariance matrices.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35</a:t>
            </a:r>
            <a:endParaRPr lang="en-US" sz="850" dirty="0"/>
          </a:p>
        </p:txBody>
      </p:sp>
      <p:sp>
        <p:nvSpPr>
          <p:cNvPr id="7" name="Shape 4"/>
          <p:cNvSpPr/>
          <p:nvPr/>
        </p:nvSpPr>
        <p:spPr>
          <a:xfrm>
            <a:off x="822960" y="1645920"/>
            <a:ext cx="10515600" cy="1188720"/>
          </a:xfrm>
          <a:prstGeom prst="roundRect">
            <a:avLst>
              <a:gd name="adj" fmla="val 6154"/>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1005840" y="1645920"/>
            <a:ext cx="10149840" cy="1188720"/>
          </a:xfrm>
          <a:prstGeom prst="rect">
            <a:avLst/>
          </a:prstGeom>
          <a:noFill/>
          <a:ln/>
        </p:spPr>
        <p:txBody>
          <a:bodyPr wrap="square" lIns="0" tIns="0" rIns="0" bIns="0" rtlCol="0" anchor="ctr"/>
          <a:lstStyle/>
          <a:p>
            <a:pPr marL="0" indent="0" algn="ctr">
              <a:buNone/>
            </a:pPr>
            <a:r>
              <a:rPr lang="en-US" sz="2400" b="1" dirty="0">
                <a:solidFill>
                  <a:srgbClr val="0B2D55"/>
                </a:solidFill>
                <a:latin typeface="Aptos" pitchFamily="34" charset="0"/>
                <a:ea typeface="Aptos" pitchFamily="34" charset="-122"/>
                <a:cs typeface="Aptos" pitchFamily="34" charset="-120"/>
              </a:rPr>
              <a:t>δₖ(x) = −½ log |Σₖ|  −  ½ (x − μₖ)ᵀ Σₖ⁻¹ (x − μₖ)  +  log πₖ</a:t>
            </a:r>
            <a:endParaRPr lang="en-US" sz="2400" dirty="0"/>
          </a:p>
        </p:txBody>
      </p:sp>
      <p:sp>
        <p:nvSpPr>
          <p:cNvPr id="9" name="Text 6"/>
          <p:cNvSpPr txBox="1"/>
          <p:nvPr/>
        </p:nvSpPr>
        <p:spPr>
          <a:xfrm>
            <a:off x="822960" y="3063240"/>
            <a:ext cx="4206240" cy="548640"/>
          </a:xfrm>
          <a:prstGeom prst="rect">
            <a:avLst/>
          </a:prstGeom>
          <a:noFill/>
          <a:ln/>
        </p:spPr>
        <p:txBody>
          <a:bodyPr wrap="square" lIns="0" tIns="0" rIns="0" bIns="0" rtlCol="0" anchor="ctr"/>
          <a:lstStyle/>
          <a:p>
            <a:pPr marL="0" indent="0">
              <a:buNone/>
            </a:pPr>
            <a:r>
              <a:rPr lang="en-US" sz="1700" b="1" dirty="0">
                <a:solidFill>
                  <a:srgbClr val="1D5FA7"/>
                </a:solidFill>
                <a:latin typeface="Aptos" pitchFamily="34" charset="0"/>
                <a:ea typeface="Aptos" pitchFamily="34" charset="-122"/>
                <a:cs typeface="Aptos" pitchFamily="34" charset="-120"/>
              </a:rPr>
              <a:t>Σₖ</a:t>
            </a:r>
            <a:endParaRPr lang="en-US" sz="1700" dirty="0"/>
          </a:p>
        </p:txBody>
      </p:sp>
      <p:sp>
        <p:nvSpPr>
          <p:cNvPr id="10" name="Text 7"/>
          <p:cNvSpPr txBox="1"/>
          <p:nvPr/>
        </p:nvSpPr>
        <p:spPr>
          <a:xfrm>
            <a:off x="5120640" y="3063240"/>
            <a:ext cx="6217920" cy="54864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Covariance matrix for class k: its spread and correlations</a:t>
            </a:r>
            <a:endParaRPr lang="en-US" sz="1600" dirty="0"/>
          </a:p>
        </p:txBody>
      </p:sp>
      <p:sp>
        <p:nvSpPr>
          <p:cNvPr id="11" name="Text 8"/>
          <p:cNvSpPr txBox="1"/>
          <p:nvPr/>
        </p:nvSpPr>
        <p:spPr>
          <a:xfrm>
            <a:off x="822960" y="3749040"/>
            <a:ext cx="4206240" cy="548640"/>
          </a:xfrm>
          <a:prstGeom prst="rect">
            <a:avLst/>
          </a:prstGeom>
          <a:noFill/>
          <a:ln/>
        </p:spPr>
        <p:txBody>
          <a:bodyPr wrap="square" lIns="0" tIns="0" rIns="0" bIns="0" rtlCol="0" anchor="ctr"/>
          <a:lstStyle/>
          <a:p>
            <a:pPr marL="0" indent="0">
              <a:buNone/>
            </a:pPr>
            <a:r>
              <a:rPr lang="en-US" sz="1700" b="1" dirty="0">
                <a:solidFill>
                  <a:srgbClr val="1D5FA7"/>
                </a:solidFill>
                <a:latin typeface="Aptos" pitchFamily="34" charset="0"/>
                <a:ea typeface="Aptos" pitchFamily="34" charset="-122"/>
                <a:cs typeface="Aptos" pitchFamily="34" charset="-120"/>
              </a:rPr>
              <a:t>(x − μₖ)ᵀ Σₖ⁻¹ (x − μₖ)</a:t>
            </a:r>
            <a:endParaRPr lang="en-US" sz="1700" dirty="0"/>
          </a:p>
        </p:txBody>
      </p:sp>
      <p:sp>
        <p:nvSpPr>
          <p:cNvPr id="12" name="Text 9"/>
          <p:cNvSpPr txBox="1"/>
          <p:nvPr/>
        </p:nvSpPr>
        <p:spPr>
          <a:xfrm>
            <a:off x="5120640" y="3749040"/>
            <a:ext cx="6217920" cy="54864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Distance from the class center, measured in that class’s own spread</a:t>
            </a:r>
            <a:endParaRPr lang="en-US" sz="1600" dirty="0"/>
          </a:p>
        </p:txBody>
      </p:sp>
      <p:sp>
        <p:nvSpPr>
          <p:cNvPr id="13" name="Text 10"/>
          <p:cNvSpPr txBox="1"/>
          <p:nvPr/>
        </p:nvSpPr>
        <p:spPr>
          <a:xfrm>
            <a:off x="822960" y="4434840"/>
            <a:ext cx="4206240" cy="548640"/>
          </a:xfrm>
          <a:prstGeom prst="rect">
            <a:avLst/>
          </a:prstGeom>
          <a:noFill/>
          <a:ln/>
        </p:spPr>
        <p:txBody>
          <a:bodyPr wrap="square" lIns="0" tIns="0" rIns="0" bIns="0" rtlCol="0" anchor="ctr"/>
          <a:lstStyle/>
          <a:p>
            <a:pPr marL="0" indent="0">
              <a:buNone/>
            </a:pPr>
            <a:r>
              <a:rPr lang="en-US" sz="1700" b="1" dirty="0">
                <a:solidFill>
                  <a:srgbClr val="1D5FA7"/>
                </a:solidFill>
                <a:latin typeface="Aptos" pitchFamily="34" charset="0"/>
                <a:ea typeface="Aptos" pitchFamily="34" charset="-122"/>
                <a:cs typeface="Aptos" pitchFamily="34" charset="-120"/>
              </a:rPr>
              <a:t>log |Σₖ|</a:t>
            </a:r>
            <a:endParaRPr lang="en-US" sz="1700" dirty="0"/>
          </a:p>
        </p:txBody>
      </p:sp>
      <p:sp>
        <p:nvSpPr>
          <p:cNvPr id="14" name="Text 11"/>
          <p:cNvSpPr txBox="1"/>
          <p:nvPr/>
        </p:nvSpPr>
        <p:spPr>
          <a:xfrm>
            <a:off x="5120640" y="4434840"/>
            <a:ext cx="6217920" cy="54864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Penalty for a class that is spread out everywhere</a:t>
            </a:r>
            <a:endParaRPr lang="en-US" sz="1600" dirty="0"/>
          </a:p>
        </p:txBody>
      </p:sp>
      <p:sp>
        <p:nvSpPr>
          <p:cNvPr id="15" name="Text 12"/>
          <p:cNvSpPr txBox="1"/>
          <p:nvPr/>
        </p:nvSpPr>
        <p:spPr>
          <a:xfrm>
            <a:off x="822960" y="5120640"/>
            <a:ext cx="4206240" cy="548640"/>
          </a:xfrm>
          <a:prstGeom prst="rect">
            <a:avLst/>
          </a:prstGeom>
          <a:noFill/>
          <a:ln/>
        </p:spPr>
        <p:txBody>
          <a:bodyPr wrap="square" lIns="0" tIns="0" rIns="0" bIns="0" rtlCol="0" anchor="ctr"/>
          <a:lstStyle/>
          <a:p>
            <a:pPr marL="0" indent="0">
              <a:buNone/>
            </a:pPr>
            <a:r>
              <a:rPr lang="en-US" sz="1700" b="1" dirty="0">
                <a:solidFill>
                  <a:srgbClr val="1D5FA7"/>
                </a:solidFill>
                <a:latin typeface="Aptos" pitchFamily="34" charset="0"/>
                <a:ea typeface="Aptos" pitchFamily="34" charset="-122"/>
                <a:cs typeface="Aptos" pitchFamily="34" charset="-120"/>
              </a:rPr>
              <a:t>Shared Σ for all classes</a:t>
            </a:r>
            <a:endParaRPr lang="en-US" sz="1700" dirty="0"/>
          </a:p>
        </p:txBody>
      </p:sp>
      <p:sp>
        <p:nvSpPr>
          <p:cNvPr id="16" name="Text 13"/>
          <p:cNvSpPr txBox="1"/>
          <p:nvPr/>
        </p:nvSpPr>
        <p:spPr>
          <a:xfrm>
            <a:off x="5120640" y="5120640"/>
            <a:ext cx="6217920" cy="548640"/>
          </a:xfrm>
          <a:prstGeom prst="rect">
            <a:avLst/>
          </a:prstGeom>
          <a:noFill/>
          <a:ln/>
        </p:spPr>
        <p:txBody>
          <a:bodyPr wrap="square" lIns="0" tIns="0" rIns="0" bIns="0" rtlCol="0" anchor="ctr"/>
          <a:lstStyle/>
          <a:p>
            <a:pPr marL="0" indent="0">
              <a:buNone/>
            </a:pPr>
            <a:r>
              <a:rPr lang="en-US" sz="1600" dirty="0">
                <a:solidFill>
                  <a:srgbClr val="132033"/>
                </a:solidFill>
                <a:latin typeface="Aptos" pitchFamily="34" charset="0"/>
                <a:ea typeface="Aptos" pitchFamily="34" charset="-122"/>
                <a:cs typeface="Aptos" pitchFamily="34" charset="-120"/>
              </a:rPr>
              <a:t>Quadratic terms cancel, leaving a line: this is LDA</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B3: kernels and soft margins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How SVMs bend the boundary without building the new features.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L26: ML Foundations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36</a:t>
            </a:r>
            <a:endParaRPr lang="en-US" sz="850" dirty="0"/>
          </a:p>
        </p:txBody>
      </p:sp>
      <p:sp>
        <p:nvSpPr>
          <p:cNvPr id="7" name="Shape 4"/>
          <p:cNvSpPr/>
          <p:nvPr/>
        </p:nvSpPr>
        <p:spPr>
          <a:xfrm>
            <a:off x="576072" y="1554480"/>
            <a:ext cx="5486400" cy="2011680"/>
          </a:xfrm>
          <a:prstGeom prst="roundRect">
            <a:avLst>
              <a:gd name="adj" fmla="val 3636"/>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77240" y="1645920"/>
            <a:ext cx="5120640" cy="1828800"/>
          </a:xfrm>
          <a:prstGeom prst="rect">
            <a:avLst/>
          </a:prstGeom>
          <a:noFill/>
          <a:ln/>
        </p:spPr>
        <p:txBody>
          <a:bodyPr wrap="square" lIns="0" tIns="0" rIns="0" bIns="0" rtlCol="0" anchor="ctr"/>
          <a:lstStyle/>
          <a:p>
            <a:pPr marL="0" indent="0">
              <a:spcAft>
                <a:spcPts val="600"/>
              </a:spcAft>
              <a:buNone/>
            </a:pPr>
            <a:r>
              <a:rPr lang="en-US" sz="1900" b="1" dirty="0">
                <a:solidFill>
                  <a:srgbClr val="0B2D55"/>
                </a:solidFill>
                <a:latin typeface="Aptos" pitchFamily="34" charset="0"/>
                <a:ea typeface="Aptos" pitchFamily="34" charset="-122"/>
                <a:cs typeface="Aptos" pitchFamily="34" charset="-120"/>
              </a:rPr>
              <a:t>RBF kernel</a:t>
            </a:r>
            <a:endParaRPr lang="en-US" sz="1600" dirty="0"/>
          </a:p>
          <a:p>
            <a:pPr marL="0" indent="0">
              <a:spcAft>
                <a:spcPts val="600"/>
              </a:spcAft>
              <a:buNone/>
            </a:pPr>
            <a:r>
              <a:rPr lang="en-US" sz="1900" b="1" dirty="0">
                <a:solidFill>
                  <a:srgbClr val="1D5FA7"/>
                </a:solidFill>
                <a:latin typeface="Aptos" pitchFamily="34" charset="0"/>
                <a:ea typeface="Aptos" pitchFamily="34" charset="-122"/>
                <a:cs typeface="Aptos" pitchFamily="34" charset="-120"/>
              </a:rPr>
              <a:t>K(x, x′) = exp(−γ ‖x − x′‖²)</a:t>
            </a:r>
            <a:endParaRPr lang="en-US" sz="1600" dirty="0"/>
          </a:p>
          <a:p>
            <a:pPr marL="0" indent="0">
              <a:spcAft>
                <a:spcPts val="600"/>
              </a:spcAft>
              <a:buNone/>
            </a:pPr>
            <a:r>
              <a:rPr lang="en-US" sz="1500" dirty="0">
                <a:solidFill>
                  <a:srgbClr val="132033"/>
                </a:solidFill>
                <a:latin typeface="Aptos" pitchFamily="34" charset="0"/>
                <a:ea typeface="Aptos" pitchFamily="34" charset="-122"/>
                <a:cs typeface="Aptos" pitchFamily="34" charset="-120"/>
              </a:rPr>
              <a:t>Similarity that fades with distance. Large γ = very local = wiggly boundary (high variance).</a:t>
            </a:r>
            <a:endParaRPr lang="en-US" sz="1600" dirty="0"/>
          </a:p>
        </p:txBody>
      </p:sp>
      <p:sp>
        <p:nvSpPr>
          <p:cNvPr id="9" name="Shape 6"/>
          <p:cNvSpPr/>
          <p:nvPr/>
        </p:nvSpPr>
        <p:spPr>
          <a:xfrm>
            <a:off x="576072" y="3749040"/>
            <a:ext cx="5486400" cy="2011680"/>
          </a:xfrm>
          <a:prstGeom prst="roundRect">
            <a:avLst>
              <a:gd name="adj" fmla="val 3636"/>
            </a:avLst>
          </a:prstGeom>
          <a:solidFill>
            <a:srgbClr val="FFF4CE"/>
          </a:solidFill>
          <a:ln w="12700">
            <a:solidFill>
              <a:srgbClr val="F2C14E"/>
            </a:solidFill>
            <a:prstDash val="solid"/>
          </a:ln>
        </p:spPr>
        <p:txBody>
          <a:bodyPr/>
          <a:lstStyle/>
          <a:p>
            <a:endParaRPr lang="en-US"/>
          </a:p>
        </p:txBody>
      </p:sp>
      <p:sp>
        <p:nvSpPr>
          <p:cNvPr id="10" name="Text 7"/>
          <p:cNvSpPr txBox="1"/>
          <p:nvPr/>
        </p:nvSpPr>
        <p:spPr>
          <a:xfrm>
            <a:off x="777240" y="3840480"/>
            <a:ext cx="5120640" cy="1828800"/>
          </a:xfrm>
          <a:prstGeom prst="rect">
            <a:avLst/>
          </a:prstGeom>
          <a:noFill/>
          <a:ln/>
        </p:spPr>
        <p:txBody>
          <a:bodyPr wrap="square" lIns="0" tIns="0" rIns="0" bIns="0" rtlCol="0" anchor="ctr"/>
          <a:lstStyle/>
          <a:p>
            <a:pPr marL="0" indent="0">
              <a:spcAft>
                <a:spcPts val="600"/>
              </a:spcAft>
              <a:buNone/>
            </a:pPr>
            <a:r>
              <a:rPr lang="en-US" sz="1900" b="1" dirty="0">
                <a:solidFill>
                  <a:srgbClr val="0B2D55"/>
                </a:solidFill>
                <a:latin typeface="Aptos" pitchFamily="34" charset="0"/>
                <a:ea typeface="Aptos" pitchFamily="34" charset="-122"/>
                <a:cs typeface="Aptos" pitchFamily="34" charset="-120"/>
              </a:rPr>
              <a:t>Soft margin (C)</a:t>
            </a:r>
            <a:endParaRPr lang="en-US" sz="1600" dirty="0"/>
          </a:p>
          <a:p>
            <a:pPr marL="0" indent="0">
              <a:spcAft>
                <a:spcPts val="600"/>
              </a:spcAft>
              <a:buNone/>
            </a:pPr>
            <a:r>
              <a:rPr lang="en-US" sz="1500" dirty="0">
                <a:solidFill>
                  <a:srgbClr val="132033"/>
                </a:solidFill>
                <a:latin typeface="Aptos" pitchFamily="34" charset="0"/>
                <a:ea typeface="Aptos" pitchFamily="34" charset="-122"/>
                <a:cs typeface="Aptos" pitchFamily="34" charset="-120"/>
              </a:rPr>
              <a:t>Real data overlaps, so some points may sit inside the street.</a:t>
            </a:r>
            <a:endParaRPr lang="en-US" sz="1600" dirty="0"/>
          </a:p>
          <a:p>
            <a:pPr marL="0" indent="0">
              <a:spcAft>
                <a:spcPts val="600"/>
              </a:spcAft>
              <a:buNone/>
            </a:pPr>
            <a:r>
              <a:rPr lang="en-US" sz="1500" dirty="0">
                <a:solidFill>
                  <a:srgbClr val="132033"/>
                </a:solidFill>
                <a:latin typeface="Aptos" pitchFamily="34" charset="0"/>
                <a:ea typeface="Aptos" pitchFamily="34" charset="-122"/>
                <a:cs typeface="Aptos" pitchFamily="34" charset="-120"/>
              </a:rPr>
              <a:t>Large C: few violations, more variance.  Small C: wider street, more bias.</a:t>
            </a:r>
            <a:endParaRPr lang="en-US" sz="1600" dirty="0"/>
          </a:p>
        </p:txBody>
      </p:sp>
      <p:sp>
        <p:nvSpPr>
          <p:cNvPr id="11" name="Shape 8"/>
          <p:cNvSpPr/>
          <p:nvPr/>
        </p:nvSpPr>
        <p:spPr>
          <a:xfrm>
            <a:off x="6309360" y="1554480"/>
            <a:ext cx="5303520" cy="4206240"/>
          </a:xfrm>
          <a:prstGeom prst="roundRect">
            <a:avLst>
              <a:gd name="adj" fmla="val 1739"/>
            </a:avLst>
          </a:prstGeom>
          <a:solidFill>
            <a:srgbClr val="FFFFFF"/>
          </a:solidFill>
          <a:ln w="12700">
            <a:solidFill>
              <a:srgbClr val="B8C7D8"/>
            </a:solidFill>
            <a:prstDash val="solid"/>
          </a:ln>
        </p:spPr>
        <p:txBody>
          <a:bodyPr/>
          <a:lstStyle/>
          <a:p>
            <a:endParaRPr lang="en-US"/>
          </a:p>
        </p:txBody>
      </p:sp>
      <p:sp>
        <p:nvSpPr>
          <p:cNvPr id="12" name="Text 9"/>
          <p:cNvSpPr txBox="1"/>
          <p:nvPr/>
        </p:nvSpPr>
        <p:spPr>
          <a:xfrm>
            <a:off x="6446520" y="1645920"/>
            <a:ext cx="5029200" cy="548640"/>
          </a:xfrm>
          <a:prstGeom prst="rect">
            <a:avLst/>
          </a:prstGeom>
          <a:noFill/>
          <a:ln/>
        </p:spPr>
        <p:txBody>
          <a:bodyPr wrap="square" lIns="0" tIns="0" rIns="0" bIns="0" rtlCol="0" anchor="t"/>
          <a:lstStyle/>
          <a:p>
            <a:pPr marL="0" indent="0" algn="ctr">
              <a:buNone/>
            </a:pPr>
            <a:r>
              <a:rPr lang="en-US" sz="1400" b="1" dirty="0">
                <a:solidFill>
                  <a:srgbClr val="0B2D55"/>
                </a:solidFill>
                <a:latin typeface="Aptos" pitchFamily="34" charset="0"/>
                <a:ea typeface="Aptos" pitchFamily="34" charset="-122"/>
                <a:cs typeface="Aptos" pitchFamily="34" charset="-120"/>
              </a:rPr>
              <a:t>Recall slide 8: the overfit panel was an RBF SVM with a very large γ.</a:t>
            </a:r>
            <a:endParaRPr lang="en-US" sz="1400" dirty="0"/>
          </a:p>
        </p:txBody>
      </p:sp>
      <p:pic>
        <p:nvPicPr>
          <p:cNvPr id="13" name="Image 0" descr="figs/fit_over.png"/>
          <p:cNvPicPr>
            <a:picLocks noChangeAspect="1"/>
          </p:cNvPicPr>
          <p:nvPr/>
        </p:nvPicPr>
        <p:blipFill>
          <a:blip r:embed="rId3"/>
          <a:stretch>
            <a:fillRect/>
          </a:stretch>
        </p:blipFill>
        <p:spPr>
          <a:xfrm>
            <a:off x="7223760" y="2339824"/>
            <a:ext cx="3474720" cy="31841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7D154A9B6B4745A92074A700A40869" ma:contentTypeVersion="24" ma:contentTypeDescription="Create a new document." ma:contentTypeScope="" ma:versionID="49c36a49e684e25092aa685b0fe35842">
  <xsd:schema xmlns:xsd="http://www.w3.org/2001/XMLSchema" xmlns:xs="http://www.w3.org/2001/XMLSchema" xmlns:p="http://schemas.microsoft.com/office/2006/metadata/properties" xmlns:ns1="http://schemas.microsoft.com/sharepoint/v3" xmlns:ns2="fcae3b96-bd14-4ee2-8386-a94084e60018" xmlns:ns3="56f87f42-bac6-49e2-b9d5-04744cb514ee" targetNamespace="http://schemas.microsoft.com/office/2006/metadata/properties" ma:root="true" ma:fieldsID="9c960b9d532a5d3a9032170b89435a2d" ns1:_="" ns2:_="" ns3:_="">
    <xsd:import namespace="http://schemas.microsoft.com/sharepoint/v3"/>
    <xsd:import namespace="fcae3b96-bd14-4ee2-8386-a94084e60018"/>
    <xsd:import namespace="56f87f42-bac6-49e2-b9d5-04744cb514ee"/>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ae3b96-bd14-4ee2-8386-a94084e6001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f87f42-bac6-49e2-b9d5-04744cb514e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8e345d7-e916-42f7-ade4-36d8c15b0911}" ma:internalName="TaxCatchAll" ma:showField="CatchAllData" ma:web="56f87f42-bac6-49e2-b9d5-04744cb514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6f87f42-bac6-49e2-b9d5-04744cb514ee" xsi:nil="true"/>
    <lcf76f155ced4ddcb4097134ff3c332f xmlns="fcae3b96-bd14-4ee2-8386-a94084e60018">
      <Terms xmlns="http://schemas.microsoft.com/office/infopath/2007/PartnerControls"/>
    </lcf76f155ced4ddcb4097134ff3c332f>
    <_ip_UnifiedCompliancePolicyProperties xmlns="http://schemas.microsoft.com/sharepoint/v3" xsi:nil="true"/>
  </documentManagement>
</p:properties>
</file>

<file path=customXml/itemProps1.xml><?xml version="1.0" encoding="utf-8"?>
<ds:datastoreItem xmlns:ds="http://schemas.openxmlformats.org/officeDocument/2006/customXml" ds:itemID="{0CF53B99-C091-4A43-80D0-5B23E3E957AD}"/>
</file>

<file path=customXml/itemProps2.xml><?xml version="1.0" encoding="utf-8"?>
<ds:datastoreItem xmlns:ds="http://schemas.openxmlformats.org/officeDocument/2006/customXml" ds:itemID="{EC93F335-D596-4A80-8C03-90404CBC1E64}"/>
</file>

<file path=customXml/itemProps3.xml><?xml version="1.0" encoding="utf-8"?>
<ds:datastoreItem xmlns:ds="http://schemas.openxmlformats.org/officeDocument/2006/customXml" ds:itemID="{E1B54228-BCD6-4C96-9E78-5887217E244B}"/>
</file>

<file path=docProps/app.xml><?xml version="1.0" encoding="utf-8"?>
<Properties xmlns="http://schemas.openxmlformats.org/officeDocument/2006/extended-properties" xmlns:vt="http://schemas.openxmlformats.org/officeDocument/2006/docPropsVTypes">
  <TotalTime>22</TotalTime>
  <Words>11079</Words>
  <Application>Microsoft Office PowerPoint</Application>
  <PresentationFormat>Widescreen</PresentationFormat>
  <Paragraphs>738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471 L26: Machine Learning Foundations</dc:title>
  <dc:subject>PptxGenJS Presentation</dc:subject>
  <dc:creator>PptxGenJS</dc:creator>
  <cp:lastModifiedBy>Michael Todd</cp:lastModifiedBy>
  <cp:revision>3</cp:revision>
  <dcterms:created xsi:type="dcterms:W3CDTF">2026-09-23T18:43:40Z</dcterms:created>
  <dcterms:modified xsi:type="dcterms:W3CDTF">2026-09-23T19:09:32Z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0x0101006A7D154A9B6B4745A92074A700A40869</vt:lpwstr>
  </property>
</Properties>
</file>