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9.xml" ContentType="application/vnd.openxmlformats-officedocument.presentationml.notesSlide+xml"/>
  <Override PartName="/ppt/notesSlides/notesSlide26.xml" ContentType="application/vnd.openxmlformats-officedocument.presentationml.notesSlide+xml"/>
  <Override PartName="/ppt/notesSlides/notesSlide13.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8" autoAdjust="0"/>
    <p:restoredTop sz="77888" autoAdjust="0"/>
  </p:normalViewPr>
  <p:slideViewPr>
    <p:cSldViewPr snapToGrid="0" snapToObjects="1">
      <p:cViewPr>
        <p:scale>
          <a:sx n="169" d="100"/>
          <a:sy n="169" d="100"/>
        </p:scale>
        <p:origin x="432" y="-10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2D55"/>
                </a:solidFill>
                <a:latin typeface="Aptos"/>
              </a:defRPr>
            </a:pPr>
            <a:r>
              <a:rPr lang="en-US" sz="1300" b="0" i="0" u="none" strike="noStrike">
                <a:solidFill>
                  <a:srgbClr val="0B2D55"/>
                </a:solidFill>
                <a:latin typeface="Aptos"/>
              </a:rPr>
              <a:t>P(word | scam), before and after smoothing</a:t>
            </a:r>
          </a:p>
        </c:rich>
      </c:tx>
      <c:overlay val="0"/>
    </c:title>
    <c:autoTitleDeleted val="0"/>
    <c:plotArea>
      <c:layout/>
      <c:barChart>
        <c:barDir val="col"/>
        <c:grouping val="clustered"/>
        <c:varyColors val="0"/>
        <c:ser>
          <c:idx val="0"/>
          <c:order val="0"/>
          <c:tx>
            <c:strRef>
              <c:f>Sheet1!$B$1</c:f>
              <c:strCache>
                <c:ptCount val="1"/>
                <c:pt idx="0">
                  <c:v>Before (α = 0)</c:v>
                </c:pt>
              </c:strCache>
            </c:strRef>
          </c:tx>
          <c:spPr>
            <a:solidFill>
              <a:srgbClr val="9AA8B8"/>
            </a:solidFill>
            <a:effectLst/>
          </c:spPr>
          <c:invertIfNegative val="0"/>
          <c:dLbls>
            <c:numFmt formatCode="0.000" sourceLinked="0"/>
            <c:spPr>
              <a:noFill/>
              <a:ln>
                <a:noFill/>
              </a:ln>
              <a:effectLst/>
            </c:spPr>
            <c:txPr>
              <a:bodyPr/>
              <a:lstStyle/>
              <a:p>
                <a:pPr>
                  <a:defRPr sz="900" b="0" i="0" u="none" strike="noStrike">
                    <a:solidFill>
                      <a:srgbClr val="1320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free</c:v>
                </c:pt>
                <c:pt idx="1">
                  <c:v>claim</c:v>
                </c:pt>
                <c:pt idx="2">
                  <c:v>prize</c:v>
                </c:pt>
                <c:pt idx="3">
                  <c:v>now</c:v>
                </c:pt>
                <c:pt idx="4">
                  <c:v>call</c:v>
                </c:pt>
                <c:pt idx="5">
                  <c:v>tonight</c:v>
                </c:pt>
              </c:strCache>
            </c:strRef>
          </c:cat>
          <c:val>
            <c:numRef>
              <c:f>Sheet1!$B$2:$B$7</c:f>
              <c:numCache>
                <c:formatCode>General</c:formatCode>
                <c:ptCount val="6"/>
                <c:pt idx="0">
                  <c:v>0.15</c:v>
                </c:pt>
                <c:pt idx="1">
                  <c:v>0.1</c:v>
                </c:pt>
                <c:pt idx="2">
                  <c:v>7.4999999999999997E-2</c:v>
                </c:pt>
                <c:pt idx="3">
                  <c:v>0.1</c:v>
                </c:pt>
                <c:pt idx="4">
                  <c:v>0.05</c:v>
                </c:pt>
                <c:pt idx="5">
                  <c:v>0</c:v>
                </c:pt>
              </c:numCache>
            </c:numRef>
          </c:val>
          <c:extLst>
            <c:ext xmlns:c16="http://schemas.microsoft.com/office/drawing/2014/chart" uri="{C3380CC4-5D6E-409C-BE32-E72D297353CC}">
              <c16:uniqueId val="{00000000-A565-46E0-BC6A-07454D70CE3C}"/>
            </c:ext>
          </c:extLst>
        </c:ser>
        <c:ser>
          <c:idx val="1"/>
          <c:order val="1"/>
          <c:tx>
            <c:strRef>
              <c:f>Sheet1!$C$1</c:f>
              <c:strCache>
                <c:ptCount val="1"/>
                <c:pt idx="0">
                  <c:v>After (α = 1)</c:v>
                </c:pt>
              </c:strCache>
            </c:strRef>
          </c:tx>
          <c:spPr>
            <a:solidFill>
              <a:srgbClr val="D9731A"/>
            </a:solidFill>
            <a:effectLst/>
          </c:spPr>
          <c:invertIfNegative val="0"/>
          <c:dLbls>
            <c:numFmt formatCode="0.000" sourceLinked="0"/>
            <c:spPr>
              <a:noFill/>
              <a:ln>
                <a:noFill/>
              </a:ln>
              <a:effectLst/>
            </c:spPr>
            <c:txPr>
              <a:bodyPr/>
              <a:lstStyle/>
              <a:p>
                <a:pPr>
                  <a:defRPr sz="900" b="0" i="0" u="none" strike="noStrike">
                    <a:solidFill>
                      <a:srgbClr val="1320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free</c:v>
                </c:pt>
                <c:pt idx="1">
                  <c:v>claim</c:v>
                </c:pt>
                <c:pt idx="2">
                  <c:v>prize</c:v>
                </c:pt>
                <c:pt idx="3">
                  <c:v>now</c:v>
                </c:pt>
                <c:pt idx="4">
                  <c:v>call</c:v>
                </c:pt>
                <c:pt idx="5">
                  <c:v>tonight</c:v>
                </c:pt>
              </c:strCache>
            </c:strRef>
          </c:cat>
          <c:val>
            <c:numRef>
              <c:f>Sheet1!$C$2:$C$7</c:f>
              <c:numCache>
                <c:formatCode>General</c:formatCode>
                <c:ptCount val="6"/>
                <c:pt idx="0">
                  <c:v>8.7499999999999994E-2</c:v>
                </c:pt>
                <c:pt idx="1">
                  <c:v>6.25E-2</c:v>
                </c:pt>
                <c:pt idx="2">
                  <c:v>0.05</c:v>
                </c:pt>
                <c:pt idx="3">
                  <c:v>6.25E-2</c:v>
                </c:pt>
                <c:pt idx="4">
                  <c:v>3.7499999999999999E-2</c:v>
                </c:pt>
                <c:pt idx="5">
                  <c:v>1.2500000000000001E-2</c:v>
                </c:pt>
              </c:numCache>
            </c:numRef>
          </c:val>
          <c:extLst>
            <c:ext xmlns:c16="http://schemas.microsoft.com/office/drawing/2014/chart" uri="{C3380CC4-5D6E-409C-BE32-E72D297353CC}">
              <c16:uniqueId val="{00000001-A565-46E0-BC6A-07454D70CE3C}"/>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32033"/>
                </a:solidFill>
                <a:latin typeface="Aptos"/>
              </a:defRPr>
            </a:pPr>
            <a:endParaRPr lang="en-US"/>
          </a:p>
        </c:txPr>
        <c:crossAx val="2094734552"/>
        <c:crosses val="autoZero"/>
        <c:auto val="1"/>
        <c:lblAlgn val="ctr"/>
        <c:lblOffset val="100"/>
        <c:noMultiLvlLbl val="1"/>
      </c:catAx>
      <c:valAx>
        <c:axId val="2094734552"/>
        <c:scaling>
          <c:orientation val="minMax"/>
          <c:max val="0.17"/>
          <c:min val="0"/>
        </c:scaling>
        <c:delete val="0"/>
        <c:axPos val="l"/>
        <c:majorGridlines>
          <c:spPr>
            <a:ln w="6350" cap="flat">
              <a:solidFill>
                <a:srgbClr val="E3E9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D7C8F"/>
                </a:solidFill>
                <a:latin typeface="Aptos"/>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latin typeface="Aptos"/>
              <a:cs typeface="Aptos"/>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59673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(slides 1-3 total 4 min).
INSTRUCTOR: Read the text in the card aloud: "claim your prize tonight." Ask: "Scam or legit, and how sure are you?" Most students will say scam. Point out that one word ("tonight") is ordinary, friendly-text language. By the end of class students will compute exactly this message: the bars (0.68 scam) are the answer they will reach on slide 22, after discovering why a naive version of the math gets it catastrophically wrong.
The four stage labels (Prior, Words, Multiply, Decide) are the lesson's storyline.
CENTRAL CLAIM: Naive Bayes classifies text by weighing each word as evidence against a starting belief. Treating words as independent makes it fast but overconfident, and a single zero count can veto everything, which is why smoothing is required.
ASSESSMENT ALIGNMENT: Framing only. [Confirm lesson placement and assessment timing against the syllabus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Retrieve the L26 LDA worked example: the transaction's evidence was 15 times more likely under fraud, yet fraud was so rare (4%) that the posterior was only about 0.39. That was Bayes' rule: prior x likelihood, then normalize. Also recall the accuracy trap: rare classes are hard.
Today is the same rule. Two things change: (1) the features are words, not numbers, and (2) the likelihoods come from counting words in training data instead of from bell curves.
Turn-and-talk answer: the prior. Fraud was only 4% of transactions, and 0.30 x 0.04 &lt; 0.02 x 0.96.
CONNECTION: L26 = numeric features; L27 = text features. Same "Understanding AI" arc.
ASSESSMENT ALIGNMENT: Retrieval for Objective 1 (Bayes posterior).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Objective 1 = Part 1 (Bayes' theorem). Objective 2 = Part 2 (Naive Bayes on text). Objective 3 = Parts 3 and 4 (the two ways the naive math breaks, and the fix for the second one). Point to the performance target: students will do exactly this on slide 23 (practice) and on the exit ticket.
DESIGN NOTE: The source lesson listed four objectives (apply NB, interpret independence, compute class probabilities, implement smoothing). They are compressed into three here without dropping any content.
ASSESSMENT ALIGNMENT: Objectives map to the lesson Knowledge Check: Q1 (why "naive") = Objective 3; Q2 and Q3 (unseen word, smoothing) = Objective 3. [Map to specific GR, quiz, Blackboard homework, and 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(Part 1 total 12 min).
INSTRUCTOR: Introduce the running problem. Ask students which words in the three texts feel like evidence, and for which class. Expected: "claim," "free," "prize," "now" feel scammy; "call," "tonight," "running late" feel like a friend. Emphasize that no single word proves anything; each word shifts the odds. That is the whole lesson.
Setup facts that will recur: about 20% of training texts are scams (prior 0.2); positive class = scam; features = words in the message.
CONNECTION: This is the text cousin of L26's fraud detector (same color code: orange = the rare positive class).
ASSESSMENT ALIGNMENT: Establishes vocabulary (prior, features, positive class) for Objectives 1-2.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INSTRUCTOR: Before reading a text, the best guess is the base rate: 20% of texts are scams. Then we notice the word "free." Our belief should jump, and the math on the next slides says it jumps to 75%. Bayes' theorem is just the arithmetic of changing your mind by the right amount.
ACCESSIBLE ANALOGY: A smoke alarm going off while someone is searing steak versus at 3 a.m. in an empty kitchen. Same evidence, different prior, different conclusion.
MILITARY ANALOGY (verbal): An unidentified radar contact near a home base versus near a contested border. The contact is the same evidence; the prior of hostile intent differs.
ASSESSMENT ALIGNMENT: Objective 1 (prior, evidence, posterior vocabulary).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Color-code each term and pair it with its question.
Posterior P(scam | free): what we want. Likelihood P(free | scam): how typical is this evidence of scams. Prior P(scam): how common scams are. Evidence P(free): how common the word is overall, across both classes; it rescales the answer into a probability.
The values under each card come from the next slide's grid: 0.75 = 0.60 x 0.20 / 0.16. Do not compute yet; next slide counts it out.
Read the vertical bar "|" as "among" or "given": P(free | scam) = among scam texts, the fraction containing "free."
SOURCE NOTE: James et al. (2023), ISL, p. 158.
ASSESSMENT ALIGNMENT: Objective 1 (identify prior, likelihood, posterior).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100 recent texts: the top two rows (20) are scams, the rest (80) are legit. Bright shapes contain the word "free": 12 of the 20 scams and 4 of the 80 legit texts. Ask: "A new text says 'free.' Which pile is it from?" Restrict attention to the 16 bright shapes; 12 of them are scams. P(scam | free) = 12/16 = 0.75.
Point out that the denominator (16) IS the evidence term P(free) = 16/100 = 0.16 from the previous slide. The formula is just this counting written in probabilities.
WHY THIS WORKS: Natural frequencies (counts out of 100) are the most reliable way to build Bayes intuition; students who get lost in the formula can always fall back on this picture.
ASSESSMENT ALIGNMENT: Objective 1 (compute a posterior). Original numbers.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COMPUTE: numerator = likelihood x prior = 0.60 x 0.20 = 0.12 (the 12 bright scams, as a fraction of 100). Denominator = all ways to see "free" = 0.60 x 0.20 + 0.05 x 0.80 = 0.12 + 0.04 = 0.16. Posterior = 0.12 / 0.16 = 0.75. Matches the count.
INTERPRET: "Free" is 12 times more likely in scams (0.60 vs. 0.05). That evidence moved the belief from 20% to 75%.
PREDICT: Suppose a different carrier where only 5% of texts are scams. Same word, same likelihoods: 0.60 x 0.05 = 0.03; 0.05 x 0.95 = 0.0475; posterior = 0.03 / 0.0775, about 0.39. The same evidence is no longer enough. This is exactly the L26 base-rate lesson.
WATCH FOR: Students forgetting the second term in the denominator (the legit texts that also say "free").
ASSESSMENT ALIGNMENT: Objective 1 (compute and interpret a posterior; effect of the prior).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(Can be folded into slide 8's notes if running long.)
INSTRUCTOR: The most common Bayes error is swapping the two sides of the bar. Walk each card back to the grid on slide 7:
P(free | scam) = among the 20 scams, 12 say "free" = 0.60.
P(scam | free) = among the 16 texts that say "free," 12 are scams = 0.75.
P(legit | free) = 4 of 16 = 0.25, even though only 5% of legit texts say "free." Because legit texts are so common, even a rare word shows up in a meaningful number of them.
Rule: read what comes AFTER the bar first. That is the group you are looking inside.
MILITARY/ENGINEERING PARALLEL (verbal): P(alarm | intrusion) can be 0.99 while P(intrusion | alarm) is small, if intrusions are rare and alarms have false positives. That is why SOC analysts drown in alerts.
ASSESSMENT ALIGNMENT: Objective 1 (interpret conditional probabilities correctly; likelihood vs. posterior).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(Part 2 total 15 min).
INSTRUCTOR: One word was easy. A real text has many words. Could we look up P(this exact message | scam)? The exact sentence has never appeared in training, so its count is 0, and so would almost every new message's be. Language has too many possible sentences.
The fix: break the message into pieces we HAVE seen. Individual words appear many times in training (counts shown are scam + legit totals from the training table students will see on slide 13).
Ask: "What do we lose by breaking it apart?" (Order, and how the words relate to each other.) That is exactly the "naive" part, coming up.
ASSESSMENT ALIGNMENT: Objective 2 (motivation for the bag-of-words / naive factorization).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A bag of words throws every word of the message into a bag and forgets their order. "call me now" and "now call me" become the same bag, so the model must give them the same prediction.
What gets thrown away: order and relationships. The painful example: "this is not a scam" and "this is a scam" differ by one word the model may barely weigh. Fixes exist (e.g., counting word pairs, called bigrams or n-grams) but are not part of today's lesson.
Why accept the loss? Counting single words needs far less data, and it works surprisingly well for filtering.
MILITARY/ENGINEERING PARALLEL (verbal): Early message-triage systems for radio or email traffic used exactly this approach because it is fast and needs little labeled data.
ASSESSMENT ALIGNMENT: Objective 2 (bag-of-words representation; what it ignores).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Given the class, Naive Bayes assumes each word appears independently of the others. That lets us replace "probability of the whole message" with a product of per-word probabilities, each of which we can count.
Score for class C = prior x one likelihood per word. The proportional sign means we dropped the denominator P(words): it is identical for scam and legit, so it cannot change which score is larger. To get an actual probability, divide each score by the sum of the scores (normalize), exactly like 12 / (12 + 4).
Point at the chain graphic: this is the picture students will fill in for every worked example today.
SOURCE NOTE: James et al. (2023), ISL, p. 158 (naive Bayes independence assumption).
ASSESSMENT ALIGNMENT: Objective 2 (Naive Bayes scoring rule); Objective 3 (what "naive" means).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This toy training set is small enough to compute by hand (a real one has thousands of texts). The scam texts contain 40 words in total; the legit texts contain 160. The vocabulary has 40 unique words; six matter today and the rest are grouped as "other."
Likelihood = count of the word in that class / total words in that class. Worked: P(free | scam) = 6/40 = 0.15; P(free | legit) = 2/160 = 0.0125.
Pairs compute the "call" row: P(call | scam) = 2/40 = 0.05; P(call | legit) = 12/160 = 0.075.
Point at the tonight row: scam count 0. Ask students to remember it; it becomes the villain in Part 4.
Priors: 0.2 scam, 0.8 legit (the same base rate as the grid).
ASSESSMENT ALIGNMENT: Objective 2 (estimate likelihoods from counts). Original numbers.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Fill the chains from the table on slide 13, one chip at a time.
SCAM: 0.2 x 0.15 (free) x 0.05 (call) x 0.10 (now) = 0.00015 = 1.5 x 10^-4.
LEGIT: 0.8 x 0.0125 x 0.075 x 0.0375 = 0.000028125, about 2.8 x 10^-5.
The scam score is larger, so classify as scam. The bars show the scam score is about 5 times the legit score.
Scores are tiny because they multiply many numbers below 1. That is normal; only their relative size matters. With hundreds of words they get so small computers underflow (backup B1: log-probabilities).
WATCH FOR: Students forgetting the prior, or using message-level percentages instead of the per-word table values.
ASSESSMENT ALIGNMENT: Objective 2 (compute class scores and classify).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INSTRUCTOR:
NORMALIZE: P(scam | message) = 1.5 / (1.5 + 0.28) = about 0.84. Same move as 12 / (12 + 4) on slide 7.
INTERPRET with the tug-of-war row: divide each word's two likelihoods to see which class it favors and how strongly. "free" = 0.15 / 0.0125 = 12x toward scam. "now" = 0.10 / 0.0375, about 2.7x toward scam. "call" = 0.075 / 0.05 = 1.5x toward LEGIT. So not every word agreed; "call" pulled the other way, but it was outweighed. The prior (4 to 1 in favor of legit) also pulled toward legit.
PREDICT (cliffhanger): What if the text also contained "tonight"? Look at the table: its scam count is 0, so P(tonight | scam) = 0. Multiply anything by 0... Let students say it. Resolve in Part 4.
ASSESSMENT ALIGNMENT: Objective 2 (normalize scores into probabilities; interpret per-word evidence).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(pairs). If short on time, assign as homework.
ANSWERS (do not show until pairs finish):
Scam score = 0.2 x 0.10 x 0.10 = 0.002.
Legit score = 0.8 x 0.00625 x 0.0375 = 0.0001875, about 0.00019.
P(scam | message) = 0.002 / (0.002 + 0.0001875), about 0.91. Classify as scam.
Which word did more work? "claim": 0.10 / 0.00625 = 16x toward scam, versus "now" at about 2.7x.
WATCH FOR: 1/160 = 0.00625 (students often write 0.0625).
ASSESSMENT ALIGNMENT: Objective 2 (independent practice: score, classify, normalize).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(Part 3 total 7 min).
INSTRUCTOR: The independence assumption says: once you know a text is a scam, seeing "gift" tells you nothing about whether "card" also appears. That is obviously false: "gift" and "card" almost always appear together. Naive Bayes still treats them as two separate clues, so the same underlying fact ("this text mentions a gift card") is counted twice.
Ask for more pairs from everyday text: "click here," "verify account," "happy birthday," "running late."
MILITARY/ENGINEERING EXAMPLE (verbal): Aircraft maintenance write-ups: "hydraulic" and "leak" appear together constantly. A Naive Bayes triage model would count one hydraulic leak as two pieces of evidence. Knowledge Check Q1 asks for an example like this.
ASSESSMENT ALIGNMENT: Objective 3; Knowledge Check Q1 (why "naive," and an example of the violation).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2.5 min.
SETUP: P(gift | scam) = 0.10 and P(gift | legit) = 0.02. "card" has the same values and always appears with "gift," so the phrase is really one clue with these likelihoods. Priors 0.2 / 0.8.
COMPUTE (counted once): scam 0.2 x 0.10 = 0.02; legit 0.8 x 0.02 = 0.016; P(scam) = 0.02 / 0.036, about 0.56.
COMPUTE (Naive Bayes, counted twice): scam 0.2 x 0.10 x 0.10 = 0.002; legit 0.8 x 0.02 x 0.02 = 0.00032; P(scam) = 0.002 / 0.00232, about 0.86.
INTERPRET: Same decision (scam), but Naive Bayes is far more confident than the evidence justifies: 0.86 vs. 0.56.
PREDICT: Now add one more word that is 2x more common in legit texts. Counted once: odds 1.25 x 0.5 = 0.625, P about 0.38, so LEGIT. Naive Bayes: odds 6.25 x 0.5 = 3.125, P about 0.76, so SCAM. Double counting flipped the decision. It usually just inflates confidence, but near the boundary it can change the answer.
ASSESSMENT ALIGNMENT: Objective 3 (consequences of the independence assumption). Original numbers.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INSTRUCTOR: On the axis, both the honest 0.56 and the naive 0.86 fall on the scam side of the 0.5 threshold, so the classification is the same. This is why Naive Bayes works well as a filter despite its false assumption: it tends to rank messages correctly even when the probabilities are poorly calibrated.
The practical warning connects to L26 (slide 17, moving the threshold): if you tune a threshold for a precision or recall target using raw Naive Bayes probabilities, the numbers can mislead you, because a reported 0.99 may really be closer to 0.6. Near the boundary, as the last slide showed, double counting can also flip the decision.
Takeaway: trust the ranking, not the percentage.
ASSESSMENT ALIGNMENT: Objective 3 (interpret overconfident probabilities vs. decisions); connects to L26 Objective 2.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 (Part 4 total 11 min).
INSTRUCTOR: Resolve the cliffhanger. The message "claim prize tonight" has two strong scam words, but "tonight" never appeared in any scam text in training, so P(tonight | scam) = 0/40 = 0. Multiplication by zero wipes out the scam score no matter how strong the other evidence is.
SCAM: 0.2 x 0.10 x 0.075 x 0 = 0. LEGIT: 0.8 x 0.00625 x 0.00625 x 0.05, about 1.56 x 10^-6. Legit wins by veto, even though "claim" is 16x and "prize" is 12x more likely in scams.
Why is a zero count wrong? It says "a scam text can NEVER contain 'tonight,'" when really our small training set just hasn't seen one yet. Scammers can simply add a friendly word to slip through.
KNOWLEDGE CHECK Q2: With an unseen word and no smoothing, that class's likelihood is 0, so its score (and posterior) collapses to 0. If the word is unseen in every class, every score is 0 and normalizing becomes 0/0.
ASSESSMENT ALIGNMENT: Objective 3; Knowledge Check Q2 (zero-frequency failure).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INSTRUCTOR: Add alpha (usually 1) to every word's count, and add alpha x |V| to the class total so the probabilities still sum to 1 (one extra count for each of the |V| vocabulary words).
For our scam class: denominator = 40 + 1 x 40 = 80. For legit: 160 + 40 = 200.
COMPUTE: P(tonight | scam) = (0 + 1) / 80 = 0.0125: small, but no longer impossible. P(free | scam) = (6 + 1) / 80 = 0.0875, down from 0.15.
Chart: every scam likelihood moves toward the uniform value 1/40 = 0.025. Big values shrink, the zero rises. Smoothing changes ALL the likelihoods, not just the zeros.
Classes with little training text (our scam class, only 40 words) are affected more.
KNOWLEDGE CHECK Q3: smoothing guarantees every likelihood is greater than 0, so no single word can veto a class.
ASSESSMENT ALIGNMENT: Objective 3; Knowledge Check Q3 (compute smoothed likelihoods).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INSTRUCTOR:
COMPUTE (smoothed): scam: claim (4+1)/80, prize (3+1)/80, tonight (0+1)/80. Score = 0.2 x 5/80 x 4/80 x 1/80, about 7.8 x 10^-6. Legit: claim (1+1)/200, prize (1+1)/200, tonight (8+1)/200. Score = 0.8 x 2/200 x 2/200 x 9/200 = 3.6 x 10^-6.
Normalize: 7.8 / (7.8 + 3.6), about 0.68. The decision flips to scam. (This is the title-slide result.)
INTERPRET: "tonight" still counts as evidence for legit (0.0125 vs. 0.045, about 3.6x toward legit). It just can no longer veto everything else. Smoothing turned an absolute veto into an ordinary vote.
PREDICT: What happens with a huge alpha, say 1,000? Every likelihood approaches 1/|V| = 0.025 in both classes, so the words stop distinguishing the classes and the prior decides (0.8 legit). Too much smoothing = high bias. Callback to L26: alpha is a knob on the bias-variance tradeoff.
A WORD NOBODY HAS SEEN (Knowledge Check Q2 variant): a word outside the vocabulary entirely is usually just dropped by real implementations (e.g., scikit-learn ignores unknown words). If it is included, it gets the same small smoothed value in each class and barely changes the decision.
ASSESSMENT ALIGNMENT: Objective 3; Knowledge Check Q3.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 (pairs). If short on time, assign as homework.
ANSWERS (do not show until pairs finish):
1. Unsmoothed: critical = 0.3 x 0/50 x 4/50 x 5/50 = 0 (veto by "minor"). Routine = 0.7 x 9/150 x 3/150 x 1/150 = 0.7 x 8 x 10^-6 = 5.6 x 10^-6. Routine wins.
2. Smoothed (alpha = 1, |V| = 50; denominators 100 and 200): critical = 0.3 x 1/100 x 5/100 x 6/100 = 0.3 x 3 x 10^-5 = 9 x 10^-6. Routine = 0.7 x 10/200 x 4/200 x 2/200 = 0.7 x 1 x 10^-5 = 7 x 10^-6. Critical wins, P(critical) = 9 / 16, about 0.56.
3. A missed safety-critical write-up could ground or lose an aircraft; a false alarm costs an inspection. Prioritize recall (L26), so flag this one, and remember that NB's 0.56 is a ranking, not a calibrated probability.
WATCH FOR: Using |V| = 40 from the scam example instead of 50.
ASSESSMENT ALIGNMENT: Objectives 2-3 (full pipeline: score, veto, smooth, decide) plus L26 metric choice. Original numbers. [Confirm against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(synthesis total 4 min).
INSTRUCTOR: Walk the pipeline once end to end with the rescue example: count words per class, smooth, multiply prior by likelihoods, normalize, decide. Pin the two warnings to where they bite: zeros break the multiply step (fixed by smoothing); correlated words inflate the scores (not fixed; interpret probabilities with caution).
Table: add Naive Bayes to the L26 model comparison. Its decision boundary is linear in the word counts (in log space the score is a weighted sum of counts), like logistic regression and LDA. High bias, low variance: it is fast, needs little data, and is a strong baseline for text.
CONNECTION: Backup B3 contrasts Naive Bayes (models how each class generates words) with logistic regression (models the class directly).
ASSESSMENT ALIGNMENT: Objectives 2-3 synthesis; links to L26 Objective 3. [Confirm against GR/quiz/notebook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 Pairs vote, then discuss quickly.
ANSWERS:
1. Incorrect. 0.60 vs. 0.75 in our example: likelihood and posterior are different quantities.
2. Correct. Bag of words discards order ("call me now" = "now call me").
3. Incorrect. Double counting correlated words makes probabilities overconfident; trust the ranking, not the percentage.
4. Incorrect. Smoothing changes every likelihood (free: 0.15 to 0.0875), not just the zeros.
5. Correct. Without smoothing, P(word | class) = 0 zeros out that class's score.
WATCH FOR: Claim 4 is the most commonly missed.
ASSESSMENT ALIGNMENT: Objectives 1-3 (misconception check). [Confirm against GR/quiz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1.5 min (collect on paper or in Blackboard).
STRONG ANSWERS:
1. Without smoothing, P("mid" | positive) = 0, so the positive score is 0 and the review is classified negative no matter what else it says (a veto).
2. P("mid" | positive) = (0 + 1) / (2,000 + 1 x 1,000) = 1 / 3,000, about 0.00033.
3. Naive Bayes double-counts correlated words (e.g., "waste" and "money"), so its probabilities are overconfident. The ranking is likely right; the 0.999 is not a trustworthy confidence level.
CLOSE: Restate the central claim on the slide.
ASSESSMENT ALIGNMENT: Objectives 2-3 integrated (performance target). [Map to GR/quiz/homework items when available.]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When students ask why real code does not multiply tiny numbers, or before a notebook that prints log-probabilities (e.g., scikit-learn's predict_log_proba).
EXPLAIN: A 200-word email with typical likelihoods around 0.01 has a score near 10^-400. Double-precision floats bottom out around 10^-308, so the product underflows to exactly 0 for every class, a veto by rounding. Taking logs turns the product into a sum, which stays in a comfortable range. Because log is increasing, the class with the larger log-score is the class with the larger score, so decisions are identical.
Worked: ln(0.2) + ln(0.15) + ln(0.05) + ln(0.10) = -1.61 - 1.90 - 3.00 - 2.30 = -8.81, and e^-8.81 is about 1.5 x 10^-4, the scam score from slide 14.
Note: smoothing is still required; log(0) is negative infinity.
ASSESSMENT ALIGNMENT: Enrichment; likely relevant to notebook homework. [Confirm.]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Before notebook work, or if students notice the reading mixes two definitions.
EXPLAIN: Multinomial Naive Bayes (used all lesson) counts every occurrence of every word; P(w | C) = count / total words in class, smoothed with alpha x |V|. Bernoulli Naive Bayes records only whether each vocabulary word is present or absent in a message; P(w | C) = fraction of class messages containing w, smoothed with (count + alpha) / (messages + 2 alpha). Bernoulli also counts the ABSENCE of words as evidence.
The source reading's first example uses message-level percentages ("40% of Urgent messages use this word"), which is Bernoulli-style, but its smoothing formula is multinomial. Pick one per problem.
scikit-learn: MultinomialNB and BernoulliNB (and GaussianNB for continuous features).
ASSESSMENT ALIGNMENT: Enrichment; relevant to notebook homework. [Confirm which variant the notebooks use.]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For students connecting L26 and L27, or Data Science majors.
EXPLAIN: Naive Bayes is generative: it models how each class produces words, P(words | class), then flips with Bayes' rule. Logistic regression is discriminative: it models P(class | words) directly and fits weights to separate the classes. Both produce a boundary that is linear in the features. Classic result (Ng &amp; Jordan, 2002): Naive Bayes reaches its best performance with far less data, while logistic regression usually wins once data is plentiful, because it is not hurt by the independence assumption. This is the bias-variance tradeoff again.
ASSESSMENT ALIGNMENT: Enrichment. [Confirm.]</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62B49"/>
          </a:solidFill>
          <a:ln w="12700">
            <a:solidFill>
              <a:srgbClr val="062B49"/>
            </a:solidFill>
            <a:prstDash val="solid"/>
          </a:ln>
        </p:spPr>
        <p:txBody>
          <a:bodyPr/>
          <a:lstStyle/>
          <a:p>
            <a:endParaRPr lang="en-US"/>
          </a:p>
        </p:txBody>
      </p:sp>
      <p:sp>
        <p:nvSpPr>
          <p:cNvPr id="3" name="Shape 1"/>
          <p:cNvSpPr/>
          <p:nvPr/>
        </p:nvSpPr>
        <p:spPr>
          <a:xfrm>
            <a:off x="0" y="164592"/>
            <a:ext cx="12191695" cy="36576"/>
          </a:xfrm>
          <a:prstGeom prst="rect">
            <a:avLst/>
          </a:prstGeom>
          <a:solidFill>
            <a:srgbClr val="FDB515"/>
          </a:solidFill>
          <a:ln w="12700">
            <a:solidFill>
              <a:srgbClr val="FDB515"/>
            </a:solidFill>
            <a:prstDash val="solid"/>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228600"/>
            <a:ext cx="12191695" cy="6629400"/>
          </a:xfrm>
          <a:prstGeom prst="rect">
            <a:avLst/>
          </a:prstGeom>
          <a:solidFill>
            <a:srgbClr val="F4F8FC"/>
          </a:solidFill>
          <a:ln w="12700">
            <a:solidFill>
              <a:srgbClr val="F4F8FC"/>
            </a:solidFill>
            <a:prstDash val="solid"/>
          </a:ln>
        </p:spPr>
        <p:txBody>
          <a:bodyPr/>
          <a:lstStyle/>
          <a:p>
            <a:endParaRPr lang="en-US"/>
          </a:p>
        </p:txBody>
      </p:sp>
      <p:sp>
        <p:nvSpPr>
          <p:cNvPr id="3" name="Text 1"/>
          <p:cNvSpPr txBox="1"/>
          <p:nvPr/>
        </p:nvSpPr>
        <p:spPr>
          <a:xfrm>
            <a:off x="731520" y="685800"/>
            <a:ext cx="2926080" cy="320040"/>
          </a:xfrm>
          <a:prstGeom prst="rect">
            <a:avLst/>
          </a:prstGeom>
          <a:noFill/>
          <a:ln/>
        </p:spPr>
        <p:txBody>
          <a:bodyPr wrap="square" lIns="0" tIns="0" rIns="0" bIns="0" rtlCol="0" anchor="ctr"/>
          <a:lstStyle/>
          <a:p>
            <a:pPr marL="0" indent="0">
              <a:buNone/>
            </a:pPr>
            <a:r>
              <a:rPr lang="en-US" sz="1800" b="1" dirty="0">
                <a:solidFill>
                  <a:srgbClr val="C9971C"/>
                </a:solidFill>
                <a:latin typeface="Aptos Display" pitchFamily="34" charset="0"/>
                <a:ea typeface="Aptos Display" pitchFamily="34" charset="-122"/>
                <a:cs typeface="Aptos Display" pitchFamily="34" charset="-120"/>
              </a:rPr>
              <a:t>CompSci 471</a:t>
            </a:r>
            <a:endParaRPr lang="en-US" sz="1800" dirty="0"/>
          </a:p>
        </p:txBody>
      </p:sp>
      <p:sp>
        <p:nvSpPr>
          <p:cNvPr id="4" name="Text 2"/>
          <p:cNvSpPr txBox="1"/>
          <p:nvPr/>
        </p:nvSpPr>
        <p:spPr>
          <a:xfrm>
            <a:off x="713232" y="1124712"/>
            <a:ext cx="6309360" cy="685800"/>
          </a:xfrm>
          <a:prstGeom prst="rect">
            <a:avLst/>
          </a:prstGeom>
          <a:noFill/>
          <a:ln/>
        </p:spPr>
        <p:txBody>
          <a:bodyPr wrap="square" lIns="0" tIns="0" rIns="0" bIns="0" rtlCol="0" anchor="ctr"/>
          <a:lstStyle/>
          <a:p>
            <a:pPr marL="0" indent="0">
              <a:buNone/>
            </a:pPr>
            <a:r>
              <a:rPr lang="en-US" sz="4200" b="1" dirty="0">
                <a:solidFill>
                  <a:srgbClr val="0B2D55"/>
                </a:solidFill>
                <a:latin typeface="Aptos Display" pitchFamily="34" charset="0"/>
                <a:ea typeface="Aptos Display" pitchFamily="34" charset="-122"/>
                <a:cs typeface="Aptos Display" pitchFamily="34" charset="-120"/>
              </a:rPr>
              <a:t>Artificial Intelligence</a:t>
            </a:r>
            <a:endParaRPr lang="en-US" sz="4200" dirty="0"/>
          </a:p>
        </p:txBody>
      </p:sp>
      <p:sp>
        <p:nvSpPr>
          <p:cNvPr id="5" name="Text 3"/>
          <p:cNvSpPr txBox="1"/>
          <p:nvPr/>
        </p:nvSpPr>
        <p:spPr>
          <a:xfrm>
            <a:off x="749808" y="1874520"/>
            <a:ext cx="6355080" cy="384048"/>
          </a:xfrm>
          <a:prstGeom prst="rect">
            <a:avLst/>
          </a:prstGeom>
          <a:noFill/>
          <a:ln/>
        </p:spPr>
        <p:txBody>
          <a:bodyPr wrap="square" lIns="0" tIns="0" rIns="0" bIns="0" rtlCol="0" anchor="ctr"/>
          <a:lstStyle/>
          <a:p>
            <a:pPr marL="0" indent="0">
              <a:buNone/>
            </a:pPr>
            <a:r>
              <a:rPr lang="en-US" sz="2100" b="1" dirty="0">
                <a:solidFill>
                  <a:srgbClr val="1D5FA7"/>
                </a:solidFill>
                <a:latin typeface="Aptos" pitchFamily="34" charset="0"/>
                <a:ea typeface="Aptos" pitchFamily="34" charset="-122"/>
                <a:cs typeface="Aptos" pitchFamily="34" charset="-120"/>
              </a:rPr>
              <a:t>Lesson 27: Naive Bayes Classification</a:t>
            </a:r>
            <a:endParaRPr lang="en-US" sz="2100" dirty="0"/>
          </a:p>
        </p:txBody>
      </p:sp>
      <p:sp>
        <p:nvSpPr>
          <p:cNvPr id="6" name="Text 4"/>
          <p:cNvSpPr txBox="1"/>
          <p:nvPr/>
        </p:nvSpPr>
        <p:spPr>
          <a:xfrm>
            <a:off x="749808" y="2450592"/>
            <a:ext cx="6035040" cy="822960"/>
          </a:xfrm>
          <a:prstGeom prst="rect">
            <a:avLst/>
          </a:prstGeom>
          <a:noFill/>
          <a:ln/>
        </p:spPr>
        <p:txBody>
          <a:bodyPr wrap="square" lIns="0" tIns="0" rIns="0" bIns="0" rtlCol="0" anchor="t"/>
          <a:lstStyle/>
          <a:p>
            <a:pPr marL="0" indent="0">
              <a:buNone/>
            </a:pPr>
            <a:r>
              <a:rPr lang="en-US" sz="2000" b="1" dirty="0">
                <a:solidFill>
                  <a:srgbClr val="132033"/>
                </a:solidFill>
                <a:latin typeface="Aptos" pitchFamily="34" charset="0"/>
                <a:ea typeface="Aptos" pitchFamily="34" charset="-122"/>
                <a:cs typeface="Aptos" pitchFamily="34" charset="-120"/>
              </a:rPr>
              <a:t>Every word is evidence. The prior is where you start.</a:t>
            </a:r>
            <a:endParaRPr lang="en-US" sz="2000" dirty="0"/>
          </a:p>
        </p:txBody>
      </p:sp>
      <p:sp>
        <p:nvSpPr>
          <p:cNvPr id="7" name="Shape 5"/>
          <p:cNvSpPr/>
          <p:nvPr/>
        </p:nvSpPr>
        <p:spPr>
          <a:xfrm>
            <a:off x="1143000" y="4279392"/>
            <a:ext cx="1143000" cy="0"/>
          </a:xfrm>
          <a:prstGeom prst="line">
            <a:avLst/>
          </a:prstGeom>
          <a:noFill/>
          <a:ln w="31750">
            <a:solidFill>
              <a:srgbClr val="F2C14E"/>
            </a:solidFill>
            <a:prstDash val="solid"/>
          </a:ln>
        </p:spPr>
        <p:txBody>
          <a:bodyPr/>
          <a:lstStyle/>
          <a:p>
            <a:endParaRPr lang="en-US"/>
          </a:p>
        </p:txBody>
      </p:sp>
      <p:sp>
        <p:nvSpPr>
          <p:cNvPr id="8" name="Text 6"/>
          <p:cNvSpPr txBox="1"/>
          <p:nvPr/>
        </p:nvSpPr>
        <p:spPr>
          <a:xfrm>
            <a:off x="868680"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Prior</a:t>
            </a:r>
            <a:endParaRPr lang="en-US" sz="1450" dirty="0"/>
          </a:p>
        </p:txBody>
      </p:sp>
      <p:sp>
        <p:nvSpPr>
          <p:cNvPr id="9" name="Shape 7"/>
          <p:cNvSpPr/>
          <p:nvPr/>
        </p:nvSpPr>
        <p:spPr>
          <a:xfrm>
            <a:off x="2715768" y="4279392"/>
            <a:ext cx="1143000" cy="0"/>
          </a:xfrm>
          <a:prstGeom prst="line">
            <a:avLst/>
          </a:prstGeom>
          <a:noFill/>
          <a:ln w="31750">
            <a:solidFill>
              <a:srgbClr val="F2C14E"/>
            </a:solidFill>
            <a:prstDash val="solid"/>
          </a:ln>
        </p:spPr>
        <p:txBody>
          <a:bodyPr/>
          <a:lstStyle/>
          <a:p>
            <a:endParaRPr lang="en-US"/>
          </a:p>
        </p:txBody>
      </p:sp>
      <p:sp>
        <p:nvSpPr>
          <p:cNvPr id="10" name="Text 8"/>
          <p:cNvSpPr txBox="1"/>
          <p:nvPr/>
        </p:nvSpPr>
        <p:spPr>
          <a:xfrm>
            <a:off x="2441448"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Words</a:t>
            </a:r>
            <a:endParaRPr lang="en-US" sz="1450" dirty="0"/>
          </a:p>
        </p:txBody>
      </p:sp>
      <p:sp>
        <p:nvSpPr>
          <p:cNvPr id="11" name="Shape 9"/>
          <p:cNvSpPr/>
          <p:nvPr/>
        </p:nvSpPr>
        <p:spPr>
          <a:xfrm>
            <a:off x="4288536" y="4279392"/>
            <a:ext cx="1143000" cy="0"/>
          </a:xfrm>
          <a:prstGeom prst="line">
            <a:avLst/>
          </a:prstGeom>
          <a:noFill/>
          <a:ln w="31750">
            <a:solidFill>
              <a:srgbClr val="F2C14E"/>
            </a:solidFill>
            <a:prstDash val="solid"/>
          </a:ln>
        </p:spPr>
        <p:txBody>
          <a:bodyPr/>
          <a:lstStyle/>
          <a:p>
            <a:endParaRPr lang="en-US"/>
          </a:p>
        </p:txBody>
      </p:sp>
      <p:sp>
        <p:nvSpPr>
          <p:cNvPr id="12" name="Text 10"/>
          <p:cNvSpPr txBox="1"/>
          <p:nvPr/>
        </p:nvSpPr>
        <p:spPr>
          <a:xfrm>
            <a:off x="4014216"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Multiply</a:t>
            </a:r>
            <a:endParaRPr lang="en-US" sz="1450" dirty="0"/>
          </a:p>
        </p:txBody>
      </p:sp>
      <p:sp>
        <p:nvSpPr>
          <p:cNvPr id="13" name="Shape 11"/>
          <p:cNvSpPr/>
          <p:nvPr/>
        </p:nvSpPr>
        <p:spPr>
          <a:xfrm>
            <a:off x="5861304" y="4279392"/>
            <a:ext cx="1143000" cy="0"/>
          </a:xfrm>
          <a:prstGeom prst="line">
            <a:avLst/>
          </a:prstGeom>
          <a:noFill/>
          <a:ln w="31750">
            <a:solidFill>
              <a:srgbClr val="F2C14E"/>
            </a:solidFill>
            <a:prstDash val="solid"/>
          </a:ln>
        </p:spPr>
        <p:txBody>
          <a:bodyPr/>
          <a:lstStyle/>
          <a:p>
            <a:endParaRPr lang="en-US"/>
          </a:p>
        </p:txBody>
      </p:sp>
      <p:sp>
        <p:nvSpPr>
          <p:cNvPr id="14" name="Text 12"/>
          <p:cNvSpPr txBox="1"/>
          <p:nvPr/>
        </p:nvSpPr>
        <p:spPr>
          <a:xfrm>
            <a:off x="5586984" y="4507992"/>
            <a:ext cx="1371600" cy="201168"/>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Decide</a:t>
            </a:r>
            <a:endParaRPr lang="en-US" sz="1450" dirty="0"/>
          </a:p>
        </p:txBody>
      </p:sp>
      <p:sp>
        <p:nvSpPr>
          <p:cNvPr id="15" name="Shape 13"/>
          <p:cNvSpPr/>
          <p:nvPr/>
        </p:nvSpPr>
        <p:spPr>
          <a:xfrm>
            <a:off x="7178040" y="1600200"/>
            <a:ext cx="4343400" cy="3886200"/>
          </a:xfrm>
          <a:prstGeom prst="roundRect">
            <a:avLst>
              <a:gd name="adj" fmla="val 1882"/>
            </a:avLst>
          </a:prstGeom>
          <a:solidFill>
            <a:srgbClr val="FFFFFF"/>
          </a:solidFill>
          <a:ln w="12700">
            <a:solidFill>
              <a:srgbClr val="B8C7D8"/>
            </a:solidFill>
            <a:prstDash val="solid"/>
          </a:ln>
        </p:spPr>
        <p:txBody>
          <a:bodyPr/>
          <a:lstStyle/>
          <a:p>
            <a:endParaRPr lang="en-US"/>
          </a:p>
        </p:txBody>
      </p:sp>
      <p:sp>
        <p:nvSpPr>
          <p:cNvPr id="16" name="Shape 14"/>
          <p:cNvSpPr/>
          <p:nvPr/>
        </p:nvSpPr>
        <p:spPr>
          <a:xfrm>
            <a:off x="7498080" y="1828800"/>
            <a:ext cx="3703320" cy="594360"/>
          </a:xfrm>
          <a:prstGeom prst="roundRect">
            <a:avLst>
              <a:gd name="adj" fmla="val 23077"/>
            </a:avLst>
          </a:prstGeom>
          <a:solidFill>
            <a:srgbClr val="E3E9F0"/>
          </a:solidFill>
          <a:ln w="12700">
            <a:solidFill>
              <a:srgbClr val="E3E9F0"/>
            </a:solidFill>
            <a:prstDash val="solid"/>
          </a:ln>
        </p:spPr>
        <p:txBody>
          <a:bodyPr/>
          <a:lstStyle/>
          <a:p>
            <a:endParaRPr lang="en-US"/>
          </a:p>
        </p:txBody>
      </p:sp>
      <p:sp>
        <p:nvSpPr>
          <p:cNvPr id="17" name="Text 15"/>
          <p:cNvSpPr txBox="1"/>
          <p:nvPr/>
        </p:nvSpPr>
        <p:spPr>
          <a:xfrm>
            <a:off x="7635240" y="1828800"/>
            <a:ext cx="3429000" cy="594360"/>
          </a:xfrm>
          <a:prstGeom prst="rect">
            <a:avLst/>
          </a:prstGeom>
          <a:noFill/>
          <a:ln/>
        </p:spPr>
        <p:txBody>
          <a:bodyPr wrap="square" lIns="0" tIns="0" rIns="0" bIns="0" rtlCol="0" anchor="ctr"/>
          <a:lstStyle/>
          <a:p>
            <a:pPr marL="0" indent="0" algn="ctr">
              <a:buNone/>
            </a:pPr>
            <a:r>
              <a:rPr lang="en-US" sz="1600" b="1" dirty="0">
                <a:solidFill>
                  <a:srgbClr val="132033"/>
                </a:solidFill>
                <a:latin typeface="Aptos" pitchFamily="34" charset="0"/>
                <a:ea typeface="Aptos" pitchFamily="34" charset="-122"/>
                <a:cs typeface="Aptos" pitchFamily="34" charset="-120"/>
              </a:rPr>
              <a:t>claim your prize tonight</a:t>
            </a:r>
            <a:endParaRPr lang="en-US" sz="1600" b="1" dirty="0"/>
          </a:p>
        </p:txBody>
      </p:sp>
      <p:sp>
        <p:nvSpPr>
          <p:cNvPr id="18" name="Shape 16"/>
          <p:cNvSpPr/>
          <p:nvPr/>
        </p:nvSpPr>
        <p:spPr>
          <a:xfrm>
            <a:off x="9345168" y="2487168"/>
            <a:ext cx="0" cy="384048"/>
          </a:xfrm>
          <a:prstGeom prst="line">
            <a:avLst/>
          </a:prstGeom>
          <a:noFill/>
          <a:ln w="22225">
            <a:solidFill>
              <a:srgbClr val="1D5FA7"/>
            </a:solidFill>
            <a:prstDash val="solid"/>
            <a:tailEnd type="triangle"/>
          </a:ln>
        </p:spPr>
        <p:txBody>
          <a:bodyPr/>
          <a:lstStyle/>
          <a:p>
            <a:endParaRPr lang="en-US"/>
          </a:p>
        </p:txBody>
      </p:sp>
      <p:sp>
        <p:nvSpPr>
          <p:cNvPr id="19" name="Shape 17"/>
          <p:cNvSpPr/>
          <p:nvPr/>
        </p:nvSpPr>
        <p:spPr>
          <a:xfrm>
            <a:off x="7543800" y="2971800"/>
            <a:ext cx="1097280" cy="384048"/>
          </a:xfrm>
          <a:prstGeom prst="roundRect">
            <a:avLst>
              <a:gd name="adj" fmla="val 19048"/>
            </a:avLst>
          </a:prstGeom>
          <a:solidFill>
            <a:srgbClr val="D9731A"/>
          </a:solidFill>
          <a:ln w="12700">
            <a:solidFill>
              <a:srgbClr val="D9731A"/>
            </a:solidFill>
            <a:prstDash val="solid"/>
          </a:ln>
        </p:spPr>
        <p:txBody>
          <a:bodyPr/>
          <a:lstStyle/>
          <a:p>
            <a:endParaRPr lang="en-US"/>
          </a:p>
        </p:txBody>
      </p:sp>
      <p:sp>
        <p:nvSpPr>
          <p:cNvPr id="20" name="Text 18"/>
          <p:cNvSpPr txBox="1"/>
          <p:nvPr/>
        </p:nvSpPr>
        <p:spPr>
          <a:xfrm>
            <a:off x="7543800" y="2971800"/>
            <a:ext cx="10972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claim</a:t>
            </a:r>
            <a:endParaRPr lang="en-US" sz="1400" dirty="0"/>
          </a:p>
        </p:txBody>
      </p:sp>
      <p:sp>
        <p:nvSpPr>
          <p:cNvPr id="21" name="Shape 19"/>
          <p:cNvSpPr/>
          <p:nvPr/>
        </p:nvSpPr>
        <p:spPr>
          <a:xfrm>
            <a:off x="8796528" y="2971800"/>
            <a:ext cx="1097280" cy="384048"/>
          </a:xfrm>
          <a:prstGeom prst="roundRect">
            <a:avLst>
              <a:gd name="adj" fmla="val 19048"/>
            </a:avLst>
          </a:prstGeom>
          <a:solidFill>
            <a:srgbClr val="D9731A"/>
          </a:solidFill>
          <a:ln w="12700">
            <a:solidFill>
              <a:srgbClr val="D9731A"/>
            </a:solidFill>
            <a:prstDash val="solid"/>
          </a:ln>
        </p:spPr>
        <p:txBody>
          <a:bodyPr/>
          <a:lstStyle/>
          <a:p>
            <a:endParaRPr lang="en-US"/>
          </a:p>
        </p:txBody>
      </p:sp>
      <p:sp>
        <p:nvSpPr>
          <p:cNvPr id="22" name="Text 20"/>
          <p:cNvSpPr txBox="1"/>
          <p:nvPr/>
        </p:nvSpPr>
        <p:spPr>
          <a:xfrm>
            <a:off x="8796528" y="2971800"/>
            <a:ext cx="10972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prize</a:t>
            </a:r>
            <a:endParaRPr lang="en-US" sz="1400" dirty="0"/>
          </a:p>
        </p:txBody>
      </p:sp>
      <p:sp>
        <p:nvSpPr>
          <p:cNvPr id="23" name="Shape 21"/>
          <p:cNvSpPr/>
          <p:nvPr/>
        </p:nvSpPr>
        <p:spPr>
          <a:xfrm>
            <a:off x="10049256" y="2971800"/>
            <a:ext cx="109728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24" name="Text 22"/>
          <p:cNvSpPr txBox="1"/>
          <p:nvPr/>
        </p:nvSpPr>
        <p:spPr>
          <a:xfrm>
            <a:off x="10049256" y="2971800"/>
            <a:ext cx="109728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tonight</a:t>
            </a:r>
            <a:endParaRPr lang="en-US" sz="1400" dirty="0"/>
          </a:p>
        </p:txBody>
      </p:sp>
      <p:sp>
        <p:nvSpPr>
          <p:cNvPr id="25" name="Shape 23"/>
          <p:cNvSpPr/>
          <p:nvPr/>
        </p:nvSpPr>
        <p:spPr>
          <a:xfrm>
            <a:off x="9345168" y="3429000"/>
            <a:ext cx="0" cy="384048"/>
          </a:xfrm>
          <a:prstGeom prst="line">
            <a:avLst/>
          </a:prstGeom>
          <a:noFill/>
          <a:ln w="22225">
            <a:solidFill>
              <a:srgbClr val="1D5FA7"/>
            </a:solidFill>
            <a:prstDash val="solid"/>
            <a:tailEnd type="triangle"/>
          </a:ln>
        </p:spPr>
        <p:txBody>
          <a:bodyPr/>
          <a:lstStyle/>
          <a:p>
            <a:endParaRPr lang="en-US"/>
          </a:p>
        </p:txBody>
      </p:sp>
      <p:sp>
        <p:nvSpPr>
          <p:cNvPr id="26" name="Text 24"/>
          <p:cNvSpPr txBox="1"/>
          <p:nvPr/>
        </p:nvSpPr>
        <p:spPr>
          <a:xfrm>
            <a:off x="7498080" y="3977640"/>
            <a:ext cx="822960" cy="411480"/>
          </a:xfrm>
          <a:prstGeom prst="rect">
            <a:avLst/>
          </a:prstGeom>
          <a:noFill/>
          <a:ln/>
        </p:spPr>
        <p:txBody>
          <a:bodyPr wrap="square" lIns="0" tIns="0" rIns="0" bIns="0" rtlCol="0" anchor="ctr"/>
          <a:lstStyle/>
          <a:p>
            <a:pPr marL="0" indent="0">
              <a:buNone/>
            </a:pPr>
            <a:r>
              <a:rPr lang="en-US" sz="1500" b="1" dirty="0">
                <a:solidFill>
                  <a:srgbClr val="0B2D55"/>
                </a:solidFill>
                <a:latin typeface="Aptos" pitchFamily="34" charset="0"/>
                <a:ea typeface="Aptos" pitchFamily="34" charset="-122"/>
                <a:cs typeface="Aptos" pitchFamily="34" charset="-120"/>
              </a:rPr>
              <a:t>Scam</a:t>
            </a:r>
            <a:endParaRPr lang="en-US" sz="1500" dirty="0"/>
          </a:p>
        </p:txBody>
      </p:sp>
      <p:sp>
        <p:nvSpPr>
          <p:cNvPr id="27" name="Shape 25"/>
          <p:cNvSpPr/>
          <p:nvPr/>
        </p:nvSpPr>
        <p:spPr>
          <a:xfrm>
            <a:off x="8366760" y="4050792"/>
            <a:ext cx="1616659" cy="274320"/>
          </a:xfrm>
          <a:prstGeom prst="rect">
            <a:avLst/>
          </a:prstGeom>
          <a:solidFill>
            <a:srgbClr val="D9731A"/>
          </a:solidFill>
          <a:ln w="12700">
            <a:solidFill>
              <a:srgbClr val="D9731A"/>
            </a:solidFill>
            <a:prstDash val="solid"/>
          </a:ln>
        </p:spPr>
        <p:txBody>
          <a:bodyPr/>
          <a:lstStyle/>
          <a:p>
            <a:endParaRPr lang="en-US"/>
          </a:p>
        </p:txBody>
      </p:sp>
      <p:sp>
        <p:nvSpPr>
          <p:cNvPr id="28" name="Text 26"/>
          <p:cNvSpPr txBox="1"/>
          <p:nvPr/>
        </p:nvSpPr>
        <p:spPr>
          <a:xfrm>
            <a:off x="10074859" y="3977640"/>
            <a:ext cx="731520" cy="411480"/>
          </a:xfrm>
          <a:prstGeom prst="rect">
            <a:avLst/>
          </a:prstGeom>
          <a:noFill/>
          <a:ln/>
        </p:spPr>
        <p:txBody>
          <a:bodyPr wrap="square" lIns="0" tIns="0" rIns="0" bIns="0" rtlCol="0" anchor="ctr"/>
          <a:lstStyle/>
          <a:p>
            <a:pPr marL="0" indent="0">
              <a:buNone/>
            </a:pPr>
            <a:r>
              <a:rPr lang="en-US" sz="1500" b="1" dirty="0">
                <a:solidFill>
                  <a:srgbClr val="D9731A"/>
                </a:solidFill>
                <a:latin typeface="Aptos" pitchFamily="34" charset="0"/>
                <a:ea typeface="Aptos" pitchFamily="34" charset="-122"/>
                <a:cs typeface="Aptos" pitchFamily="34" charset="-120"/>
              </a:rPr>
              <a:t>0.68</a:t>
            </a:r>
            <a:endParaRPr lang="en-US" sz="1500" dirty="0"/>
          </a:p>
        </p:txBody>
      </p:sp>
      <p:sp>
        <p:nvSpPr>
          <p:cNvPr id="29" name="Text 27"/>
          <p:cNvSpPr txBox="1"/>
          <p:nvPr/>
        </p:nvSpPr>
        <p:spPr>
          <a:xfrm>
            <a:off x="7498080" y="4544568"/>
            <a:ext cx="822960" cy="411480"/>
          </a:xfrm>
          <a:prstGeom prst="rect">
            <a:avLst/>
          </a:prstGeom>
          <a:noFill/>
          <a:ln/>
        </p:spPr>
        <p:txBody>
          <a:bodyPr wrap="square" lIns="0" tIns="0" rIns="0" bIns="0" rtlCol="0" anchor="ctr"/>
          <a:lstStyle/>
          <a:p>
            <a:pPr marL="0" indent="0">
              <a:buNone/>
            </a:pPr>
            <a:r>
              <a:rPr lang="en-US" sz="1500" b="1" dirty="0">
                <a:solidFill>
                  <a:srgbClr val="0B2D55"/>
                </a:solidFill>
                <a:latin typeface="Aptos" pitchFamily="34" charset="0"/>
                <a:ea typeface="Aptos" pitchFamily="34" charset="-122"/>
                <a:cs typeface="Aptos" pitchFamily="34" charset="-120"/>
              </a:rPr>
              <a:t>Legit</a:t>
            </a:r>
            <a:endParaRPr lang="en-US" sz="1500" dirty="0"/>
          </a:p>
        </p:txBody>
      </p:sp>
      <p:sp>
        <p:nvSpPr>
          <p:cNvPr id="30" name="Shape 28"/>
          <p:cNvSpPr/>
          <p:nvPr/>
        </p:nvSpPr>
        <p:spPr>
          <a:xfrm>
            <a:off x="8366760" y="4617720"/>
            <a:ext cx="760781" cy="274320"/>
          </a:xfrm>
          <a:prstGeom prst="rect">
            <a:avLst/>
          </a:prstGeom>
          <a:solidFill>
            <a:srgbClr val="1D5FA7"/>
          </a:solidFill>
          <a:ln w="12700">
            <a:solidFill>
              <a:srgbClr val="1D5FA7"/>
            </a:solidFill>
            <a:prstDash val="solid"/>
          </a:ln>
        </p:spPr>
        <p:txBody>
          <a:bodyPr/>
          <a:lstStyle/>
          <a:p>
            <a:endParaRPr lang="en-US"/>
          </a:p>
        </p:txBody>
      </p:sp>
      <p:sp>
        <p:nvSpPr>
          <p:cNvPr id="31" name="Text 29"/>
          <p:cNvSpPr txBox="1"/>
          <p:nvPr/>
        </p:nvSpPr>
        <p:spPr>
          <a:xfrm>
            <a:off x="9218981" y="4544568"/>
            <a:ext cx="731520" cy="411480"/>
          </a:xfrm>
          <a:prstGeom prst="rect">
            <a:avLst/>
          </a:prstGeom>
          <a:noFill/>
          <a:ln/>
        </p:spPr>
        <p:txBody>
          <a:bodyPr wrap="square" lIns="0" tIns="0" rIns="0" bIns="0" rtlCol="0" anchor="ctr"/>
          <a:lstStyle/>
          <a:p>
            <a:pPr marL="0" indent="0">
              <a:buNone/>
            </a:pPr>
            <a:r>
              <a:rPr lang="en-US" sz="1500" b="1" dirty="0">
                <a:solidFill>
                  <a:srgbClr val="1D5FA7"/>
                </a:solidFill>
                <a:latin typeface="Aptos" pitchFamily="34" charset="0"/>
                <a:ea typeface="Aptos" pitchFamily="34" charset="-122"/>
                <a:cs typeface="Aptos" pitchFamily="34" charset="-120"/>
              </a:rPr>
              <a:t>0.32</a:t>
            </a:r>
            <a:endParaRPr lang="en-US" sz="1500" dirty="0"/>
          </a:p>
        </p:txBody>
      </p:sp>
      <p:sp>
        <p:nvSpPr>
          <p:cNvPr id="32" name="Text 30"/>
          <p:cNvSpPr txBox="1"/>
          <p:nvPr/>
        </p:nvSpPr>
        <p:spPr>
          <a:xfrm>
            <a:off x="7086600" y="5669280"/>
            <a:ext cx="4434840" cy="54864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Scam or legit, and how sure are you?</a:t>
            </a:r>
            <a:endParaRPr lang="en-US" sz="1800" dirty="0"/>
          </a:p>
        </p:txBody>
      </p:sp>
      <p:pic>
        <p:nvPicPr>
          <p:cNvPr id="33" name="Image 0" descr="figs/seal.png"/>
          <p:cNvPicPr>
            <a:picLocks noChangeAspect="1"/>
          </p:cNvPicPr>
          <p:nvPr/>
        </p:nvPicPr>
        <p:blipFill>
          <a:blip r:embed="rId3"/>
          <a:stretch>
            <a:fillRect/>
          </a:stretch>
        </p:blipFill>
        <p:spPr>
          <a:xfrm>
            <a:off x="530352" y="5148072"/>
            <a:ext cx="978408" cy="1005840"/>
          </a:xfrm>
          <a:prstGeom prst="rect">
            <a:avLst/>
          </a:prstGeom>
        </p:spPr>
      </p:pic>
      <p:sp>
        <p:nvSpPr>
          <p:cNvPr id="34" name="Text 31"/>
          <p:cNvSpPr txBox="1"/>
          <p:nvPr/>
        </p:nvSpPr>
        <p:spPr>
          <a:xfrm>
            <a:off x="749808" y="6281928"/>
            <a:ext cx="1645920" cy="228600"/>
          </a:xfrm>
          <a:prstGeom prst="rect">
            <a:avLst/>
          </a:prstGeom>
          <a:noFill/>
          <a:ln/>
        </p:spPr>
        <p:txBody>
          <a:bodyPr wrap="square" lIns="0" tIns="0" rIns="0" bIns="0" rtlCol="0" anchor="ctr"/>
          <a:lstStyle/>
          <a:p>
            <a:pPr marL="0" indent="0">
              <a:buNone/>
            </a:pPr>
            <a:r>
              <a:rPr lang="en-US" sz="1100" dirty="0">
                <a:solidFill>
                  <a:srgbClr val="6D7C8F"/>
                </a:solidFill>
                <a:latin typeface="Aptos" pitchFamily="34" charset="0"/>
                <a:ea typeface="Aptos" pitchFamily="34" charset="-122"/>
                <a:cs typeface="Aptos" pitchFamily="34" charset="-120"/>
              </a:rPr>
              <a:t>Fall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Retrieval: we have already used Bayes’ rule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L26’s LDA weighed evidence against a base rate.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a:t>
            </a:r>
            <a:endParaRPr lang="en-US" sz="850" dirty="0"/>
          </a:p>
        </p:txBody>
      </p:sp>
      <p:sp>
        <p:nvSpPr>
          <p:cNvPr id="7" name="Shape 4"/>
          <p:cNvSpPr/>
          <p:nvPr/>
        </p:nvSpPr>
        <p:spPr>
          <a:xfrm>
            <a:off x="868680" y="1600200"/>
            <a:ext cx="3291840" cy="1965960"/>
          </a:xfrm>
          <a:prstGeom prst="roundRect">
            <a:avLst>
              <a:gd name="adj" fmla="val 3721"/>
            </a:avLst>
          </a:prstGeom>
          <a:solidFill>
            <a:srgbClr val="FFFFFF"/>
          </a:solidFill>
          <a:ln w="12700">
            <a:solidFill>
              <a:srgbClr val="B8C7D8"/>
            </a:solidFill>
            <a:prstDash val="solid"/>
          </a:ln>
        </p:spPr>
        <p:txBody>
          <a:bodyPr/>
          <a:lstStyle/>
          <a:p>
            <a:endParaRPr lang="en-US"/>
          </a:p>
        </p:txBody>
      </p:sp>
      <p:sp>
        <p:nvSpPr>
          <p:cNvPr id="8" name="Shape 5"/>
          <p:cNvSpPr/>
          <p:nvPr/>
        </p:nvSpPr>
        <p:spPr>
          <a:xfrm>
            <a:off x="1097280" y="1783080"/>
            <a:ext cx="283464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9" name="Text 6"/>
          <p:cNvSpPr txBox="1"/>
          <p:nvPr/>
        </p:nvSpPr>
        <p:spPr>
          <a:xfrm>
            <a:off x="1097280" y="1783080"/>
            <a:ext cx="2834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L26  |  Statical Models (LDA, etc.)</a:t>
            </a:r>
            <a:endParaRPr lang="en-US" sz="1400" dirty="0"/>
          </a:p>
        </p:txBody>
      </p:sp>
      <p:sp>
        <p:nvSpPr>
          <p:cNvPr id="10" name="Text 7"/>
          <p:cNvSpPr txBox="1"/>
          <p:nvPr/>
        </p:nvSpPr>
        <p:spPr>
          <a:xfrm>
            <a:off x="1097280" y="2304288"/>
            <a:ext cx="2834640" cy="685800"/>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Bell-curve likelihood × prior, then normalize.</a:t>
            </a:r>
            <a:endParaRPr lang="en-US" sz="1550" dirty="0"/>
          </a:p>
        </p:txBody>
      </p:sp>
      <p:sp>
        <p:nvSpPr>
          <p:cNvPr id="11" name="Text 8"/>
          <p:cNvSpPr txBox="1"/>
          <p:nvPr/>
        </p:nvSpPr>
        <p:spPr>
          <a:xfrm>
            <a:off x="1097280" y="3017520"/>
            <a:ext cx="2834640" cy="457200"/>
          </a:xfrm>
          <a:prstGeom prst="rect">
            <a:avLst/>
          </a:prstGeom>
          <a:noFill/>
          <a:ln/>
        </p:spPr>
        <p:txBody>
          <a:bodyPr wrap="square" lIns="0" tIns="0" rIns="0" bIns="0" rtlCol="0" anchor="t"/>
          <a:lstStyle/>
          <a:p>
            <a:pPr marL="0" indent="0">
              <a:buNone/>
            </a:pPr>
            <a:r>
              <a:rPr lang="en-US" sz="1550" b="1" dirty="0">
                <a:solidFill>
                  <a:srgbClr val="0B2D55"/>
                </a:solidFill>
                <a:latin typeface="Aptos" pitchFamily="34" charset="0"/>
                <a:ea typeface="Aptos" pitchFamily="34" charset="-122"/>
                <a:cs typeface="Aptos" pitchFamily="34" charset="-120"/>
              </a:rPr>
              <a:t>Strong evidence lost to a 4% base rate.</a:t>
            </a:r>
            <a:endParaRPr lang="en-US" sz="1550" dirty="0"/>
          </a:p>
        </p:txBody>
      </p:sp>
      <p:sp>
        <p:nvSpPr>
          <p:cNvPr id="12" name="Shape 9"/>
          <p:cNvSpPr/>
          <p:nvPr/>
        </p:nvSpPr>
        <p:spPr>
          <a:xfrm>
            <a:off x="4434840" y="1600200"/>
            <a:ext cx="3291840" cy="1965960"/>
          </a:xfrm>
          <a:prstGeom prst="roundRect">
            <a:avLst>
              <a:gd name="adj" fmla="val 3721"/>
            </a:avLst>
          </a:prstGeom>
          <a:solidFill>
            <a:srgbClr val="FFFFFF"/>
          </a:solidFill>
          <a:ln w="12700">
            <a:solidFill>
              <a:srgbClr val="B8C7D8"/>
            </a:solidFill>
            <a:prstDash val="solid"/>
          </a:ln>
        </p:spPr>
        <p:txBody>
          <a:bodyPr/>
          <a:lstStyle/>
          <a:p>
            <a:endParaRPr lang="en-US"/>
          </a:p>
        </p:txBody>
      </p:sp>
      <p:sp>
        <p:nvSpPr>
          <p:cNvPr id="13" name="Shape 10"/>
          <p:cNvSpPr/>
          <p:nvPr/>
        </p:nvSpPr>
        <p:spPr>
          <a:xfrm>
            <a:off x="4663440" y="1783080"/>
            <a:ext cx="2834640" cy="384048"/>
          </a:xfrm>
          <a:prstGeom prst="roundRect">
            <a:avLst>
              <a:gd name="adj" fmla="val 19048"/>
            </a:avLst>
          </a:prstGeom>
          <a:solidFill>
            <a:srgbClr val="39A875"/>
          </a:solidFill>
          <a:ln w="12700">
            <a:solidFill>
              <a:srgbClr val="39A875"/>
            </a:solidFill>
            <a:prstDash val="solid"/>
          </a:ln>
        </p:spPr>
        <p:txBody>
          <a:bodyPr/>
          <a:lstStyle/>
          <a:p>
            <a:endParaRPr lang="en-US"/>
          </a:p>
        </p:txBody>
      </p:sp>
      <p:sp>
        <p:nvSpPr>
          <p:cNvPr id="14" name="Text 11"/>
          <p:cNvSpPr txBox="1"/>
          <p:nvPr/>
        </p:nvSpPr>
        <p:spPr>
          <a:xfrm>
            <a:off x="4663440" y="1783080"/>
            <a:ext cx="2834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L26  |  Metrics</a:t>
            </a:r>
            <a:endParaRPr lang="en-US" sz="1400" dirty="0"/>
          </a:p>
        </p:txBody>
      </p:sp>
      <p:sp>
        <p:nvSpPr>
          <p:cNvPr id="15" name="Text 12"/>
          <p:cNvSpPr txBox="1"/>
          <p:nvPr/>
        </p:nvSpPr>
        <p:spPr>
          <a:xfrm>
            <a:off x="4663440" y="2304288"/>
            <a:ext cx="2834640" cy="685800"/>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Rare classes make accuracy misleading.</a:t>
            </a:r>
            <a:endParaRPr lang="en-US" sz="1550" dirty="0"/>
          </a:p>
        </p:txBody>
      </p:sp>
      <p:sp>
        <p:nvSpPr>
          <p:cNvPr id="16" name="Text 13"/>
          <p:cNvSpPr txBox="1"/>
          <p:nvPr/>
        </p:nvSpPr>
        <p:spPr>
          <a:xfrm>
            <a:off x="4663440" y="3017520"/>
            <a:ext cx="2834640" cy="457200"/>
          </a:xfrm>
          <a:prstGeom prst="rect">
            <a:avLst/>
          </a:prstGeom>
          <a:noFill/>
          <a:ln/>
        </p:spPr>
        <p:txBody>
          <a:bodyPr wrap="square" lIns="0" tIns="0" rIns="0" bIns="0" rtlCol="0" anchor="t"/>
          <a:lstStyle/>
          <a:p>
            <a:pPr marL="0" indent="0">
              <a:buNone/>
            </a:pPr>
            <a:r>
              <a:rPr lang="en-US" sz="1550" b="1" dirty="0">
                <a:solidFill>
                  <a:srgbClr val="0B2D55"/>
                </a:solidFill>
                <a:latin typeface="Aptos" pitchFamily="34" charset="0"/>
                <a:ea typeface="Aptos" pitchFamily="34" charset="-122"/>
                <a:cs typeface="Aptos" pitchFamily="34" charset="-120"/>
              </a:rPr>
              <a:t>Scam texts are a rare class too.</a:t>
            </a:r>
            <a:endParaRPr lang="en-US" sz="1550" dirty="0"/>
          </a:p>
        </p:txBody>
      </p:sp>
      <p:sp>
        <p:nvSpPr>
          <p:cNvPr id="17" name="Shape 14"/>
          <p:cNvSpPr/>
          <p:nvPr/>
        </p:nvSpPr>
        <p:spPr>
          <a:xfrm>
            <a:off x="8001000" y="1600200"/>
            <a:ext cx="3291840" cy="1965960"/>
          </a:xfrm>
          <a:prstGeom prst="roundRect">
            <a:avLst>
              <a:gd name="adj" fmla="val 3721"/>
            </a:avLst>
          </a:prstGeom>
          <a:solidFill>
            <a:srgbClr val="FFFFFF"/>
          </a:solidFill>
          <a:ln w="12700">
            <a:solidFill>
              <a:srgbClr val="B8C7D8"/>
            </a:solidFill>
            <a:prstDash val="solid"/>
          </a:ln>
        </p:spPr>
        <p:txBody>
          <a:bodyPr/>
          <a:lstStyle/>
          <a:p>
            <a:endParaRPr lang="en-US"/>
          </a:p>
        </p:txBody>
      </p:sp>
      <p:sp>
        <p:nvSpPr>
          <p:cNvPr id="18" name="Shape 15"/>
          <p:cNvSpPr/>
          <p:nvPr/>
        </p:nvSpPr>
        <p:spPr>
          <a:xfrm>
            <a:off x="8229600" y="1783080"/>
            <a:ext cx="2834640" cy="384048"/>
          </a:xfrm>
          <a:prstGeom prst="roundRect">
            <a:avLst>
              <a:gd name="adj" fmla="val 19048"/>
            </a:avLst>
          </a:prstGeom>
          <a:solidFill>
            <a:srgbClr val="C9971C"/>
          </a:solidFill>
          <a:ln w="12700">
            <a:solidFill>
              <a:srgbClr val="C9971C"/>
            </a:solidFill>
            <a:prstDash val="solid"/>
          </a:ln>
        </p:spPr>
        <p:txBody>
          <a:bodyPr/>
          <a:lstStyle/>
          <a:p>
            <a:endParaRPr lang="en-US"/>
          </a:p>
        </p:txBody>
      </p:sp>
      <p:sp>
        <p:nvSpPr>
          <p:cNvPr id="19" name="Text 16"/>
          <p:cNvSpPr txBox="1"/>
          <p:nvPr/>
        </p:nvSpPr>
        <p:spPr>
          <a:xfrm>
            <a:off x="8229600" y="1783080"/>
            <a:ext cx="283464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L27  |  Today</a:t>
            </a:r>
            <a:endParaRPr lang="en-US" sz="1400" dirty="0"/>
          </a:p>
        </p:txBody>
      </p:sp>
      <p:sp>
        <p:nvSpPr>
          <p:cNvPr id="20" name="Text 17"/>
          <p:cNvSpPr txBox="1"/>
          <p:nvPr/>
        </p:nvSpPr>
        <p:spPr>
          <a:xfrm>
            <a:off x="8229600" y="2304288"/>
            <a:ext cx="2834640" cy="685800"/>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Same rule. The features are words.</a:t>
            </a:r>
            <a:endParaRPr lang="en-US" sz="1550" dirty="0"/>
          </a:p>
        </p:txBody>
      </p:sp>
      <p:sp>
        <p:nvSpPr>
          <p:cNvPr id="21" name="Text 18"/>
          <p:cNvSpPr txBox="1"/>
          <p:nvPr/>
        </p:nvSpPr>
        <p:spPr>
          <a:xfrm>
            <a:off x="8229600" y="3017520"/>
            <a:ext cx="2834640" cy="457200"/>
          </a:xfrm>
          <a:prstGeom prst="rect">
            <a:avLst/>
          </a:prstGeom>
          <a:noFill/>
          <a:ln/>
        </p:spPr>
        <p:txBody>
          <a:bodyPr wrap="square" lIns="0" tIns="0" rIns="0" bIns="0" rtlCol="0" anchor="t"/>
          <a:lstStyle/>
          <a:p>
            <a:pPr marL="0" indent="0">
              <a:buNone/>
            </a:pPr>
            <a:r>
              <a:rPr lang="en-US" sz="1550" b="1" dirty="0">
                <a:solidFill>
                  <a:srgbClr val="0B2D55"/>
                </a:solidFill>
                <a:latin typeface="Aptos" pitchFamily="34" charset="0"/>
                <a:ea typeface="Aptos" pitchFamily="34" charset="-122"/>
                <a:cs typeface="Aptos" pitchFamily="34" charset="-120"/>
              </a:rPr>
              <a:t>Likelihoods come from counting.</a:t>
            </a:r>
            <a:endParaRPr lang="en-US" sz="1550" dirty="0"/>
          </a:p>
        </p:txBody>
      </p:sp>
      <p:sp>
        <p:nvSpPr>
          <p:cNvPr id="22" name="Text 19"/>
          <p:cNvSpPr txBox="1"/>
          <p:nvPr/>
        </p:nvSpPr>
        <p:spPr>
          <a:xfrm>
            <a:off x="868680" y="3840480"/>
            <a:ext cx="10515600" cy="868680"/>
          </a:xfrm>
          <a:prstGeom prst="rect">
            <a:avLst/>
          </a:prstGeom>
          <a:noFill/>
          <a:ln/>
        </p:spPr>
        <p:txBody>
          <a:bodyPr wrap="square" lIns="0" tIns="0" rIns="0" bIns="0" rtlCol="0" anchor="ctr"/>
          <a:lstStyle/>
          <a:p>
            <a:pPr marL="0" indent="0" algn="ctr">
              <a:buNone/>
            </a:pPr>
            <a:r>
              <a:rPr lang="en-US" sz="2600" b="1" dirty="0">
                <a:solidFill>
                  <a:srgbClr val="0B2D55"/>
                </a:solidFill>
                <a:latin typeface="Aptos" pitchFamily="34" charset="0"/>
                <a:ea typeface="Aptos" pitchFamily="34" charset="-122"/>
                <a:cs typeface="Aptos" pitchFamily="34" charset="-120"/>
              </a:rPr>
              <a:t>What changes when the evidence is text instead of numbers?</a:t>
            </a:r>
            <a:endParaRPr lang="en-US" sz="2600" dirty="0"/>
          </a:p>
        </p:txBody>
      </p:sp>
      <p:sp>
        <p:nvSpPr>
          <p:cNvPr id="23" name="Shape 20"/>
          <p:cNvSpPr/>
          <p:nvPr/>
        </p:nvSpPr>
        <p:spPr>
          <a:xfrm>
            <a:off x="2194560" y="4983480"/>
            <a:ext cx="7772400" cy="685800"/>
          </a:xfrm>
          <a:prstGeom prst="roundRect">
            <a:avLst>
              <a:gd name="adj" fmla="val 10667"/>
            </a:avLst>
          </a:prstGeom>
          <a:solidFill>
            <a:srgbClr val="FFF4CE"/>
          </a:solidFill>
          <a:ln w="12700">
            <a:solidFill>
              <a:srgbClr val="F2C14E"/>
            </a:solidFill>
            <a:prstDash val="solid"/>
          </a:ln>
        </p:spPr>
        <p:txBody>
          <a:bodyPr/>
          <a:lstStyle/>
          <a:p>
            <a:endParaRPr lang="en-US"/>
          </a:p>
        </p:txBody>
      </p:sp>
      <p:sp>
        <p:nvSpPr>
          <p:cNvPr id="24" name="Text 21"/>
          <p:cNvSpPr txBox="1"/>
          <p:nvPr/>
        </p:nvSpPr>
        <p:spPr>
          <a:xfrm>
            <a:off x="2377440" y="4983480"/>
            <a:ext cx="7406640" cy="685800"/>
          </a:xfrm>
          <a:prstGeom prst="rect">
            <a:avLst/>
          </a:prstGeom>
          <a:noFill/>
          <a:ln/>
        </p:spPr>
        <p:txBody>
          <a:bodyPr wrap="square" lIns="0" tIns="0" rIns="0" bIns="0" rtlCol="0" anchor="ctr"/>
          <a:lstStyle/>
          <a:p>
            <a:pPr marL="0" indent="0" algn="ctr">
              <a:buNone/>
            </a:pPr>
            <a:r>
              <a:rPr lang="en-US" sz="1600" b="1" dirty="0">
                <a:solidFill>
                  <a:srgbClr val="0B2D55"/>
                </a:solidFill>
                <a:latin typeface="Aptos" pitchFamily="34" charset="0"/>
                <a:ea typeface="Aptos" pitchFamily="34" charset="-122"/>
                <a:cs typeface="Aptos" pitchFamily="34" charset="-120"/>
              </a:rPr>
              <a:t>Turn and talk (45 s): in L26, why did evidence 15× stronger for fraud still lose?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Today’s mission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By the end of Lesson 27, you should be able to…</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3</a:t>
            </a:r>
            <a:endParaRPr lang="en-US" sz="850" dirty="0"/>
          </a:p>
        </p:txBody>
      </p:sp>
      <p:sp>
        <p:nvSpPr>
          <p:cNvPr id="7" name="Shape 4"/>
          <p:cNvSpPr/>
          <p:nvPr/>
        </p:nvSpPr>
        <p:spPr>
          <a:xfrm>
            <a:off x="960120" y="1773936"/>
            <a:ext cx="502920" cy="502920"/>
          </a:xfrm>
          <a:prstGeom prst="ellipse">
            <a:avLst/>
          </a:prstGeom>
          <a:solidFill>
            <a:srgbClr val="0B2D55"/>
          </a:solidFill>
          <a:ln w="12700">
            <a:solidFill>
              <a:srgbClr val="0B2D55"/>
            </a:solidFill>
            <a:prstDash val="solid"/>
          </a:ln>
        </p:spPr>
        <p:txBody>
          <a:bodyPr/>
          <a:lstStyle/>
          <a:p>
            <a:endParaRPr lang="en-US"/>
          </a:p>
        </p:txBody>
      </p:sp>
      <p:sp>
        <p:nvSpPr>
          <p:cNvPr id="8" name="Text 5"/>
          <p:cNvSpPr txBox="1"/>
          <p:nvPr/>
        </p:nvSpPr>
        <p:spPr>
          <a:xfrm>
            <a:off x="960120" y="1773936"/>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1</a:t>
            </a:r>
            <a:endParaRPr lang="en-US" sz="2000" dirty="0"/>
          </a:p>
        </p:txBody>
      </p:sp>
      <p:sp>
        <p:nvSpPr>
          <p:cNvPr id="9" name="Text 6"/>
          <p:cNvSpPr txBox="1"/>
          <p:nvPr/>
        </p:nvSpPr>
        <p:spPr>
          <a:xfrm>
            <a:off x="1691640" y="1645920"/>
            <a:ext cx="9601200" cy="777240"/>
          </a:xfrm>
          <a:prstGeom prst="rect">
            <a:avLst/>
          </a:prstGeom>
          <a:noFill/>
          <a:ln/>
        </p:spPr>
        <p:txBody>
          <a:bodyPr wrap="square" lIns="0" tIns="0" rIns="0" bIns="0" rtlCol="0" anchor="ctr"/>
          <a:lstStyle/>
          <a:p>
            <a:pPr marL="0" indent="0">
              <a:buNone/>
            </a:pPr>
            <a:r>
              <a:rPr lang="en-US" sz="2000" b="1" dirty="0">
                <a:solidFill>
                  <a:srgbClr val="132033"/>
                </a:solidFill>
                <a:latin typeface="Aptos" pitchFamily="34" charset="0"/>
                <a:ea typeface="Aptos" pitchFamily="34" charset="-122"/>
                <a:cs typeface="Aptos" pitchFamily="34" charset="-120"/>
              </a:rPr>
              <a:t>Compute and interpret a posterior with Bayes’ theorem: prior × likelihood, then normalize.</a:t>
            </a:r>
            <a:endParaRPr lang="en-US" sz="2000" dirty="0"/>
          </a:p>
        </p:txBody>
      </p:sp>
      <p:sp>
        <p:nvSpPr>
          <p:cNvPr id="10" name="Shape 7"/>
          <p:cNvSpPr/>
          <p:nvPr/>
        </p:nvSpPr>
        <p:spPr>
          <a:xfrm>
            <a:off x="960120" y="2852928"/>
            <a:ext cx="502920" cy="502920"/>
          </a:xfrm>
          <a:prstGeom prst="ellipse">
            <a:avLst/>
          </a:prstGeom>
          <a:solidFill>
            <a:srgbClr val="0B2D55"/>
          </a:solidFill>
          <a:ln w="12700">
            <a:solidFill>
              <a:srgbClr val="0B2D55"/>
            </a:solidFill>
            <a:prstDash val="solid"/>
          </a:ln>
        </p:spPr>
        <p:txBody>
          <a:bodyPr/>
          <a:lstStyle/>
          <a:p>
            <a:endParaRPr lang="en-US"/>
          </a:p>
        </p:txBody>
      </p:sp>
      <p:sp>
        <p:nvSpPr>
          <p:cNvPr id="11" name="Text 8"/>
          <p:cNvSpPr txBox="1"/>
          <p:nvPr/>
        </p:nvSpPr>
        <p:spPr>
          <a:xfrm>
            <a:off x="960120" y="2852928"/>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2</a:t>
            </a:r>
            <a:endParaRPr lang="en-US" sz="2000" dirty="0"/>
          </a:p>
        </p:txBody>
      </p:sp>
      <p:sp>
        <p:nvSpPr>
          <p:cNvPr id="12" name="Text 9"/>
          <p:cNvSpPr txBox="1"/>
          <p:nvPr/>
        </p:nvSpPr>
        <p:spPr>
          <a:xfrm>
            <a:off x="1691640" y="2724912"/>
            <a:ext cx="9601200" cy="777240"/>
          </a:xfrm>
          <a:prstGeom prst="rect">
            <a:avLst/>
          </a:prstGeom>
          <a:noFill/>
          <a:ln/>
        </p:spPr>
        <p:txBody>
          <a:bodyPr wrap="square" lIns="0" tIns="0" rIns="0" bIns="0" rtlCol="0" anchor="ctr"/>
          <a:lstStyle/>
          <a:p>
            <a:pPr marL="0" indent="0">
              <a:buNone/>
            </a:pPr>
            <a:r>
              <a:rPr lang="en-US" sz="2000" b="1" dirty="0">
                <a:solidFill>
                  <a:srgbClr val="132033"/>
                </a:solidFill>
                <a:latin typeface="Aptos" pitchFamily="34" charset="0"/>
                <a:ea typeface="Aptos" pitchFamily="34" charset="-122"/>
                <a:cs typeface="Aptos" pitchFamily="34" charset="-120"/>
              </a:rPr>
              <a:t>Classify a text message with Naive Bayes: estimate word likelihoods from counts, score each class, and convert scores to probabilities.</a:t>
            </a:r>
            <a:endParaRPr lang="en-US" sz="2000" dirty="0"/>
          </a:p>
        </p:txBody>
      </p:sp>
      <p:sp>
        <p:nvSpPr>
          <p:cNvPr id="13" name="Shape 10"/>
          <p:cNvSpPr/>
          <p:nvPr/>
        </p:nvSpPr>
        <p:spPr>
          <a:xfrm>
            <a:off x="960120" y="3931920"/>
            <a:ext cx="502920" cy="502920"/>
          </a:xfrm>
          <a:prstGeom prst="ellipse">
            <a:avLst/>
          </a:prstGeom>
          <a:solidFill>
            <a:srgbClr val="0B2D55"/>
          </a:solidFill>
          <a:ln w="12700">
            <a:solidFill>
              <a:srgbClr val="0B2D55"/>
            </a:solidFill>
            <a:prstDash val="solid"/>
          </a:ln>
        </p:spPr>
        <p:txBody>
          <a:bodyPr/>
          <a:lstStyle/>
          <a:p>
            <a:endParaRPr lang="en-US"/>
          </a:p>
        </p:txBody>
      </p:sp>
      <p:sp>
        <p:nvSpPr>
          <p:cNvPr id="14" name="Text 11"/>
          <p:cNvSpPr txBox="1"/>
          <p:nvPr/>
        </p:nvSpPr>
        <p:spPr>
          <a:xfrm>
            <a:off x="960120" y="393192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3</a:t>
            </a:r>
            <a:endParaRPr lang="en-US" sz="2000" dirty="0"/>
          </a:p>
        </p:txBody>
      </p:sp>
      <p:sp>
        <p:nvSpPr>
          <p:cNvPr id="15" name="Text 12"/>
          <p:cNvSpPr txBox="1"/>
          <p:nvPr/>
        </p:nvSpPr>
        <p:spPr>
          <a:xfrm>
            <a:off x="1691640" y="3803904"/>
            <a:ext cx="9601200" cy="777240"/>
          </a:xfrm>
          <a:prstGeom prst="rect">
            <a:avLst/>
          </a:prstGeom>
          <a:noFill/>
          <a:ln/>
        </p:spPr>
        <p:txBody>
          <a:bodyPr wrap="square" lIns="0" tIns="0" rIns="0" bIns="0" rtlCol="0" anchor="ctr"/>
          <a:lstStyle/>
          <a:p>
            <a:pPr marL="0" indent="0">
              <a:buNone/>
            </a:pPr>
            <a:r>
              <a:rPr lang="en-US" sz="2000" b="1" dirty="0">
                <a:solidFill>
                  <a:srgbClr val="132033"/>
                </a:solidFill>
                <a:latin typeface="Aptos" pitchFamily="34" charset="0"/>
                <a:ea typeface="Aptos" pitchFamily="34" charset="-122"/>
                <a:cs typeface="Aptos" pitchFamily="34" charset="-120"/>
              </a:rPr>
              <a:t>Interpret the independence assumption, and apply Laplace smoothing to fix zero-frequency failures.</a:t>
            </a:r>
            <a:endParaRPr lang="en-US" sz="2000" dirty="0"/>
          </a:p>
        </p:txBody>
      </p:sp>
      <p:sp>
        <p:nvSpPr>
          <p:cNvPr id="16" name="Shape 13"/>
          <p:cNvSpPr/>
          <p:nvPr/>
        </p:nvSpPr>
        <p:spPr>
          <a:xfrm>
            <a:off x="1005840" y="5074920"/>
            <a:ext cx="10149840" cy="777240"/>
          </a:xfrm>
          <a:prstGeom prst="roundRect">
            <a:avLst>
              <a:gd name="adj" fmla="val 9412"/>
            </a:avLst>
          </a:prstGeom>
          <a:solidFill>
            <a:srgbClr val="FFF4CE"/>
          </a:solidFill>
          <a:ln w="12700">
            <a:solidFill>
              <a:srgbClr val="F2C14E"/>
            </a:solidFill>
            <a:prstDash val="solid"/>
          </a:ln>
        </p:spPr>
        <p:txBody>
          <a:bodyPr/>
          <a:lstStyle/>
          <a:p>
            <a:endParaRPr lang="en-US"/>
          </a:p>
        </p:txBody>
      </p:sp>
      <p:sp>
        <p:nvSpPr>
          <p:cNvPr id="17" name="Text 14"/>
          <p:cNvSpPr txBox="1"/>
          <p:nvPr/>
        </p:nvSpPr>
        <p:spPr>
          <a:xfrm>
            <a:off x="1188720" y="5074920"/>
            <a:ext cx="9784080" cy="777240"/>
          </a:xfrm>
          <a:prstGeom prst="rect">
            <a:avLst/>
          </a:prstGeom>
          <a:noFill/>
          <a:ln/>
        </p:spPr>
        <p:txBody>
          <a:bodyPr wrap="square" lIns="0" tIns="0" rIns="0" bIns="0" rtlCol="0" anchor="ctr"/>
          <a:lstStyle/>
          <a:p>
            <a:pPr marL="0" indent="0" algn="ctr">
              <a:buNone/>
            </a:pPr>
            <a:r>
              <a:rPr lang="en-US" sz="1500" b="1" dirty="0">
                <a:solidFill>
                  <a:srgbClr val="0B2D55"/>
                </a:solidFill>
                <a:latin typeface="Aptos" pitchFamily="34" charset="0"/>
                <a:ea typeface="Aptos" pitchFamily="34" charset="-122"/>
                <a:cs typeface="Aptos" pitchFamily="34" charset="-120"/>
              </a:rPr>
              <a:t>Performance target: given word counts and a new message, compute smoothed class scores, classify it, and explain why the reported probability may be overconfident.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Running scenario: flag the scam text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A phone carrier wants to flag scam texts before users tap the link.</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4</a:t>
            </a:r>
            <a:endParaRPr lang="en-US" sz="850" dirty="0"/>
          </a:p>
        </p:txBody>
      </p:sp>
      <p:sp>
        <p:nvSpPr>
          <p:cNvPr id="7" name="Shape 4"/>
          <p:cNvSpPr/>
          <p:nvPr/>
        </p:nvSpPr>
        <p:spPr>
          <a:xfrm>
            <a:off x="1097280" y="1508760"/>
            <a:ext cx="3840480" cy="4434840"/>
          </a:xfrm>
          <a:prstGeom prst="roundRect">
            <a:avLst>
              <a:gd name="adj" fmla="val 7143"/>
            </a:avLst>
          </a:prstGeom>
          <a:solidFill>
            <a:srgbClr val="FFFFFF"/>
          </a:solidFill>
          <a:ln w="38100">
            <a:solidFill>
              <a:srgbClr val="0B2D55"/>
            </a:solidFill>
            <a:prstDash val="solid"/>
          </a:ln>
        </p:spPr>
        <p:txBody>
          <a:bodyPr/>
          <a:lstStyle/>
          <a:p>
            <a:endParaRPr lang="en-US"/>
          </a:p>
        </p:txBody>
      </p:sp>
      <p:sp>
        <p:nvSpPr>
          <p:cNvPr id="8" name="Shape 5"/>
          <p:cNvSpPr/>
          <p:nvPr/>
        </p:nvSpPr>
        <p:spPr>
          <a:xfrm>
            <a:off x="2560320" y="1645920"/>
            <a:ext cx="914400" cy="109728"/>
          </a:xfrm>
          <a:prstGeom prst="roundRect">
            <a:avLst>
              <a:gd name="adj" fmla="val 41667"/>
            </a:avLst>
          </a:prstGeom>
          <a:solidFill>
            <a:srgbClr val="0B2D55"/>
          </a:solidFill>
          <a:ln w="12700">
            <a:solidFill>
              <a:srgbClr val="0B2D55"/>
            </a:solidFill>
            <a:prstDash val="solid"/>
          </a:ln>
        </p:spPr>
        <p:txBody>
          <a:bodyPr/>
          <a:lstStyle/>
          <a:p>
            <a:endParaRPr lang="en-US"/>
          </a:p>
        </p:txBody>
      </p:sp>
      <p:sp>
        <p:nvSpPr>
          <p:cNvPr id="9" name="Shape 6"/>
          <p:cNvSpPr/>
          <p:nvPr/>
        </p:nvSpPr>
        <p:spPr>
          <a:xfrm>
            <a:off x="1325880" y="2011680"/>
            <a:ext cx="2606040" cy="960120"/>
          </a:xfrm>
          <a:prstGeom prst="roundRect">
            <a:avLst>
              <a:gd name="adj" fmla="val 14286"/>
            </a:avLst>
          </a:prstGeom>
          <a:solidFill>
            <a:srgbClr val="EEF1F5"/>
          </a:solidFill>
          <a:ln w="12700">
            <a:solidFill>
              <a:srgbClr val="EEF1F5"/>
            </a:solidFill>
            <a:prstDash val="solid"/>
          </a:ln>
        </p:spPr>
        <p:txBody>
          <a:bodyPr/>
          <a:lstStyle/>
          <a:p>
            <a:endParaRPr lang="en-US"/>
          </a:p>
        </p:txBody>
      </p:sp>
      <p:sp>
        <p:nvSpPr>
          <p:cNvPr id="10" name="Text 7"/>
          <p:cNvSpPr txBox="1"/>
          <p:nvPr/>
        </p:nvSpPr>
        <p:spPr>
          <a:xfrm>
            <a:off x="1463040" y="2011680"/>
            <a:ext cx="2331720" cy="960120"/>
          </a:xfrm>
          <a:prstGeom prst="rect">
            <a:avLst/>
          </a:prstGeom>
          <a:noFill/>
          <a:ln/>
        </p:spPr>
        <p:txBody>
          <a:bodyPr wrap="square" lIns="0" tIns="0" rIns="0" bIns="0" rtlCol="0" anchor="ctr"/>
          <a:lstStyle/>
          <a:p>
            <a:pPr marL="0" indent="0">
              <a:buNone/>
            </a:pPr>
            <a:r>
              <a:rPr lang="en-US" sz="1400" dirty="0">
                <a:solidFill>
                  <a:srgbClr val="132033"/>
                </a:solidFill>
                <a:latin typeface="Aptos" pitchFamily="34" charset="0"/>
                <a:ea typeface="Aptos" pitchFamily="34" charset="-122"/>
                <a:cs typeface="Aptos" pitchFamily="34" charset="-120"/>
              </a:rPr>
              <a:t>Your package is on hold. Claim it now: bit.ly/xx</a:t>
            </a:r>
            <a:endParaRPr lang="en-US" sz="1400" dirty="0"/>
          </a:p>
        </p:txBody>
      </p:sp>
      <p:sp>
        <p:nvSpPr>
          <p:cNvPr id="11" name="Shape 8"/>
          <p:cNvSpPr/>
          <p:nvPr/>
        </p:nvSpPr>
        <p:spPr>
          <a:xfrm>
            <a:off x="4023360" y="2286000"/>
            <a:ext cx="777240" cy="384048"/>
          </a:xfrm>
          <a:prstGeom prst="roundRect">
            <a:avLst>
              <a:gd name="adj" fmla="val 19048"/>
            </a:avLst>
          </a:prstGeom>
          <a:solidFill>
            <a:srgbClr val="D9731A"/>
          </a:solidFill>
          <a:ln w="12700">
            <a:solidFill>
              <a:srgbClr val="D9731A"/>
            </a:solidFill>
            <a:prstDash val="solid"/>
          </a:ln>
        </p:spPr>
        <p:txBody>
          <a:bodyPr/>
          <a:lstStyle/>
          <a:p>
            <a:endParaRPr lang="en-US"/>
          </a:p>
        </p:txBody>
      </p:sp>
      <p:sp>
        <p:nvSpPr>
          <p:cNvPr id="12" name="Text 9"/>
          <p:cNvSpPr txBox="1"/>
          <p:nvPr/>
        </p:nvSpPr>
        <p:spPr>
          <a:xfrm>
            <a:off x="4023360" y="2286000"/>
            <a:ext cx="7772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Scam</a:t>
            </a:r>
            <a:endParaRPr lang="en-US" sz="1300" dirty="0"/>
          </a:p>
        </p:txBody>
      </p:sp>
      <p:sp>
        <p:nvSpPr>
          <p:cNvPr id="13" name="Shape 10"/>
          <p:cNvSpPr/>
          <p:nvPr/>
        </p:nvSpPr>
        <p:spPr>
          <a:xfrm>
            <a:off x="1325880" y="3246120"/>
            <a:ext cx="2606040" cy="960120"/>
          </a:xfrm>
          <a:prstGeom prst="roundRect">
            <a:avLst>
              <a:gd name="adj" fmla="val 14286"/>
            </a:avLst>
          </a:prstGeom>
          <a:solidFill>
            <a:srgbClr val="EEF1F5"/>
          </a:solidFill>
          <a:ln w="12700">
            <a:solidFill>
              <a:srgbClr val="EEF1F5"/>
            </a:solidFill>
            <a:prstDash val="solid"/>
          </a:ln>
        </p:spPr>
        <p:txBody>
          <a:bodyPr/>
          <a:lstStyle/>
          <a:p>
            <a:endParaRPr lang="en-US"/>
          </a:p>
        </p:txBody>
      </p:sp>
      <p:sp>
        <p:nvSpPr>
          <p:cNvPr id="14" name="Text 11"/>
          <p:cNvSpPr txBox="1"/>
          <p:nvPr/>
        </p:nvSpPr>
        <p:spPr>
          <a:xfrm>
            <a:off x="1463040" y="3246120"/>
            <a:ext cx="2331720" cy="960120"/>
          </a:xfrm>
          <a:prstGeom prst="rect">
            <a:avLst/>
          </a:prstGeom>
          <a:noFill/>
          <a:ln/>
        </p:spPr>
        <p:txBody>
          <a:bodyPr wrap="square" lIns="0" tIns="0" rIns="0" bIns="0" rtlCol="0" anchor="ctr"/>
          <a:lstStyle/>
          <a:p>
            <a:pPr marL="0" indent="0">
              <a:buNone/>
            </a:pPr>
            <a:r>
              <a:rPr lang="en-US" sz="1400" dirty="0">
                <a:solidFill>
                  <a:srgbClr val="132033"/>
                </a:solidFill>
                <a:latin typeface="Aptos" pitchFamily="34" charset="0"/>
                <a:ea typeface="Aptos" pitchFamily="34" charset="-122"/>
                <a:cs typeface="Aptos" pitchFamily="34" charset="-120"/>
              </a:rPr>
              <a:t>Running late, I’ll call you tonight</a:t>
            </a:r>
            <a:endParaRPr lang="en-US" sz="1400" dirty="0"/>
          </a:p>
        </p:txBody>
      </p:sp>
      <p:sp>
        <p:nvSpPr>
          <p:cNvPr id="15" name="Shape 12"/>
          <p:cNvSpPr/>
          <p:nvPr/>
        </p:nvSpPr>
        <p:spPr>
          <a:xfrm>
            <a:off x="4023360" y="3520440"/>
            <a:ext cx="77724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16" name="Text 13"/>
          <p:cNvSpPr txBox="1"/>
          <p:nvPr/>
        </p:nvSpPr>
        <p:spPr>
          <a:xfrm>
            <a:off x="4023360" y="3520440"/>
            <a:ext cx="7772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Legit</a:t>
            </a:r>
            <a:endParaRPr lang="en-US" sz="1300" dirty="0"/>
          </a:p>
        </p:txBody>
      </p:sp>
      <p:sp>
        <p:nvSpPr>
          <p:cNvPr id="17" name="Shape 14"/>
          <p:cNvSpPr/>
          <p:nvPr/>
        </p:nvSpPr>
        <p:spPr>
          <a:xfrm>
            <a:off x="1325880" y="4480560"/>
            <a:ext cx="2606040" cy="960120"/>
          </a:xfrm>
          <a:prstGeom prst="roundRect">
            <a:avLst>
              <a:gd name="adj" fmla="val 14286"/>
            </a:avLst>
          </a:prstGeom>
          <a:solidFill>
            <a:srgbClr val="EEF1F5"/>
          </a:solidFill>
          <a:ln w="12700">
            <a:solidFill>
              <a:srgbClr val="EEF1F5"/>
            </a:solidFill>
            <a:prstDash val="solid"/>
          </a:ln>
        </p:spPr>
        <p:txBody>
          <a:bodyPr/>
          <a:lstStyle/>
          <a:p>
            <a:endParaRPr lang="en-US"/>
          </a:p>
        </p:txBody>
      </p:sp>
      <p:sp>
        <p:nvSpPr>
          <p:cNvPr id="18" name="Text 15"/>
          <p:cNvSpPr txBox="1"/>
          <p:nvPr/>
        </p:nvSpPr>
        <p:spPr>
          <a:xfrm>
            <a:off x="1463040" y="4480560"/>
            <a:ext cx="2331720" cy="960120"/>
          </a:xfrm>
          <a:prstGeom prst="rect">
            <a:avLst/>
          </a:prstGeom>
          <a:noFill/>
          <a:ln/>
        </p:spPr>
        <p:txBody>
          <a:bodyPr wrap="square" lIns="0" tIns="0" rIns="0" bIns="0" rtlCol="0" anchor="ctr"/>
          <a:lstStyle/>
          <a:p>
            <a:pPr marL="0" indent="0">
              <a:buNone/>
            </a:pPr>
            <a:r>
              <a:rPr lang="en-US" sz="1400" dirty="0">
                <a:solidFill>
                  <a:srgbClr val="132033"/>
                </a:solidFill>
                <a:latin typeface="Aptos" pitchFamily="34" charset="0"/>
                <a:ea typeface="Aptos" pitchFamily="34" charset="-122"/>
                <a:cs typeface="Aptos" pitchFamily="34" charset="-120"/>
              </a:rPr>
              <a:t>FREE prize! Reply YES to claim now</a:t>
            </a:r>
            <a:endParaRPr lang="en-US" sz="1400" dirty="0"/>
          </a:p>
        </p:txBody>
      </p:sp>
      <p:sp>
        <p:nvSpPr>
          <p:cNvPr id="19" name="Shape 16"/>
          <p:cNvSpPr/>
          <p:nvPr/>
        </p:nvSpPr>
        <p:spPr>
          <a:xfrm>
            <a:off x="4023360" y="4754880"/>
            <a:ext cx="777240" cy="384048"/>
          </a:xfrm>
          <a:prstGeom prst="roundRect">
            <a:avLst>
              <a:gd name="adj" fmla="val 19048"/>
            </a:avLst>
          </a:prstGeom>
          <a:solidFill>
            <a:srgbClr val="D9731A"/>
          </a:solidFill>
          <a:ln w="12700">
            <a:solidFill>
              <a:srgbClr val="D9731A"/>
            </a:solidFill>
            <a:prstDash val="solid"/>
          </a:ln>
        </p:spPr>
        <p:txBody>
          <a:bodyPr/>
          <a:lstStyle/>
          <a:p>
            <a:endParaRPr lang="en-US"/>
          </a:p>
        </p:txBody>
      </p:sp>
      <p:sp>
        <p:nvSpPr>
          <p:cNvPr id="20" name="Text 17"/>
          <p:cNvSpPr txBox="1"/>
          <p:nvPr/>
        </p:nvSpPr>
        <p:spPr>
          <a:xfrm>
            <a:off x="4023360" y="4754880"/>
            <a:ext cx="77724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Scam</a:t>
            </a:r>
            <a:endParaRPr lang="en-US" sz="1300" dirty="0"/>
          </a:p>
        </p:txBody>
      </p:sp>
      <p:sp>
        <p:nvSpPr>
          <p:cNvPr id="21" name="Shape 18"/>
          <p:cNvSpPr/>
          <p:nvPr/>
        </p:nvSpPr>
        <p:spPr>
          <a:xfrm>
            <a:off x="5669280" y="1554480"/>
            <a:ext cx="5943600" cy="3063240"/>
          </a:xfrm>
          <a:prstGeom prst="roundRect">
            <a:avLst>
              <a:gd name="adj" fmla="val 2388"/>
            </a:avLst>
          </a:prstGeom>
          <a:solidFill>
            <a:srgbClr val="EAF2F8"/>
          </a:solidFill>
          <a:ln w="12700">
            <a:solidFill>
              <a:srgbClr val="1F5D9B"/>
            </a:solidFill>
            <a:prstDash val="solid"/>
          </a:ln>
        </p:spPr>
        <p:txBody>
          <a:bodyPr/>
          <a:lstStyle/>
          <a:p>
            <a:endParaRPr lang="en-US"/>
          </a:p>
        </p:txBody>
      </p:sp>
      <p:sp>
        <p:nvSpPr>
          <p:cNvPr id="22" name="Text 19"/>
          <p:cNvSpPr txBox="1"/>
          <p:nvPr/>
        </p:nvSpPr>
        <p:spPr>
          <a:xfrm>
            <a:off x="5897880" y="1691640"/>
            <a:ext cx="5486400" cy="365760"/>
          </a:xfrm>
          <a:prstGeom prst="rect">
            <a:avLst/>
          </a:prstGeom>
          <a:noFill/>
          <a:ln/>
        </p:spPr>
        <p:txBody>
          <a:bodyPr wrap="square" lIns="0" tIns="0" rIns="0" bIns="0" rtlCol="0" anchor="t"/>
          <a:lstStyle/>
          <a:p>
            <a:pPr marL="0" indent="0">
              <a:buNone/>
            </a:pPr>
            <a:r>
              <a:rPr lang="en-US" sz="2000" b="1" dirty="0">
                <a:solidFill>
                  <a:srgbClr val="0B2D55"/>
                </a:solidFill>
                <a:latin typeface="Aptos" pitchFamily="34" charset="0"/>
                <a:ea typeface="Aptos" pitchFamily="34" charset="-122"/>
                <a:cs typeface="Aptos" pitchFamily="34" charset="-120"/>
              </a:rPr>
              <a:t>Mission setup</a:t>
            </a:r>
            <a:endParaRPr lang="en-US" sz="2000" dirty="0"/>
          </a:p>
        </p:txBody>
      </p:sp>
      <p:sp>
        <p:nvSpPr>
          <p:cNvPr id="23" name="Shape 20"/>
          <p:cNvSpPr/>
          <p:nvPr/>
        </p:nvSpPr>
        <p:spPr>
          <a:xfrm>
            <a:off x="5916168" y="2286000"/>
            <a:ext cx="164592" cy="164592"/>
          </a:xfrm>
          <a:prstGeom prst="ellipse">
            <a:avLst/>
          </a:prstGeom>
          <a:solidFill>
            <a:srgbClr val="1D5FA7"/>
          </a:solidFill>
          <a:ln w="12700">
            <a:solidFill>
              <a:srgbClr val="1D5FA7"/>
            </a:solidFill>
            <a:prstDash val="solid"/>
          </a:ln>
        </p:spPr>
        <p:txBody>
          <a:bodyPr/>
          <a:lstStyle/>
          <a:p>
            <a:endParaRPr lang="en-US"/>
          </a:p>
        </p:txBody>
      </p:sp>
      <p:sp>
        <p:nvSpPr>
          <p:cNvPr id="24" name="Text 21"/>
          <p:cNvSpPr txBox="1"/>
          <p:nvPr/>
        </p:nvSpPr>
        <p:spPr>
          <a:xfrm>
            <a:off x="6217920" y="2194560"/>
            <a:ext cx="5257800" cy="41148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Labeled training texts: about 20% scam, 80% legit</a:t>
            </a:r>
            <a:endParaRPr lang="en-US" sz="1500" dirty="0"/>
          </a:p>
        </p:txBody>
      </p:sp>
      <p:sp>
        <p:nvSpPr>
          <p:cNvPr id="25" name="Shape 22"/>
          <p:cNvSpPr/>
          <p:nvPr/>
        </p:nvSpPr>
        <p:spPr>
          <a:xfrm>
            <a:off x="5916168" y="2761488"/>
            <a:ext cx="164592" cy="164592"/>
          </a:xfrm>
          <a:prstGeom prst="ellipse">
            <a:avLst/>
          </a:prstGeom>
          <a:solidFill>
            <a:srgbClr val="1D5FA7"/>
          </a:solidFill>
          <a:ln w="12700">
            <a:solidFill>
              <a:srgbClr val="1D5FA7"/>
            </a:solidFill>
            <a:prstDash val="solid"/>
          </a:ln>
        </p:spPr>
        <p:txBody>
          <a:bodyPr/>
          <a:lstStyle/>
          <a:p>
            <a:endParaRPr lang="en-US"/>
          </a:p>
        </p:txBody>
      </p:sp>
      <p:sp>
        <p:nvSpPr>
          <p:cNvPr id="26" name="Text 23"/>
          <p:cNvSpPr txBox="1"/>
          <p:nvPr/>
        </p:nvSpPr>
        <p:spPr>
          <a:xfrm>
            <a:off x="6217920" y="2670048"/>
            <a:ext cx="5257800" cy="41148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Features: the words in each text</a:t>
            </a:r>
            <a:endParaRPr lang="en-US" sz="1500" dirty="0"/>
          </a:p>
        </p:txBody>
      </p:sp>
      <p:sp>
        <p:nvSpPr>
          <p:cNvPr id="27" name="Shape 24"/>
          <p:cNvSpPr/>
          <p:nvPr/>
        </p:nvSpPr>
        <p:spPr>
          <a:xfrm>
            <a:off x="5916168" y="3236976"/>
            <a:ext cx="164592" cy="164592"/>
          </a:xfrm>
          <a:prstGeom prst="ellipse">
            <a:avLst/>
          </a:prstGeom>
          <a:solidFill>
            <a:srgbClr val="D9731A"/>
          </a:solidFill>
          <a:ln w="12700">
            <a:solidFill>
              <a:srgbClr val="D9731A"/>
            </a:solidFill>
            <a:prstDash val="solid"/>
          </a:ln>
        </p:spPr>
        <p:txBody>
          <a:bodyPr/>
          <a:lstStyle/>
          <a:p>
            <a:endParaRPr lang="en-US"/>
          </a:p>
        </p:txBody>
      </p:sp>
      <p:sp>
        <p:nvSpPr>
          <p:cNvPr id="28" name="Text 25"/>
          <p:cNvSpPr txBox="1"/>
          <p:nvPr/>
        </p:nvSpPr>
        <p:spPr>
          <a:xfrm>
            <a:off x="6217920" y="3145536"/>
            <a:ext cx="5257800" cy="41148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Positive class = scam</a:t>
            </a:r>
            <a:endParaRPr lang="en-US" sz="1500" dirty="0"/>
          </a:p>
        </p:txBody>
      </p:sp>
      <p:sp>
        <p:nvSpPr>
          <p:cNvPr id="29" name="Shape 26"/>
          <p:cNvSpPr/>
          <p:nvPr/>
        </p:nvSpPr>
        <p:spPr>
          <a:xfrm>
            <a:off x="5916168" y="3712464"/>
            <a:ext cx="164592" cy="164592"/>
          </a:xfrm>
          <a:prstGeom prst="ellipse">
            <a:avLst/>
          </a:prstGeom>
          <a:solidFill>
            <a:srgbClr val="39A875"/>
          </a:solidFill>
          <a:ln w="12700">
            <a:solidFill>
              <a:srgbClr val="39A875"/>
            </a:solidFill>
            <a:prstDash val="solid"/>
          </a:ln>
        </p:spPr>
        <p:txBody>
          <a:bodyPr/>
          <a:lstStyle/>
          <a:p>
            <a:endParaRPr lang="en-US"/>
          </a:p>
        </p:txBody>
      </p:sp>
      <p:sp>
        <p:nvSpPr>
          <p:cNvPr id="30" name="Text 27"/>
          <p:cNvSpPr txBox="1"/>
          <p:nvPr/>
        </p:nvSpPr>
        <p:spPr>
          <a:xfrm>
            <a:off x="6217920" y="3621024"/>
            <a:ext cx="5257800" cy="41148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Every word shifts the odds; no word proves anything</a:t>
            </a:r>
            <a:endParaRPr lang="en-US" sz="1500" dirty="0"/>
          </a:p>
        </p:txBody>
      </p:sp>
      <p:sp>
        <p:nvSpPr>
          <p:cNvPr id="31" name="Shape 28"/>
          <p:cNvSpPr/>
          <p:nvPr/>
        </p:nvSpPr>
        <p:spPr>
          <a:xfrm>
            <a:off x="5916168" y="4187952"/>
            <a:ext cx="164592" cy="164592"/>
          </a:xfrm>
          <a:prstGeom prst="ellipse">
            <a:avLst/>
          </a:prstGeom>
          <a:solidFill>
            <a:srgbClr val="0B2D55"/>
          </a:solidFill>
          <a:ln w="12700">
            <a:solidFill>
              <a:srgbClr val="0B2D55"/>
            </a:solidFill>
            <a:prstDash val="solid"/>
          </a:ln>
        </p:spPr>
        <p:txBody>
          <a:bodyPr/>
          <a:lstStyle/>
          <a:p>
            <a:endParaRPr lang="en-US"/>
          </a:p>
        </p:txBody>
      </p:sp>
      <p:sp>
        <p:nvSpPr>
          <p:cNvPr id="32" name="Text 29"/>
          <p:cNvSpPr txBox="1"/>
          <p:nvPr/>
        </p:nvSpPr>
        <p:spPr>
          <a:xfrm>
            <a:off x="6217920" y="4096512"/>
            <a:ext cx="5257800" cy="411480"/>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Goal: a probability, then a decision</a:t>
            </a:r>
            <a:endParaRPr lang="en-US" sz="1500" dirty="0"/>
          </a:p>
        </p:txBody>
      </p:sp>
      <p:sp>
        <p:nvSpPr>
          <p:cNvPr id="33" name="Text 30"/>
          <p:cNvSpPr txBox="1"/>
          <p:nvPr/>
        </p:nvSpPr>
        <p:spPr>
          <a:xfrm>
            <a:off x="5669280" y="4892040"/>
            <a:ext cx="5943600" cy="868680"/>
          </a:xfrm>
          <a:prstGeom prst="rect">
            <a:avLst/>
          </a:prstGeom>
          <a:noFill/>
          <a:ln/>
        </p:spPr>
        <p:txBody>
          <a:bodyPr wrap="square" lIns="0" tIns="0" rIns="0" bIns="0" rtlCol="0" anchor="ctr"/>
          <a:lstStyle/>
          <a:p>
            <a:pPr marL="0" indent="0" algn="ctr">
              <a:buNone/>
            </a:pPr>
            <a:r>
              <a:rPr lang="en-US" sz="2000" b="1" dirty="0">
                <a:solidFill>
                  <a:srgbClr val="1D5FA7"/>
                </a:solidFill>
                <a:latin typeface="Aptos" pitchFamily="34" charset="0"/>
                <a:ea typeface="Aptos" pitchFamily="34" charset="-122"/>
                <a:cs typeface="Aptos" pitchFamily="34" charset="-120"/>
              </a:rPr>
              <a:t>Which words in these texts are evidence, and for which class?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Evidence updates belief</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Start with a prior. Adjust it with evidence. End with a posterior.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5</a:t>
            </a:r>
            <a:endParaRPr lang="en-US" sz="850" dirty="0"/>
          </a:p>
        </p:txBody>
      </p:sp>
      <p:sp>
        <p:nvSpPr>
          <p:cNvPr id="7" name="Shape 4"/>
          <p:cNvSpPr/>
          <p:nvPr/>
        </p:nvSpPr>
        <p:spPr>
          <a:xfrm>
            <a:off x="1645920" y="1737360"/>
            <a:ext cx="1463040" cy="3108960"/>
          </a:xfrm>
          <a:prstGeom prst="rect">
            <a:avLst/>
          </a:prstGeom>
          <a:solidFill>
            <a:srgbClr val="F3F6FA"/>
          </a:solidFill>
          <a:ln w="12700">
            <a:solidFill>
              <a:srgbClr val="B8C7D8"/>
            </a:solidFill>
            <a:prstDash val="solid"/>
          </a:ln>
        </p:spPr>
        <p:txBody>
          <a:bodyPr/>
          <a:lstStyle/>
          <a:p>
            <a:endParaRPr lang="en-US"/>
          </a:p>
        </p:txBody>
      </p:sp>
      <p:sp>
        <p:nvSpPr>
          <p:cNvPr id="8" name="Shape 5"/>
          <p:cNvSpPr/>
          <p:nvPr/>
        </p:nvSpPr>
        <p:spPr>
          <a:xfrm>
            <a:off x="1645920" y="4224528"/>
            <a:ext cx="1463040" cy="621792"/>
          </a:xfrm>
          <a:prstGeom prst="rect">
            <a:avLst/>
          </a:prstGeom>
          <a:solidFill>
            <a:srgbClr val="D9731A"/>
          </a:solidFill>
          <a:ln w="12700">
            <a:solidFill>
              <a:srgbClr val="D9731A"/>
            </a:solidFill>
            <a:prstDash val="solid"/>
          </a:ln>
        </p:spPr>
        <p:txBody>
          <a:bodyPr/>
          <a:lstStyle/>
          <a:p>
            <a:endParaRPr lang="en-US"/>
          </a:p>
        </p:txBody>
      </p:sp>
      <p:sp>
        <p:nvSpPr>
          <p:cNvPr id="9" name="Text 6"/>
          <p:cNvSpPr txBox="1"/>
          <p:nvPr/>
        </p:nvSpPr>
        <p:spPr>
          <a:xfrm>
            <a:off x="1463040" y="3721608"/>
            <a:ext cx="1828800" cy="457200"/>
          </a:xfrm>
          <a:prstGeom prst="rect">
            <a:avLst/>
          </a:prstGeom>
          <a:noFill/>
          <a:ln/>
        </p:spPr>
        <p:txBody>
          <a:bodyPr wrap="square" lIns="0" tIns="0" rIns="0" bIns="0" rtlCol="0" anchor="ctr"/>
          <a:lstStyle/>
          <a:p>
            <a:pPr marL="0" indent="0" algn="ctr">
              <a:buNone/>
            </a:pPr>
            <a:r>
              <a:rPr lang="en-US" sz="2600" b="1" dirty="0">
                <a:solidFill>
                  <a:srgbClr val="D9731A"/>
                </a:solidFill>
                <a:latin typeface="Aptos" pitchFamily="34" charset="0"/>
                <a:ea typeface="Aptos" pitchFamily="34" charset="-122"/>
                <a:cs typeface="Aptos" pitchFamily="34" charset="-120"/>
              </a:rPr>
              <a:t>20%</a:t>
            </a:r>
            <a:endParaRPr lang="en-US" sz="2600" dirty="0"/>
          </a:p>
        </p:txBody>
      </p:sp>
      <p:sp>
        <p:nvSpPr>
          <p:cNvPr id="10" name="Text 7"/>
          <p:cNvSpPr txBox="1"/>
          <p:nvPr/>
        </p:nvSpPr>
        <p:spPr>
          <a:xfrm>
            <a:off x="1280160" y="4937760"/>
            <a:ext cx="2194560" cy="365760"/>
          </a:xfrm>
          <a:prstGeom prst="rect">
            <a:avLst/>
          </a:prstGeom>
          <a:noFill/>
          <a:ln/>
        </p:spPr>
        <p:txBody>
          <a:bodyPr wrap="square" lIns="0" tIns="0" rIns="0" bIns="0" rtlCol="0" anchor="t"/>
          <a:lstStyle/>
          <a:p>
            <a:pPr marL="0" indent="0" algn="ctr">
              <a:buNone/>
            </a:pPr>
            <a:r>
              <a:rPr lang="en-US" sz="1800" b="1" dirty="0">
                <a:solidFill>
                  <a:srgbClr val="0B2D55"/>
                </a:solidFill>
                <a:latin typeface="Aptos" pitchFamily="34" charset="0"/>
                <a:ea typeface="Aptos" pitchFamily="34" charset="-122"/>
                <a:cs typeface="Aptos" pitchFamily="34" charset="-120"/>
              </a:rPr>
              <a:t>Prior</a:t>
            </a:r>
            <a:endParaRPr lang="en-US" sz="1800" dirty="0"/>
          </a:p>
        </p:txBody>
      </p:sp>
      <p:sp>
        <p:nvSpPr>
          <p:cNvPr id="11" name="Text 8"/>
          <p:cNvSpPr txBox="1"/>
          <p:nvPr/>
        </p:nvSpPr>
        <p:spPr>
          <a:xfrm>
            <a:off x="1097280" y="5303520"/>
            <a:ext cx="2560320" cy="365760"/>
          </a:xfrm>
          <a:prstGeom prst="rect">
            <a:avLst/>
          </a:prstGeom>
          <a:noFill/>
          <a:ln/>
        </p:spPr>
        <p:txBody>
          <a:bodyPr wrap="square" lIns="0" tIns="0" rIns="0" bIns="0" rtlCol="0" anchor="t"/>
          <a:lstStyle/>
          <a:p>
            <a:pPr marL="0" indent="0" algn="ctr">
              <a:buNone/>
            </a:pPr>
            <a:r>
              <a:rPr lang="en-US" sz="1400" dirty="0">
                <a:solidFill>
                  <a:srgbClr val="132033"/>
                </a:solidFill>
                <a:latin typeface="Aptos" pitchFamily="34" charset="0"/>
                <a:ea typeface="Aptos" pitchFamily="34" charset="-122"/>
                <a:cs typeface="Aptos" pitchFamily="34" charset="-120"/>
              </a:rPr>
              <a:t>before reading the text</a:t>
            </a:r>
            <a:endParaRPr lang="en-US" sz="1400" dirty="0"/>
          </a:p>
        </p:txBody>
      </p:sp>
      <p:sp>
        <p:nvSpPr>
          <p:cNvPr id="12" name="Shape 9"/>
          <p:cNvSpPr/>
          <p:nvPr/>
        </p:nvSpPr>
        <p:spPr>
          <a:xfrm>
            <a:off x="9052560" y="1737360"/>
            <a:ext cx="1463040" cy="3108960"/>
          </a:xfrm>
          <a:prstGeom prst="rect">
            <a:avLst/>
          </a:prstGeom>
          <a:solidFill>
            <a:srgbClr val="F3F6FA"/>
          </a:solidFill>
          <a:ln w="12700">
            <a:solidFill>
              <a:srgbClr val="B8C7D8"/>
            </a:solidFill>
            <a:prstDash val="solid"/>
          </a:ln>
        </p:spPr>
        <p:txBody>
          <a:bodyPr/>
          <a:lstStyle/>
          <a:p>
            <a:endParaRPr lang="en-US"/>
          </a:p>
        </p:txBody>
      </p:sp>
      <p:sp>
        <p:nvSpPr>
          <p:cNvPr id="13" name="Shape 10"/>
          <p:cNvSpPr/>
          <p:nvPr/>
        </p:nvSpPr>
        <p:spPr>
          <a:xfrm>
            <a:off x="9052560" y="2514600"/>
            <a:ext cx="1463040" cy="2331720"/>
          </a:xfrm>
          <a:prstGeom prst="rect">
            <a:avLst/>
          </a:prstGeom>
          <a:solidFill>
            <a:srgbClr val="D9731A"/>
          </a:solidFill>
          <a:ln w="12700">
            <a:solidFill>
              <a:srgbClr val="D9731A"/>
            </a:solidFill>
            <a:prstDash val="solid"/>
          </a:ln>
        </p:spPr>
        <p:txBody>
          <a:bodyPr/>
          <a:lstStyle/>
          <a:p>
            <a:endParaRPr lang="en-US"/>
          </a:p>
        </p:txBody>
      </p:sp>
      <p:sp>
        <p:nvSpPr>
          <p:cNvPr id="14" name="Text 11"/>
          <p:cNvSpPr txBox="1"/>
          <p:nvPr/>
        </p:nvSpPr>
        <p:spPr>
          <a:xfrm>
            <a:off x="8869680" y="2011680"/>
            <a:ext cx="1828800" cy="457200"/>
          </a:xfrm>
          <a:prstGeom prst="rect">
            <a:avLst/>
          </a:prstGeom>
          <a:noFill/>
          <a:ln/>
        </p:spPr>
        <p:txBody>
          <a:bodyPr wrap="square" lIns="0" tIns="0" rIns="0" bIns="0" rtlCol="0" anchor="ctr"/>
          <a:lstStyle/>
          <a:p>
            <a:pPr marL="0" indent="0" algn="ctr">
              <a:buNone/>
            </a:pPr>
            <a:r>
              <a:rPr lang="en-US" sz="2600" b="1" dirty="0">
                <a:solidFill>
                  <a:srgbClr val="D9731A"/>
                </a:solidFill>
                <a:latin typeface="Aptos" pitchFamily="34" charset="0"/>
                <a:ea typeface="Aptos" pitchFamily="34" charset="-122"/>
                <a:cs typeface="Aptos" pitchFamily="34" charset="-120"/>
              </a:rPr>
              <a:t>75%</a:t>
            </a:r>
            <a:endParaRPr lang="en-US" sz="2600" dirty="0"/>
          </a:p>
        </p:txBody>
      </p:sp>
      <p:sp>
        <p:nvSpPr>
          <p:cNvPr id="15" name="Text 12"/>
          <p:cNvSpPr txBox="1"/>
          <p:nvPr/>
        </p:nvSpPr>
        <p:spPr>
          <a:xfrm>
            <a:off x="8686800" y="4937760"/>
            <a:ext cx="2194560" cy="365760"/>
          </a:xfrm>
          <a:prstGeom prst="rect">
            <a:avLst/>
          </a:prstGeom>
          <a:noFill/>
          <a:ln/>
        </p:spPr>
        <p:txBody>
          <a:bodyPr wrap="square" lIns="0" tIns="0" rIns="0" bIns="0" rtlCol="0" anchor="t"/>
          <a:lstStyle/>
          <a:p>
            <a:pPr marL="0" indent="0" algn="ctr">
              <a:buNone/>
            </a:pPr>
            <a:r>
              <a:rPr lang="en-US" sz="1800" b="1" dirty="0">
                <a:solidFill>
                  <a:srgbClr val="0B2D55"/>
                </a:solidFill>
                <a:latin typeface="Aptos" pitchFamily="34" charset="0"/>
                <a:ea typeface="Aptos" pitchFamily="34" charset="-122"/>
                <a:cs typeface="Aptos" pitchFamily="34" charset="-120"/>
              </a:rPr>
              <a:t>Posterior</a:t>
            </a:r>
            <a:endParaRPr lang="en-US" sz="1800" dirty="0"/>
          </a:p>
        </p:txBody>
      </p:sp>
      <p:sp>
        <p:nvSpPr>
          <p:cNvPr id="16" name="Text 13"/>
          <p:cNvSpPr txBox="1"/>
          <p:nvPr/>
        </p:nvSpPr>
        <p:spPr>
          <a:xfrm>
            <a:off x="8503920" y="5303520"/>
            <a:ext cx="2560320" cy="365760"/>
          </a:xfrm>
          <a:prstGeom prst="rect">
            <a:avLst/>
          </a:prstGeom>
          <a:noFill/>
          <a:ln/>
        </p:spPr>
        <p:txBody>
          <a:bodyPr wrap="square" lIns="0" tIns="0" rIns="0" bIns="0" rtlCol="0" anchor="t"/>
          <a:lstStyle/>
          <a:p>
            <a:pPr marL="0" indent="0" algn="ctr">
              <a:buNone/>
            </a:pPr>
            <a:r>
              <a:rPr lang="en-US" sz="1400" dirty="0">
                <a:solidFill>
                  <a:srgbClr val="132033"/>
                </a:solidFill>
                <a:latin typeface="Aptos" pitchFamily="34" charset="0"/>
                <a:ea typeface="Aptos" pitchFamily="34" charset="-122"/>
                <a:cs typeface="Aptos" pitchFamily="34" charset="-120"/>
              </a:rPr>
              <a:t>after seeing “free”</a:t>
            </a:r>
            <a:endParaRPr lang="en-US" sz="1400" dirty="0"/>
          </a:p>
        </p:txBody>
      </p:sp>
      <p:sp>
        <p:nvSpPr>
          <p:cNvPr id="17" name="Shape 14"/>
          <p:cNvSpPr/>
          <p:nvPr/>
        </p:nvSpPr>
        <p:spPr>
          <a:xfrm>
            <a:off x="3657600" y="3291840"/>
            <a:ext cx="5029200" cy="0"/>
          </a:xfrm>
          <a:prstGeom prst="line">
            <a:avLst/>
          </a:prstGeom>
          <a:noFill/>
          <a:ln w="31750">
            <a:solidFill>
              <a:srgbClr val="0B2D55"/>
            </a:solidFill>
            <a:prstDash val="solid"/>
            <a:tailEnd type="triangle"/>
          </a:ln>
        </p:spPr>
        <p:txBody>
          <a:bodyPr/>
          <a:lstStyle/>
          <a:p>
            <a:endParaRPr lang="en-US"/>
          </a:p>
        </p:txBody>
      </p:sp>
      <p:sp>
        <p:nvSpPr>
          <p:cNvPr id="18" name="Shape 15"/>
          <p:cNvSpPr/>
          <p:nvPr/>
        </p:nvSpPr>
        <p:spPr>
          <a:xfrm>
            <a:off x="4480560" y="2331720"/>
            <a:ext cx="3383280" cy="777240"/>
          </a:xfrm>
          <a:prstGeom prst="roundRect">
            <a:avLst>
              <a:gd name="adj" fmla="val 9412"/>
            </a:avLst>
          </a:prstGeom>
          <a:solidFill>
            <a:srgbClr val="FFF4CE"/>
          </a:solidFill>
          <a:ln w="12700">
            <a:solidFill>
              <a:srgbClr val="F2C14E"/>
            </a:solidFill>
            <a:prstDash val="solid"/>
          </a:ln>
        </p:spPr>
        <p:txBody>
          <a:bodyPr/>
          <a:lstStyle/>
          <a:p>
            <a:endParaRPr lang="en-US"/>
          </a:p>
        </p:txBody>
      </p:sp>
      <p:sp>
        <p:nvSpPr>
          <p:cNvPr id="19" name="Text 16"/>
          <p:cNvSpPr txBox="1"/>
          <p:nvPr/>
        </p:nvSpPr>
        <p:spPr>
          <a:xfrm>
            <a:off x="4480560" y="2331720"/>
            <a:ext cx="3383280" cy="77724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Evidence: the text contains “free”</a:t>
            </a:r>
            <a:endParaRPr lang="en-US" sz="1700" dirty="0"/>
          </a:p>
        </p:txBody>
      </p:sp>
      <p:sp>
        <p:nvSpPr>
          <p:cNvPr id="20" name="Text 17"/>
          <p:cNvSpPr txBox="1"/>
          <p:nvPr/>
        </p:nvSpPr>
        <p:spPr>
          <a:xfrm>
            <a:off x="4480560" y="3520440"/>
            <a:ext cx="3383280" cy="365760"/>
          </a:xfrm>
          <a:prstGeom prst="rect">
            <a:avLst/>
          </a:prstGeom>
          <a:noFill/>
          <a:ln/>
        </p:spPr>
        <p:txBody>
          <a:bodyPr wrap="square" lIns="0" tIns="0" rIns="0" bIns="0" rtlCol="0" anchor="t"/>
          <a:lstStyle/>
          <a:p>
            <a:pPr marL="0" indent="0" algn="ctr">
              <a:buNone/>
            </a:pPr>
            <a:r>
              <a:rPr lang="en-US" sz="1400" i="1" dirty="0">
                <a:solidFill>
                  <a:srgbClr val="6D7C8F"/>
                </a:solidFill>
                <a:latin typeface="Aptos" pitchFamily="34" charset="0"/>
                <a:ea typeface="Aptos" pitchFamily="34" charset="-122"/>
                <a:cs typeface="Aptos" pitchFamily="34" charset="-120"/>
              </a:rPr>
              <a:t>P(scam) for this text</a:t>
            </a:r>
            <a:endParaRPr lang="en-US" sz="1400" dirty="0"/>
          </a:p>
        </p:txBody>
      </p:sp>
      <p:sp>
        <p:nvSpPr>
          <p:cNvPr id="21" name="Text 18"/>
          <p:cNvSpPr txBox="1"/>
          <p:nvPr/>
        </p:nvSpPr>
        <p:spPr>
          <a:xfrm>
            <a:off x="822960" y="5806440"/>
            <a:ext cx="10515600" cy="5029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Bayes’ theorem: the arithmetic of changing your mind.</a:t>
            </a:r>
            <a:endParaRPr lang="en-US"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Anatomy of Bayes’ theorem</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Four quantities, each answering a plain-English question.</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6</a:t>
            </a:r>
            <a:endParaRPr lang="en-US" sz="850" dirty="0"/>
          </a:p>
        </p:txBody>
      </p:sp>
      <p:sp>
        <p:nvSpPr>
          <p:cNvPr id="7" name="Text 4"/>
          <p:cNvSpPr txBox="1"/>
          <p:nvPr/>
        </p:nvSpPr>
        <p:spPr>
          <a:xfrm>
            <a:off x="576072" y="1554480"/>
            <a:ext cx="11036808" cy="777240"/>
          </a:xfrm>
          <a:prstGeom prst="rect">
            <a:avLst/>
          </a:prstGeom>
          <a:noFill/>
          <a:ln/>
        </p:spPr>
        <p:txBody>
          <a:bodyPr wrap="square" lIns="0" tIns="0" rIns="0" bIns="0" rtlCol="0" anchor="ctr"/>
          <a:lstStyle/>
          <a:p>
            <a:pPr marL="0" indent="0" algn="ctr">
              <a:buNone/>
            </a:pPr>
            <a:r>
              <a:rPr lang="en-US" sz="2600" b="1" dirty="0">
                <a:solidFill>
                  <a:srgbClr val="0B2D55"/>
                </a:solidFill>
                <a:latin typeface="Aptos" pitchFamily="34" charset="0"/>
                <a:ea typeface="Aptos" pitchFamily="34" charset="-122"/>
                <a:cs typeface="Aptos" pitchFamily="34" charset="-120"/>
              </a:rPr>
              <a:t>P(scam | free)</a:t>
            </a:r>
            <a:r>
              <a:rPr lang="en-US" sz="2600" b="1" dirty="0">
                <a:solidFill>
                  <a:srgbClr val="6D7C8F"/>
                </a:solidFill>
                <a:latin typeface="Aptos" pitchFamily="34" charset="0"/>
                <a:ea typeface="Aptos" pitchFamily="34" charset="-122"/>
                <a:cs typeface="Aptos" pitchFamily="34" charset="-120"/>
              </a:rPr>
              <a:t>  =  </a:t>
            </a:r>
            <a:r>
              <a:rPr lang="en-US" sz="2600" b="1" dirty="0">
                <a:solidFill>
                  <a:srgbClr val="D9731A"/>
                </a:solidFill>
                <a:latin typeface="Aptos" pitchFamily="34" charset="0"/>
                <a:ea typeface="Aptos" pitchFamily="34" charset="-122"/>
                <a:cs typeface="Aptos" pitchFamily="34" charset="-120"/>
              </a:rPr>
              <a:t>P(free | scam)</a:t>
            </a:r>
            <a:r>
              <a:rPr lang="en-US" sz="2600" b="1" dirty="0">
                <a:solidFill>
                  <a:srgbClr val="6D7C8F"/>
                </a:solidFill>
                <a:latin typeface="Aptos" pitchFamily="34" charset="0"/>
                <a:ea typeface="Aptos" pitchFamily="34" charset="-122"/>
                <a:cs typeface="Aptos" pitchFamily="34" charset="-120"/>
              </a:rPr>
              <a:t>  ×  </a:t>
            </a:r>
            <a:r>
              <a:rPr lang="en-US" sz="2600" b="1" dirty="0">
                <a:solidFill>
                  <a:srgbClr val="1D5FA7"/>
                </a:solidFill>
                <a:latin typeface="Aptos" pitchFamily="34" charset="0"/>
                <a:ea typeface="Aptos" pitchFamily="34" charset="-122"/>
                <a:cs typeface="Aptos" pitchFamily="34" charset="-120"/>
              </a:rPr>
              <a:t>P(scam)</a:t>
            </a:r>
            <a:r>
              <a:rPr lang="en-US" sz="2600" b="1" dirty="0">
                <a:solidFill>
                  <a:srgbClr val="6D7C8F"/>
                </a:solidFill>
                <a:latin typeface="Aptos" pitchFamily="34" charset="0"/>
                <a:ea typeface="Aptos" pitchFamily="34" charset="-122"/>
                <a:cs typeface="Aptos" pitchFamily="34" charset="-120"/>
              </a:rPr>
              <a:t>  /  P(free)</a:t>
            </a:r>
            <a:endParaRPr lang="en-US" sz="2600" dirty="0"/>
          </a:p>
        </p:txBody>
      </p:sp>
      <p:sp>
        <p:nvSpPr>
          <p:cNvPr id="8" name="Shape 5"/>
          <p:cNvSpPr/>
          <p:nvPr/>
        </p:nvSpPr>
        <p:spPr>
          <a:xfrm>
            <a:off x="576072" y="2606040"/>
            <a:ext cx="2606040" cy="3017520"/>
          </a:xfrm>
          <a:prstGeom prst="roundRect">
            <a:avLst>
              <a:gd name="adj" fmla="val 2807"/>
            </a:avLst>
          </a:prstGeom>
          <a:solidFill>
            <a:srgbClr val="EEF3FA"/>
          </a:solidFill>
          <a:ln w="12700">
            <a:solidFill>
              <a:srgbClr val="0B2D55"/>
            </a:solidFill>
            <a:prstDash val="solid"/>
          </a:ln>
        </p:spPr>
        <p:txBody>
          <a:bodyPr/>
          <a:lstStyle/>
          <a:p>
            <a:endParaRPr lang="en-US"/>
          </a:p>
        </p:txBody>
      </p:sp>
      <p:sp>
        <p:nvSpPr>
          <p:cNvPr id="9" name="Text 6"/>
          <p:cNvSpPr txBox="1"/>
          <p:nvPr/>
        </p:nvSpPr>
        <p:spPr>
          <a:xfrm>
            <a:off x="713232" y="2743200"/>
            <a:ext cx="2331720" cy="411480"/>
          </a:xfrm>
          <a:prstGeom prst="rect">
            <a:avLst/>
          </a:prstGeom>
          <a:noFill/>
          <a:ln/>
        </p:spPr>
        <p:txBody>
          <a:bodyPr wrap="square" lIns="0" tIns="0" rIns="0" bIns="0" rtlCol="0" anchor="t"/>
          <a:lstStyle/>
          <a:p>
            <a:pPr marL="0" indent="0" algn="ctr">
              <a:buNone/>
            </a:pPr>
            <a:r>
              <a:rPr lang="en-US" sz="2100" b="1" dirty="0">
                <a:solidFill>
                  <a:srgbClr val="0B2D55"/>
                </a:solidFill>
                <a:latin typeface="Aptos" pitchFamily="34" charset="0"/>
                <a:ea typeface="Aptos" pitchFamily="34" charset="-122"/>
                <a:cs typeface="Aptos" pitchFamily="34" charset="-120"/>
              </a:rPr>
              <a:t>Posterior</a:t>
            </a:r>
            <a:endParaRPr lang="en-US" sz="2100" dirty="0"/>
          </a:p>
        </p:txBody>
      </p:sp>
      <p:sp>
        <p:nvSpPr>
          <p:cNvPr id="10" name="Text 7"/>
          <p:cNvSpPr txBox="1"/>
          <p:nvPr/>
        </p:nvSpPr>
        <p:spPr>
          <a:xfrm>
            <a:off x="713232" y="3154680"/>
            <a:ext cx="2331720" cy="365760"/>
          </a:xfrm>
          <a:prstGeom prst="rect">
            <a:avLst/>
          </a:prstGeom>
          <a:noFill/>
          <a:ln/>
        </p:spPr>
        <p:txBody>
          <a:bodyPr wrap="square" lIns="0" tIns="0" rIns="0" bIns="0" rtlCol="0" anchor="t"/>
          <a:lstStyle/>
          <a:p>
            <a:pPr marL="0" indent="0" algn="ctr">
              <a:buNone/>
            </a:pPr>
            <a:r>
              <a:rPr lang="en-US" sz="1500" b="1" dirty="0">
                <a:solidFill>
                  <a:srgbClr val="0B2D55"/>
                </a:solidFill>
                <a:latin typeface="Aptos" pitchFamily="34" charset="0"/>
                <a:ea typeface="Aptos" pitchFamily="34" charset="-122"/>
                <a:cs typeface="Aptos" pitchFamily="34" charset="-120"/>
              </a:rPr>
              <a:t>P(scam | free)</a:t>
            </a:r>
            <a:endParaRPr lang="en-US" sz="1500" dirty="0"/>
          </a:p>
        </p:txBody>
      </p:sp>
      <p:sp>
        <p:nvSpPr>
          <p:cNvPr id="11" name="Text 8"/>
          <p:cNvSpPr txBox="1"/>
          <p:nvPr/>
        </p:nvSpPr>
        <p:spPr>
          <a:xfrm>
            <a:off x="758952" y="3611880"/>
            <a:ext cx="2240280" cy="100584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Given “free,” how likely is a scam?</a:t>
            </a:r>
            <a:endParaRPr lang="en-US" sz="1500" dirty="0"/>
          </a:p>
        </p:txBody>
      </p:sp>
      <p:sp>
        <p:nvSpPr>
          <p:cNvPr id="12" name="Text 9"/>
          <p:cNvSpPr txBox="1"/>
          <p:nvPr/>
        </p:nvSpPr>
        <p:spPr>
          <a:xfrm>
            <a:off x="713232" y="4709160"/>
            <a:ext cx="2331720" cy="731520"/>
          </a:xfrm>
          <a:prstGeom prst="rect">
            <a:avLst/>
          </a:prstGeom>
          <a:noFill/>
          <a:ln/>
        </p:spPr>
        <p:txBody>
          <a:bodyPr wrap="square" lIns="0" tIns="0" rIns="0" bIns="0" rtlCol="0" anchor="ctr"/>
          <a:lstStyle/>
          <a:p>
            <a:pPr marL="0" indent="0" algn="ctr">
              <a:buNone/>
            </a:pPr>
            <a:r>
              <a:rPr lang="en-US" sz="3200" b="1" dirty="0">
                <a:solidFill>
                  <a:srgbClr val="0B2D55"/>
                </a:solidFill>
                <a:latin typeface="Aptos" pitchFamily="34" charset="0"/>
                <a:ea typeface="Aptos" pitchFamily="34" charset="-122"/>
                <a:cs typeface="Aptos" pitchFamily="34" charset="-120"/>
              </a:rPr>
              <a:t>0.75</a:t>
            </a:r>
            <a:endParaRPr lang="en-US" sz="3200" dirty="0"/>
          </a:p>
        </p:txBody>
      </p:sp>
      <p:sp>
        <p:nvSpPr>
          <p:cNvPr id="13" name="Shape 10"/>
          <p:cNvSpPr/>
          <p:nvPr/>
        </p:nvSpPr>
        <p:spPr>
          <a:xfrm>
            <a:off x="3392424" y="2606040"/>
            <a:ext cx="2606040" cy="3017520"/>
          </a:xfrm>
          <a:prstGeom prst="roundRect">
            <a:avLst>
              <a:gd name="adj" fmla="val 2807"/>
            </a:avLst>
          </a:prstGeom>
          <a:solidFill>
            <a:srgbClr val="FCE9D8"/>
          </a:solidFill>
          <a:ln w="12700">
            <a:solidFill>
              <a:srgbClr val="D9731A"/>
            </a:solidFill>
            <a:prstDash val="solid"/>
          </a:ln>
        </p:spPr>
        <p:txBody>
          <a:bodyPr/>
          <a:lstStyle/>
          <a:p>
            <a:endParaRPr lang="en-US"/>
          </a:p>
        </p:txBody>
      </p:sp>
      <p:sp>
        <p:nvSpPr>
          <p:cNvPr id="14" name="Text 11"/>
          <p:cNvSpPr txBox="1"/>
          <p:nvPr/>
        </p:nvSpPr>
        <p:spPr>
          <a:xfrm>
            <a:off x="3529584" y="2743200"/>
            <a:ext cx="2331720" cy="411480"/>
          </a:xfrm>
          <a:prstGeom prst="rect">
            <a:avLst/>
          </a:prstGeom>
          <a:noFill/>
          <a:ln/>
        </p:spPr>
        <p:txBody>
          <a:bodyPr wrap="square" lIns="0" tIns="0" rIns="0" bIns="0" rtlCol="0" anchor="t"/>
          <a:lstStyle/>
          <a:p>
            <a:pPr marL="0" indent="0" algn="ctr">
              <a:buNone/>
            </a:pPr>
            <a:r>
              <a:rPr lang="en-US" sz="2100" b="1" dirty="0">
                <a:solidFill>
                  <a:srgbClr val="0B2D55"/>
                </a:solidFill>
                <a:latin typeface="Aptos" pitchFamily="34" charset="0"/>
                <a:ea typeface="Aptos" pitchFamily="34" charset="-122"/>
                <a:cs typeface="Aptos" pitchFamily="34" charset="-120"/>
              </a:rPr>
              <a:t>Likelihood</a:t>
            </a:r>
            <a:endParaRPr lang="en-US" sz="2100" dirty="0"/>
          </a:p>
        </p:txBody>
      </p:sp>
      <p:sp>
        <p:nvSpPr>
          <p:cNvPr id="15" name="Text 12"/>
          <p:cNvSpPr txBox="1"/>
          <p:nvPr/>
        </p:nvSpPr>
        <p:spPr>
          <a:xfrm>
            <a:off x="3529584" y="3154680"/>
            <a:ext cx="2331720" cy="365760"/>
          </a:xfrm>
          <a:prstGeom prst="rect">
            <a:avLst/>
          </a:prstGeom>
          <a:noFill/>
          <a:ln/>
        </p:spPr>
        <p:txBody>
          <a:bodyPr wrap="square" lIns="0" tIns="0" rIns="0" bIns="0" rtlCol="0" anchor="t"/>
          <a:lstStyle/>
          <a:p>
            <a:pPr marL="0" indent="0" algn="ctr">
              <a:buNone/>
            </a:pPr>
            <a:r>
              <a:rPr lang="en-US" sz="1500" b="1" dirty="0">
                <a:solidFill>
                  <a:srgbClr val="D9731A"/>
                </a:solidFill>
                <a:latin typeface="Aptos" pitchFamily="34" charset="0"/>
                <a:ea typeface="Aptos" pitchFamily="34" charset="-122"/>
                <a:cs typeface="Aptos" pitchFamily="34" charset="-120"/>
              </a:rPr>
              <a:t>P(free | scam)</a:t>
            </a:r>
            <a:endParaRPr lang="en-US" sz="1500" dirty="0"/>
          </a:p>
        </p:txBody>
      </p:sp>
      <p:sp>
        <p:nvSpPr>
          <p:cNvPr id="16" name="Text 13"/>
          <p:cNvSpPr txBox="1"/>
          <p:nvPr/>
        </p:nvSpPr>
        <p:spPr>
          <a:xfrm>
            <a:off x="3575304" y="3611880"/>
            <a:ext cx="2240280" cy="100584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Among scam texts, how often is “free” used?</a:t>
            </a:r>
            <a:endParaRPr lang="en-US" sz="1500" dirty="0"/>
          </a:p>
        </p:txBody>
      </p:sp>
      <p:sp>
        <p:nvSpPr>
          <p:cNvPr id="17" name="Text 14"/>
          <p:cNvSpPr txBox="1"/>
          <p:nvPr/>
        </p:nvSpPr>
        <p:spPr>
          <a:xfrm>
            <a:off x="3529584" y="4709160"/>
            <a:ext cx="2331720" cy="731520"/>
          </a:xfrm>
          <a:prstGeom prst="rect">
            <a:avLst/>
          </a:prstGeom>
          <a:noFill/>
          <a:ln/>
        </p:spPr>
        <p:txBody>
          <a:bodyPr wrap="square" lIns="0" tIns="0" rIns="0" bIns="0" rtlCol="0" anchor="ctr"/>
          <a:lstStyle/>
          <a:p>
            <a:pPr marL="0" indent="0" algn="ctr">
              <a:buNone/>
            </a:pPr>
            <a:r>
              <a:rPr lang="en-US" sz="3200" b="1" dirty="0">
                <a:solidFill>
                  <a:srgbClr val="0B2D55"/>
                </a:solidFill>
                <a:latin typeface="Aptos" pitchFamily="34" charset="0"/>
                <a:ea typeface="Aptos" pitchFamily="34" charset="-122"/>
                <a:cs typeface="Aptos" pitchFamily="34" charset="-120"/>
              </a:rPr>
              <a:t>0.60</a:t>
            </a:r>
            <a:endParaRPr lang="en-US" sz="3200" dirty="0"/>
          </a:p>
        </p:txBody>
      </p:sp>
      <p:sp>
        <p:nvSpPr>
          <p:cNvPr id="18" name="Shape 15"/>
          <p:cNvSpPr/>
          <p:nvPr/>
        </p:nvSpPr>
        <p:spPr>
          <a:xfrm>
            <a:off x="6208776" y="2606040"/>
            <a:ext cx="2606040" cy="3017520"/>
          </a:xfrm>
          <a:prstGeom prst="roundRect">
            <a:avLst>
              <a:gd name="adj" fmla="val 2807"/>
            </a:avLst>
          </a:prstGeom>
          <a:solidFill>
            <a:srgbClr val="EAF2F8"/>
          </a:solidFill>
          <a:ln w="12700">
            <a:solidFill>
              <a:srgbClr val="1F5D9B"/>
            </a:solidFill>
            <a:prstDash val="solid"/>
          </a:ln>
        </p:spPr>
        <p:txBody>
          <a:bodyPr/>
          <a:lstStyle/>
          <a:p>
            <a:endParaRPr lang="en-US"/>
          </a:p>
        </p:txBody>
      </p:sp>
      <p:sp>
        <p:nvSpPr>
          <p:cNvPr id="19" name="Text 16"/>
          <p:cNvSpPr txBox="1"/>
          <p:nvPr/>
        </p:nvSpPr>
        <p:spPr>
          <a:xfrm>
            <a:off x="6345936" y="2743200"/>
            <a:ext cx="2331720" cy="411480"/>
          </a:xfrm>
          <a:prstGeom prst="rect">
            <a:avLst/>
          </a:prstGeom>
          <a:noFill/>
          <a:ln/>
        </p:spPr>
        <p:txBody>
          <a:bodyPr wrap="square" lIns="0" tIns="0" rIns="0" bIns="0" rtlCol="0" anchor="t"/>
          <a:lstStyle/>
          <a:p>
            <a:pPr marL="0" indent="0" algn="ctr">
              <a:buNone/>
            </a:pPr>
            <a:r>
              <a:rPr lang="en-US" sz="2100" b="1" dirty="0">
                <a:solidFill>
                  <a:srgbClr val="0B2D55"/>
                </a:solidFill>
                <a:latin typeface="Aptos" pitchFamily="34" charset="0"/>
                <a:ea typeface="Aptos" pitchFamily="34" charset="-122"/>
                <a:cs typeface="Aptos" pitchFamily="34" charset="-120"/>
              </a:rPr>
              <a:t>Prior</a:t>
            </a:r>
            <a:endParaRPr lang="en-US" sz="2100" dirty="0"/>
          </a:p>
        </p:txBody>
      </p:sp>
      <p:sp>
        <p:nvSpPr>
          <p:cNvPr id="20" name="Text 17"/>
          <p:cNvSpPr txBox="1"/>
          <p:nvPr/>
        </p:nvSpPr>
        <p:spPr>
          <a:xfrm>
            <a:off x="6345936" y="3154680"/>
            <a:ext cx="2331720" cy="365760"/>
          </a:xfrm>
          <a:prstGeom prst="rect">
            <a:avLst/>
          </a:prstGeom>
          <a:noFill/>
          <a:ln/>
        </p:spPr>
        <p:txBody>
          <a:bodyPr wrap="square" lIns="0" tIns="0" rIns="0" bIns="0" rtlCol="0" anchor="t"/>
          <a:lstStyle/>
          <a:p>
            <a:pPr marL="0" indent="0" algn="ctr">
              <a:buNone/>
            </a:pPr>
            <a:r>
              <a:rPr lang="en-US" sz="1500" b="1" dirty="0">
                <a:solidFill>
                  <a:srgbClr val="1F5D9B"/>
                </a:solidFill>
                <a:latin typeface="Aptos" pitchFamily="34" charset="0"/>
                <a:ea typeface="Aptos" pitchFamily="34" charset="-122"/>
                <a:cs typeface="Aptos" pitchFamily="34" charset="-120"/>
              </a:rPr>
              <a:t>P(scam)</a:t>
            </a:r>
            <a:endParaRPr lang="en-US" sz="1500" dirty="0"/>
          </a:p>
        </p:txBody>
      </p:sp>
      <p:sp>
        <p:nvSpPr>
          <p:cNvPr id="21" name="Text 18"/>
          <p:cNvSpPr txBox="1"/>
          <p:nvPr/>
        </p:nvSpPr>
        <p:spPr>
          <a:xfrm>
            <a:off x="6391656" y="3611880"/>
            <a:ext cx="2240280" cy="100584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Before reading, how common are scams?</a:t>
            </a:r>
            <a:endParaRPr lang="en-US" sz="1500" dirty="0"/>
          </a:p>
        </p:txBody>
      </p:sp>
      <p:sp>
        <p:nvSpPr>
          <p:cNvPr id="22" name="Text 19"/>
          <p:cNvSpPr txBox="1"/>
          <p:nvPr/>
        </p:nvSpPr>
        <p:spPr>
          <a:xfrm>
            <a:off x="6345936" y="4709160"/>
            <a:ext cx="2331720" cy="731520"/>
          </a:xfrm>
          <a:prstGeom prst="rect">
            <a:avLst/>
          </a:prstGeom>
          <a:noFill/>
          <a:ln/>
        </p:spPr>
        <p:txBody>
          <a:bodyPr wrap="square" lIns="0" tIns="0" rIns="0" bIns="0" rtlCol="0" anchor="ctr"/>
          <a:lstStyle/>
          <a:p>
            <a:pPr marL="0" indent="0" algn="ctr">
              <a:buNone/>
            </a:pPr>
            <a:r>
              <a:rPr lang="en-US" sz="3200" b="1" dirty="0">
                <a:solidFill>
                  <a:srgbClr val="0B2D55"/>
                </a:solidFill>
                <a:latin typeface="Aptos" pitchFamily="34" charset="0"/>
                <a:ea typeface="Aptos" pitchFamily="34" charset="-122"/>
                <a:cs typeface="Aptos" pitchFamily="34" charset="-120"/>
              </a:rPr>
              <a:t>0.20</a:t>
            </a:r>
            <a:endParaRPr lang="en-US" sz="3200" dirty="0"/>
          </a:p>
        </p:txBody>
      </p:sp>
      <p:sp>
        <p:nvSpPr>
          <p:cNvPr id="23" name="Shape 20"/>
          <p:cNvSpPr/>
          <p:nvPr/>
        </p:nvSpPr>
        <p:spPr>
          <a:xfrm>
            <a:off x="9025128" y="2606040"/>
            <a:ext cx="2606040" cy="3017520"/>
          </a:xfrm>
          <a:prstGeom prst="roundRect">
            <a:avLst>
              <a:gd name="adj" fmla="val 2807"/>
            </a:avLst>
          </a:prstGeom>
          <a:solidFill>
            <a:srgbClr val="EEF1F5"/>
          </a:solidFill>
          <a:ln w="12700">
            <a:solidFill>
              <a:srgbClr val="6D7C8F"/>
            </a:solidFill>
            <a:prstDash val="solid"/>
          </a:ln>
        </p:spPr>
        <p:txBody>
          <a:bodyPr/>
          <a:lstStyle/>
          <a:p>
            <a:endParaRPr lang="en-US"/>
          </a:p>
        </p:txBody>
      </p:sp>
      <p:sp>
        <p:nvSpPr>
          <p:cNvPr id="24" name="Text 21"/>
          <p:cNvSpPr txBox="1"/>
          <p:nvPr/>
        </p:nvSpPr>
        <p:spPr>
          <a:xfrm>
            <a:off x="9162288" y="2743200"/>
            <a:ext cx="2331720" cy="411480"/>
          </a:xfrm>
          <a:prstGeom prst="rect">
            <a:avLst/>
          </a:prstGeom>
          <a:noFill/>
          <a:ln/>
        </p:spPr>
        <p:txBody>
          <a:bodyPr wrap="square" lIns="0" tIns="0" rIns="0" bIns="0" rtlCol="0" anchor="t"/>
          <a:lstStyle/>
          <a:p>
            <a:pPr marL="0" indent="0" algn="ctr">
              <a:buNone/>
            </a:pPr>
            <a:r>
              <a:rPr lang="en-US" sz="2100" b="1" dirty="0">
                <a:solidFill>
                  <a:srgbClr val="0B2D55"/>
                </a:solidFill>
                <a:latin typeface="Aptos" pitchFamily="34" charset="0"/>
                <a:ea typeface="Aptos" pitchFamily="34" charset="-122"/>
                <a:cs typeface="Aptos" pitchFamily="34" charset="-120"/>
              </a:rPr>
              <a:t>Evidence</a:t>
            </a:r>
            <a:endParaRPr lang="en-US" sz="2100" dirty="0"/>
          </a:p>
        </p:txBody>
      </p:sp>
      <p:sp>
        <p:nvSpPr>
          <p:cNvPr id="25" name="Text 22"/>
          <p:cNvSpPr txBox="1"/>
          <p:nvPr/>
        </p:nvSpPr>
        <p:spPr>
          <a:xfrm>
            <a:off x="9162288" y="3154680"/>
            <a:ext cx="2331720" cy="365760"/>
          </a:xfrm>
          <a:prstGeom prst="rect">
            <a:avLst/>
          </a:prstGeom>
          <a:noFill/>
          <a:ln/>
        </p:spPr>
        <p:txBody>
          <a:bodyPr wrap="square" lIns="0" tIns="0" rIns="0" bIns="0" rtlCol="0" anchor="t"/>
          <a:lstStyle/>
          <a:p>
            <a:pPr marL="0" indent="0" algn="ctr">
              <a:buNone/>
            </a:pPr>
            <a:r>
              <a:rPr lang="en-US" sz="1500" b="1" dirty="0">
                <a:solidFill>
                  <a:srgbClr val="6D7C8F"/>
                </a:solidFill>
                <a:latin typeface="Aptos" pitchFamily="34" charset="0"/>
                <a:ea typeface="Aptos" pitchFamily="34" charset="-122"/>
                <a:cs typeface="Aptos" pitchFamily="34" charset="-120"/>
              </a:rPr>
              <a:t>P(free)</a:t>
            </a:r>
            <a:endParaRPr lang="en-US" sz="1500" dirty="0"/>
          </a:p>
        </p:txBody>
      </p:sp>
      <p:sp>
        <p:nvSpPr>
          <p:cNvPr id="26" name="Text 23"/>
          <p:cNvSpPr txBox="1"/>
          <p:nvPr/>
        </p:nvSpPr>
        <p:spPr>
          <a:xfrm>
            <a:off x="9208008" y="3611880"/>
            <a:ext cx="2240280" cy="100584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Among all texts, how often is “free” used?</a:t>
            </a:r>
            <a:endParaRPr lang="en-US" sz="1500" dirty="0"/>
          </a:p>
        </p:txBody>
      </p:sp>
      <p:sp>
        <p:nvSpPr>
          <p:cNvPr id="27" name="Text 24"/>
          <p:cNvSpPr txBox="1"/>
          <p:nvPr/>
        </p:nvSpPr>
        <p:spPr>
          <a:xfrm>
            <a:off x="9162288" y="4709160"/>
            <a:ext cx="2331720" cy="731520"/>
          </a:xfrm>
          <a:prstGeom prst="rect">
            <a:avLst/>
          </a:prstGeom>
          <a:noFill/>
          <a:ln/>
        </p:spPr>
        <p:txBody>
          <a:bodyPr wrap="square" lIns="0" tIns="0" rIns="0" bIns="0" rtlCol="0" anchor="ctr"/>
          <a:lstStyle/>
          <a:p>
            <a:pPr marL="0" indent="0" algn="ctr">
              <a:buNone/>
            </a:pPr>
            <a:r>
              <a:rPr lang="en-US" sz="3200" b="1" dirty="0">
                <a:solidFill>
                  <a:srgbClr val="0B2D55"/>
                </a:solidFill>
                <a:latin typeface="Aptos" pitchFamily="34" charset="0"/>
                <a:ea typeface="Aptos" pitchFamily="34" charset="-122"/>
                <a:cs typeface="Aptos" pitchFamily="34" charset="-120"/>
              </a:rPr>
              <a:t>0.16</a:t>
            </a:r>
            <a:endParaRPr lang="en-US" sz="3200" dirty="0"/>
          </a:p>
        </p:txBody>
      </p:sp>
      <p:sp>
        <p:nvSpPr>
          <p:cNvPr id="28" name="Text 25"/>
          <p:cNvSpPr txBox="1"/>
          <p:nvPr/>
        </p:nvSpPr>
        <p:spPr>
          <a:xfrm>
            <a:off x="822960" y="5806440"/>
            <a:ext cx="10515600" cy="50292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Read “|” as “among”: P(free | scam) = among scams, the share saying “free.”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Count it out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Before the formula, just count.</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7</a:t>
            </a:r>
            <a:endParaRPr lang="en-US" sz="850" dirty="0"/>
          </a:p>
        </p:txBody>
      </p:sp>
      <p:sp>
        <p:nvSpPr>
          <p:cNvPr id="7" name="Shape 4"/>
          <p:cNvSpPr/>
          <p:nvPr/>
        </p:nvSpPr>
        <p:spPr>
          <a:xfrm>
            <a:off x="877824" y="1627632"/>
            <a:ext cx="256032" cy="256032"/>
          </a:xfrm>
          <a:prstGeom prst="triangle">
            <a:avLst/>
          </a:prstGeom>
          <a:solidFill>
            <a:srgbClr val="D9731A"/>
          </a:solidFill>
          <a:ln w="15875">
            <a:solidFill>
              <a:srgbClr val="0B2D55"/>
            </a:solidFill>
            <a:prstDash val="solid"/>
          </a:ln>
        </p:spPr>
        <p:txBody>
          <a:bodyPr/>
          <a:lstStyle/>
          <a:p>
            <a:endParaRPr lang="en-US"/>
          </a:p>
        </p:txBody>
      </p:sp>
      <p:sp>
        <p:nvSpPr>
          <p:cNvPr id="8" name="Shape 5"/>
          <p:cNvSpPr/>
          <p:nvPr/>
        </p:nvSpPr>
        <p:spPr>
          <a:xfrm>
            <a:off x="1243584" y="1627632"/>
            <a:ext cx="256032" cy="256032"/>
          </a:xfrm>
          <a:prstGeom prst="triangle">
            <a:avLst/>
          </a:prstGeom>
          <a:solidFill>
            <a:srgbClr val="D9731A"/>
          </a:solidFill>
          <a:ln w="15875">
            <a:solidFill>
              <a:srgbClr val="0B2D55"/>
            </a:solidFill>
            <a:prstDash val="solid"/>
          </a:ln>
        </p:spPr>
        <p:txBody>
          <a:bodyPr/>
          <a:lstStyle/>
          <a:p>
            <a:endParaRPr lang="en-US"/>
          </a:p>
        </p:txBody>
      </p:sp>
      <p:sp>
        <p:nvSpPr>
          <p:cNvPr id="9" name="Shape 6"/>
          <p:cNvSpPr/>
          <p:nvPr/>
        </p:nvSpPr>
        <p:spPr>
          <a:xfrm>
            <a:off x="1609344" y="1627632"/>
            <a:ext cx="256032" cy="256032"/>
          </a:xfrm>
          <a:prstGeom prst="triangle">
            <a:avLst/>
          </a:prstGeom>
          <a:solidFill>
            <a:srgbClr val="D9731A"/>
          </a:solidFill>
          <a:ln w="15875">
            <a:solidFill>
              <a:srgbClr val="0B2D55"/>
            </a:solidFill>
            <a:prstDash val="solid"/>
          </a:ln>
        </p:spPr>
        <p:txBody>
          <a:bodyPr/>
          <a:lstStyle/>
          <a:p>
            <a:endParaRPr lang="en-US"/>
          </a:p>
        </p:txBody>
      </p:sp>
      <p:sp>
        <p:nvSpPr>
          <p:cNvPr id="10" name="Shape 7"/>
          <p:cNvSpPr/>
          <p:nvPr/>
        </p:nvSpPr>
        <p:spPr>
          <a:xfrm>
            <a:off x="1975104" y="1627632"/>
            <a:ext cx="256032" cy="256032"/>
          </a:xfrm>
          <a:prstGeom prst="triangle">
            <a:avLst/>
          </a:prstGeom>
          <a:solidFill>
            <a:srgbClr val="D9731A"/>
          </a:solidFill>
          <a:ln w="15875">
            <a:solidFill>
              <a:srgbClr val="0B2D55"/>
            </a:solidFill>
            <a:prstDash val="solid"/>
          </a:ln>
        </p:spPr>
        <p:txBody>
          <a:bodyPr/>
          <a:lstStyle/>
          <a:p>
            <a:endParaRPr lang="en-US"/>
          </a:p>
        </p:txBody>
      </p:sp>
      <p:sp>
        <p:nvSpPr>
          <p:cNvPr id="11" name="Shape 8"/>
          <p:cNvSpPr/>
          <p:nvPr/>
        </p:nvSpPr>
        <p:spPr>
          <a:xfrm>
            <a:off x="2340864" y="1627632"/>
            <a:ext cx="256032" cy="256032"/>
          </a:xfrm>
          <a:prstGeom prst="triangle">
            <a:avLst/>
          </a:prstGeom>
          <a:solidFill>
            <a:srgbClr val="D9731A"/>
          </a:solidFill>
          <a:ln w="15875">
            <a:solidFill>
              <a:srgbClr val="0B2D55"/>
            </a:solidFill>
            <a:prstDash val="solid"/>
          </a:ln>
        </p:spPr>
        <p:txBody>
          <a:bodyPr/>
          <a:lstStyle/>
          <a:p>
            <a:endParaRPr lang="en-US"/>
          </a:p>
        </p:txBody>
      </p:sp>
      <p:sp>
        <p:nvSpPr>
          <p:cNvPr id="12" name="Shape 9"/>
          <p:cNvSpPr/>
          <p:nvPr/>
        </p:nvSpPr>
        <p:spPr>
          <a:xfrm>
            <a:off x="2706624" y="1627632"/>
            <a:ext cx="256032" cy="256032"/>
          </a:xfrm>
          <a:prstGeom prst="triangle">
            <a:avLst/>
          </a:prstGeom>
          <a:solidFill>
            <a:srgbClr val="D9731A"/>
          </a:solidFill>
          <a:ln w="15875">
            <a:solidFill>
              <a:srgbClr val="0B2D55"/>
            </a:solidFill>
            <a:prstDash val="solid"/>
          </a:ln>
        </p:spPr>
        <p:txBody>
          <a:bodyPr/>
          <a:lstStyle/>
          <a:p>
            <a:endParaRPr lang="en-US"/>
          </a:p>
        </p:txBody>
      </p:sp>
      <p:sp>
        <p:nvSpPr>
          <p:cNvPr id="13" name="Shape 10"/>
          <p:cNvSpPr/>
          <p:nvPr/>
        </p:nvSpPr>
        <p:spPr>
          <a:xfrm>
            <a:off x="3072384" y="1627632"/>
            <a:ext cx="256032" cy="256032"/>
          </a:xfrm>
          <a:prstGeom prst="triangle">
            <a:avLst/>
          </a:prstGeom>
          <a:solidFill>
            <a:srgbClr val="F6D3B5"/>
          </a:solidFill>
          <a:ln w="6350">
            <a:solidFill>
              <a:srgbClr val="FFFFFF"/>
            </a:solidFill>
            <a:prstDash val="solid"/>
          </a:ln>
        </p:spPr>
        <p:txBody>
          <a:bodyPr/>
          <a:lstStyle/>
          <a:p>
            <a:endParaRPr lang="en-US"/>
          </a:p>
        </p:txBody>
      </p:sp>
      <p:sp>
        <p:nvSpPr>
          <p:cNvPr id="14" name="Shape 11"/>
          <p:cNvSpPr/>
          <p:nvPr/>
        </p:nvSpPr>
        <p:spPr>
          <a:xfrm>
            <a:off x="3438144" y="1627632"/>
            <a:ext cx="256032" cy="256032"/>
          </a:xfrm>
          <a:prstGeom prst="triangle">
            <a:avLst/>
          </a:prstGeom>
          <a:solidFill>
            <a:srgbClr val="F6D3B5"/>
          </a:solidFill>
          <a:ln w="6350">
            <a:solidFill>
              <a:srgbClr val="FFFFFF"/>
            </a:solidFill>
            <a:prstDash val="solid"/>
          </a:ln>
        </p:spPr>
        <p:txBody>
          <a:bodyPr/>
          <a:lstStyle/>
          <a:p>
            <a:endParaRPr lang="en-US"/>
          </a:p>
        </p:txBody>
      </p:sp>
      <p:sp>
        <p:nvSpPr>
          <p:cNvPr id="15" name="Shape 12"/>
          <p:cNvSpPr/>
          <p:nvPr/>
        </p:nvSpPr>
        <p:spPr>
          <a:xfrm>
            <a:off x="3803904" y="1627632"/>
            <a:ext cx="256032" cy="256032"/>
          </a:xfrm>
          <a:prstGeom prst="triangle">
            <a:avLst/>
          </a:prstGeom>
          <a:solidFill>
            <a:srgbClr val="F6D3B5"/>
          </a:solidFill>
          <a:ln w="6350">
            <a:solidFill>
              <a:srgbClr val="FFFFFF"/>
            </a:solidFill>
            <a:prstDash val="solid"/>
          </a:ln>
        </p:spPr>
        <p:txBody>
          <a:bodyPr/>
          <a:lstStyle/>
          <a:p>
            <a:endParaRPr lang="en-US"/>
          </a:p>
        </p:txBody>
      </p:sp>
      <p:sp>
        <p:nvSpPr>
          <p:cNvPr id="16" name="Shape 13"/>
          <p:cNvSpPr/>
          <p:nvPr/>
        </p:nvSpPr>
        <p:spPr>
          <a:xfrm>
            <a:off x="4169664" y="1627632"/>
            <a:ext cx="256032" cy="256032"/>
          </a:xfrm>
          <a:prstGeom prst="triangle">
            <a:avLst/>
          </a:prstGeom>
          <a:solidFill>
            <a:srgbClr val="F6D3B5"/>
          </a:solidFill>
          <a:ln w="6350">
            <a:solidFill>
              <a:srgbClr val="FFFFFF"/>
            </a:solidFill>
            <a:prstDash val="solid"/>
          </a:ln>
        </p:spPr>
        <p:txBody>
          <a:bodyPr/>
          <a:lstStyle/>
          <a:p>
            <a:endParaRPr lang="en-US"/>
          </a:p>
        </p:txBody>
      </p:sp>
      <p:sp>
        <p:nvSpPr>
          <p:cNvPr id="17" name="Shape 14"/>
          <p:cNvSpPr/>
          <p:nvPr/>
        </p:nvSpPr>
        <p:spPr>
          <a:xfrm>
            <a:off x="877824" y="1993392"/>
            <a:ext cx="256032" cy="256032"/>
          </a:xfrm>
          <a:prstGeom prst="triangle">
            <a:avLst/>
          </a:prstGeom>
          <a:solidFill>
            <a:srgbClr val="D9731A"/>
          </a:solidFill>
          <a:ln w="15875">
            <a:solidFill>
              <a:srgbClr val="0B2D55"/>
            </a:solidFill>
            <a:prstDash val="solid"/>
          </a:ln>
        </p:spPr>
        <p:txBody>
          <a:bodyPr/>
          <a:lstStyle/>
          <a:p>
            <a:endParaRPr lang="en-US"/>
          </a:p>
        </p:txBody>
      </p:sp>
      <p:sp>
        <p:nvSpPr>
          <p:cNvPr id="18" name="Shape 15"/>
          <p:cNvSpPr/>
          <p:nvPr/>
        </p:nvSpPr>
        <p:spPr>
          <a:xfrm>
            <a:off x="1243584" y="1993392"/>
            <a:ext cx="256032" cy="256032"/>
          </a:xfrm>
          <a:prstGeom prst="triangle">
            <a:avLst/>
          </a:prstGeom>
          <a:solidFill>
            <a:srgbClr val="D9731A"/>
          </a:solidFill>
          <a:ln w="15875">
            <a:solidFill>
              <a:srgbClr val="0B2D55"/>
            </a:solidFill>
            <a:prstDash val="solid"/>
          </a:ln>
        </p:spPr>
        <p:txBody>
          <a:bodyPr/>
          <a:lstStyle/>
          <a:p>
            <a:endParaRPr lang="en-US"/>
          </a:p>
        </p:txBody>
      </p:sp>
      <p:sp>
        <p:nvSpPr>
          <p:cNvPr id="19" name="Shape 16"/>
          <p:cNvSpPr/>
          <p:nvPr/>
        </p:nvSpPr>
        <p:spPr>
          <a:xfrm>
            <a:off x="1609344" y="1993392"/>
            <a:ext cx="256032" cy="256032"/>
          </a:xfrm>
          <a:prstGeom prst="triangle">
            <a:avLst/>
          </a:prstGeom>
          <a:solidFill>
            <a:srgbClr val="D9731A"/>
          </a:solidFill>
          <a:ln w="15875">
            <a:solidFill>
              <a:srgbClr val="0B2D55"/>
            </a:solidFill>
            <a:prstDash val="solid"/>
          </a:ln>
        </p:spPr>
        <p:txBody>
          <a:bodyPr/>
          <a:lstStyle/>
          <a:p>
            <a:endParaRPr lang="en-US"/>
          </a:p>
        </p:txBody>
      </p:sp>
      <p:sp>
        <p:nvSpPr>
          <p:cNvPr id="20" name="Shape 17"/>
          <p:cNvSpPr/>
          <p:nvPr/>
        </p:nvSpPr>
        <p:spPr>
          <a:xfrm>
            <a:off x="1975104" y="1993392"/>
            <a:ext cx="256032" cy="256032"/>
          </a:xfrm>
          <a:prstGeom prst="triangle">
            <a:avLst/>
          </a:prstGeom>
          <a:solidFill>
            <a:srgbClr val="D9731A"/>
          </a:solidFill>
          <a:ln w="15875">
            <a:solidFill>
              <a:srgbClr val="0B2D55"/>
            </a:solidFill>
            <a:prstDash val="solid"/>
          </a:ln>
        </p:spPr>
        <p:txBody>
          <a:bodyPr/>
          <a:lstStyle/>
          <a:p>
            <a:endParaRPr lang="en-US"/>
          </a:p>
        </p:txBody>
      </p:sp>
      <p:sp>
        <p:nvSpPr>
          <p:cNvPr id="21" name="Shape 18"/>
          <p:cNvSpPr/>
          <p:nvPr/>
        </p:nvSpPr>
        <p:spPr>
          <a:xfrm>
            <a:off x="2340864" y="1993392"/>
            <a:ext cx="256032" cy="256032"/>
          </a:xfrm>
          <a:prstGeom prst="triangle">
            <a:avLst/>
          </a:prstGeom>
          <a:solidFill>
            <a:srgbClr val="D9731A"/>
          </a:solidFill>
          <a:ln w="15875">
            <a:solidFill>
              <a:srgbClr val="0B2D55"/>
            </a:solidFill>
            <a:prstDash val="solid"/>
          </a:ln>
        </p:spPr>
        <p:txBody>
          <a:bodyPr/>
          <a:lstStyle/>
          <a:p>
            <a:endParaRPr lang="en-US"/>
          </a:p>
        </p:txBody>
      </p:sp>
      <p:sp>
        <p:nvSpPr>
          <p:cNvPr id="22" name="Shape 19"/>
          <p:cNvSpPr/>
          <p:nvPr/>
        </p:nvSpPr>
        <p:spPr>
          <a:xfrm>
            <a:off x="2706624" y="1993392"/>
            <a:ext cx="256032" cy="256032"/>
          </a:xfrm>
          <a:prstGeom prst="triangle">
            <a:avLst/>
          </a:prstGeom>
          <a:solidFill>
            <a:srgbClr val="D9731A"/>
          </a:solidFill>
          <a:ln w="15875">
            <a:solidFill>
              <a:srgbClr val="0B2D55"/>
            </a:solidFill>
            <a:prstDash val="solid"/>
          </a:ln>
        </p:spPr>
        <p:txBody>
          <a:bodyPr/>
          <a:lstStyle/>
          <a:p>
            <a:endParaRPr lang="en-US"/>
          </a:p>
        </p:txBody>
      </p:sp>
      <p:sp>
        <p:nvSpPr>
          <p:cNvPr id="23" name="Shape 20"/>
          <p:cNvSpPr/>
          <p:nvPr/>
        </p:nvSpPr>
        <p:spPr>
          <a:xfrm>
            <a:off x="3072384" y="1993392"/>
            <a:ext cx="256032" cy="256032"/>
          </a:xfrm>
          <a:prstGeom prst="triangle">
            <a:avLst/>
          </a:prstGeom>
          <a:solidFill>
            <a:srgbClr val="F6D3B5"/>
          </a:solidFill>
          <a:ln w="6350">
            <a:solidFill>
              <a:srgbClr val="FFFFFF"/>
            </a:solidFill>
            <a:prstDash val="solid"/>
          </a:ln>
        </p:spPr>
        <p:txBody>
          <a:bodyPr/>
          <a:lstStyle/>
          <a:p>
            <a:endParaRPr lang="en-US"/>
          </a:p>
        </p:txBody>
      </p:sp>
      <p:sp>
        <p:nvSpPr>
          <p:cNvPr id="24" name="Shape 21"/>
          <p:cNvSpPr/>
          <p:nvPr/>
        </p:nvSpPr>
        <p:spPr>
          <a:xfrm>
            <a:off x="3438144" y="1993392"/>
            <a:ext cx="256032" cy="256032"/>
          </a:xfrm>
          <a:prstGeom prst="triangle">
            <a:avLst/>
          </a:prstGeom>
          <a:solidFill>
            <a:srgbClr val="F6D3B5"/>
          </a:solidFill>
          <a:ln w="6350">
            <a:solidFill>
              <a:srgbClr val="FFFFFF"/>
            </a:solidFill>
            <a:prstDash val="solid"/>
          </a:ln>
        </p:spPr>
        <p:txBody>
          <a:bodyPr/>
          <a:lstStyle/>
          <a:p>
            <a:endParaRPr lang="en-US"/>
          </a:p>
        </p:txBody>
      </p:sp>
      <p:sp>
        <p:nvSpPr>
          <p:cNvPr id="25" name="Shape 22"/>
          <p:cNvSpPr/>
          <p:nvPr/>
        </p:nvSpPr>
        <p:spPr>
          <a:xfrm>
            <a:off x="3803904" y="1993392"/>
            <a:ext cx="256032" cy="256032"/>
          </a:xfrm>
          <a:prstGeom prst="triangle">
            <a:avLst/>
          </a:prstGeom>
          <a:solidFill>
            <a:srgbClr val="F6D3B5"/>
          </a:solidFill>
          <a:ln w="6350">
            <a:solidFill>
              <a:srgbClr val="FFFFFF"/>
            </a:solidFill>
            <a:prstDash val="solid"/>
          </a:ln>
        </p:spPr>
        <p:txBody>
          <a:bodyPr/>
          <a:lstStyle/>
          <a:p>
            <a:endParaRPr lang="en-US"/>
          </a:p>
        </p:txBody>
      </p:sp>
      <p:sp>
        <p:nvSpPr>
          <p:cNvPr id="26" name="Shape 23"/>
          <p:cNvSpPr/>
          <p:nvPr/>
        </p:nvSpPr>
        <p:spPr>
          <a:xfrm>
            <a:off x="4169664" y="1993392"/>
            <a:ext cx="256032" cy="256032"/>
          </a:xfrm>
          <a:prstGeom prst="triangle">
            <a:avLst/>
          </a:prstGeom>
          <a:solidFill>
            <a:srgbClr val="F6D3B5"/>
          </a:solidFill>
          <a:ln w="6350">
            <a:solidFill>
              <a:srgbClr val="FFFFFF"/>
            </a:solidFill>
            <a:prstDash val="solid"/>
          </a:ln>
        </p:spPr>
        <p:txBody>
          <a:bodyPr/>
          <a:lstStyle/>
          <a:p>
            <a:endParaRPr lang="en-US"/>
          </a:p>
        </p:txBody>
      </p:sp>
      <p:sp>
        <p:nvSpPr>
          <p:cNvPr id="27" name="Shape 24"/>
          <p:cNvSpPr/>
          <p:nvPr/>
        </p:nvSpPr>
        <p:spPr>
          <a:xfrm>
            <a:off x="87782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28" name="Shape 25"/>
          <p:cNvSpPr/>
          <p:nvPr/>
        </p:nvSpPr>
        <p:spPr>
          <a:xfrm>
            <a:off x="124358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29" name="Shape 26"/>
          <p:cNvSpPr/>
          <p:nvPr/>
        </p:nvSpPr>
        <p:spPr>
          <a:xfrm>
            <a:off x="160934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30" name="Shape 27"/>
          <p:cNvSpPr/>
          <p:nvPr/>
        </p:nvSpPr>
        <p:spPr>
          <a:xfrm>
            <a:off x="197510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31" name="Shape 28"/>
          <p:cNvSpPr/>
          <p:nvPr/>
        </p:nvSpPr>
        <p:spPr>
          <a:xfrm>
            <a:off x="234086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32" name="Shape 29"/>
          <p:cNvSpPr/>
          <p:nvPr/>
        </p:nvSpPr>
        <p:spPr>
          <a:xfrm>
            <a:off x="270662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33" name="Shape 30"/>
          <p:cNvSpPr/>
          <p:nvPr/>
        </p:nvSpPr>
        <p:spPr>
          <a:xfrm>
            <a:off x="307238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34" name="Shape 31"/>
          <p:cNvSpPr/>
          <p:nvPr/>
        </p:nvSpPr>
        <p:spPr>
          <a:xfrm>
            <a:off x="3438144" y="2359152"/>
            <a:ext cx="256032" cy="256032"/>
          </a:xfrm>
          <a:prstGeom prst="ellipse">
            <a:avLst/>
          </a:prstGeom>
          <a:solidFill>
            <a:srgbClr val="1D5FA7"/>
          </a:solidFill>
          <a:ln w="15875">
            <a:solidFill>
              <a:srgbClr val="0B2D55"/>
            </a:solidFill>
            <a:prstDash val="solid"/>
          </a:ln>
        </p:spPr>
        <p:txBody>
          <a:bodyPr/>
          <a:lstStyle/>
          <a:p>
            <a:endParaRPr lang="en-US"/>
          </a:p>
        </p:txBody>
      </p:sp>
      <p:sp>
        <p:nvSpPr>
          <p:cNvPr id="35" name="Shape 32"/>
          <p:cNvSpPr/>
          <p:nvPr/>
        </p:nvSpPr>
        <p:spPr>
          <a:xfrm>
            <a:off x="380390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36" name="Shape 33"/>
          <p:cNvSpPr/>
          <p:nvPr/>
        </p:nvSpPr>
        <p:spPr>
          <a:xfrm>
            <a:off x="4169664" y="2359152"/>
            <a:ext cx="256032" cy="256032"/>
          </a:xfrm>
          <a:prstGeom prst="ellipse">
            <a:avLst/>
          </a:prstGeom>
          <a:solidFill>
            <a:srgbClr val="C9DBEE"/>
          </a:solidFill>
          <a:ln w="6350">
            <a:solidFill>
              <a:srgbClr val="FFFFFF"/>
            </a:solidFill>
            <a:prstDash val="solid"/>
          </a:ln>
        </p:spPr>
        <p:txBody>
          <a:bodyPr/>
          <a:lstStyle/>
          <a:p>
            <a:endParaRPr lang="en-US"/>
          </a:p>
        </p:txBody>
      </p:sp>
      <p:sp>
        <p:nvSpPr>
          <p:cNvPr id="37" name="Shape 34"/>
          <p:cNvSpPr/>
          <p:nvPr/>
        </p:nvSpPr>
        <p:spPr>
          <a:xfrm>
            <a:off x="87782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38" name="Shape 35"/>
          <p:cNvSpPr/>
          <p:nvPr/>
        </p:nvSpPr>
        <p:spPr>
          <a:xfrm>
            <a:off x="124358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39" name="Shape 36"/>
          <p:cNvSpPr/>
          <p:nvPr/>
        </p:nvSpPr>
        <p:spPr>
          <a:xfrm>
            <a:off x="160934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0" name="Shape 37"/>
          <p:cNvSpPr/>
          <p:nvPr/>
        </p:nvSpPr>
        <p:spPr>
          <a:xfrm>
            <a:off x="197510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1" name="Shape 38"/>
          <p:cNvSpPr/>
          <p:nvPr/>
        </p:nvSpPr>
        <p:spPr>
          <a:xfrm>
            <a:off x="234086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2" name="Shape 39"/>
          <p:cNvSpPr/>
          <p:nvPr/>
        </p:nvSpPr>
        <p:spPr>
          <a:xfrm>
            <a:off x="270662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3" name="Shape 40"/>
          <p:cNvSpPr/>
          <p:nvPr/>
        </p:nvSpPr>
        <p:spPr>
          <a:xfrm>
            <a:off x="307238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4" name="Shape 41"/>
          <p:cNvSpPr/>
          <p:nvPr/>
        </p:nvSpPr>
        <p:spPr>
          <a:xfrm>
            <a:off x="343814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5" name="Shape 42"/>
          <p:cNvSpPr/>
          <p:nvPr/>
        </p:nvSpPr>
        <p:spPr>
          <a:xfrm>
            <a:off x="380390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6" name="Shape 43"/>
          <p:cNvSpPr/>
          <p:nvPr/>
        </p:nvSpPr>
        <p:spPr>
          <a:xfrm>
            <a:off x="4169664" y="2724912"/>
            <a:ext cx="256032" cy="256032"/>
          </a:xfrm>
          <a:prstGeom prst="ellipse">
            <a:avLst/>
          </a:prstGeom>
          <a:solidFill>
            <a:srgbClr val="C9DBEE"/>
          </a:solidFill>
          <a:ln w="6350">
            <a:solidFill>
              <a:srgbClr val="FFFFFF"/>
            </a:solidFill>
            <a:prstDash val="solid"/>
          </a:ln>
        </p:spPr>
        <p:txBody>
          <a:bodyPr/>
          <a:lstStyle/>
          <a:p>
            <a:endParaRPr lang="en-US"/>
          </a:p>
        </p:txBody>
      </p:sp>
      <p:sp>
        <p:nvSpPr>
          <p:cNvPr id="47" name="Shape 44"/>
          <p:cNvSpPr/>
          <p:nvPr/>
        </p:nvSpPr>
        <p:spPr>
          <a:xfrm>
            <a:off x="87782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48" name="Shape 45"/>
          <p:cNvSpPr/>
          <p:nvPr/>
        </p:nvSpPr>
        <p:spPr>
          <a:xfrm>
            <a:off x="124358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49" name="Shape 46"/>
          <p:cNvSpPr/>
          <p:nvPr/>
        </p:nvSpPr>
        <p:spPr>
          <a:xfrm>
            <a:off x="160934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50" name="Shape 47"/>
          <p:cNvSpPr/>
          <p:nvPr/>
        </p:nvSpPr>
        <p:spPr>
          <a:xfrm>
            <a:off x="197510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51" name="Shape 48"/>
          <p:cNvSpPr/>
          <p:nvPr/>
        </p:nvSpPr>
        <p:spPr>
          <a:xfrm>
            <a:off x="2340864" y="3090672"/>
            <a:ext cx="256032" cy="256032"/>
          </a:xfrm>
          <a:prstGeom prst="ellipse">
            <a:avLst/>
          </a:prstGeom>
          <a:solidFill>
            <a:srgbClr val="1D5FA7"/>
          </a:solidFill>
          <a:ln w="15875">
            <a:solidFill>
              <a:srgbClr val="0B2D55"/>
            </a:solidFill>
            <a:prstDash val="solid"/>
          </a:ln>
        </p:spPr>
        <p:txBody>
          <a:bodyPr/>
          <a:lstStyle/>
          <a:p>
            <a:endParaRPr lang="en-US"/>
          </a:p>
        </p:txBody>
      </p:sp>
      <p:sp>
        <p:nvSpPr>
          <p:cNvPr id="52" name="Shape 49"/>
          <p:cNvSpPr/>
          <p:nvPr/>
        </p:nvSpPr>
        <p:spPr>
          <a:xfrm>
            <a:off x="270662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53" name="Shape 50"/>
          <p:cNvSpPr/>
          <p:nvPr/>
        </p:nvSpPr>
        <p:spPr>
          <a:xfrm>
            <a:off x="307238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54" name="Shape 51"/>
          <p:cNvSpPr/>
          <p:nvPr/>
        </p:nvSpPr>
        <p:spPr>
          <a:xfrm>
            <a:off x="343814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55" name="Shape 52"/>
          <p:cNvSpPr/>
          <p:nvPr/>
        </p:nvSpPr>
        <p:spPr>
          <a:xfrm>
            <a:off x="380390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56" name="Shape 53"/>
          <p:cNvSpPr/>
          <p:nvPr/>
        </p:nvSpPr>
        <p:spPr>
          <a:xfrm>
            <a:off x="4169664" y="3090672"/>
            <a:ext cx="256032" cy="256032"/>
          </a:xfrm>
          <a:prstGeom prst="ellipse">
            <a:avLst/>
          </a:prstGeom>
          <a:solidFill>
            <a:srgbClr val="C9DBEE"/>
          </a:solidFill>
          <a:ln w="6350">
            <a:solidFill>
              <a:srgbClr val="FFFFFF"/>
            </a:solidFill>
            <a:prstDash val="solid"/>
          </a:ln>
        </p:spPr>
        <p:txBody>
          <a:bodyPr/>
          <a:lstStyle/>
          <a:p>
            <a:endParaRPr lang="en-US"/>
          </a:p>
        </p:txBody>
      </p:sp>
      <p:sp>
        <p:nvSpPr>
          <p:cNvPr id="57" name="Shape 54"/>
          <p:cNvSpPr/>
          <p:nvPr/>
        </p:nvSpPr>
        <p:spPr>
          <a:xfrm>
            <a:off x="87782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58" name="Shape 55"/>
          <p:cNvSpPr/>
          <p:nvPr/>
        </p:nvSpPr>
        <p:spPr>
          <a:xfrm>
            <a:off x="124358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59" name="Shape 56"/>
          <p:cNvSpPr/>
          <p:nvPr/>
        </p:nvSpPr>
        <p:spPr>
          <a:xfrm>
            <a:off x="160934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0" name="Shape 57"/>
          <p:cNvSpPr/>
          <p:nvPr/>
        </p:nvSpPr>
        <p:spPr>
          <a:xfrm>
            <a:off x="197510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1" name="Shape 58"/>
          <p:cNvSpPr/>
          <p:nvPr/>
        </p:nvSpPr>
        <p:spPr>
          <a:xfrm>
            <a:off x="234086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2" name="Shape 59"/>
          <p:cNvSpPr/>
          <p:nvPr/>
        </p:nvSpPr>
        <p:spPr>
          <a:xfrm>
            <a:off x="270662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3" name="Shape 60"/>
          <p:cNvSpPr/>
          <p:nvPr/>
        </p:nvSpPr>
        <p:spPr>
          <a:xfrm>
            <a:off x="307238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4" name="Shape 61"/>
          <p:cNvSpPr/>
          <p:nvPr/>
        </p:nvSpPr>
        <p:spPr>
          <a:xfrm>
            <a:off x="343814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5" name="Shape 62"/>
          <p:cNvSpPr/>
          <p:nvPr/>
        </p:nvSpPr>
        <p:spPr>
          <a:xfrm>
            <a:off x="380390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6" name="Shape 63"/>
          <p:cNvSpPr/>
          <p:nvPr/>
        </p:nvSpPr>
        <p:spPr>
          <a:xfrm>
            <a:off x="4169664" y="3456432"/>
            <a:ext cx="256032" cy="256032"/>
          </a:xfrm>
          <a:prstGeom prst="ellipse">
            <a:avLst/>
          </a:prstGeom>
          <a:solidFill>
            <a:srgbClr val="C9DBEE"/>
          </a:solidFill>
          <a:ln w="6350">
            <a:solidFill>
              <a:srgbClr val="FFFFFF"/>
            </a:solidFill>
            <a:prstDash val="solid"/>
          </a:ln>
        </p:spPr>
        <p:txBody>
          <a:bodyPr/>
          <a:lstStyle/>
          <a:p>
            <a:endParaRPr lang="en-US"/>
          </a:p>
        </p:txBody>
      </p:sp>
      <p:sp>
        <p:nvSpPr>
          <p:cNvPr id="67" name="Shape 64"/>
          <p:cNvSpPr/>
          <p:nvPr/>
        </p:nvSpPr>
        <p:spPr>
          <a:xfrm>
            <a:off x="87782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68" name="Shape 65"/>
          <p:cNvSpPr/>
          <p:nvPr/>
        </p:nvSpPr>
        <p:spPr>
          <a:xfrm>
            <a:off x="124358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69" name="Shape 66"/>
          <p:cNvSpPr/>
          <p:nvPr/>
        </p:nvSpPr>
        <p:spPr>
          <a:xfrm>
            <a:off x="160934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70" name="Shape 67"/>
          <p:cNvSpPr/>
          <p:nvPr/>
        </p:nvSpPr>
        <p:spPr>
          <a:xfrm>
            <a:off x="1975104" y="3822192"/>
            <a:ext cx="256032" cy="256032"/>
          </a:xfrm>
          <a:prstGeom prst="ellipse">
            <a:avLst/>
          </a:prstGeom>
          <a:solidFill>
            <a:srgbClr val="1D5FA7"/>
          </a:solidFill>
          <a:ln w="15875">
            <a:solidFill>
              <a:srgbClr val="0B2D55"/>
            </a:solidFill>
            <a:prstDash val="solid"/>
          </a:ln>
        </p:spPr>
        <p:txBody>
          <a:bodyPr/>
          <a:lstStyle/>
          <a:p>
            <a:endParaRPr lang="en-US"/>
          </a:p>
        </p:txBody>
      </p:sp>
      <p:sp>
        <p:nvSpPr>
          <p:cNvPr id="71" name="Shape 68"/>
          <p:cNvSpPr/>
          <p:nvPr/>
        </p:nvSpPr>
        <p:spPr>
          <a:xfrm>
            <a:off x="234086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72" name="Shape 69"/>
          <p:cNvSpPr/>
          <p:nvPr/>
        </p:nvSpPr>
        <p:spPr>
          <a:xfrm>
            <a:off x="270662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73" name="Shape 70"/>
          <p:cNvSpPr/>
          <p:nvPr/>
        </p:nvSpPr>
        <p:spPr>
          <a:xfrm>
            <a:off x="307238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74" name="Shape 71"/>
          <p:cNvSpPr/>
          <p:nvPr/>
        </p:nvSpPr>
        <p:spPr>
          <a:xfrm>
            <a:off x="343814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75" name="Shape 72"/>
          <p:cNvSpPr/>
          <p:nvPr/>
        </p:nvSpPr>
        <p:spPr>
          <a:xfrm>
            <a:off x="380390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76" name="Shape 73"/>
          <p:cNvSpPr/>
          <p:nvPr/>
        </p:nvSpPr>
        <p:spPr>
          <a:xfrm>
            <a:off x="4169664" y="3822192"/>
            <a:ext cx="256032" cy="256032"/>
          </a:xfrm>
          <a:prstGeom prst="ellipse">
            <a:avLst/>
          </a:prstGeom>
          <a:solidFill>
            <a:srgbClr val="C9DBEE"/>
          </a:solidFill>
          <a:ln w="6350">
            <a:solidFill>
              <a:srgbClr val="FFFFFF"/>
            </a:solidFill>
            <a:prstDash val="solid"/>
          </a:ln>
        </p:spPr>
        <p:txBody>
          <a:bodyPr/>
          <a:lstStyle/>
          <a:p>
            <a:endParaRPr lang="en-US"/>
          </a:p>
        </p:txBody>
      </p:sp>
      <p:sp>
        <p:nvSpPr>
          <p:cNvPr id="77" name="Shape 74"/>
          <p:cNvSpPr/>
          <p:nvPr/>
        </p:nvSpPr>
        <p:spPr>
          <a:xfrm>
            <a:off x="87782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78" name="Shape 75"/>
          <p:cNvSpPr/>
          <p:nvPr/>
        </p:nvSpPr>
        <p:spPr>
          <a:xfrm>
            <a:off x="124358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79" name="Shape 76"/>
          <p:cNvSpPr/>
          <p:nvPr/>
        </p:nvSpPr>
        <p:spPr>
          <a:xfrm>
            <a:off x="160934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0" name="Shape 77"/>
          <p:cNvSpPr/>
          <p:nvPr/>
        </p:nvSpPr>
        <p:spPr>
          <a:xfrm>
            <a:off x="197510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1" name="Shape 78"/>
          <p:cNvSpPr/>
          <p:nvPr/>
        </p:nvSpPr>
        <p:spPr>
          <a:xfrm>
            <a:off x="234086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2" name="Shape 79"/>
          <p:cNvSpPr/>
          <p:nvPr/>
        </p:nvSpPr>
        <p:spPr>
          <a:xfrm>
            <a:off x="270662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3" name="Shape 80"/>
          <p:cNvSpPr/>
          <p:nvPr/>
        </p:nvSpPr>
        <p:spPr>
          <a:xfrm>
            <a:off x="307238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4" name="Shape 81"/>
          <p:cNvSpPr/>
          <p:nvPr/>
        </p:nvSpPr>
        <p:spPr>
          <a:xfrm>
            <a:off x="343814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5" name="Shape 82"/>
          <p:cNvSpPr/>
          <p:nvPr/>
        </p:nvSpPr>
        <p:spPr>
          <a:xfrm>
            <a:off x="380390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6" name="Shape 83"/>
          <p:cNvSpPr/>
          <p:nvPr/>
        </p:nvSpPr>
        <p:spPr>
          <a:xfrm>
            <a:off x="4169664" y="4187952"/>
            <a:ext cx="256032" cy="256032"/>
          </a:xfrm>
          <a:prstGeom prst="ellipse">
            <a:avLst/>
          </a:prstGeom>
          <a:solidFill>
            <a:srgbClr val="C9DBEE"/>
          </a:solidFill>
          <a:ln w="6350">
            <a:solidFill>
              <a:srgbClr val="FFFFFF"/>
            </a:solidFill>
            <a:prstDash val="solid"/>
          </a:ln>
        </p:spPr>
        <p:txBody>
          <a:bodyPr/>
          <a:lstStyle/>
          <a:p>
            <a:endParaRPr lang="en-US"/>
          </a:p>
        </p:txBody>
      </p:sp>
      <p:sp>
        <p:nvSpPr>
          <p:cNvPr id="87" name="Shape 84"/>
          <p:cNvSpPr/>
          <p:nvPr/>
        </p:nvSpPr>
        <p:spPr>
          <a:xfrm>
            <a:off x="87782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88" name="Shape 85"/>
          <p:cNvSpPr/>
          <p:nvPr/>
        </p:nvSpPr>
        <p:spPr>
          <a:xfrm>
            <a:off x="124358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89" name="Shape 86"/>
          <p:cNvSpPr/>
          <p:nvPr/>
        </p:nvSpPr>
        <p:spPr>
          <a:xfrm>
            <a:off x="160934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90" name="Shape 87"/>
          <p:cNvSpPr/>
          <p:nvPr/>
        </p:nvSpPr>
        <p:spPr>
          <a:xfrm>
            <a:off x="197510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91" name="Shape 88"/>
          <p:cNvSpPr/>
          <p:nvPr/>
        </p:nvSpPr>
        <p:spPr>
          <a:xfrm>
            <a:off x="234086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92" name="Shape 89"/>
          <p:cNvSpPr/>
          <p:nvPr/>
        </p:nvSpPr>
        <p:spPr>
          <a:xfrm>
            <a:off x="270662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93" name="Shape 90"/>
          <p:cNvSpPr/>
          <p:nvPr/>
        </p:nvSpPr>
        <p:spPr>
          <a:xfrm>
            <a:off x="307238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94" name="Shape 91"/>
          <p:cNvSpPr/>
          <p:nvPr/>
        </p:nvSpPr>
        <p:spPr>
          <a:xfrm>
            <a:off x="343814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95" name="Shape 92"/>
          <p:cNvSpPr/>
          <p:nvPr/>
        </p:nvSpPr>
        <p:spPr>
          <a:xfrm>
            <a:off x="3803904" y="4553712"/>
            <a:ext cx="256032" cy="256032"/>
          </a:xfrm>
          <a:prstGeom prst="ellipse">
            <a:avLst/>
          </a:prstGeom>
          <a:solidFill>
            <a:srgbClr val="1D5FA7"/>
          </a:solidFill>
          <a:ln w="15875">
            <a:solidFill>
              <a:srgbClr val="0B2D55"/>
            </a:solidFill>
            <a:prstDash val="solid"/>
          </a:ln>
        </p:spPr>
        <p:txBody>
          <a:bodyPr/>
          <a:lstStyle/>
          <a:p>
            <a:endParaRPr lang="en-US"/>
          </a:p>
        </p:txBody>
      </p:sp>
      <p:sp>
        <p:nvSpPr>
          <p:cNvPr id="96" name="Shape 93"/>
          <p:cNvSpPr/>
          <p:nvPr/>
        </p:nvSpPr>
        <p:spPr>
          <a:xfrm>
            <a:off x="4169664" y="4553712"/>
            <a:ext cx="256032" cy="256032"/>
          </a:xfrm>
          <a:prstGeom prst="ellipse">
            <a:avLst/>
          </a:prstGeom>
          <a:solidFill>
            <a:srgbClr val="C9DBEE"/>
          </a:solidFill>
          <a:ln w="6350">
            <a:solidFill>
              <a:srgbClr val="FFFFFF"/>
            </a:solidFill>
            <a:prstDash val="solid"/>
          </a:ln>
        </p:spPr>
        <p:txBody>
          <a:bodyPr/>
          <a:lstStyle/>
          <a:p>
            <a:endParaRPr lang="en-US"/>
          </a:p>
        </p:txBody>
      </p:sp>
      <p:sp>
        <p:nvSpPr>
          <p:cNvPr id="97" name="Shape 94"/>
          <p:cNvSpPr/>
          <p:nvPr/>
        </p:nvSpPr>
        <p:spPr>
          <a:xfrm>
            <a:off x="87782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98" name="Shape 95"/>
          <p:cNvSpPr/>
          <p:nvPr/>
        </p:nvSpPr>
        <p:spPr>
          <a:xfrm>
            <a:off x="124358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99" name="Shape 96"/>
          <p:cNvSpPr/>
          <p:nvPr/>
        </p:nvSpPr>
        <p:spPr>
          <a:xfrm>
            <a:off x="160934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0" name="Shape 97"/>
          <p:cNvSpPr/>
          <p:nvPr/>
        </p:nvSpPr>
        <p:spPr>
          <a:xfrm>
            <a:off x="197510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1" name="Shape 98"/>
          <p:cNvSpPr/>
          <p:nvPr/>
        </p:nvSpPr>
        <p:spPr>
          <a:xfrm>
            <a:off x="234086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2" name="Shape 99"/>
          <p:cNvSpPr/>
          <p:nvPr/>
        </p:nvSpPr>
        <p:spPr>
          <a:xfrm>
            <a:off x="270662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3" name="Shape 100"/>
          <p:cNvSpPr/>
          <p:nvPr/>
        </p:nvSpPr>
        <p:spPr>
          <a:xfrm>
            <a:off x="307238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4" name="Shape 101"/>
          <p:cNvSpPr/>
          <p:nvPr/>
        </p:nvSpPr>
        <p:spPr>
          <a:xfrm>
            <a:off x="343814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5" name="Shape 102"/>
          <p:cNvSpPr/>
          <p:nvPr/>
        </p:nvSpPr>
        <p:spPr>
          <a:xfrm>
            <a:off x="380390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6" name="Shape 103"/>
          <p:cNvSpPr/>
          <p:nvPr/>
        </p:nvSpPr>
        <p:spPr>
          <a:xfrm>
            <a:off x="4169664" y="4919472"/>
            <a:ext cx="256032" cy="256032"/>
          </a:xfrm>
          <a:prstGeom prst="ellipse">
            <a:avLst/>
          </a:prstGeom>
          <a:solidFill>
            <a:srgbClr val="C9DBEE"/>
          </a:solidFill>
          <a:ln w="6350">
            <a:solidFill>
              <a:srgbClr val="FFFFFF"/>
            </a:solidFill>
            <a:prstDash val="solid"/>
          </a:ln>
        </p:spPr>
        <p:txBody>
          <a:bodyPr/>
          <a:lstStyle/>
          <a:p>
            <a:endParaRPr lang="en-US"/>
          </a:p>
        </p:txBody>
      </p:sp>
      <p:sp>
        <p:nvSpPr>
          <p:cNvPr id="107" name="Text 104"/>
          <p:cNvSpPr txBox="1"/>
          <p:nvPr/>
        </p:nvSpPr>
        <p:spPr>
          <a:xfrm>
            <a:off x="822960" y="5276088"/>
            <a:ext cx="3657600" cy="274320"/>
          </a:xfrm>
          <a:prstGeom prst="rect">
            <a:avLst/>
          </a:prstGeom>
          <a:noFill/>
          <a:ln/>
        </p:spPr>
        <p:txBody>
          <a:bodyPr wrap="square" lIns="0" tIns="0" rIns="0" bIns="0" rtlCol="0" anchor="t"/>
          <a:lstStyle/>
          <a:p>
            <a:pPr marL="0" indent="0" algn="ctr">
              <a:buNone/>
            </a:pPr>
            <a:r>
              <a:rPr lang="en-US" sz="1300" i="1" dirty="0">
                <a:solidFill>
                  <a:srgbClr val="6D7C8F"/>
                </a:solidFill>
                <a:latin typeface="Aptos" pitchFamily="34" charset="0"/>
                <a:ea typeface="Aptos" pitchFamily="34" charset="-122"/>
                <a:cs typeface="Aptos" pitchFamily="34" charset="-120"/>
              </a:rPr>
              <a:t>Bright = the text contains “free”</a:t>
            </a:r>
            <a:endParaRPr lang="en-US" sz="1300" dirty="0"/>
          </a:p>
        </p:txBody>
      </p:sp>
      <p:sp>
        <p:nvSpPr>
          <p:cNvPr id="108" name="Shape 105"/>
          <p:cNvSpPr/>
          <p:nvPr/>
        </p:nvSpPr>
        <p:spPr>
          <a:xfrm>
            <a:off x="5486400" y="1600200"/>
            <a:ext cx="6126480" cy="2286000"/>
          </a:xfrm>
          <a:prstGeom prst="roundRect">
            <a:avLst>
              <a:gd name="adj" fmla="val 3200"/>
            </a:avLst>
          </a:prstGeom>
          <a:solidFill>
            <a:srgbClr val="FFFFFF"/>
          </a:solidFill>
          <a:ln w="12700">
            <a:solidFill>
              <a:srgbClr val="B8C7D8"/>
            </a:solidFill>
            <a:prstDash val="solid"/>
          </a:ln>
        </p:spPr>
        <p:txBody>
          <a:bodyPr/>
          <a:lstStyle/>
          <a:p>
            <a:endParaRPr lang="en-US"/>
          </a:p>
        </p:txBody>
      </p:sp>
      <p:sp>
        <p:nvSpPr>
          <p:cNvPr id="109" name="Text 106"/>
          <p:cNvSpPr txBox="1"/>
          <p:nvPr/>
        </p:nvSpPr>
        <p:spPr>
          <a:xfrm>
            <a:off x="5715000" y="1737360"/>
            <a:ext cx="5669280" cy="365760"/>
          </a:xfrm>
          <a:prstGeom prst="rect">
            <a:avLst/>
          </a:prstGeom>
          <a:noFill/>
          <a:ln/>
        </p:spPr>
        <p:txBody>
          <a:bodyPr wrap="square" lIns="0" tIns="0" rIns="0" bIns="0" rtlCol="0" anchor="t"/>
          <a:lstStyle/>
          <a:p>
            <a:pPr marL="0" indent="0">
              <a:buNone/>
            </a:pPr>
            <a:r>
              <a:rPr lang="en-US" sz="1900" b="1" dirty="0">
                <a:solidFill>
                  <a:srgbClr val="0B2D55"/>
                </a:solidFill>
                <a:latin typeface="Aptos" pitchFamily="34" charset="0"/>
                <a:ea typeface="Aptos" pitchFamily="34" charset="-122"/>
                <a:cs typeface="Aptos" pitchFamily="34" charset="-120"/>
              </a:rPr>
              <a:t>100 recent texts</a:t>
            </a:r>
            <a:endParaRPr lang="en-US" sz="1900" dirty="0"/>
          </a:p>
        </p:txBody>
      </p:sp>
      <p:sp>
        <p:nvSpPr>
          <p:cNvPr id="110" name="Text 107"/>
          <p:cNvSpPr txBox="1"/>
          <p:nvPr/>
        </p:nvSpPr>
        <p:spPr>
          <a:xfrm>
            <a:off x="5760720" y="2240280"/>
            <a:ext cx="5669280" cy="457200"/>
          </a:xfrm>
          <a:prstGeom prst="rect">
            <a:avLst/>
          </a:prstGeom>
          <a:noFill/>
          <a:ln/>
        </p:spPr>
        <p:txBody>
          <a:bodyPr wrap="square" lIns="0" tIns="0" rIns="0" bIns="0" rtlCol="0" anchor="ctr"/>
          <a:lstStyle/>
          <a:p>
            <a:pPr marL="0" indent="0">
              <a:buNone/>
            </a:pPr>
            <a:r>
              <a:rPr lang="en-US" sz="1700" dirty="0">
                <a:solidFill>
                  <a:srgbClr val="D9731A"/>
                </a:solidFill>
                <a:latin typeface="Aptos" pitchFamily="34" charset="0"/>
                <a:ea typeface="Aptos" pitchFamily="34" charset="-122"/>
                <a:cs typeface="Aptos" pitchFamily="34" charset="-120"/>
              </a:rPr>
              <a:t>▲ </a:t>
            </a:r>
            <a:r>
              <a:rPr lang="en-US" sz="1700" dirty="0">
                <a:solidFill>
                  <a:srgbClr val="132033"/>
                </a:solidFill>
                <a:latin typeface="Aptos" pitchFamily="34" charset="0"/>
                <a:ea typeface="Aptos" pitchFamily="34" charset="-122"/>
                <a:cs typeface="Aptos" pitchFamily="34" charset="-120"/>
              </a:rPr>
              <a:t>Scam: 20 texts, and 12 of them say “free”</a:t>
            </a:r>
            <a:endParaRPr lang="en-US" sz="1700" dirty="0"/>
          </a:p>
        </p:txBody>
      </p:sp>
      <p:sp>
        <p:nvSpPr>
          <p:cNvPr id="111" name="Text 108"/>
          <p:cNvSpPr txBox="1"/>
          <p:nvPr/>
        </p:nvSpPr>
        <p:spPr>
          <a:xfrm>
            <a:off x="5760720" y="2743200"/>
            <a:ext cx="5669280" cy="457200"/>
          </a:xfrm>
          <a:prstGeom prst="rect">
            <a:avLst/>
          </a:prstGeom>
          <a:noFill/>
          <a:ln/>
        </p:spPr>
        <p:txBody>
          <a:bodyPr wrap="square" lIns="0" tIns="0" rIns="0" bIns="0" rtlCol="0" anchor="ctr"/>
          <a:lstStyle/>
          <a:p>
            <a:pPr marL="0" indent="0">
              <a:buNone/>
            </a:pPr>
            <a:r>
              <a:rPr lang="en-US" sz="1700" dirty="0">
                <a:solidFill>
                  <a:srgbClr val="1D5FA7"/>
                </a:solidFill>
                <a:latin typeface="Aptos" pitchFamily="34" charset="0"/>
                <a:ea typeface="Aptos" pitchFamily="34" charset="-122"/>
                <a:cs typeface="Aptos" pitchFamily="34" charset="-120"/>
              </a:rPr>
              <a:t>● </a:t>
            </a:r>
            <a:r>
              <a:rPr lang="en-US" sz="1700" dirty="0">
                <a:solidFill>
                  <a:srgbClr val="132033"/>
                </a:solidFill>
                <a:latin typeface="Aptos" pitchFamily="34" charset="0"/>
                <a:ea typeface="Aptos" pitchFamily="34" charset="-122"/>
                <a:cs typeface="Aptos" pitchFamily="34" charset="-120"/>
              </a:rPr>
              <a:t>Legit: 80 texts, and 4 of them say “free”</a:t>
            </a:r>
            <a:endParaRPr lang="en-US" sz="1700" dirty="0"/>
          </a:p>
        </p:txBody>
      </p:sp>
      <p:sp>
        <p:nvSpPr>
          <p:cNvPr id="112" name="Text 109"/>
          <p:cNvSpPr txBox="1"/>
          <p:nvPr/>
        </p:nvSpPr>
        <p:spPr>
          <a:xfrm>
            <a:off x="5760720" y="3246120"/>
            <a:ext cx="5669280" cy="457200"/>
          </a:xfrm>
          <a:prstGeom prst="rect">
            <a:avLst/>
          </a:prstGeom>
          <a:noFill/>
          <a:ln/>
        </p:spPr>
        <p:txBody>
          <a:bodyPr wrap="square" lIns="0" tIns="0" rIns="0" bIns="0" rtlCol="0" anchor="ctr"/>
          <a:lstStyle/>
          <a:p>
            <a:pPr marL="0" indent="0">
              <a:buNone/>
            </a:pPr>
            <a:r>
              <a:rPr lang="en-US" sz="1700" b="1" dirty="0">
                <a:solidFill>
                  <a:srgbClr val="0B2D55"/>
                </a:solidFill>
                <a:latin typeface="Aptos" pitchFamily="34" charset="0"/>
                <a:ea typeface="Aptos" pitchFamily="34" charset="-122"/>
                <a:cs typeface="Aptos" pitchFamily="34" charset="-120"/>
              </a:rPr>
              <a:t>All texts that say “free”: 12 + 4 = 16</a:t>
            </a:r>
            <a:endParaRPr lang="en-US" sz="1700" dirty="0"/>
          </a:p>
        </p:txBody>
      </p:sp>
      <p:sp>
        <p:nvSpPr>
          <p:cNvPr id="113" name="Shape 110"/>
          <p:cNvSpPr/>
          <p:nvPr/>
        </p:nvSpPr>
        <p:spPr>
          <a:xfrm>
            <a:off x="5486400" y="4114800"/>
            <a:ext cx="6126480" cy="1417320"/>
          </a:xfrm>
          <a:prstGeom prst="roundRect">
            <a:avLst>
              <a:gd name="adj" fmla="val 5161"/>
            </a:avLst>
          </a:prstGeom>
          <a:solidFill>
            <a:srgbClr val="DFF0D8"/>
          </a:solidFill>
          <a:ln w="12700">
            <a:solidFill>
              <a:srgbClr val="2E7D32"/>
            </a:solidFill>
            <a:prstDash val="solid"/>
          </a:ln>
        </p:spPr>
        <p:txBody>
          <a:bodyPr/>
          <a:lstStyle/>
          <a:p>
            <a:endParaRPr lang="en-US"/>
          </a:p>
        </p:txBody>
      </p:sp>
      <p:sp>
        <p:nvSpPr>
          <p:cNvPr id="114" name="Text 111"/>
          <p:cNvSpPr txBox="1"/>
          <p:nvPr/>
        </p:nvSpPr>
        <p:spPr>
          <a:xfrm>
            <a:off x="5577840" y="4114800"/>
            <a:ext cx="5943600" cy="1417320"/>
          </a:xfrm>
          <a:prstGeom prst="rect">
            <a:avLst/>
          </a:prstGeom>
          <a:noFill/>
          <a:ln/>
        </p:spPr>
        <p:txBody>
          <a:bodyPr wrap="square" lIns="0" tIns="0" rIns="0" bIns="0" rtlCol="0" anchor="ctr"/>
          <a:lstStyle/>
          <a:p>
            <a:pPr marL="0" indent="0" algn="ctr">
              <a:buNone/>
            </a:pPr>
            <a:r>
              <a:rPr lang="en-US" sz="2400" b="1" dirty="0">
                <a:solidFill>
                  <a:srgbClr val="0B2D55"/>
                </a:solidFill>
                <a:latin typeface="Aptos" pitchFamily="34" charset="0"/>
                <a:ea typeface="Aptos" pitchFamily="34" charset="-122"/>
                <a:cs typeface="Aptos" pitchFamily="34" charset="-120"/>
              </a:rPr>
              <a:t>P(scam | free)  =  12 / 16  =  </a:t>
            </a:r>
            <a:r>
              <a:rPr lang="en-US" sz="2400" b="1" dirty="0">
                <a:solidFill>
                  <a:srgbClr val="2E7D32"/>
                </a:solidFill>
                <a:latin typeface="Aptos" pitchFamily="34" charset="0"/>
                <a:ea typeface="Aptos" pitchFamily="34" charset="-122"/>
                <a:cs typeface="Aptos" pitchFamily="34" charset="-120"/>
              </a:rPr>
              <a:t>0.75</a:t>
            </a:r>
            <a:endParaRPr lang="en-US" sz="2400" dirty="0"/>
          </a:p>
        </p:txBody>
      </p:sp>
      <p:sp>
        <p:nvSpPr>
          <p:cNvPr id="115" name="Text 112"/>
          <p:cNvSpPr txBox="1"/>
          <p:nvPr/>
        </p:nvSpPr>
        <p:spPr>
          <a:xfrm>
            <a:off x="822960" y="5852160"/>
            <a:ext cx="10515600" cy="41148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The posterior is just a fraction of the texts that match the evidence.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the formula version</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Compute → Interpret → Predict with the same numbers.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8</a:t>
            </a:r>
            <a:endParaRPr lang="en-US" sz="850" dirty="0"/>
          </a:p>
        </p:txBody>
      </p:sp>
      <p:sp>
        <p:nvSpPr>
          <p:cNvPr id="7" name="Shape 4"/>
          <p:cNvSpPr/>
          <p:nvPr/>
        </p:nvSpPr>
        <p:spPr>
          <a:xfrm>
            <a:off x="576072" y="1554480"/>
            <a:ext cx="11036808" cy="868680"/>
          </a:xfrm>
          <a:prstGeom prst="roundRect">
            <a:avLst>
              <a:gd name="adj" fmla="val 8421"/>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731520" y="1554480"/>
            <a:ext cx="10698480" cy="868680"/>
          </a:xfrm>
          <a:prstGeom prst="rect">
            <a:avLst/>
          </a:prstGeom>
          <a:noFill/>
          <a:ln/>
        </p:spPr>
        <p:txBody>
          <a:bodyPr wrap="square" lIns="0" tIns="0" rIns="0" bIns="0" rtlCol="0" anchor="ctr"/>
          <a:lstStyle/>
          <a:p>
            <a:pPr marL="0" indent="0" algn="ctr">
              <a:buNone/>
            </a:pPr>
            <a:r>
              <a:rPr lang="en-US" sz="2400" b="1" dirty="0">
                <a:solidFill>
                  <a:srgbClr val="0B2D55"/>
                </a:solidFill>
                <a:latin typeface="Aptos" pitchFamily="34" charset="0"/>
                <a:ea typeface="Aptos" pitchFamily="34" charset="-122"/>
                <a:cs typeface="Aptos" pitchFamily="34" charset="-120"/>
              </a:rPr>
              <a:t>P(scam | free)  =  0.60 × 0.20  /  (0.60 × 0.20  +  0.05 × 0.80)</a:t>
            </a:r>
            <a:endParaRPr lang="en-US" sz="2400" dirty="0"/>
          </a:p>
        </p:txBody>
      </p:sp>
      <p:sp>
        <p:nvSpPr>
          <p:cNvPr id="9" name="Shape 6"/>
          <p:cNvSpPr/>
          <p:nvPr/>
        </p:nvSpPr>
        <p:spPr>
          <a:xfrm>
            <a:off x="576072" y="2651760"/>
            <a:ext cx="5669280" cy="1005840"/>
          </a:xfrm>
          <a:prstGeom prst="roundRect">
            <a:avLst>
              <a:gd name="adj" fmla="val 7273"/>
            </a:avLst>
          </a:prstGeom>
          <a:solidFill>
            <a:srgbClr val="FFFFFF"/>
          </a:solidFill>
          <a:ln w="12700">
            <a:solidFill>
              <a:srgbClr val="B8C7D8"/>
            </a:solidFill>
            <a:prstDash val="solid"/>
          </a:ln>
        </p:spPr>
        <p:txBody>
          <a:bodyPr/>
          <a:lstStyle/>
          <a:p>
            <a:endParaRPr lang="en-US"/>
          </a:p>
        </p:txBody>
      </p:sp>
      <p:sp>
        <p:nvSpPr>
          <p:cNvPr id="10" name="Text 7"/>
          <p:cNvSpPr txBox="1"/>
          <p:nvPr/>
        </p:nvSpPr>
        <p:spPr>
          <a:xfrm>
            <a:off x="758952" y="2761488"/>
            <a:ext cx="530352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Compute</a:t>
            </a:r>
            <a:endParaRPr lang="en-US" sz="1500" dirty="0"/>
          </a:p>
        </p:txBody>
      </p:sp>
      <p:sp>
        <p:nvSpPr>
          <p:cNvPr id="11" name="Text 8"/>
          <p:cNvSpPr txBox="1"/>
          <p:nvPr/>
        </p:nvSpPr>
        <p:spPr>
          <a:xfrm>
            <a:off x="758952" y="3090672"/>
            <a:ext cx="5303520" cy="47548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0.12 / (0.12 + 0.04) = 0.12 / 0.16 = 0.75. The same answer as counting.</a:t>
            </a:r>
            <a:endParaRPr lang="en-US" sz="1500" dirty="0"/>
          </a:p>
        </p:txBody>
      </p:sp>
      <p:sp>
        <p:nvSpPr>
          <p:cNvPr id="12" name="Shape 9"/>
          <p:cNvSpPr/>
          <p:nvPr/>
        </p:nvSpPr>
        <p:spPr>
          <a:xfrm>
            <a:off x="576072" y="3794760"/>
            <a:ext cx="5669280" cy="1005840"/>
          </a:xfrm>
          <a:prstGeom prst="roundRect">
            <a:avLst>
              <a:gd name="adj" fmla="val 7273"/>
            </a:avLst>
          </a:prstGeom>
          <a:solidFill>
            <a:srgbClr val="DFF0D8"/>
          </a:solidFill>
          <a:ln w="12700">
            <a:solidFill>
              <a:srgbClr val="2E7D32"/>
            </a:solidFill>
            <a:prstDash val="solid"/>
          </a:ln>
        </p:spPr>
        <p:txBody>
          <a:bodyPr/>
          <a:lstStyle/>
          <a:p>
            <a:endParaRPr lang="en-US"/>
          </a:p>
        </p:txBody>
      </p:sp>
      <p:sp>
        <p:nvSpPr>
          <p:cNvPr id="13" name="Text 10"/>
          <p:cNvSpPr txBox="1"/>
          <p:nvPr/>
        </p:nvSpPr>
        <p:spPr>
          <a:xfrm>
            <a:off x="758952" y="3904488"/>
            <a:ext cx="530352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14" name="Text 11"/>
          <p:cNvSpPr txBox="1"/>
          <p:nvPr/>
        </p:nvSpPr>
        <p:spPr>
          <a:xfrm>
            <a:off x="758952" y="4233672"/>
            <a:ext cx="5303520" cy="47548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“Free” is 12× more likely in scams (0.60 vs. 0.05). That moved belief from 20% to 75%.</a:t>
            </a:r>
            <a:endParaRPr lang="en-US" sz="1500" dirty="0"/>
          </a:p>
        </p:txBody>
      </p:sp>
      <p:sp>
        <p:nvSpPr>
          <p:cNvPr id="15" name="Shape 12"/>
          <p:cNvSpPr/>
          <p:nvPr/>
        </p:nvSpPr>
        <p:spPr>
          <a:xfrm>
            <a:off x="576072" y="4937760"/>
            <a:ext cx="5669280" cy="1005840"/>
          </a:xfrm>
          <a:prstGeom prst="roundRect">
            <a:avLst>
              <a:gd name="adj" fmla="val 7273"/>
            </a:avLst>
          </a:prstGeom>
          <a:solidFill>
            <a:srgbClr val="FFF4CE"/>
          </a:solidFill>
          <a:ln w="12700">
            <a:solidFill>
              <a:srgbClr val="F2C14E"/>
            </a:solidFill>
            <a:prstDash val="solid"/>
          </a:ln>
        </p:spPr>
        <p:txBody>
          <a:bodyPr/>
          <a:lstStyle/>
          <a:p>
            <a:endParaRPr lang="en-US"/>
          </a:p>
        </p:txBody>
      </p:sp>
      <p:sp>
        <p:nvSpPr>
          <p:cNvPr id="16" name="Text 13"/>
          <p:cNvSpPr txBox="1"/>
          <p:nvPr/>
        </p:nvSpPr>
        <p:spPr>
          <a:xfrm>
            <a:off x="758952" y="5047488"/>
            <a:ext cx="530352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17" name="Text 14"/>
          <p:cNvSpPr txBox="1"/>
          <p:nvPr/>
        </p:nvSpPr>
        <p:spPr>
          <a:xfrm>
            <a:off x="758952" y="5376672"/>
            <a:ext cx="5303520" cy="475488"/>
          </a:xfrm>
          <a:prstGeom prst="rect">
            <a:avLst/>
          </a:prstGeom>
          <a:noFill/>
          <a:ln/>
        </p:spPr>
        <p:txBody>
          <a:bodyPr wrap="square" lIns="0" tIns="0" rIns="0" bIns="0" rtlCol="0" anchor="t"/>
          <a:lstStyle/>
          <a:p>
            <a:pPr marL="0" indent="0">
              <a:buNone/>
            </a:pPr>
            <a:r>
              <a:rPr lang="en-US" sz="1500" dirty="0">
                <a:solidFill>
                  <a:srgbClr val="132033"/>
                </a:solidFill>
                <a:latin typeface="Aptos" pitchFamily="34" charset="0"/>
                <a:ea typeface="Aptos" pitchFamily="34" charset="-122"/>
                <a:cs typeface="Aptos" pitchFamily="34" charset="-120"/>
              </a:rPr>
              <a:t>Another carrier: only 5% of texts are scams. Same word: 0.03 / 0.0775 ≈ 0.39.</a:t>
            </a:r>
            <a:endParaRPr lang="en-US" sz="1500" dirty="0"/>
          </a:p>
        </p:txBody>
      </p:sp>
      <p:sp>
        <p:nvSpPr>
          <p:cNvPr id="18" name="Shape 15"/>
          <p:cNvSpPr/>
          <p:nvPr/>
        </p:nvSpPr>
        <p:spPr>
          <a:xfrm>
            <a:off x="6400800" y="2651760"/>
            <a:ext cx="5212080" cy="3291840"/>
          </a:xfrm>
          <a:prstGeom prst="roundRect">
            <a:avLst>
              <a:gd name="adj" fmla="val 2222"/>
            </a:avLst>
          </a:prstGeom>
          <a:solidFill>
            <a:srgbClr val="FFFFFF"/>
          </a:solidFill>
          <a:ln w="12700">
            <a:solidFill>
              <a:srgbClr val="B8C7D8"/>
            </a:solidFill>
            <a:prstDash val="solid"/>
          </a:ln>
        </p:spPr>
        <p:txBody>
          <a:bodyPr/>
          <a:lstStyle/>
          <a:p>
            <a:endParaRPr lang="en-US"/>
          </a:p>
        </p:txBody>
      </p:sp>
      <p:sp>
        <p:nvSpPr>
          <p:cNvPr id="19" name="Text 16"/>
          <p:cNvSpPr txBox="1"/>
          <p:nvPr/>
        </p:nvSpPr>
        <p:spPr>
          <a:xfrm>
            <a:off x="6583680" y="2788920"/>
            <a:ext cx="4937760" cy="365760"/>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Scam base rate 20%</a:t>
            </a:r>
            <a:endParaRPr lang="en-US" sz="1500" dirty="0"/>
          </a:p>
        </p:txBody>
      </p:sp>
      <p:sp>
        <p:nvSpPr>
          <p:cNvPr id="20" name="Shape 17"/>
          <p:cNvSpPr/>
          <p:nvPr/>
        </p:nvSpPr>
        <p:spPr>
          <a:xfrm>
            <a:off x="6583680" y="3246120"/>
            <a:ext cx="4846320" cy="365760"/>
          </a:xfrm>
          <a:prstGeom prst="rect">
            <a:avLst/>
          </a:prstGeom>
          <a:solidFill>
            <a:srgbClr val="F3F6FA"/>
          </a:solidFill>
          <a:ln w="12700">
            <a:solidFill>
              <a:srgbClr val="B8C7D8"/>
            </a:solidFill>
            <a:prstDash val="solid"/>
          </a:ln>
        </p:spPr>
        <p:txBody>
          <a:bodyPr/>
          <a:lstStyle/>
          <a:p>
            <a:endParaRPr lang="en-US"/>
          </a:p>
        </p:txBody>
      </p:sp>
      <p:sp>
        <p:nvSpPr>
          <p:cNvPr id="21" name="Shape 18"/>
          <p:cNvSpPr/>
          <p:nvPr/>
        </p:nvSpPr>
        <p:spPr>
          <a:xfrm>
            <a:off x="6583680" y="3246120"/>
            <a:ext cx="3634740" cy="365760"/>
          </a:xfrm>
          <a:prstGeom prst="rect">
            <a:avLst/>
          </a:prstGeom>
          <a:solidFill>
            <a:srgbClr val="D9731A"/>
          </a:solidFill>
          <a:ln w="12700">
            <a:solidFill>
              <a:srgbClr val="D9731A"/>
            </a:solidFill>
            <a:prstDash val="solid"/>
          </a:ln>
        </p:spPr>
        <p:txBody>
          <a:bodyPr/>
          <a:lstStyle/>
          <a:p>
            <a:endParaRPr lang="en-US"/>
          </a:p>
        </p:txBody>
      </p:sp>
      <p:sp>
        <p:nvSpPr>
          <p:cNvPr id="22" name="Shape 19"/>
          <p:cNvSpPr/>
          <p:nvPr/>
        </p:nvSpPr>
        <p:spPr>
          <a:xfrm>
            <a:off x="7552944" y="3172968"/>
            <a:ext cx="0" cy="512064"/>
          </a:xfrm>
          <a:prstGeom prst="line">
            <a:avLst/>
          </a:prstGeom>
          <a:noFill/>
          <a:ln w="31750">
            <a:solidFill>
              <a:srgbClr val="0B2D55"/>
            </a:solidFill>
            <a:prstDash val="dash"/>
          </a:ln>
        </p:spPr>
        <p:txBody>
          <a:bodyPr/>
          <a:lstStyle/>
          <a:p>
            <a:endParaRPr lang="en-US"/>
          </a:p>
        </p:txBody>
      </p:sp>
      <p:sp>
        <p:nvSpPr>
          <p:cNvPr id="23" name="Text 20"/>
          <p:cNvSpPr txBox="1"/>
          <p:nvPr/>
        </p:nvSpPr>
        <p:spPr>
          <a:xfrm>
            <a:off x="6821424" y="3685032"/>
            <a:ext cx="1463040" cy="274320"/>
          </a:xfrm>
          <a:prstGeom prst="rect">
            <a:avLst/>
          </a:prstGeom>
          <a:noFill/>
          <a:ln/>
        </p:spPr>
        <p:txBody>
          <a:bodyPr wrap="square" lIns="0" tIns="0" rIns="0" bIns="0" rtlCol="0" anchor="t"/>
          <a:lstStyle/>
          <a:p>
            <a:pPr marL="0" indent="0" algn="ctr">
              <a:buNone/>
            </a:pPr>
            <a:r>
              <a:rPr lang="en-US" sz="1200" dirty="0">
                <a:solidFill>
                  <a:srgbClr val="0B2D55"/>
                </a:solidFill>
                <a:latin typeface="Aptos" pitchFamily="34" charset="0"/>
                <a:ea typeface="Aptos" pitchFamily="34" charset="-122"/>
                <a:cs typeface="Aptos" pitchFamily="34" charset="-120"/>
              </a:rPr>
              <a:t>prior 20%</a:t>
            </a:r>
            <a:endParaRPr lang="en-US" sz="1200" dirty="0"/>
          </a:p>
        </p:txBody>
      </p:sp>
      <p:sp>
        <p:nvSpPr>
          <p:cNvPr id="24" name="Text 21"/>
          <p:cNvSpPr txBox="1"/>
          <p:nvPr/>
        </p:nvSpPr>
        <p:spPr>
          <a:xfrm>
            <a:off x="9395460" y="3685032"/>
            <a:ext cx="1645920" cy="274320"/>
          </a:xfrm>
          <a:prstGeom prst="rect">
            <a:avLst/>
          </a:prstGeom>
          <a:noFill/>
          <a:ln/>
        </p:spPr>
        <p:txBody>
          <a:bodyPr wrap="square" lIns="0" tIns="0" rIns="0" bIns="0" rtlCol="0" anchor="t"/>
          <a:lstStyle/>
          <a:p>
            <a:pPr marL="0" indent="0" algn="ctr">
              <a:buNone/>
            </a:pPr>
            <a:r>
              <a:rPr lang="en-US" sz="1200" b="1" dirty="0">
                <a:solidFill>
                  <a:srgbClr val="D9731A"/>
                </a:solidFill>
                <a:latin typeface="Aptos" pitchFamily="34" charset="0"/>
                <a:ea typeface="Aptos" pitchFamily="34" charset="-122"/>
                <a:cs typeface="Aptos" pitchFamily="34" charset="-120"/>
              </a:rPr>
              <a:t>posterior 75%</a:t>
            </a:r>
            <a:endParaRPr lang="en-US" sz="1200" dirty="0"/>
          </a:p>
        </p:txBody>
      </p:sp>
      <p:sp>
        <p:nvSpPr>
          <p:cNvPr id="25" name="Text 22"/>
          <p:cNvSpPr txBox="1"/>
          <p:nvPr/>
        </p:nvSpPr>
        <p:spPr>
          <a:xfrm>
            <a:off x="6583680" y="4343400"/>
            <a:ext cx="4937760" cy="365760"/>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Scam base rate 5%</a:t>
            </a:r>
            <a:endParaRPr lang="en-US" sz="1500" dirty="0"/>
          </a:p>
        </p:txBody>
      </p:sp>
      <p:sp>
        <p:nvSpPr>
          <p:cNvPr id="26" name="Shape 23"/>
          <p:cNvSpPr/>
          <p:nvPr/>
        </p:nvSpPr>
        <p:spPr>
          <a:xfrm>
            <a:off x="6583680" y="4800600"/>
            <a:ext cx="4846320" cy="365760"/>
          </a:xfrm>
          <a:prstGeom prst="rect">
            <a:avLst/>
          </a:prstGeom>
          <a:solidFill>
            <a:srgbClr val="F3F6FA"/>
          </a:solidFill>
          <a:ln w="12700">
            <a:solidFill>
              <a:srgbClr val="B8C7D8"/>
            </a:solidFill>
            <a:prstDash val="solid"/>
          </a:ln>
        </p:spPr>
        <p:txBody>
          <a:bodyPr/>
          <a:lstStyle/>
          <a:p>
            <a:endParaRPr lang="en-US"/>
          </a:p>
        </p:txBody>
      </p:sp>
      <p:sp>
        <p:nvSpPr>
          <p:cNvPr id="27" name="Shape 24"/>
          <p:cNvSpPr/>
          <p:nvPr/>
        </p:nvSpPr>
        <p:spPr>
          <a:xfrm>
            <a:off x="6583680" y="4800600"/>
            <a:ext cx="1890065" cy="365760"/>
          </a:xfrm>
          <a:prstGeom prst="rect">
            <a:avLst/>
          </a:prstGeom>
          <a:solidFill>
            <a:srgbClr val="D9731A"/>
          </a:solidFill>
          <a:ln w="12700">
            <a:solidFill>
              <a:srgbClr val="D9731A"/>
            </a:solidFill>
            <a:prstDash val="solid"/>
          </a:ln>
        </p:spPr>
        <p:txBody>
          <a:bodyPr/>
          <a:lstStyle/>
          <a:p>
            <a:endParaRPr lang="en-US"/>
          </a:p>
        </p:txBody>
      </p:sp>
      <p:sp>
        <p:nvSpPr>
          <p:cNvPr id="28" name="Shape 25"/>
          <p:cNvSpPr/>
          <p:nvPr/>
        </p:nvSpPr>
        <p:spPr>
          <a:xfrm>
            <a:off x="6825996" y="4727448"/>
            <a:ext cx="0" cy="512064"/>
          </a:xfrm>
          <a:prstGeom prst="line">
            <a:avLst/>
          </a:prstGeom>
          <a:noFill/>
          <a:ln w="31750">
            <a:solidFill>
              <a:srgbClr val="0B2D55"/>
            </a:solidFill>
            <a:prstDash val="dash"/>
          </a:ln>
        </p:spPr>
        <p:txBody>
          <a:bodyPr/>
          <a:lstStyle/>
          <a:p>
            <a:endParaRPr lang="en-US"/>
          </a:p>
        </p:txBody>
      </p:sp>
      <p:sp>
        <p:nvSpPr>
          <p:cNvPr id="29" name="Text 26"/>
          <p:cNvSpPr txBox="1"/>
          <p:nvPr/>
        </p:nvSpPr>
        <p:spPr>
          <a:xfrm>
            <a:off x="6537960" y="5239512"/>
            <a:ext cx="1463040" cy="274320"/>
          </a:xfrm>
          <a:prstGeom prst="rect">
            <a:avLst/>
          </a:prstGeom>
          <a:noFill/>
          <a:ln/>
        </p:spPr>
        <p:txBody>
          <a:bodyPr wrap="square" lIns="0" tIns="0" rIns="0" bIns="0" rtlCol="0" anchor="t"/>
          <a:lstStyle/>
          <a:p>
            <a:pPr marL="0" indent="0" algn="ctr">
              <a:buNone/>
            </a:pPr>
            <a:r>
              <a:rPr lang="en-US" sz="1200" dirty="0">
                <a:solidFill>
                  <a:srgbClr val="0B2D55"/>
                </a:solidFill>
                <a:latin typeface="Aptos" pitchFamily="34" charset="0"/>
                <a:ea typeface="Aptos" pitchFamily="34" charset="-122"/>
                <a:cs typeface="Aptos" pitchFamily="34" charset="-120"/>
              </a:rPr>
              <a:t>prior 5%</a:t>
            </a:r>
            <a:endParaRPr lang="en-US" sz="1200" dirty="0"/>
          </a:p>
        </p:txBody>
      </p:sp>
      <p:sp>
        <p:nvSpPr>
          <p:cNvPr id="30" name="Text 27"/>
          <p:cNvSpPr txBox="1"/>
          <p:nvPr/>
        </p:nvSpPr>
        <p:spPr>
          <a:xfrm>
            <a:off x="7650785" y="5239512"/>
            <a:ext cx="1645920" cy="274320"/>
          </a:xfrm>
          <a:prstGeom prst="rect">
            <a:avLst/>
          </a:prstGeom>
          <a:noFill/>
          <a:ln/>
        </p:spPr>
        <p:txBody>
          <a:bodyPr wrap="square" lIns="0" tIns="0" rIns="0" bIns="0" rtlCol="0" anchor="t"/>
          <a:lstStyle/>
          <a:p>
            <a:pPr marL="0" indent="0" algn="ctr">
              <a:buNone/>
            </a:pPr>
            <a:r>
              <a:rPr lang="en-US" sz="1200" b="1" dirty="0">
                <a:solidFill>
                  <a:srgbClr val="D9731A"/>
                </a:solidFill>
                <a:latin typeface="Aptos" pitchFamily="34" charset="0"/>
                <a:ea typeface="Aptos" pitchFamily="34" charset="-122"/>
                <a:cs typeface="Aptos" pitchFamily="34" charset="-120"/>
              </a:rPr>
              <a:t>posterior 39%</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Don’t flip the conditional</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P(free | scam) is not P(scam | free).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9</a:t>
            </a:r>
            <a:endParaRPr lang="en-US" sz="850" dirty="0"/>
          </a:p>
        </p:txBody>
      </p:sp>
      <p:sp>
        <p:nvSpPr>
          <p:cNvPr id="7" name="Shape 4"/>
          <p:cNvSpPr/>
          <p:nvPr/>
        </p:nvSpPr>
        <p:spPr>
          <a:xfrm>
            <a:off x="576072" y="1554480"/>
            <a:ext cx="3566160" cy="3977640"/>
          </a:xfrm>
          <a:prstGeom prst="roundRect">
            <a:avLst>
              <a:gd name="adj" fmla="val 2051"/>
            </a:avLst>
          </a:prstGeom>
          <a:solidFill>
            <a:srgbClr val="FCE9D8"/>
          </a:solidFill>
          <a:ln w="12700">
            <a:solidFill>
              <a:srgbClr val="D9731A"/>
            </a:solidFill>
            <a:prstDash val="solid"/>
          </a:ln>
        </p:spPr>
        <p:txBody>
          <a:bodyPr/>
          <a:lstStyle/>
          <a:p>
            <a:endParaRPr lang="en-US"/>
          </a:p>
        </p:txBody>
      </p:sp>
      <p:sp>
        <p:nvSpPr>
          <p:cNvPr id="8" name="Shape 5"/>
          <p:cNvSpPr/>
          <p:nvPr/>
        </p:nvSpPr>
        <p:spPr>
          <a:xfrm>
            <a:off x="1581912" y="1691640"/>
            <a:ext cx="1554480" cy="347472"/>
          </a:xfrm>
          <a:prstGeom prst="roundRect">
            <a:avLst>
              <a:gd name="adj" fmla="val 21053"/>
            </a:avLst>
          </a:prstGeom>
          <a:solidFill>
            <a:srgbClr val="D9731A"/>
          </a:solidFill>
          <a:ln w="12700">
            <a:solidFill>
              <a:srgbClr val="D9731A"/>
            </a:solidFill>
            <a:prstDash val="solid"/>
          </a:ln>
        </p:spPr>
        <p:txBody>
          <a:bodyPr/>
          <a:lstStyle/>
          <a:p>
            <a:endParaRPr lang="en-US"/>
          </a:p>
        </p:txBody>
      </p:sp>
      <p:sp>
        <p:nvSpPr>
          <p:cNvPr id="9" name="Text 6"/>
          <p:cNvSpPr txBox="1"/>
          <p:nvPr/>
        </p:nvSpPr>
        <p:spPr>
          <a:xfrm>
            <a:off x="1581912" y="1691640"/>
            <a:ext cx="15544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Likelihood</a:t>
            </a:r>
            <a:endParaRPr lang="en-US" sz="1300" dirty="0"/>
          </a:p>
        </p:txBody>
      </p:sp>
      <p:sp>
        <p:nvSpPr>
          <p:cNvPr id="10" name="Text 7"/>
          <p:cNvSpPr txBox="1"/>
          <p:nvPr/>
        </p:nvSpPr>
        <p:spPr>
          <a:xfrm>
            <a:off x="758952" y="2148840"/>
            <a:ext cx="3200400" cy="457200"/>
          </a:xfrm>
          <a:prstGeom prst="rect">
            <a:avLst/>
          </a:prstGeom>
          <a:noFill/>
          <a:ln/>
        </p:spPr>
        <p:txBody>
          <a:bodyPr wrap="square" lIns="0" tIns="0" rIns="0" bIns="0" rtlCol="0" anchor="t"/>
          <a:lstStyle/>
          <a:p>
            <a:pPr marL="0" indent="0" algn="ctr">
              <a:buNone/>
            </a:pPr>
            <a:r>
              <a:rPr lang="en-US" sz="2100" b="1" dirty="0">
                <a:solidFill>
                  <a:srgbClr val="0B2D55"/>
                </a:solidFill>
                <a:latin typeface="Aptos" pitchFamily="34" charset="0"/>
                <a:ea typeface="Aptos" pitchFamily="34" charset="-122"/>
                <a:cs typeface="Aptos" pitchFamily="34" charset="-120"/>
              </a:rPr>
              <a:t>P(free | scam)</a:t>
            </a:r>
            <a:endParaRPr lang="en-US" sz="2100" dirty="0"/>
          </a:p>
        </p:txBody>
      </p:sp>
      <p:sp>
        <p:nvSpPr>
          <p:cNvPr id="11" name="Text 8"/>
          <p:cNvSpPr txBox="1"/>
          <p:nvPr/>
        </p:nvSpPr>
        <p:spPr>
          <a:xfrm>
            <a:off x="758952" y="2697480"/>
            <a:ext cx="3200400" cy="731520"/>
          </a:xfrm>
          <a:prstGeom prst="rect">
            <a:avLst/>
          </a:prstGeom>
          <a:noFill/>
          <a:ln/>
        </p:spPr>
        <p:txBody>
          <a:bodyPr wrap="square" lIns="0" tIns="0" rIns="0" bIns="0" rtlCol="0" anchor="ctr"/>
          <a:lstStyle/>
          <a:p>
            <a:pPr marL="0" indent="0" algn="ctr">
              <a:buNone/>
            </a:pPr>
            <a:r>
              <a:rPr lang="en-US" sz="3600" b="1" dirty="0">
                <a:solidFill>
                  <a:srgbClr val="D9731A"/>
                </a:solidFill>
                <a:latin typeface="Aptos" pitchFamily="34" charset="0"/>
                <a:ea typeface="Aptos" pitchFamily="34" charset="-122"/>
                <a:cs typeface="Aptos" pitchFamily="34" charset="-120"/>
              </a:rPr>
              <a:t>12 / 20</a:t>
            </a:r>
            <a:endParaRPr lang="en-US" sz="3600" dirty="0"/>
          </a:p>
        </p:txBody>
      </p:sp>
      <p:sp>
        <p:nvSpPr>
          <p:cNvPr id="12" name="Text 9"/>
          <p:cNvSpPr txBox="1"/>
          <p:nvPr/>
        </p:nvSpPr>
        <p:spPr>
          <a:xfrm>
            <a:off x="758952" y="3429000"/>
            <a:ext cx="3200400" cy="457200"/>
          </a:xfrm>
          <a:prstGeom prst="rect">
            <a:avLst/>
          </a:prstGeom>
          <a:noFill/>
          <a:ln/>
        </p:spPr>
        <p:txBody>
          <a:bodyPr wrap="square" lIns="0" tIns="0" rIns="0" bIns="0" rtlCol="0" anchor="t"/>
          <a:lstStyle/>
          <a:p>
            <a:pPr marL="0" indent="0" algn="ctr">
              <a:buNone/>
            </a:pPr>
            <a:r>
              <a:rPr lang="en-US" sz="2200" b="1" dirty="0">
                <a:solidFill>
                  <a:srgbClr val="0B2D55"/>
                </a:solidFill>
                <a:latin typeface="Aptos" pitchFamily="34" charset="0"/>
                <a:ea typeface="Aptos" pitchFamily="34" charset="-122"/>
                <a:cs typeface="Aptos" pitchFamily="34" charset="-120"/>
              </a:rPr>
              <a:t>= 0.60</a:t>
            </a:r>
            <a:endParaRPr lang="en-US" sz="2200" dirty="0"/>
          </a:p>
        </p:txBody>
      </p:sp>
      <p:sp>
        <p:nvSpPr>
          <p:cNvPr id="13" name="Text 10"/>
          <p:cNvSpPr txBox="1"/>
          <p:nvPr/>
        </p:nvSpPr>
        <p:spPr>
          <a:xfrm>
            <a:off x="850392" y="4069080"/>
            <a:ext cx="3017520" cy="118872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Among scam texts, the share that say “free”</a:t>
            </a:r>
            <a:endParaRPr lang="en-US" sz="1500" dirty="0"/>
          </a:p>
        </p:txBody>
      </p:sp>
      <p:sp>
        <p:nvSpPr>
          <p:cNvPr id="14" name="Shape 11"/>
          <p:cNvSpPr/>
          <p:nvPr/>
        </p:nvSpPr>
        <p:spPr>
          <a:xfrm>
            <a:off x="4361688" y="1554480"/>
            <a:ext cx="3566160" cy="3977640"/>
          </a:xfrm>
          <a:prstGeom prst="roundRect">
            <a:avLst>
              <a:gd name="adj" fmla="val 2051"/>
            </a:avLst>
          </a:prstGeom>
          <a:solidFill>
            <a:srgbClr val="DFF0D8"/>
          </a:solidFill>
          <a:ln w="12700">
            <a:solidFill>
              <a:srgbClr val="2E7D32"/>
            </a:solidFill>
            <a:prstDash val="solid"/>
          </a:ln>
        </p:spPr>
        <p:txBody>
          <a:bodyPr/>
          <a:lstStyle/>
          <a:p>
            <a:endParaRPr lang="en-US"/>
          </a:p>
        </p:txBody>
      </p:sp>
      <p:sp>
        <p:nvSpPr>
          <p:cNvPr id="15" name="Shape 12"/>
          <p:cNvSpPr/>
          <p:nvPr/>
        </p:nvSpPr>
        <p:spPr>
          <a:xfrm>
            <a:off x="5367528" y="1691640"/>
            <a:ext cx="1554480" cy="347472"/>
          </a:xfrm>
          <a:prstGeom prst="roundRect">
            <a:avLst>
              <a:gd name="adj" fmla="val 21053"/>
            </a:avLst>
          </a:prstGeom>
          <a:solidFill>
            <a:srgbClr val="2E7D32"/>
          </a:solidFill>
          <a:ln w="12700">
            <a:solidFill>
              <a:srgbClr val="2E7D32"/>
            </a:solidFill>
            <a:prstDash val="solid"/>
          </a:ln>
        </p:spPr>
        <p:txBody>
          <a:bodyPr/>
          <a:lstStyle/>
          <a:p>
            <a:endParaRPr lang="en-US"/>
          </a:p>
        </p:txBody>
      </p:sp>
      <p:sp>
        <p:nvSpPr>
          <p:cNvPr id="16" name="Text 13"/>
          <p:cNvSpPr txBox="1"/>
          <p:nvPr/>
        </p:nvSpPr>
        <p:spPr>
          <a:xfrm>
            <a:off x="5367528" y="1691640"/>
            <a:ext cx="15544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Posterior</a:t>
            </a:r>
            <a:endParaRPr lang="en-US" sz="1300" dirty="0"/>
          </a:p>
        </p:txBody>
      </p:sp>
      <p:sp>
        <p:nvSpPr>
          <p:cNvPr id="17" name="Text 14"/>
          <p:cNvSpPr txBox="1"/>
          <p:nvPr/>
        </p:nvSpPr>
        <p:spPr>
          <a:xfrm>
            <a:off x="4544568" y="2148840"/>
            <a:ext cx="3200400" cy="457200"/>
          </a:xfrm>
          <a:prstGeom prst="rect">
            <a:avLst/>
          </a:prstGeom>
          <a:noFill/>
          <a:ln/>
        </p:spPr>
        <p:txBody>
          <a:bodyPr wrap="square" lIns="0" tIns="0" rIns="0" bIns="0" rtlCol="0" anchor="t"/>
          <a:lstStyle/>
          <a:p>
            <a:pPr marL="0" indent="0" algn="ctr">
              <a:buNone/>
            </a:pPr>
            <a:r>
              <a:rPr lang="en-US" sz="2100" b="1" dirty="0">
                <a:solidFill>
                  <a:srgbClr val="0B2D55"/>
                </a:solidFill>
                <a:latin typeface="Aptos" pitchFamily="34" charset="0"/>
                <a:ea typeface="Aptos" pitchFamily="34" charset="-122"/>
                <a:cs typeface="Aptos" pitchFamily="34" charset="-120"/>
              </a:rPr>
              <a:t>P(scam | free)</a:t>
            </a:r>
            <a:endParaRPr lang="en-US" sz="2100" dirty="0"/>
          </a:p>
        </p:txBody>
      </p:sp>
      <p:sp>
        <p:nvSpPr>
          <p:cNvPr id="18" name="Text 15"/>
          <p:cNvSpPr txBox="1"/>
          <p:nvPr/>
        </p:nvSpPr>
        <p:spPr>
          <a:xfrm>
            <a:off x="4544568" y="2697480"/>
            <a:ext cx="3200400" cy="731520"/>
          </a:xfrm>
          <a:prstGeom prst="rect">
            <a:avLst/>
          </a:prstGeom>
          <a:noFill/>
          <a:ln/>
        </p:spPr>
        <p:txBody>
          <a:bodyPr wrap="square" lIns="0" tIns="0" rIns="0" bIns="0" rtlCol="0" anchor="ctr"/>
          <a:lstStyle/>
          <a:p>
            <a:pPr marL="0" indent="0" algn="ctr">
              <a:buNone/>
            </a:pPr>
            <a:r>
              <a:rPr lang="en-US" sz="3600" b="1" dirty="0">
                <a:solidFill>
                  <a:srgbClr val="2E7D32"/>
                </a:solidFill>
                <a:latin typeface="Aptos" pitchFamily="34" charset="0"/>
                <a:ea typeface="Aptos" pitchFamily="34" charset="-122"/>
                <a:cs typeface="Aptos" pitchFamily="34" charset="-120"/>
              </a:rPr>
              <a:t>12 / 16</a:t>
            </a:r>
            <a:endParaRPr lang="en-US" sz="3600" dirty="0"/>
          </a:p>
        </p:txBody>
      </p:sp>
      <p:sp>
        <p:nvSpPr>
          <p:cNvPr id="19" name="Text 16"/>
          <p:cNvSpPr txBox="1"/>
          <p:nvPr/>
        </p:nvSpPr>
        <p:spPr>
          <a:xfrm>
            <a:off x="4544568" y="3429000"/>
            <a:ext cx="3200400" cy="457200"/>
          </a:xfrm>
          <a:prstGeom prst="rect">
            <a:avLst/>
          </a:prstGeom>
          <a:noFill/>
          <a:ln/>
        </p:spPr>
        <p:txBody>
          <a:bodyPr wrap="square" lIns="0" tIns="0" rIns="0" bIns="0" rtlCol="0" anchor="t"/>
          <a:lstStyle/>
          <a:p>
            <a:pPr marL="0" indent="0" algn="ctr">
              <a:buNone/>
            </a:pPr>
            <a:r>
              <a:rPr lang="en-US" sz="2200" b="1" dirty="0">
                <a:solidFill>
                  <a:srgbClr val="0B2D55"/>
                </a:solidFill>
                <a:latin typeface="Aptos" pitchFamily="34" charset="0"/>
                <a:ea typeface="Aptos" pitchFamily="34" charset="-122"/>
                <a:cs typeface="Aptos" pitchFamily="34" charset="-120"/>
              </a:rPr>
              <a:t>= 0.75</a:t>
            </a:r>
            <a:endParaRPr lang="en-US" sz="2200" dirty="0"/>
          </a:p>
        </p:txBody>
      </p:sp>
      <p:sp>
        <p:nvSpPr>
          <p:cNvPr id="20" name="Text 17"/>
          <p:cNvSpPr txBox="1"/>
          <p:nvPr/>
        </p:nvSpPr>
        <p:spPr>
          <a:xfrm>
            <a:off x="4636008" y="4069080"/>
            <a:ext cx="3017520" cy="118872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Among texts that say “free,” the share that are scams</a:t>
            </a:r>
            <a:endParaRPr lang="en-US" sz="1500" dirty="0"/>
          </a:p>
        </p:txBody>
      </p:sp>
      <p:sp>
        <p:nvSpPr>
          <p:cNvPr id="21" name="Shape 18"/>
          <p:cNvSpPr/>
          <p:nvPr/>
        </p:nvSpPr>
        <p:spPr>
          <a:xfrm>
            <a:off x="8147304" y="1554480"/>
            <a:ext cx="3566160" cy="3977640"/>
          </a:xfrm>
          <a:prstGeom prst="roundRect">
            <a:avLst>
              <a:gd name="adj" fmla="val 2051"/>
            </a:avLst>
          </a:prstGeom>
          <a:solidFill>
            <a:srgbClr val="EAF2F8"/>
          </a:solidFill>
          <a:ln w="12700">
            <a:solidFill>
              <a:srgbClr val="1F5D9B"/>
            </a:solidFill>
            <a:prstDash val="solid"/>
          </a:ln>
        </p:spPr>
        <p:txBody>
          <a:bodyPr/>
          <a:lstStyle/>
          <a:p>
            <a:endParaRPr lang="en-US"/>
          </a:p>
        </p:txBody>
      </p:sp>
      <p:sp>
        <p:nvSpPr>
          <p:cNvPr id="22" name="Shape 19"/>
          <p:cNvSpPr/>
          <p:nvPr/>
        </p:nvSpPr>
        <p:spPr>
          <a:xfrm>
            <a:off x="9153144" y="1691640"/>
            <a:ext cx="1554480" cy="347472"/>
          </a:xfrm>
          <a:prstGeom prst="roundRect">
            <a:avLst>
              <a:gd name="adj" fmla="val 21053"/>
            </a:avLst>
          </a:prstGeom>
          <a:solidFill>
            <a:srgbClr val="1F5D9B"/>
          </a:solidFill>
          <a:ln w="12700">
            <a:solidFill>
              <a:srgbClr val="1F5D9B"/>
            </a:solidFill>
            <a:prstDash val="solid"/>
          </a:ln>
        </p:spPr>
        <p:txBody>
          <a:bodyPr/>
          <a:lstStyle/>
          <a:p>
            <a:endParaRPr lang="en-US"/>
          </a:p>
        </p:txBody>
      </p:sp>
      <p:sp>
        <p:nvSpPr>
          <p:cNvPr id="23" name="Text 20"/>
          <p:cNvSpPr txBox="1"/>
          <p:nvPr/>
        </p:nvSpPr>
        <p:spPr>
          <a:xfrm>
            <a:off x="9153144" y="1691640"/>
            <a:ext cx="1554480"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Aptos" pitchFamily="34" charset="0"/>
                <a:ea typeface="Aptos" pitchFamily="34" charset="-122"/>
                <a:cs typeface="Aptos" pitchFamily="34" charset="-120"/>
              </a:rPr>
              <a:t>Posterior</a:t>
            </a:r>
            <a:endParaRPr lang="en-US" sz="1300" dirty="0"/>
          </a:p>
        </p:txBody>
      </p:sp>
      <p:sp>
        <p:nvSpPr>
          <p:cNvPr id="24" name="Text 21"/>
          <p:cNvSpPr txBox="1"/>
          <p:nvPr/>
        </p:nvSpPr>
        <p:spPr>
          <a:xfrm>
            <a:off x="8330184" y="2148840"/>
            <a:ext cx="3200400" cy="457200"/>
          </a:xfrm>
          <a:prstGeom prst="rect">
            <a:avLst/>
          </a:prstGeom>
          <a:noFill/>
          <a:ln/>
        </p:spPr>
        <p:txBody>
          <a:bodyPr wrap="square" lIns="0" tIns="0" rIns="0" bIns="0" rtlCol="0" anchor="t"/>
          <a:lstStyle/>
          <a:p>
            <a:pPr marL="0" indent="0" algn="ctr">
              <a:buNone/>
            </a:pPr>
            <a:r>
              <a:rPr lang="en-US" sz="2100" b="1" dirty="0">
                <a:solidFill>
                  <a:srgbClr val="0B2D55"/>
                </a:solidFill>
                <a:latin typeface="Aptos" pitchFamily="34" charset="0"/>
                <a:ea typeface="Aptos" pitchFamily="34" charset="-122"/>
                <a:cs typeface="Aptos" pitchFamily="34" charset="-120"/>
              </a:rPr>
              <a:t>P(legit | free)</a:t>
            </a:r>
            <a:endParaRPr lang="en-US" sz="2100" dirty="0"/>
          </a:p>
        </p:txBody>
      </p:sp>
      <p:sp>
        <p:nvSpPr>
          <p:cNvPr id="25" name="Text 22"/>
          <p:cNvSpPr txBox="1"/>
          <p:nvPr/>
        </p:nvSpPr>
        <p:spPr>
          <a:xfrm>
            <a:off x="8330184" y="2697480"/>
            <a:ext cx="3200400" cy="731520"/>
          </a:xfrm>
          <a:prstGeom prst="rect">
            <a:avLst/>
          </a:prstGeom>
          <a:noFill/>
          <a:ln/>
        </p:spPr>
        <p:txBody>
          <a:bodyPr wrap="square" lIns="0" tIns="0" rIns="0" bIns="0" rtlCol="0" anchor="ctr"/>
          <a:lstStyle/>
          <a:p>
            <a:pPr marL="0" indent="0" algn="ctr">
              <a:buNone/>
            </a:pPr>
            <a:r>
              <a:rPr lang="en-US" sz="3600" b="1" dirty="0">
                <a:solidFill>
                  <a:srgbClr val="1F5D9B"/>
                </a:solidFill>
                <a:latin typeface="Aptos" pitchFamily="34" charset="0"/>
                <a:ea typeface="Aptos" pitchFamily="34" charset="-122"/>
                <a:cs typeface="Aptos" pitchFamily="34" charset="-120"/>
              </a:rPr>
              <a:t>4 / 16</a:t>
            </a:r>
            <a:endParaRPr lang="en-US" sz="3600" dirty="0"/>
          </a:p>
        </p:txBody>
      </p:sp>
      <p:sp>
        <p:nvSpPr>
          <p:cNvPr id="26" name="Text 23"/>
          <p:cNvSpPr txBox="1"/>
          <p:nvPr/>
        </p:nvSpPr>
        <p:spPr>
          <a:xfrm>
            <a:off x="8330184" y="3429000"/>
            <a:ext cx="3200400" cy="457200"/>
          </a:xfrm>
          <a:prstGeom prst="rect">
            <a:avLst/>
          </a:prstGeom>
          <a:noFill/>
          <a:ln/>
        </p:spPr>
        <p:txBody>
          <a:bodyPr wrap="square" lIns="0" tIns="0" rIns="0" bIns="0" rtlCol="0" anchor="t"/>
          <a:lstStyle/>
          <a:p>
            <a:pPr marL="0" indent="0" algn="ctr">
              <a:buNone/>
            </a:pPr>
            <a:r>
              <a:rPr lang="en-US" sz="2200" b="1" dirty="0">
                <a:solidFill>
                  <a:srgbClr val="0B2D55"/>
                </a:solidFill>
                <a:latin typeface="Aptos" pitchFamily="34" charset="0"/>
                <a:ea typeface="Aptos" pitchFamily="34" charset="-122"/>
                <a:cs typeface="Aptos" pitchFamily="34" charset="-120"/>
              </a:rPr>
              <a:t>= 0.25</a:t>
            </a:r>
            <a:endParaRPr lang="en-US" sz="2200" dirty="0"/>
          </a:p>
        </p:txBody>
      </p:sp>
      <p:sp>
        <p:nvSpPr>
          <p:cNvPr id="27" name="Text 24"/>
          <p:cNvSpPr txBox="1"/>
          <p:nvPr/>
        </p:nvSpPr>
        <p:spPr>
          <a:xfrm>
            <a:off x="8421624" y="4069080"/>
            <a:ext cx="3017520" cy="1188720"/>
          </a:xfrm>
          <a:prstGeom prst="rect">
            <a:avLst/>
          </a:prstGeom>
          <a:noFill/>
          <a:ln/>
        </p:spPr>
        <p:txBody>
          <a:bodyPr wrap="square" lIns="0" tIns="0" rIns="0" bIns="0" rtlCol="0" anchor="t"/>
          <a:lstStyle/>
          <a:p>
            <a:pPr marL="0" indent="0" algn="ctr">
              <a:buNone/>
            </a:pPr>
            <a:r>
              <a:rPr lang="en-US" sz="1500" dirty="0">
                <a:solidFill>
                  <a:srgbClr val="132033"/>
                </a:solidFill>
                <a:latin typeface="Aptos" pitchFamily="34" charset="0"/>
                <a:ea typeface="Aptos" pitchFamily="34" charset="-122"/>
                <a:cs typeface="Aptos" pitchFamily="34" charset="-120"/>
              </a:rPr>
              <a:t>Only 5% of legit texts say “free,” but legit texts are common</a:t>
            </a:r>
            <a:endParaRPr lang="en-US" sz="1500" dirty="0"/>
          </a:p>
        </p:txBody>
      </p:sp>
      <p:sp>
        <p:nvSpPr>
          <p:cNvPr id="28" name="Text 25"/>
          <p:cNvSpPr txBox="1"/>
          <p:nvPr/>
        </p:nvSpPr>
        <p:spPr>
          <a:xfrm>
            <a:off x="822960" y="5760720"/>
            <a:ext cx="10515600" cy="50292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Read what comes after the bar first: that is the group you are looking inside.</a:t>
            </a:r>
            <a:endParaRPr lang="en-US" sz="1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From one word to a whole message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We have almost never seen this exact message before.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10</a:t>
            </a:r>
            <a:endParaRPr lang="en-US" sz="850" dirty="0"/>
          </a:p>
        </p:txBody>
      </p:sp>
      <p:sp>
        <p:nvSpPr>
          <p:cNvPr id="7" name="Shape 4"/>
          <p:cNvSpPr/>
          <p:nvPr/>
        </p:nvSpPr>
        <p:spPr>
          <a:xfrm>
            <a:off x="822960" y="1691640"/>
            <a:ext cx="4754880" cy="822960"/>
          </a:xfrm>
          <a:prstGeom prst="roundRect">
            <a:avLst>
              <a:gd name="adj" fmla="val 16667"/>
            </a:avLst>
          </a:prstGeom>
          <a:solidFill>
            <a:srgbClr val="E3E9F0"/>
          </a:solidFill>
          <a:ln w="12700">
            <a:solidFill>
              <a:srgbClr val="E3E9F0"/>
            </a:solidFill>
            <a:prstDash val="solid"/>
          </a:ln>
        </p:spPr>
        <p:txBody>
          <a:bodyPr/>
          <a:lstStyle/>
          <a:p>
            <a:endParaRPr lang="en-US"/>
          </a:p>
        </p:txBody>
      </p:sp>
      <p:sp>
        <p:nvSpPr>
          <p:cNvPr id="8" name="Text 5"/>
          <p:cNvSpPr txBox="1"/>
          <p:nvPr/>
        </p:nvSpPr>
        <p:spPr>
          <a:xfrm>
            <a:off x="960120" y="1691640"/>
            <a:ext cx="4480560" cy="822960"/>
          </a:xfrm>
          <a:prstGeom prst="rect">
            <a:avLst/>
          </a:prstGeom>
          <a:noFill/>
          <a:ln/>
        </p:spPr>
        <p:txBody>
          <a:bodyPr wrap="square" lIns="0" tIns="0" rIns="0" bIns="0" rtlCol="0" anchor="ctr"/>
          <a:lstStyle/>
          <a:p>
            <a:pPr marL="0" indent="0">
              <a:buNone/>
            </a:pPr>
            <a:r>
              <a:rPr lang="en-US" sz="2200" dirty="0">
                <a:solidFill>
                  <a:srgbClr val="132033"/>
                </a:solidFill>
                <a:latin typeface="Aptos" pitchFamily="34" charset="0"/>
                <a:ea typeface="Aptos" pitchFamily="34" charset="-122"/>
                <a:cs typeface="Aptos" pitchFamily="34" charset="-120"/>
              </a:rPr>
              <a:t>claim free prize now</a:t>
            </a:r>
            <a:endParaRPr lang="en-US" sz="2200" dirty="0"/>
          </a:p>
        </p:txBody>
      </p:sp>
      <p:sp>
        <p:nvSpPr>
          <p:cNvPr id="9" name="Shape 6"/>
          <p:cNvSpPr/>
          <p:nvPr/>
        </p:nvSpPr>
        <p:spPr>
          <a:xfrm>
            <a:off x="6035040" y="1600200"/>
            <a:ext cx="5303520" cy="1005840"/>
          </a:xfrm>
          <a:prstGeom prst="roundRect">
            <a:avLst>
              <a:gd name="adj" fmla="val 7273"/>
            </a:avLst>
          </a:prstGeom>
          <a:solidFill>
            <a:srgbClr val="F7D7D7"/>
          </a:solidFill>
          <a:ln w="12700">
            <a:solidFill>
              <a:srgbClr val="B43A3A"/>
            </a:solidFill>
            <a:prstDash val="solid"/>
          </a:ln>
        </p:spPr>
        <p:txBody>
          <a:bodyPr/>
          <a:lstStyle/>
          <a:p>
            <a:endParaRPr lang="en-US"/>
          </a:p>
        </p:txBody>
      </p:sp>
      <p:sp>
        <p:nvSpPr>
          <p:cNvPr id="10" name="Text 7"/>
          <p:cNvSpPr txBox="1"/>
          <p:nvPr/>
        </p:nvSpPr>
        <p:spPr>
          <a:xfrm>
            <a:off x="6172200" y="1600200"/>
            <a:ext cx="5029200" cy="100584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Times this exact text appears in training:  </a:t>
            </a:r>
            <a:r>
              <a:rPr lang="en-US" sz="3000" b="1" dirty="0">
                <a:solidFill>
                  <a:srgbClr val="B43A3A"/>
                </a:solidFill>
                <a:latin typeface="Aptos" pitchFamily="34" charset="0"/>
                <a:ea typeface="Aptos" pitchFamily="34" charset="-122"/>
                <a:cs typeface="Aptos" pitchFamily="34" charset="-120"/>
              </a:rPr>
              <a:t>0</a:t>
            </a:r>
            <a:endParaRPr lang="en-US" sz="1800" dirty="0"/>
          </a:p>
        </p:txBody>
      </p:sp>
      <p:sp>
        <p:nvSpPr>
          <p:cNvPr id="11" name="Text 8"/>
          <p:cNvSpPr txBox="1"/>
          <p:nvPr/>
        </p:nvSpPr>
        <p:spPr>
          <a:xfrm>
            <a:off x="822960" y="2926080"/>
            <a:ext cx="10515600" cy="411480"/>
          </a:xfrm>
          <a:prstGeom prst="rect">
            <a:avLst/>
          </a:prstGeom>
          <a:noFill/>
          <a:ln/>
        </p:spPr>
        <p:txBody>
          <a:bodyPr wrap="square" lIns="0" tIns="0" rIns="0" bIns="0" rtlCol="0" anchor="t"/>
          <a:lstStyle/>
          <a:p>
            <a:pPr marL="0" indent="0" algn="ctr">
              <a:buNone/>
            </a:pPr>
            <a:r>
              <a:rPr lang="en-US" sz="1900" b="1" dirty="0">
                <a:solidFill>
                  <a:srgbClr val="0B2D55"/>
                </a:solidFill>
                <a:latin typeface="Aptos" pitchFamily="34" charset="0"/>
                <a:ea typeface="Aptos" pitchFamily="34" charset="-122"/>
                <a:cs typeface="Aptos" pitchFamily="34" charset="-120"/>
              </a:rPr>
              <a:t>Split it into words we have seen</a:t>
            </a:r>
            <a:endParaRPr lang="en-US" sz="1900" dirty="0"/>
          </a:p>
        </p:txBody>
      </p:sp>
      <p:sp>
        <p:nvSpPr>
          <p:cNvPr id="12" name="Shape 9"/>
          <p:cNvSpPr/>
          <p:nvPr/>
        </p:nvSpPr>
        <p:spPr>
          <a:xfrm>
            <a:off x="1234440" y="3520440"/>
            <a:ext cx="2148840" cy="1234440"/>
          </a:xfrm>
          <a:prstGeom prst="roundRect">
            <a:avLst>
              <a:gd name="adj" fmla="val 5926"/>
            </a:avLst>
          </a:prstGeom>
          <a:solidFill>
            <a:srgbClr val="DFF0D8"/>
          </a:solidFill>
          <a:ln w="12700">
            <a:solidFill>
              <a:srgbClr val="2E7D32"/>
            </a:solidFill>
            <a:prstDash val="solid"/>
          </a:ln>
        </p:spPr>
        <p:txBody>
          <a:bodyPr/>
          <a:lstStyle/>
          <a:p>
            <a:endParaRPr lang="en-US"/>
          </a:p>
        </p:txBody>
      </p:sp>
      <p:sp>
        <p:nvSpPr>
          <p:cNvPr id="13" name="Text 10"/>
          <p:cNvSpPr txBox="1"/>
          <p:nvPr/>
        </p:nvSpPr>
        <p:spPr>
          <a:xfrm>
            <a:off x="1234440" y="3520440"/>
            <a:ext cx="2148840" cy="123444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claim</a:t>
            </a:r>
            <a:endParaRPr lang="en-US" sz="1600" dirty="0"/>
          </a:p>
          <a:p>
            <a:pPr marL="0" indent="0" algn="ctr">
              <a:buNone/>
            </a:pPr>
            <a:r>
              <a:rPr lang="en-US" sz="1500" dirty="0">
                <a:solidFill>
                  <a:srgbClr val="2E7D32"/>
                </a:solidFill>
                <a:latin typeface="Aptos" pitchFamily="34" charset="0"/>
                <a:ea typeface="Aptos" pitchFamily="34" charset="-122"/>
                <a:cs typeface="Aptos" pitchFamily="34" charset="-120"/>
              </a:rPr>
              <a:t>seen 5 times</a:t>
            </a:r>
            <a:endParaRPr lang="en-US" sz="1600" dirty="0"/>
          </a:p>
        </p:txBody>
      </p:sp>
      <p:sp>
        <p:nvSpPr>
          <p:cNvPr id="14" name="Shape 11"/>
          <p:cNvSpPr/>
          <p:nvPr/>
        </p:nvSpPr>
        <p:spPr>
          <a:xfrm>
            <a:off x="3749040" y="3520440"/>
            <a:ext cx="2148840" cy="1234440"/>
          </a:xfrm>
          <a:prstGeom prst="roundRect">
            <a:avLst>
              <a:gd name="adj" fmla="val 5926"/>
            </a:avLst>
          </a:prstGeom>
          <a:solidFill>
            <a:srgbClr val="DFF0D8"/>
          </a:solidFill>
          <a:ln w="12700">
            <a:solidFill>
              <a:srgbClr val="2E7D32"/>
            </a:solidFill>
            <a:prstDash val="solid"/>
          </a:ln>
        </p:spPr>
        <p:txBody>
          <a:bodyPr/>
          <a:lstStyle/>
          <a:p>
            <a:endParaRPr lang="en-US"/>
          </a:p>
        </p:txBody>
      </p:sp>
      <p:sp>
        <p:nvSpPr>
          <p:cNvPr id="15" name="Text 12"/>
          <p:cNvSpPr txBox="1"/>
          <p:nvPr/>
        </p:nvSpPr>
        <p:spPr>
          <a:xfrm>
            <a:off x="3749040" y="3520440"/>
            <a:ext cx="2148840" cy="123444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free</a:t>
            </a:r>
            <a:endParaRPr lang="en-US" sz="1600" dirty="0"/>
          </a:p>
          <a:p>
            <a:pPr marL="0" indent="0" algn="ctr">
              <a:buNone/>
            </a:pPr>
            <a:r>
              <a:rPr lang="en-US" sz="1500" dirty="0">
                <a:solidFill>
                  <a:srgbClr val="2E7D32"/>
                </a:solidFill>
                <a:latin typeface="Aptos" pitchFamily="34" charset="0"/>
                <a:ea typeface="Aptos" pitchFamily="34" charset="-122"/>
                <a:cs typeface="Aptos" pitchFamily="34" charset="-120"/>
              </a:rPr>
              <a:t>seen 8 times</a:t>
            </a:r>
            <a:endParaRPr lang="en-US" sz="1600" dirty="0"/>
          </a:p>
        </p:txBody>
      </p:sp>
      <p:sp>
        <p:nvSpPr>
          <p:cNvPr id="16" name="Shape 13"/>
          <p:cNvSpPr/>
          <p:nvPr/>
        </p:nvSpPr>
        <p:spPr>
          <a:xfrm>
            <a:off x="6263640" y="3520440"/>
            <a:ext cx="2148840" cy="1234440"/>
          </a:xfrm>
          <a:prstGeom prst="roundRect">
            <a:avLst>
              <a:gd name="adj" fmla="val 5926"/>
            </a:avLst>
          </a:prstGeom>
          <a:solidFill>
            <a:srgbClr val="DFF0D8"/>
          </a:solidFill>
          <a:ln w="12700">
            <a:solidFill>
              <a:srgbClr val="2E7D32"/>
            </a:solidFill>
            <a:prstDash val="solid"/>
          </a:ln>
        </p:spPr>
        <p:txBody>
          <a:bodyPr/>
          <a:lstStyle/>
          <a:p>
            <a:endParaRPr lang="en-US"/>
          </a:p>
        </p:txBody>
      </p:sp>
      <p:sp>
        <p:nvSpPr>
          <p:cNvPr id="17" name="Text 14"/>
          <p:cNvSpPr txBox="1"/>
          <p:nvPr/>
        </p:nvSpPr>
        <p:spPr>
          <a:xfrm>
            <a:off x="6263640" y="3520440"/>
            <a:ext cx="2148840" cy="123444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prize</a:t>
            </a:r>
            <a:endParaRPr lang="en-US" sz="1600" dirty="0"/>
          </a:p>
          <a:p>
            <a:pPr marL="0" indent="0" algn="ctr">
              <a:buNone/>
            </a:pPr>
            <a:r>
              <a:rPr lang="en-US" sz="1500" dirty="0">
                <a:solidFill>
                  <a:srgbClr val="2E7D32"/>
                </a:solidFill>
                <a:latin typeface="Aptos" pitchFamily="34" charset="0"/>
                <a:ea typeface="Aptos" pitchFamily="34" charset="-122"/>
                <a:cs typeface="Aptos" pitchFamily="34" charset="-120"/>
              </a:rPr>
              <a:t>seen 4 times</a:t>
            </a:r>
            <a:endParaRPr lang="en-US" sz="1600" dirty="0"/>
          </a:p>
        </p:txBody>
      </p:sp>
      <p:sp>
        <p:nvSpPr>
          <p:cNvPr id="18" name="Shape 15"/>
          <p:cNvSpPr/>
          <p:nvPr/>
        </p:nvSpPr>
        <p:spPr>
          <a:xfrm>
            <a:off x="8778240" y="3520440"/>
            <a:ext cx="2148840" cy="1234440"/>
          </a:xfrm>
          <a:prstGeom prst="roundRect">
            <a:avLst>
              <a:gd name="adj" fmla="val 5926"/>
            </a:avLst>
          </a:prstGeom>
          <a:solidFill>
            <a:srgbClr val="DFF0D8"/>
          </a:solidFill>
          <a:ln w="12700">
            <a:solidFill>
              <a:srgbClr val="2E7D32"/>
            </a:solidFill>
            <a:prstDash val="solid"/>
          </a:ln>
        </p:spPr>
        <p:txBody>
          <a:bodyPr/>
          <a:lstStyle/>
          <a:p>
            <a:endParaRPr lang="en-US"/>
          </a:p>
        </p:txBody>
      </p:sp>
      <p:sp>
        <p:nvSpPr>
          <p:cNvPr id="19" name="Text 16"/>
          <p:cNvSpPr txBox="1"/>
          <p:nvPr/>
        </p:nvSpPr>
        <p:spPr>
          <a:xfrm>
            <a:off x="8778240" y="3520440"/>
            <a:ext cx="2148840" cy="123444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now</a:t>
            </a:r>
            <a:endParaRPr lang="en-US" sz="1600" dirty="0"/>
          </a:p>
          <a:p>
            <a:pPr marL="0" indent="0" algn="ctr">
              <a:buNone/>
            </a:pPr>
            <a:r>
              <a:rPr lang="en-US" sz="1500" dirty="0">
                <a:solidFill>
                  <a:srgbClr val="2E7D32"/>
                </a:solidFill>
                <a:latin typeface="Aptos" pitchFamily="34" charset="0"/>
                <a:ea typeface="Aptos" pitchFamily="34" charset="-122"/>
                <a:cs typeface="Aptos" pitchFamily="34" charset="-120"/>
              </a:rPr>
              <a:t>seen 10 times</a:t>
            </a:r>
            <a:endParaRPr lang="en-US" sz="1600" dirty="0"/>
          </a:p>
        </p:txBody>
      </p:sp>
      <p:sp>
        <p:nvSpPr>
          <p:cNvPr id="20" name="Text 17"/>
          <p:cNvSpPr txBox="1"/>
          <p:nvPr/>
        </p:nvSpPr>
        <p:spPr>
          <a:xfrm>
            <a:off x="822960" y="5257800"/>
            <a:ext cx="10515600" cy="50292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We need to break the message into pieces we have seen.</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Bag of words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Ignore order and grammar. Keep the words.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11</a:t>
            </a:r>
            <a:endParaRPr lang="en-US" sz="850" dirty="0"/>
          </a:p>
        </p:txBody>
      </p:sp>
      <p:sp>
        <p:nvSpPr>
          <p:cNvPr id="7" name="Shape 4"/>
          <p:cNvSpPr/>
          <p:nvPr/>
        </p:nvSpPr>
        <p:spPr>
          <a:xfrm>
            <a:off x="822960" y="1737360"/>
            <a:ext cx="2743200" cy="685800"/>
          </a:xfrm>
          <a:prstGeom prst="roundRect">
            <a:avLst>
              <a:gd name="adj" fmla="val 20000"/>
            </a:avLst>
          </a:prstGeom>
          <a:solidFill>
            <a:srgbClr val="E3E9F0"/>
          </a:solidFill>
          <a:ln w="12700">
            <a:solidFill>
              <a:srgbClr val="E3E9F0"/>
            </a:solidFill>
            <a:prstDash val="solid"/>
          </a:ln>
        </p:spPr>
        <p:txBody>
          <a:bodyPr/>
          <a:lstStyle/>
          <a:p>
            <a:endParaRPr lang="en-US"/>
          </a:p>
        </p:txBody>
      </p:sp>
      <p:sp>
        <p:nvSpPr>
          <p:cNvPr id="8" name="Text 5"/>
          <p:cNvSpPr txBox="1"/>
          <p:nvPr/>
        </p:nvSpPr>
        <p:spPr>
          <a:xfrm>
            <a:off x="960120" y="1737360"/>
            <a:ext cx="2468880" cy="685800"/>
          </a:xfrm>
          <a:prstGeom prst="rect">
            <a:avLst/>
          </a:prstGeom>
          <a:noFill/>
          <a:ln/>
        </p:spPr>
        <p:txBody>
          <a:bodyPr wrap="square" lIns="0" tIns="0" rIns="0" bIns="0" rtlCol="0" anchor="ctr"/>
          <a:lstStyle/>
          <a:p>
            <a:pPr marL="0" indent="0">
              <a:buNone/>
            </a:pPr>
            <a:r>
              <a:rPr lang="en-US" sz="2000" dirty="0">
                <a:solidFill>
                  <a:srgbClr val="132033"/>
                </a:solidFill>
                <a:latin typeface="Aptos" pitchFamily="34" charset="0"/>
                <a:ea typeface="Aptos" pitchFamily="34" charset="-122"/>
                <a:cs typeface="Aptos" pitchFamily="34" charset="-120"/>
              </a:rPr>
              <a:t>call me now</a:t>
            </a:r>
            <a:endParaRPr lang="en-US" sz="2000" dirty="0"/>
          </a:p>
        </p:txBody>
      </p:sp>
      <p:sp>
        <p:nvSpPr>
          <p:cNvPr id="9" name="Shape 6"/>
          <p:cNvSpPr/>
          <p:nvPr/>
        </p:nvSpPr>
        <p:spPr>
          <a:xfrm>
            <a:off x="822960" y="2697480"/>
            <a:ext cx="2743200" cy="685800"/>
          </a:xfrm>
          <a:prstGeom prst="roundRect">
            <a:avLst>
              <a:gd name="adj" fmla="val 20000"/>
            </a:avLst>
          </a:prstGeom>
          <a:solidFill>
            <a:srgbClr val="E3E9F0"/>
          </a:solidFill>
          <a:ln w="12700">
            <a:solidFill>
              <a:srgbClr val="E3E9F0"/>
            </a:solidFill>
            <a:prstDash val="solid"/>
          </a:ln>
        </p:spPr>
        <p:txBody>
          <a:bodyPr/>
          <a:lstStyle/>
          <a:p>
            <a:endParaRPr lang="en-US"/>
          </a:p>
        </p:txBody>
      </p:sp>
      <p:sp>
        <p:nvSpPr>
          <p:cNvPr id="10" name="Text 7"/>
          <p:cNvSpPr txBox="1"/>
          <p:nvPr/>
        </p:nvSpPr>
        <p:spPr>
          <a:xfrm>
            <a:off x="960120" y="2697480"/>
            <a:ext cx="2468880" cy="685800"/>
          </a:xfrm>
          <a:prstGeom prst="rect">
            <a:avLst/>
          </a:prstGeom>
          <a:noFill/>
          <a:ln/>
        </p:spPr>
        <p:txBody>
          <a:bodyPr wrap="square" lIns="0" tIns="0" rIns="0" bIns="0" rtlCol="0" anchor="ctr"/>
          <a:lstStyle/>
          <a:p>
            <a:pPr marL="0" indent="0">
              <a:buNone/>
            </a:pPr>
            <a:r>
              <a:rPr lang="en-US" sz="2000" dirty="0">
                <a:solidFill>
                  <a:srgbClr val="132033"/>
                </a:solidFill>
                <a:latin typeface="Aptos" pitchFamily="34" charset="0"/>
                <a:ea typeface="Aptos" pitchFamily="34" charset="-122"/>
                <a:cs typeface="Aptos" pitchFamily="34" charset="-120"/>
              </a:rPr>
              <a:t>now call me</a:t>
            </a:r>
            <a:endParaRPr lang="en-US" sz="2000" dirty="0"/>
          </a:p>
        </p:txBody>
      </p:sp>
      <p:sp>
        <p:nvSpPr>
          <p:cNvPr id="11" name="Shape 8"/>
          <p:cNvSpPr/>
          <p:nvPr/>
        </p:nvSpPr>
        <p:spPr>
          <a:xfrm>
            <a:off x="3703320" y="2084832"/>
            <a:ext cx="1188720" cy="502920"/>
          </a:xfrm>
          <a:prstGeom prst="line">
            <a:avLst/>
          </a:prstGeom>
          <a:noFill/>
          <a:ln w="25400">
            <a:solidFill>
              <a:srgbClr val="0B2D55"/>
            </a:solidFill>
            <a:prstDash val="solid"/>
            <a:tailEnd type="triangle"/>
          </a:ln>
        </p:spPr>
        <p:txBody>
          <a:bodyPr/>
          <a:lstStyle/>
          <a:p>
            <a:endParaRPr lang="en-US"/>
          </a:p>
        </p:txBody>
      </p:sp>
      <p:sp>
        <p:nvSpPr>
          <p:cNvPr id="12" name="Shape 9"/>
          <p:cNvSpPr/>
          <p:nvPr/>
        </p:nvSpPr>
        <p:spPr>
          <a:xfrm>
            <a:off x="3703320" y="3044952"/>
            <a:ext cx="1188720" cy="0"/>
          </a:xfrm>
          <a:prstGeom prst="line">
            <a:avLst/>
          </a:prstGeom>
          <a:noFill/>
          <a:ln w="25400">
            <a:solidFill>
              <a:srgbClr val="0B2D55"/>
            </a:solidFill>
            <a:prstDash val="solid"/>
            <a:tailEnd type="triangle"/>
          </a:ln>
        </p:spPr>
        <p:txBody>
          <a:bodyPr/>
          <a:lstStyle/>
          <a:p>
            <a:endParaRPr lang="en-US"/>
          </a:p>
        </p:txBody>
      </p:sp>
      <p:sp>
        <p:nvSpPr>
          <p:cNvPr id="13" name="Shape 10"/>
          <p:cNvSpPr/>
          <p:nvPr/>
        </p:nvSpPr>
        <p:spPr>
          <a:xfrm>
            <a:off x="5029200" y="1691640"/>
            <a:ext cx="2926080" cy="1920240"/>
          </a:xfrm>
          <a:prstGeom prst="roundRect">
            <a:avLst>
              <a:gd name="adj" fmla="val 21429"/>
            </a:avLst>
          </a:prstGeom>
          <a:solidFill>
            <a:srgbClr val="F5EBDD"/>
          </a:solidFill>
          <a:ln w="25400">
            <a:solidFill>
              <a:srgbClr val="B08A5A"/>
            </a:solidFill>
            <a:prstDash val="solid"/>
          </a:ln>
        </p:spPr>
        <p:txBody>
          <a:bodyPr/>
          <a:lstStyle/>
          <a:p>
            <a:endParaRPr lang="en-US"/>
          </a:p>
        </p:txBody>
      </p:sp>
      <p:sp>
        <p:nvSpPr>
          <p:cNvPr id="14" name="Shape 11"/>
          <p:cNvSpPr/>
          <p:nvPr/>
        </p:nvSpPr>
        <p:spPr>
          <a:xfrm>
            <a:off x="5257800" y="1920240"/>
            <a:ext cx="1097280" cy="411480"/>
          </a:xfrm>
          <a:prstGeom prst="roundRect">
            <a:avLst>
              <a:gd name="adj" fmla="val 17778"/>
            </a:avLst>
          </a:prstGeom>
          <a:solidFill>
            <a:srgbClr val="1D5FA7"/>
          </a:solidFill>
          <a:ln w="12700">
            <a:solidFill>
              <a:srgbClr val="1D5FA7"/>
            </a:solidFill>
            <a:prstDash val="solid"/>
          </a:ln>
        </p:spPr>
        <p:txBody>
          <a:bodyPr/>
          <a:lstStyle/>
          <a:p>
            <a:endParaRPr lang="en-US"/>
          </a:p>
        </p:txBody>
      </p:sp>
      <p:sp>
        <p:nvSpPr>
          <p:cNvPr id="15" name="Text 12"/>
          <p:cNvSpPr txBox="1"/>
          <p:nvPr/>
        </p:nvSpPr>
        <p:spPr>
          <a:xfrm>
            <a:off x="5257800" y="1920240"/>
            <a:ext cx="10972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call</a:t>
            </a:r>
            <a:endParaRPr lang="en-US" sz="1500" dirty="0"/>
          </a:p>
        </p:txBody>
      </p:sp>
      <p:sp>
        <p:nvSpPr>
          <p:cNvPr id="16" name="Shape 13"/>
          <p:cNvSpPr/>
          <p:nvPr/>
        </p:nvSpPr>
        <p:spPr>
          <a:xfrm>
            <a:off x="6492240" y="1920240"/>
            <a:ext cx="1097280" cy="411480"/>
          </a:xfrm>
          <a:prstGeom prst="roundRect">
            <a:avLst>
              <a:gd name="adj" fmla="val 17778"/>
            </a:avLst>
          </a:prstGeom>
          <a:solidFill>
            <a:srgbClr val="1D5FA7"/>
          </a:solidFill>
          <a:ln w="12700">
            <a:solidFill>
              <a:srgbClr val="1D5FA7"/>
            </a:solidFill>
            <a:prstDash val="solid"/>
          </a:ln>
        </p:spPr>
        <p:txBody>
          <a:bodyPr/>
          <a:lstStyle/>
          <a:p>
            <a:endParaRPr lang="en-US"/>
          </a:p>
        </p:txBody>
      </p:sp>
      <p:sp>
        <p:nvSpPr>
          <p:cNvPr id="17" name="Text 14"/>
          <p:cNvSpPr txBox="1"/>
          <p:nvPr/>
        </p:nvSpPr>
        <p:spPr>
          <a:xfrm>
            <a:off x="6492240" y="1920240"/>
            <a:ext cx="10972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me</a:t>
            </a:r>
            <a:endParaRPr lang="en-US" sz="1500" dirty="0"/>
          </a:p>
        </p:txBody>
      </p:sp>
      <p:sp>
        <p:nvSpPr>
          <p:cNvPr id="18" name="Shape 15"/>
          <p:cNvSpPr/>
          <p:nvPr/>
        </p:nvSpPr>
        <p:spPr>
          <a:xfrm>
            <a:off x="5852160" y="2651760"/>
            <a:ext cx="1097280" cy="411480"/>
          </a:xfrm>
          <a:prstGeom prst="roundRect">
            <a:avLst>
              <a:gd name="adj" fmla="val 17778"/>
            </a:avLst>
          </a:prstGeom>
          <a:solidFill>
            <a:srgbClr val="1D5FA7"/>
          </a:solidFill>
          <a:ln w="12700">
            <a:solidFill>
              <a:srgbClr val="1D5FA7"/>
            </a:solidFill>
            <a:prstDash val="solid"/>
          </a:ln>
        </p:spPr>
        <p:txBody>
          <a:bodyPr/>
          <a:lstStyle/>
          <a:p>
            <a:endParaRPr lang="en-US"/>
          </a:p>
        </p:txBody>
      </p:sp>
      <p:sp>
        <p:nvSpPr>
          <p:cNvPr id="19" name="Text 16"/>
          <p:cNvSpPr txBox="1"/>
          <p:nvPr/>
        </p:nvSpPr>
        <p:spPr>
          <a:xfrm>
            <a:off x="5852160" y="2651760"/>
            <a:ext cx="109728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now</a:t>
            </a:r>
            <a:endParaRPr lang="en-US" sz="1500" dirty="0"/>
          </a:p>
        </p:txBody>
      </p:sp>
      <p:sp>
        <p:nvSpPr>
          <p:cNvPr id="20" name="Text 17"/>
          <p:cNvSpPr txBox="1"/>
          <p:nvPr/>
        </p:nvSpPr>
        <p:spPr>
          <a:xfrm>
            <a:off x="5029200" y="3611880"/>
            <a:ext cx="2926080" cy="320040"/>
          </a:xfrm>
          <a:prstGeom prst="rect">
            <a:avLst/>
          </a:prstGeom>
          <a:noFill/>
          <a:ln/>
        </p:spPr>
        <p:txBody>
          <a:bodyPr wrap="square" lIns="0" tIns="0" rIns="0" bIns="0" rtlCol="0" anchor="t"/>
          <a:lstStyle/>
          <a:p>
            <a:pPr marL="0" indent="0" algn="ctr">
              <a:buNone/>
            </a:pPr>
            <a:r>
              <a:rPr lang="en-US" sz="1300" i="1" dirty="0">
                <a:solidFill>
                  <a:srgbClr val="6D7C8F"/>
                </a:solidFill>
                <a:latin typeface="Aptos" pitchFamily="34" charset="0"/>
                <a:ea typeface="Aptos" pitchFamily="34" charset="-122"/>
                <a:cs typeface="Aptos" pitchFamily="34" charset="-120"/>
              </a:rPr>
              <a:t>the bag</a:t>
            </a:r>
            <a:endParaRPr lang="en-US" sz="1300" dirty="0"/>
          </a:p>
        </p:txBody>
      </p:sp>
      <p:sp>
        <p:nvSpPr>
          <p:cNvPr id="21" name="Shape 18"/>
          <p:cNvSpPr/>
          <p:nvPr/>
        </p:nvSpPr>
        <p:spPr>
          <a:xfrm>
            <a:off x="8321040" y="1691640"/>
            <a:ext cx="3291840" cy="1920240"/>
          </a:xfrm>
          <a:prstGeom prst="roundRect">
            <a:avLst>
              <a:gd name="adj" fmla="val 3810"/>
            </a:avLst>
          </a:prstGeom>
          <a:solidFill>
            <a:srgbClr val="DFF0D8"/>
          </a:solidFill>
          <a:ln w="12700">
            <a:solidFill>
              <a:srgbClr val="2E7D32"/>
            </a:solidFill>
            <a:prstDash val="solid"/>
          </a:ln>
        </p:spPr>
        <p:txBody>
          <a:bodyPr/>
          <a:lstStyle/>
          <a:p>
            <a:endParaRPr lang="en-US"/>
          </a:p>
        </p:txBody>
      </p:sp>
      <p:sp>
        <p:nvSpPr>
          <p:cNvPr id="22" name="Text 19"/>
          <p:cNvSpPr txBox="1"/>
          <p:nvPr/>
        </p:nvSpPr>
        <p:spPr>
          <a:xfrm>
            <a:off x="8503920" y="1691640"/>
            <a:ext cx="2926080" cy="192024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Same bag → same prediction</a:t>
            </a:r>
            <a:endParaRPr lang="en-US" sz="1600" dirty="0"/>
          </a:p>
          <a:p>
            <a:pPr marL="0" indent="0" algn="ctr">
              <a:buNone/>
            </a:pPr>
            <a:r>
              <a:rPr lang="en-US" sz="1500" dirty="0">
                <a:solidFill>
                  <a:srgbClr val="132033"/>
                </a:solidFill>
                <a:latin typeface="Aptos" pitchFamily="34" charset="0"/>
                <a:ea typeface="Aptos" pitchFamily="34" charset="-122"/>
                <a:cs typeface="Aptos" pitchFamily="34" charset="-120"/>
              </a:rPr>
              <a:t>Each word becomes one piece of evidence to look up.</a:t>
            </a:r>
            <a:endParaRPr lang="en-US" sz="1600" dirty="0"/>
          </a:p>
        </p:txBody>
      </p:sp>
      <p:sp>
        <p:nvSpPr>
          <p:cNvPr id="23" name="Shape 20"/>
          <p:cNvSpPr/>
          <p:nvPr/>
        </p:nvSpPr>
        <p:spPr>
          <a:xfrm>
            <a:off x="822960" y="4251960"/>
            <a:ext cx="10789920" cy="1325880"/>
          </a:xfrm>
          <a:prstGeom prst="roundRect">
            <a:avLst>
              <a:gd name="adj" fmla="val 5517"/>
            </a:avLst>
          </a:prstGeom>
          <a:solidFill>
            <a:srgbClr val="F7D7D7"/>
          </a:solidFill>
          <a:ln w="12700">
            <a:solidFill>
              <a:srgbClr val="B43A3A"/>
            </a:solidFill>
            <a:prstDash val="solid"/>
          </a:ln>
        </p:spPr>
        <p:txBody>
          <a:bodyPr/>
          <a:lstStyle/>
          <a:p>
            <a:endParaRPr lang="en-US"/>
          </a:p>
        </p:txBody>
      </p:sp>
      <p:sp>
        <p:nvSpPr>
          <p:cNvPr id="24" name="Text 21"/>
          <p:cNvSpPr txBox="1"/>
          <p:nvPr/>
        </p:nvSpPr>
        <p:spPr>
          <a:xfrm>
            <a:off x="1051560" y="4251960"/>
            <a:ext cx="10332720" cy="132588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What the bag throws away: </a:t>
            </a:r>
            <a:r>
              <a:rPr lang="en-US" sz="1700" dirty="0">
                <a:solidFill>
                  <a:srgbClr val="132033"/>
                </a:solidFill>
                <a:latin typeface="Aptos" pitchFamily="34" charset="0"/>
                <a:ea typeface="Aptos" pitchFamily="34" charset="-122"/>
                <a:cs typeface="Aptos" pitchFamily="34" charset="-120"/>
              </a:rPr>
              <a:t>word order and meaning between words. “this is not a scam” and “this is a scam” look almost identical.</a:t>
            </a:r>
            <a:endParaRPr lang="en-US" sz="1700" dirty="0"/>
          </a:p>
        </p:txBody>
      </p:sp>
      <p:sp>
        <p:nvSpPr>
          <p:cNvPr id="25" name="Text 22"/>
          <p:cNvSpPr txBox="1"/>
          <p:nvPr/>
        </p:nvSpPr>
        <p:spPr>
          <a:xfrm>
            <a:off x="822960" y="5806440"/>
            <a:ext cx="10515600" cy="50292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Simple, fast, and surprisingly effective for filtering.</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naive assumption, in one line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Treat each word as independent evidence, given the class.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12</a:t>
            </a:r>
            <a:endParaRPr lang="en-US" sz="850" dirty="0"/>
          </a:p>
        </p:txBody>
      </p:sp>
      <p:sp>
        <p:nvSpPr>
          <p:cNvPr id="7" name="Shape 4"/>
          <p:cNvSpPr/>
          <p:nvPr/>
        </p:nvSpPr>
        <p:spPr>
          <a:xfrm>
            <a:off x="576072" y="1554480"/>
            <a:ext cx="11036808" cy="960120"/>
          </a:xfrm>
          <a:prstGeom prst="roundRect">
            <a:avLst>
              <a:gd name="adj" fmla="val 7619"/>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731520" y="1554480"/>
            <a:ext cx="10698480" cy="960120"/>
          </a:xfrm>
          <a:prstGeom prst="rect">
            <a:avLst/>
          </a:prstGeom>
          <a:noFill/>
          <a:ln/>
        </p:spPr>
        <p:txBody>
          <a:bodyPr wrap="square" lIns="0" tIns="0" rIns="0" bIns="0" rtlCol="0" anchor="ctr"/>
          <a:lstStyle/>
          <a:p>
            <a:pPr marL="0" indent="0" algn="ctr">
              <a:buNone/>
            </a:pPr>
            <a:r>
              <a:rPr lang="en-US" sz="2200" b="1" dirty="0">
                <a:solidFill>
                  <a:srgbClr val="0B2D55"/>
                </a:solidFill>
                <a:latin typeface="Aptos" pitchFamily="34" charset="0"/>
                <a:ea typeface="Aptos" pitchFamily="34" charset="-122"/>
                <a:cs typeface="Aptos" pitchFamily="34" charset="-120"/>
              </a:rPr>
              <a:t>score(C)  ∝  </a:t>
            </a:r>
            <a:r>
              <a:rPr lang="en-US" sz="2200" b="1" dirty="0">
                <a:solidFill>
                  <a:srgbClr val="1D5FA7"/>
                </a:solidFill>
                <a:latin typeface="Aptos" pitchFamily="34" charset="0"/>
                <a:ea typeface="Aptos" pitchFamily="34" charset="-122"/>
                <a:cs typeface="Aptos" pitchFamily="34" charset="-120"/>
              </a:rPr>
              <a:t>P(C)</a:t>
            </a:r>
            <a:r>
              <a:rPr lang="en-US" sz="2200" b="1" dirty="0">
                <a:solidFill>
                  <a:srgbClr val="D9731A"/>
                </a:solidFill>
                <a:latin typeface="Aptos" pitchFamily="34" charset="0"/>
                <a:ea typeface="Aptos" pitchFamily="34" charset="-122"/>
                <a:cs typeface="Aptos" pitchFamily="34" charset="-120"/>
              </a:rPr>
              <a:t>  ×  P(w</a:t>
            </a:r>
            <a:r>
              <a:rPr lang="en-US" sz="2200" b="1" baseline="-40000" dirty="0">
                <a:solidFill>
                  <a:srgbClr val="D9731A"/>
                </a:solidFill>
                <a:latin typeface="Aptos" pitchFamily="34" charset="0"/>
                <a:ea typeface="Aptos" pitchFamily="34" charset="-122"/>
                <a:cs typeface="Aptos" pitchFamily="34" charset="-120"/>
              </a:rPr>
              <a:t>1</a:t>
            </a:r>
            <a:r>
              <a:rPr lang="en-US" sz="2200" b="1" dirty="0">
                <a:solidFill>
                  <a:srgbClr val="D9731A"/>
                </a:solidFill>
                <a:latin typeface="Aptos" pitchFamily="34" charset="0"/>
                <a:ea typeface="Aptos" pitchFamily="34" charset="-122"/>
                <a:cs typeface="Aptos" pitchFamily="34" charset="-120"/>
              </a:rPr>
              <a:t> | C)  ×  P(w</a:t>
            </a:r>
            <a:r>
              <a:rPr lang="en-US" sz="2200" b="1" baseline="-40000" dirty="0">
                <a:solidFill>
                  <a:srgbClr val="D9731A"/>
                </a:solidFill>
                <a:latin typeface="Aptos" pitchFamily="34" charset="0"/>
                <a:ea typeface="Aptos" pitchFamily="34" charset="-122"/>
                <a:cs typeface="Aptos" pitchFamily="34" charset="-120"/>
              </a:rPr>
              <a:t>2</a:t>
            </a:r>
            <a:r>
              <a:rPr lang="en-US" sz="2200" b="1" dirty="0">
                <a:solidFill>
                  <a:srgbClr val="D9731A"/>
                </a:solidFill>
                <a:latin typeface="Aptos" pitchFamily="34" charset="0"/>
                <a:ea typeface="Aptos" pitchFamily="34" charset="-122"/>
                <a:cs typeface="Aptos" pitchFamily="34" charset="-120"/>
              </a:rPr>
              <a:t> | C)  ×  …  ×  P(w</a:t>
            </a:r>
            <a:r>
              <a:rPr lang="en-US" sz="2200" b="1" baseline="-40000" dirty="0">
                <a:solidFill>
                  <a:srgbClr val="D9731A"/>
                </a:solidFill>
                <a:latin typeface="Aptos" pitchFamily="34" charset="0"/>
                <a:ea typeface="Aptos" pitchFamily="34" charset="-122"/>
                <a:cs typeface="Aptos" pitchFamily="34" charset="-120"/>
              </a:rPr>
              <a:t>n</a:t>
            </a:r>
            <a:r>
              <a:rPr lang="en-US" sz="2200" b="1" dirty="0">
                <a:solidFill>
                  <a:srgbClr val="D9731A"/>
                </a:solidFill>
                <a:latin typeface="Aptos" pitchFamily="34" charset="0"/>
                <a:ea typeface="Aptos" pitchFamily="34" charset="-122"/>
                <a:cs typeface="Aptos" pitchFamily="34" charset="-120"/>
              </a:rPr>
              <a:t> | C)</a:t>
            </a:r>
            <a:endParaRPr lang="en-US" sz="2200" dirty="0"/>
          </a:p>
        </p:txBody>
      </p:sp>
      <p:sp>
        <p:nvSpPr>
          <p:cNvPr id="9" name="Shape 6"/>
          <p:cNvSpPr/>
          <p:nvPr/>
        </p:nvSpPr>
        <p:spPr>
          <a:xfrm>
            <a:off x="1188720" y="3017520"/>
            <a:ext cx="1051560" cy="384048"/>
          </a:xfrm>
          <a:prstGeom prst="roundRect">
            <a:avLst>
              <a:gd name="adj" fmla="val 19048"/>
            </a:avLst>
          </a:prstGeom>
          <a:solidFill>
            <a:srgbClr val="0B2D55"/>
          </a:solidFill>
          <a:ln w="12700">
            <a:solidFill>
              <a:srgbClr val="0B2D55"/>
            </a:solidFill>
            <a:prstDash val="solid"/>
          </a:ln>
        </p:spPr>
        <p:txBody>
          <a:bodyPr/>
          <a:lstStyle/>
          <a:p>
            <a:endParaRPr lang="en-US"/>
          </a:p>
        </p:txBody>
      </p:sp>
      <p:sp>
        <p:nvSpPr>
          <p:cNvPr id="10" name="Text 7"/>
          <p:cNvSpPr txBox="1"/>
          <p:nvPr/>
        </p:nvSpPr>
        <p:spPr>
          <a:xfrm>
            <a:off x="1188720" y="3017520"/>
            <a:ext cx="10515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Class C</a:t>
            </a:r>
            <a:endParaRPr lang="en-US" sz="1400" dirty="0"/>
          </a:p>
        </p:txBody>
      </p:sp>
      <p:sp>
        <p:nvSpPr>
          <p:cNvPr id="11" name="Shape 8"/>
          <p:cNvSpPr/>
          <p:nvPr/>
        </p:nvSpPr>
        <p:spPr>
          <a:xfrm>
            <a:off x="2377440" y="2834640"/>
            <a:ext cx="146304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12" name="Text 9"/>
          <p:cNvSpPr txBox="1"/>
          <p:nvPr/>
        </p:nvSpPr>
        <p:spPr>
          <a:xfrm>
            <a:off x="2377440" y="2834640"/>
            <a:ext cx="146304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prior</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P(C)</a:t>
            </a:r>
            <a:endParaRPr lang="en-US" sz="1600" dirty="0"/>
          </a:p>
        </p:txBody>
      </p:sp>
      <p:sp>
        <p:nvSpPr>
          <p:cNvPr id="13" name="Text 10"/>
          <p:cNvSpPr txBox="1"/>
          <p:nvPr/>
        </p:nvSpPr>
        <p:spPr>
          <a:xfrm>
            <a:off x="3840480" y="28346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4" name="Shape 11"/>
          <p:cNvSpPr/>
          <p:nvPr/>
        </p:nvSpPr>
        <p:spPr>
          <a:xfrm>
            <a:off x="4133088" y="2834640"/>
            <a:ext cx="1463040" cy="749808"/>
          </a:xfrm>
          <a:prstGeom prst="roundRect">
            <a:avLst>
              <a:gd name="adj" fmla="val 9756"/>
            </a:avLst>
          </a:prstGeom>
          <a:solidFill>
            <a:srgbClr val="FCE9D8"/>
          </a:solidFill>
          <a:ln w="12700">
            <a:solidFill>
              <a:srgbClr val="D9731A"/>
            </a:solidFill>
            <a:prstDash val="solid"/>
          </a:ln>
        </p:spPr>
        <p:txBody>
          <a:bodyPr/>
          <a:lstStyle/>
          <a:p>
            <a:endParaRPr lang="en-US"/>
          </a:p>
        </p:txBody>
      </p:sp>
      <p:sp>
        <p:nvSpPr>
          <p:cNvPr id="15" name="Text 12"/>
          <p:cNvSpPr txBox="1"/>
          <p:nvPr/>
        </p:nvSpPr>
        <p:spPr>
          <a:xfrm>
            <a:off x="4133088" y="2834640"/>
            <a:ext cx="146304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word 1</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P(w₁|C)</a:t>
            </a:r>
            <a:endParaRPr lang="en-US" sz="1600" dirty="0"/>
          </a:p>
        </p:txBody>
      </p:sp>
      <p:sp>
        <p:nvSpPr>
          <p:cNvPr id="16" name="Text 13"/>
          <p:cNvSpPr txBox="1"/>
          <p:nvPr/>
        </p:nvSpPr>
        <p:spPr>
          <a:xfrm>
            <a:off x="5596128" y="28346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7" name="Shape 14"/>
          <p:cNvSpPr/>
          <p:nvPr/>
        </p:nvSpPr>
        <p:spPr>
          <a:xfrm>
            <a:off x="5888736" y="2834640"/>
            <a:ext cx="1463040" cy="749808"/>
          </a:xfrm>
          <a:prstGeom prst="roundRect">
            <a:avLst>
              <a:gd name="adj" fmla="val 9756"/>
            </a:avLst>
          </a:prstGeom>
          <a:solidFill>
            <a:srgbClr val="FCE9D8"/>
          </a:solidFill>
          <a:ln w="12700">
            <a:solidFill>
              <a:srgbClr val="D9731A"/>
            </a:solidFill>
            <a:prstDash val="solid"/>
          </a:ln>
        </p:spPr>
        <p:txBody>
          <a:bodyPr/>
          <a:lstStyle/>
          <a:p>
            <a:endParaRPr lang="en-US"/>
          </a:p>
        </p:txBody>
      </p:sp>
      <p:sp>
        <p:nvSpPr>
          <p:cNvPr id="18" name="Text 15"/>
          <p:cNvSpPr txBox="1"/>
          <p:nvPr/>
        </p:nvSpPr>
        <p:spPr>
          <a:xfrm>
            <a:off x="5888736" y="2834640"/>
            <a:ext cx="146304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word 2</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P(w₂|C)</a:t>
            </a:r>
            <a:endParaRPr lang="en-US" sz="1600" dirty="0"/>
          </a:p>
        </p:txBody>
      </p:sp>
      <p:sp>
        <p:nvSpPr>
          <p:cNvPr id="19" name="Text 16"/>
          <p:cNvSpPr txBox="1"/>
          <p:nvPr/>
        </p:nvSpPr>
        <p:spPr>
          <a:xfrm>
            <a:off x="7351776" y="28346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0" name="Shape 17"/>
          <p:cNvSpPr/>
          <p:nvPr/>
        </p:nvSpPr>
        <p:spPr>
          <a:xfrm>
            <a:off x="7644384" y="2834640"/>
            <a:ext cx="1463040" cy="749808"/>
          </a:xfrm>
          <a:prstGeom prst="roundRect">
            <a:avLst>
              <a:gd name="adj" fmla="val 9756"/>
            </a:avLst>
          </a:prstGeom>
          <a:solidFill>
            <a:srgbClr val="FCE9D8"/>
          </a:solidFill>
          <a:ln w="12700">
            <a:solidFill>
              <a:srgbClr val="D9731A"/>
            </a:solidFill>
            <a:prstDash val="solid"/>
          </a:ln>
        </p:spPr>
        <p:txBody>
          <a:bodyPr/>
          <a:lstStyle/>
          <a:p>
            <a:endParaRPr lang="en-US"/>
          </a:p>
        </p:txBody>
      </p:sp>
      <p:sp>
        <p:nvSpPr>
          <p:cNvPr id="21" name="Text 18"/>
          <p:cNvSpPr txBox="1"/>
          <p:nvPr/>
        </p:nvSpPr>
        <p:spPr>
          <a:xfrm>
            <a:off x="7644384" y="2834640"/>
            <a:ext cx="146304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word 3</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P(w₃|C)</a:t>
            </a:r>
            <a:endParaRPr lang="en-US" sz="1600" dirty="0"/>
          </a:p>
        </p:txBody>
      </p:sp>
      <p:sp>
        <p:nvSpPr>
          <p:cNvPr id="22" name="Text 19"/>
          <p:cNvSpPr txBox="1"/>
          <p:nvPr/>
        </p:nvSpPr>
        <p:spPr>
          <a:xfrm>
            <a:off x="9107424" y="28346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3" name="Shape 20"/>
          <p:cNvSpPr/>
          <p:nvPr/>
        </p:nvSpPr>
        <p:spPr>
          <a:xfrm>
            <a:off x="9400032" y="2834640"/>
            <a:ext cx="1737360" cy="749808"/>
          </a:xfrm>
          <a:prstGeom prst="roundRect">
            <a:avLst>
              <a:gd name="adj" fmla="val 9756"/>
            </a:avLst>
          </a:prstGeom>
          <a:solidFill>
            <a:srgbClr val="EEF1F5"/>
          </a:solidFill>
          <a:ln w="12700">
            <a:solidFill>
              <a:srgbClr val="6D7C8F"/>
            </a:solidFill>
            <a:prstDash val="solid"/>
          </a:ln>
        </p:spPr>
        <p:txBody>
          <a:bodyPr/>
          <a:lstStyle/>
          <a:p>
            <a:endParaRPr lang="en-US"/>
          </a:p>
        </p:txBody>
      </p:sp>
      <p:sp>
        <p:nvSpPr>
          <p:cNvPr id="24" name="Text 21"/>
          <p:cNvSpPr txBox="1"/>
          <p:nvPr/>
        </p:nvSpPr>
        <p:spPr>
          <a:xfrm>
            <a:off x="9400032" y="2834640"/>
            <a:ext cx="17373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result</a:t>
            </a:r>
            <a:endParaRPr lang="en-US" sz="1600" dirty="0"/>
          </a:p>
          <a:p>
            <a:pPr marL="0" indent="0" algn="ctr">
              <a:buNone/>
            </a:pPr>
            <a:r>
              <a:rPr lang="en-US" sz="1800" b="1" dirty="0">
                <a:solidFill>
                  <a:srgbClr val="0B2D55"/>
                </a:solidFill>
                <a:latin typeface="Aptos" pitchFamily="34" charset="0"/>
                <a:ea typeface="Aptos" pitchFamily="34" charset="-122"/>
                <a:cs typeface="Aptos" pitchFamily="34" charset="-120"/>
              </a:rPr>
              <a:t>score(C)</a:t>
            </a:r>
            <a:endParaRPr lang="en-US" sz="1600" dirty="0"/>
          </a:p>
        </p:txBody>
      </p:sp>
      <p:sp>
        <p:nvSpPr>
          <p:cNvPr id="25" name="Shape 22"/>
          <p:cNvSpPr/>
          <p:nvPr/>
        </p:nvSpPr>
        <p:spPr>
          <a:xfrm>
            <a:off x="576072" y="3931920"/>
            <a:ext cx="3566160" cy="1783080"/>
          </a:xfrm>
          <a:prstGeom prst="roundRect">
            <a:avLst>
              <a:gd name="adj" fmla="val 4103"/>
            </a:avLst>
          </a:prstGeom>
          <a:solidFill>
            <a:srgbClr val="FFF4CE"/>
          </a:solidFill>
          <a:ln w="12700">
            <a:solidFill>
              <a:srgbClr val="F2C14E"/>
            </a:solidFill>
            <a:prstDash val="solid"/>
          </a:ln>
        </p:spPr>
        <p:txBody>
          <a:bodyPr/>
          <a:lstStyle/>
          <a:p>
            <a:endParaRPr lang="en-US"/>
          </a:p>
        </p:txBody>
      </p:sp>
      <p:sp>
        <p:nvSpPr>
          <p:cNvPr id="26" name="Text 23"/>
          <p:cNvSpPr txBox="1"/>
          <p:nvPr/>
        </p:nvSpPr>
        <p:spPr>
          <a:xfrm>
            <a:off x="758952" y="404164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The assumption</a:t>
            </a:r>
            <a:endParaRPr lang="en-US" sz="1500" dirty="0"/>
          </a:p>
        </p:txBody>
      </p:sp>
      <p:sp>
        <p:nvSpPr>
          <p:cNvPr id="27" name="Text 24"/>
          <p:cNvSpPr txBox="1"/>
          <p:nvPr/>
        </p:nvSpPr>
        <p:spPr>
          <a:xfrm>
            <a:off x="758952" y="4370832"/>
            <a:ext cx="3200400" cy="125272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Given the class, each word appears independently of the others.</a:t>
            </a:r>
            <a:endParaRPr lang="en-US" sz="1550" dirty="0"/>
          </a:p>
        </p:txBody>
      </p:sp>
      <p:sp>
        <p:nvSpPr>
          <p:cNvPr id="28" name="Shape 25"/>
          <p:cNvSpPr/>
          <p:nvPr/>
        </p:nvSpPr>
        <p:spPr>
          <a:xfrm>
            <a:off x="4361688" y="3931920"/>
            <a:ext cx="3566160" cy="1783080"/>
          </a:xfrm>
          <a:prstGeom prst="roundRect">
            <a:avLst>
              <a:gd name="adj" fmla="val 4103"/>
            </a:avLst>
          </a:prstGeom>
          <a:solidFill>
            <a:srgbClr val="FFFFFF"/>
          </a:solidFill>
          <a:ln w="12700">
            <a:solidFill>
              <a:srgbClr val="B8C7D8"/>
            </a:solidFill>
            <a:prstDash val="solid"/>
          </a:ln>
        </p:spPr>
        <p:txBody>
          <a:bodyPr/>
          <a:lstStyle/>
          <a:p>
            <a:endParaRPr lang="en-US"/>
          </a:p>
        </p:txBody>
      </p:sp>
      <p:sp>
        <p:nvSpPr>
          <p:cNvPr id="29" name="Text 26"/>
          <p:cNvSpPr txBox="1"/>
          <p:nvPr/>
        </p:nvSpPr>
        <p:spPr>
          <a:xfrm>
            <a:off x="4544568" y="404164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 means “proportional”</a:t>
            </a:r>
            <a:endParaRPr lang="en-US" sz="1500" dirty="0"/>
          </a:p>
        </p:txBody>
      </p:sp>
      <p:sp>
        <p:nvSpPr>
          <p:cNvPr id="30" name="Text 27"/>
          <p:cNvSpPr txBox="1"/>
          <p:nvPr/>
        </p:nvSpPr>
        <p:spPr>
          <a:xfrm>
            <a:off x="4544568" y="4370832"/>
            <a:ext cx="3200400" cy="125272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Skip P(words): it is the same for every class, so it cannot change the winner.</a:t>
            </a:r>
            <a:endParaRPr lang="en-US" sz="1550" dirty="0"/>
          </a:p>
        </p:txBody>
      </p:sp>
      <p:sp>
        <p:nvSpPr>
          <p:cNvPr id="31" name="Shape 28"/>
          <p:cNvSpPr/>
          <p:nvPr/>
        </p:nvSpPr>
        <p:spPr>
          <a:xfrm>
            <a:off x="8147304" y="3931920"/>
            <a:ext cx="3566160" cy="1783080"/>
          </a:xfrm>
          <a:prstGeom prst="roundRect">
            <a:avLst>
              <a:gd name="adj" fmla="val 4103"/>
            </a:avLst>
          </a:prstGeom>
          <a:solidFill>
            <a:srgbClr val="DFF0D8"/>
          </a:solidFill>
          <a:ln w="12700">
            <a:solidFill>
              <a:srgbClr val="2E7D32"/>
            </a:solidFill>
            <a:prstDash val="solid"/>
          </a:ln>
        </p:spPr>
        <p:txBody>
          <a:bodyPr/>
          <a:lstStyle/>
          <a:p>
            <a:endParaRPr lang="en-US"/>
          </a:p>
        </p:txBody>
      </p:sp>
      <p:sp>
        <p:nvSpPr>
          <p:cNvPr id="32" name="Text 29"/>
          <p:cNvSpPr txBox="1"/>
          <p:nvPr/>
        </p:nvSpPr>
        <p:spPr>
          <a:xfrm>
            <a:off x="8330184" y="404164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Decide, then normalize</a:t>
            </a:r>
            <a:endParaRPr lang="en-US" sz="1500" dirty="0"/>
          </a:p>
        </p:txBody>
      </p:sp>
      <p:sp>
        <p:nvSpPr>
          <p:cNvPr id="33" name="Text 30"/>
          <p:cNvSpPr txBox="1"/>
          <p:nvPr/>
        </p:nvSpPr>
        <p:spPr>
          <a:xfrm>
            <a:off x="8330184" y="4370832"/>
            <a:ext cx="3200400" cy="125272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Pick the larger score. Divide by the sum of scores only if you need a probability.</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Training = counting</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Likelihoods are just word frequencies from the training texts.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13</a:t>
            </a:r>
            <a:endParaRPr lang="en-US" sz="8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6072" y="1554480"/>
          <a:ext cx="6949440" cy="3867912"/>
        </p:xfrm>
        <a:graphic>
          <a:graphicData uri="http://schemas.openxmlformats.org/drawingml/2006/table">
            <a:tbl>
              <a:tblPr/>
              <a:tblGrid>
                <a:gridCol w="1600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Word</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Scam</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Legit</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P(w | scam)</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P(w | legit)</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free</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6</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2</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b="1" dirty="0">
                          <a:solidFill>
                            <a:srgbClr val="D9731A"/>
                          </a:solidFill>
                          <a:latin typeface="Aptos" pitchFamily="34" charset="0"/>
                          <a:ea typeface="Aptos" pitchFamily="34" charset="-122"/>
                          <a:cs typeface="Aptos" pitchFamily="34" charset="-120"/>
                        </a:rPr>
                        <a:t>6/40 = 0.15</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b="1" dirty="0">
                          <a:solidFill>
                            <a:srgbClr val="1D5FA7"/>
                          </a:solidFill>
                          <a:latin typeface="Aptos" pitchFamily="34" charset="0"/>
                          <a:ea typeface="Aptos" pitchFamily="34" charset="-122"/>
                          <a:cs typeface="Aptos" pitchFamily="34" charset="-120"/>
                        </a:rPr>
                        <a:t>2/160 = 0.0125</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claim</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4</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1</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0.10</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0.00625</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prize</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3</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1</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0.075</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0.00625</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now</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4</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6</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0.10</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0.0375</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4"/>
                  </a:ext>
                </a:extLst>
              </a:tr>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call</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2</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12</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600" b="1" dirty="0">
                          <a:solidFill>
                            <a:srgbClr val="1D5FA7"/>
                          </a:solidFill>
                          <a:latin typeface="Aptos" pitchFamily="34" charset="0"/>
                          <a:ea typeface="Aptos" pitchFamily="34" charset="-122"/>
                          <a:cs typeface="Aptos" pitchFamily="34" charset="-120"/>
                        </a:rPr>
                        <a:t>?</a:t>
                      </a:r>
                      <a:endParaRPr lang="en-US" sz="16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600" b="1" dirty="0">
                          <a:solidFill>
                            <a:srgbClr val="1D5FA7"/>
                          </a:solidFill>
                          <a:latin typeface="Aptos" pitchFamily="34" charset="0"/>
                          <a:ea typeface="Aptos" pitchFamily="34" charset="-122"/>
                          <a:cs typeface="Aptos" pitchFamily="34" charset="-120"/>
                        </a:rPr>
                        <a:t>?</a:t>
                      </a:r>
                      <a:endParaRPr lang="en-US" sz="16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5"/>
                  </a:ext>
                </a:extLst>
              </a:tr>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tonight</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b="1" dirty="0">
                          <a:solidFill>
                            <a:srgbClr val="B43A3A"/>
                          </a:solidFill>
                          <a:latin typeface="Aptos" pitchFamily="34" charset="0"/>
                          <a:ea typeface="Aptos" pitchFamily="34" charset="-122"/>
                          <a:cs typeface="Aptos" pitchFamily="34" charset="-120"/>
                        </a:rPr>
                        <a:t>0</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7D7D7"/>
                    </a:solidFill>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8</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b="1" dirty="0">
                          <a:solidFill>
                            <a:srgbClr val="B43A3A"/>
                          </a:solidFill>
                          <a:latin typeface="Aptos" pitchFamily="34" charset="0"/>
                          <a:ea typeface="Aptos" pitchFamily="34" charset="-122"/>
                          <a:cs typeface="Aptos" pitchFamily="34" charset="-120"/>
                        </a:rPr>
                        <a:t>0</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7D7D7"/>
                    </a:solidFill>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0.05</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6"/>
                  </a:ext>
                </a:extLst>
              </a:tr>
              <a:tr h="429768">
                <a:tc>
                  <a:txBody>
                    <a:bodyPr/>
                    <a:lstStyle/>
                    <a:p>
                      <a:pPr marL="0" indent="0" algn="ctr">
                        <a:buNone/>
                      </a:pPr>
                      <a:r>
                        <a:rPr lang="en-US" sz="1400" i="1" dirty="0">
                          <a:solidFill>
                            <a:srgbClr val="6D7C8F"/>
                          </a:solidFill>
                          <a:latin typeface="Aptos" pitchFamily="34" charset="0"/>
                          <a:ea typeface="Aptos" pitchFamily="34" charset="-122"/>
                          <a:cs typeface="Aptos" pitchFamily="34" charset="-120"/>
                        </a:rPr>
                        <a:t>34 other words</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6D7C8F"/>
                          </a:solidFill>
                          <a:latin typeface="Aptos" pitchFamily="34" charset="0"/>
                          <a:ea typeface="Aptos" pitchFamily="34" charset="-122"/>
                          <a:cs typeface="Aptos" pitchFamily="34" charset="-120"/>
                        </a:rPr>
                        <a:t>21</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6D7C8F"/>
                          </a:solidFill>
                          <a:latin typeface="Aptos" pitchFamily="34" charset="0"/>
                          <a:ea typeface="Aptos" pitchFamily="34" charset="-122"/>
                          <a:cs typeface="Aptos" pitchFamily="34" charset="-120"/>
                        </a:rPr>
                        <a:t>130</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7"/>
                  </a:ext>
                </a:extLst>
              </a:tr>
              <a:tr h="429768">
                <a:tc>
                  <a:txBody>
                    <a:bodyPr/>
                    <a:lstStyle/>
                    <a:p>
                      <a:pPr marL="0" indent="0" algn="ctr">
                        <a:buNone/>
                      </a:pPr>
                      <a:r>
                        <a:rPr lang="en-US" sz="1400" b="1" dirty="0">
                          <a:solidFill>
                            <a:srgbClr val="0B2D55"/>
                          </a:solidFill>
                          <a:latin typeface="Aptos" pitchFamily="34" charset="0"/>
                          <a:ea typeface="Aptos" pitchFamily="34" charset="-122"/>
                          <a:cs typeface="Aptos" pitchFamily="34" charset="-120"/>
                        </a:rPr>
                        <a:t>Total</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400" b="1" dirty="0">
                          <a:solidFill>
                            <a:srgbClr val="132033"/>
                          </a:solidFill>
                          <a:latin typeface="Aptos" pitchFamily="34" charset="0"/>
                          <a:ea typeface="Aptos" pitchFamily="34" charset="-122"/>
                          <a:cs typeface="Aptos" pitchFamily="34" charset="-120"/>
                        </a:rPr>
                        <a:t>40</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400" b="1" dirty="0">
                          <a:solidFill>
                            <a:srgbClr val="132033"/>
                          </a:solidFill>
                          <a:latin typeface="Aptos" pitchFamily="34" charset="0"/>
                          <a:ea typeface="Aptos" pitchFamily="34" charset="-122"/>
                          <a:cs typeface="Aptos" pitchFamily="34" charset="-120"/>
                        </a:rPr>
                        <a:t>160</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8"/>
                  </a:ext>
                </a:extLst>
              </a:tr>
            </a:tbl>
          </a:graphicData>
        </a:graphic>
      </p:graphicFrame>
      <p:sp>
        <p:nvSpPr>
          <p:cNvPr id="8" name="Shape 4"/>
          <p:cNvSpPr/>
          <p:nvPr/>
        </p:nvSpPr>
        <p:spPr>
          <a:xfrm>
            <a:off x="7818120" y="1554480"/>
            <a:ext cx="3794760" cy="1874520"/>
          </a:xfrm>
          <a:prstGeom prst="roundRect">
            <a:avLst>
              <a:gd name="adj" fmla="val 3902"/>
            </a:avLst>
          </a:prstGeom>
          <a:solidFill>
            <a:srgbClr val="EAF2F8"/>
          </a:solidFill>
          <a:ln w="12700">
            <a:solidFill>
              <a:srgbClr val="1F5D9B"/>
            </a:solidFill>
            <a:prstDash val="solid"/>
          </a:ln>
        </p:spPr>
        <p:txBody>
          <a:bodyPr/>
          <a:lstStyle/>
          <a:p>
            <a:endParaRPr lang="en-US"/>
          </a:p>
        </p:txBody>
      </p:sp>
      <p:sp>
        <p:nvSpPr>
          <p:cNvPr id="9" name="Text 5"/>
          <p:cNvSpPr txBox="1"/>
          <p:nvPr/>
        </p:nvSpPr>
        <p:spPr>
          <a:xfrm>
            <a:off x="7955280" y="1554480"/>
            <a:ext cx="3520440" cy="18745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P(w | C)  =</a:t>
            </a:r>
            <a:endParaRPr lang="en-US" sz="1600" dirty="0"/>
          </a:p>
          <a:p>
            <a:pPr marL="0" indent="0" algn="ctr">
              <a:buNone/>
            </a:pPr>
            <a:r>
              <a:rPr lang="en-US" sz="1600" dirty="0">
                <a:solidFill>
                  <a:srgbClr val="132033"/>
                </a:solidFill>
                <a:latin typeface="Aptos" pitchFamily="34" charset="0"/>
                <a:ea typeface="Aptos" pitchFamily="34" charset="-122"/>
                <a:cs typeface="Aptos" pitchFamily="34" charset="-120"/>
              </a:rPr>
              <a:t>count of w in class C</a:t>
            </a:r>
            <a:endParaRPr lang="en-US" sz="1600" dirty="0"/>
          </a:p>
          <a:p>
            <a:pPr marL="0" indent="0" algn="ctr">
              <a:buNone/>
            </a:pPr>
            <a:r>
              <a:rPr lang="en-US" sz="1400" dirty="0">
                <a:solidFill>
                  <a:srgbClr val="6D7C8F"/>
                </a:solidFill>
                <a:latin typeface="Aptos" pitchFamily="34" charset="0"/>
                <a:ea typeface="Aptos" pitchFamily="34" charset="-122"/>
                <a:cs typeface="Aptos" pitchFamily="34" charset="-120"/>
              </a:rPr>
              <a:t>────────────</a:t>
            </a:r>
            <a:endParaRPr lang="en-US" sz="1600" dirty="0"/>
          </a:p>
          <a:p>
            <a:pPr marL="0" indent="0" algn="ctr">
              <a:buNone/>
            </a:pPr>
            <a:r>
              <a:rPr lang="en-US" sz="1600" dirty="0">
                <a:solidFill>
                  <a:srgbClr val="132033"/>
                </a:solidFill>
                <a:latin typeface="Aptos" pitchFamily="34" charset="0"/>
                <a:ea typeface="Aptos" pitchFamily="34" charset="-122"/>
                <a:cs typeface="Aptos" pitchFamily="34" charset="-120"/>
              </a:rPr>
              <a:t>total words in class C</a:t>
            </a:r>
            <a:endParaRPr lang="en-US" sz="1600" dirty="0"/>
          </a:p>
        </p:txBody>
      </p:sp>
      <p:sp>
        <p:nvSpPr>
          <p:cNvPr id="10" name="Shape 6"/>
          <p:cNvSpPr/>
          <p:nvPr/>
        </p:nvSpPr>
        <p:spPr>
          <a:xfrm>
            <a:off x="7818120" y="3611880"/>
            <a:ext cx="3794760" cy="1097280"/>
          </a:xfrm>
          <a:prstGeom prst="roundRect">
            <a:avLst>
              <a:gd name="adj" fmla="val 6667"/>
            </a:avLst>
          </a:prstGeom>
          <a:solidFill>
            <a:srgbClr val="FFFFFF"/>
          </a:solidFill>
          <a:ln w="12700">
            <a:solidFill>
              <a:srgbClr val="B8C7D8"/>
            </a:solidFill>
            <a:prstDash val="solid"/>
          </a:ln>
        </p:spPr>
        <p:txBody>
          <a:bodyPr/>
          <a:lstStyle/>
          <a:p>
            <a:endParaRPr lang="en-US"/>
          </a:p>
        </p:txBody>
      </p:sp>
      <p:sp>
        <p:nvSpPr>
          <p:cNvPr id="11" name="Text 7"/>
          <p:cNvSpPr txBox="1"/>
          <p:nvPr/>
        </p:nvSpPr>
        <p:spPr>
          <a:xfrm>
            <a:off x="7955280" y="3611880"/>
            <a:ext cx="3566160" cy="1097280"/>
          </a:xfrm>
          <a:prstGeom prst="rect">
            <a:avLst/>
          </a:prstGeom>
          <a:noFill/>
          <a:ln/>
        </p:spPr>
        <p:txBody>
          <a:bodyPr wrap="square" lIns="0" tIns="0" rIns="0" bIns="0" rtlCol="0" anchor="ctr"/>
          <a:lstStyle/>
          <a:p>
            <a:pPr marL="0" indent="0">
              <a:buNone/>
            </a:pPr>
            <a:r>
              <a:rPr lang="en-US" sz="1350" b="1" dirty="0">
                <a:solidFill>
                  <a:srgbClr val="0B2D55"/>
                </a:solidFill>
                <a:latin typeface="Aptos" pitchFamily="34" charset="0"/>
                <a:ea typeface="Aptos" pitchFamily="34" charset="-122"/>
                <a:cs typeface="Aptos" pitchFamily="34" charset="-120"/>
              </a:rPr>
              <a:t>Priors: </a:t>
            </a:r>
            <a:r>
              <a:rPr lang="en-US" sz="1350" dirty="0">
                <a:solidFill>
                  <a:srgbClr val="132033"/>
                </a:solidFill>
                <a:latin typeface="Aptos" pitchFamily="34" charset="0"/>
                <a:ea typeface="Aptos" pitchFamily="34" charset="-122"/>
                <a:cs typeface="Aptos" pitchFamily="34" charset="-120"/>
              </a:rPr>
              <a:t>P(scam) = 0.2,  P(legit) = 0.8</a:t>
            </a:r>
            <a:endParaRPr lang="en-US" sz="1350" dirty="0"/>
          </a:p>
          <a:p>
            <a:pPr marL="0" indent="0">
              <a:buNone/>
            </a:pPr>
            <a:r>
              <a:rPr lang="en-US" sz="1350" b="1" dirty="0">
                <a:solidFill>
                  <a:srgbClr val="0B2D55"/>
                </a:solidFill>
                <a:latin typeface="Aptos" pitchFamily="34" charset="0"/>
                <a:ea typeface="Aptos" pitchFamily="34" charset="-122"/>
                <a:cs typeface="Aptos" pitchFamily="34" charset="-120"/>
              </a:rPr>
              <a:t>Vocabulary: </a:t>
            </a:r>
            <a:r>
              <a:rPr lang="en-US" sz="1350" dirty="0">
                <a:solidFill>
                  <a:srgbClr val="132033"/>
                </a:solidFill>
                <a:latin typeface="Aptos" pitchFamily="34" charset="0"/>
                <a:ea typeface="Aptos" pitchFamily="34" charset="-122"/>
                <a:cs typeface="Aptos" pitchFamily="34" charset="-120"/>
              </a:rPr>
              <a:t>|V| = 40 unique words</a:t>
            </a:r>
            <a:endParaRPr lang="en-US" sz="1350" dirty="0"/>
          </a:p>
        </p:txBody>
      </p:sp>
      <p:sp>
        <p:nvSpPr>
          <p:cNvPr id="12" name="Shape 8"/>
          <p:cNvSpPr/>
          <p:nvPr/>
        </p:nvSpPr>
        <p:spPr>
          <a:xfrm>
            <a:off x="7818120" y="4892040"/>
            <a:ext cx="3794760" cy="868680"/>
          </a:xfrm>
          <a:prstGeom prst="roundRect">
            <a:avLst>
              <a:gd name="adj" fmla="val 8421"/>
            </a:avLst>
          </a:prstGeom>
          <a:solidFill>
            <a:srgbClr val="FFF4CE"/>
          </a:solidFill>
          <a:ln w="12700">
            <a:solidFill>
              <a:srgbClr val="F2C14E"/>
            </a:solidFill>
            <a:prstDash val="solid"/>
          </a:ln>
        </p:spPr>
        <p:txBody>
          <a:bodyPr/>
          <a:lstStyle/>
          <a:p>
            <a:endParaRPr lang="en-US"/>
          </a:p>
        </p:txBody>
      </p:sp>
      <p:sp>
        <p:nvSpPr>
          <p:cNvPr id="13" name="Text 9"/>
          <p:cNvSpPr txBox="1"/>
          <p:nvPr/>
        </p:nvSpPr>
        <p:spPr>
          <a:xfrm>
            <a:off x="7955280" y="4892040"/>
            <a:ext cx="3520440" cy="86868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Your turn: fill in the “call” row.</a:t>
            </a:r>
            <a:endParaRPr lang="en-US" sz="1700" dirty="0"/>
          </a:p>
        </p:txBody>
      </p:sp>
      <p:sp>
        <p:nvSpPr>
          <p:cNvPr id="6" name="Text 10"/>
          <p:cNvSpPr txBox="1"/>
          <p:nvPr/>
        </p:nvSpPr>
        <p:spPr>
          <a:xfrm>
            <a:off x="576072" y="5760720"/>
            <a:ext cx="6949440" cy="274320"/>
          </a:xfrm>
          <a:prstGeom prst="rect">
            <a:avLst/>
          </a:prstGeom>
          <a:noFill/>
          <a:ln/>
        </p:spPr>
        <p:txBody>
          <a:bodyPr wrap="square" lIns="0" tIns="0" rIns="0" bIns="0" rtlCol="0" anchor="t"/>
          <a:lstStyle/>
          <a:p>
            <a:pPr marL="0" indent="0" algn="ctr">
              <a:buNone/>
            </a:pPr>
            <a:r>
              <a:rPr lang="en-US" sz="1200" i="1" dirty="0">
                <a:solidFill>
                  <a:srgbClr val="6D7C8F"/>
                </a:solidFill>
                <a:latin typeface="Aptos" pitchFamily="34" charset="0"/>
                <a:ea typeface="Aptos" pitchFamily="34" charset="-122"/>
                <a:cs typeface="Aptos" pitchFamily="34" charset="-120"/>
              </a:rPr>
              <a:t>Toy training set, sized for hand computation.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classify “free call now”</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Compute: prior × one likelihood per word, for each class.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14</a:t>
            </a:r>
            <a:endParaRPr lang="en-US" sz="850" dirty="0"/>
          </a:p>
        </p:txBody>
      </p:sp>
      <p:sp>
        <p:nvSpPr>
          <p:cNvPr id="7" name="Shape 4"/>
          <p:cNvSpPr/>
          <p:nvPr/>
        </p:nvSpPr>
        <p:spPr>
          <a:xfrm>
            <a:off x="4023360" y="1508760"/>
            <a:ext cx="4114800" cy="594360"/>
          </a:xfrm>
          <a:prstGeom prst="roundRect">
            <a:avLst>
              <a:gd name="adj" fmla="val 23077"/>
            </a:avLst>
          </a:prstGeom>
          <a:solidFill>
            <a:srgbClr val="E3E9F0"/>
          </a:solidFill>
          <a:ln w="12700">
            <a:solidFill>
              <a:srgbClr val="E3E9F0"/>
            </a:solidFill>
            <a:prstDash val="solid"/>
          </a:ln>
        </p:spPr>
        <p:txBody>
          <a:bodyPr/>
          <a:lstStyle/>
          <a:p>
            <a:endParaRPr lang="en-US"/>
          </a:p>
        </p:txBody>
      </p:sp>
      <p:sp>
        <p:nvSpPr>
          <p:cNvPr id="8" name="Text 5"/>
          <p:cNvSpPr txBox="1"/>
          <p:nvPr/>
        </p:nvSpPr>
        <p:spPr>
          <a:xfrm>
            <a:off x="4160520" y="1508760"/>
            <a:ext cx="3840480" cy="594360"/>
          </a:xfrm>
          <a:prstGeom prst="rect">
            <a:avLst/>
          </a:prstGeom>
          <a:noFill/>
          <a:ln/>
        </p:spPr>
        <p:txBody>
          <a:bodyPr wrap="square" lIns="0" tIns="0" rIns="0" bIns="0" rtlCol="0" anchor="ctr"/>
          <a:lstStyle/>
          <a:p>
            <a:pPr marL="0" indent="0">
              <a:buNone/>
            </a:pPr>
            <a:r>
              <a:rPr lang="en-US" sz="2000" dirty="0">
                <a:solidFill>
                  <a:srgbClr val="132033"/>
                </a:solidFill>
                <a:latin typeface="Aptos" pitchFamily="34" charset="0"/>
                <a:ea typeface="Aptos" pitchFamily="34" charset="-122"/>
                <a:cs typeface="Aptos" pitchFamily="34" charset="-120"/>
              </a:rPr>
              <a:t>free call now</a:t>
            </a:r>
            <a:endParaRPr lang="en-US" sz="2000" dirty="0"/>
          </a:p>
        </p:txBody>
      </p:sp>
      <p:sp>
        <p:nvSpPr>
          <p:cNvPr id="9" name="Shape 6"/>
          <p:cNvSpPr/>
          <p:nvPr/>
        </p:nvSpPr>
        <p:spPr>
          <a:xfrm>
            <a:off x="777240" y="2560320"/>
            <a:ext cx="1051560" cy="384048"/>
          </a:xfrm>
          <a:prstGeom prst="roundRect">
            <a:avLst>
              <a:gd name="adj" fmla="val 19048"/>
            </a:avLst>
          </a:prstGeom>
          <a:solidFill>
            <a:srgbClr val="D9731A"/>
          </a:solidFill>
          <a:ln w="12700">
            <a:solidFill>
              <a:srgbClr val="D9731A"/>
            </a:solidFill>
            <a:prstDash val="solid"/>
          </a:ln>
        </p:spPr>
        <p:txBody>
          <a:bodyPr/>
          <a:lstStyle/>
          <a:p>
            <a:endParaRPr lang="en-US"/>
          </a:p>
        </p:txBody>
      </p:sp>
      <p:sp>
        <p:nvSpPr>
          <p:cNvPr id="10" name="Text 7"/>
          <p:cNvSpPr txBox="1"/>
          <p:nvPr/>
        </p:nvSpPr>
        <p:spPr>
          <a:xfrm>
            <a:off x="777240" y="2560320"/>
            <a:ext cx="10515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Scam</a:t>
            </a:r>
            <a:endParaRPr lang="en-US" sz="1400" dirty="0"/>
          </a:p>
        </p:txBody>
      </p:sp>
      <p:sp>
        <p:nvSpPr>
          <p:cNvPr id="11" name="Shape 8"/>
          <p:cNvSpPr/>
          <p:nvPr/>
        </p:nvSpPr>
        <p:spPr>
          <a:xfrm>
            <a:off x="1965960" y="2377440"/>
            <a:ext cx="128016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12" name="Text 9"/>
          <p:cNvSpPr txBox="1"/>
          <p:nvPr/>
        </p:nvSpPr>
        <p:spPr>
          <a:xfrm>
            <a:off x="1965960"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prior</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0.2</a:t>
            </a:r>
            <a:endParaRPr lang="en-US" sz="1600" dirty="0"/>
          </a:p>
        </p:txBody>
      </p:sp>
      <p:sp>
        <p:nvSpPr>
          <p:cNvPr id="13" name="Text 10"/>
          <p:cNvSpPr txBox="1"/>
          <p:nvPr/>
        </p:nvSpPr>
        <p:spPr>
          <a:xfrm>
            <a:off x="3246120"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4" name="Shape 11"/>
          <p:cNvSpPr/>
          <p:nvPr/>
        </p:nvSpPr>
        <p:spPr>
          <a:xfrm>
            <a:off x="3538728" y="237744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5" name="Text 12"/>
          <p:cNvSpPr txBox="1"/>
          <p:nvPr/>
        </p:nvSpPr>
        <p:spPr>
          <a:xfrm>
            <a:off x="3538728"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free</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0.15</a:t>
            </a:r>
            <a:endParaRPr lang="en-US" sz="1600" dirty="0"/>
          </a:p>
        </p:txBody>
      </p:sp>
      <p:sp>
        <p:nvSpPr>
          <p:cNvPr id="16" name="Text 13"/>
          <p:cNvSpPr txBox="1"/>
          <p:nvPr/>
        </p:nvSpPr>
        <p:spPr>
          <a:xfrm>
            <a:off x="4818888"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7" name="Shape 14"/>
          <p:cNvSpPr/>
          <p:nvPr/>
        </p:nvSpPr>
        <p:spPr>
          <a:xfrm>
            <a:off x="5111496" y="237744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8" name="Text 15"/>
          <p:cNvSpPr txBox="1"/>
          <p:nvPr/>
        </p:nvSpPr>
        <p:spPr>
          <a:xfrm>
            <a:off x="5111496"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call</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0.05</a:t>
            </a:r>
            <a:endParaRPr lang="en-US" sz="1600" dirty="0"/>
          </a:p>
        </p:txBody>
      </p:sp>
      <p:sp>
        <p:nvSpPr>
          <p:cNvPr id="19" name="Text 16"/>
          <p:cNvSpPr txBox="1"/>
          <p:nvPr/>
        </p:nvSpPr>
        <p:spPr>
          <a:xfrm>
            <a:off x="6391656"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0" name="Shape 17"/>
          <p:cNvSpPr/>
          <p:nvPr/>
        </p:nvSpPr>
        <p:spPr>
          <a:xfrm>
            <a:off x="6684264" y="237744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21" name="Text 18"/>
          <p:cNvSpPr txBox="1"/>
          <p:nvPr/>
        </p:nvSpPr>
        <p:spPr>
          <a:xfrm>
            <a:off x="6684264"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now</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0.10</a:t>
            </a:r>
            <a:endParaRPr lang="en-US" sz="1600" dirty="0"/>
          </a:p>
        </p:txBody>
      </p:sp>
      <p:sp>
        <p:nvSpPr>
          <p:cNvPr id="22" name="Text 19"/>
          <p:cNvSpPr txBox="1"/>
          <p:nvPr/>
        </p:nvSpPr>
        <p:spPr>
          <a:xfrm>
            <a:off x="7964424"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3" name="Shape 20"/>
          <p:cNvSpPr/>
          <p:nvPr/>
        </p:nvSpPr>
        <p:spPr>
          <a:xfrm>
            <a:off x="8257032" y="2377440"/>
            <a:ext cx="1828800" cy="749808"/>
          </a:xfrm>
          <a:prstGeom prst="roundRect">
            <a:avLst>
              <a:gd name="adj" fmla="val 9756"/>
            </a:avLst>
          </a:prstGeom>
          <a:solidFill>
            <a:srgbClr val="FCE9D8"/>
          </a:solidFill>
          <a:ln w="12700">
            <a:solidFill>
              <a:srgbClr val="D9731A"/>
            </a:solidFill>
            <a:prstDash val="solid"/>
          </a:ln>
        </p:spPr>
        <p:txBody>
          <a:bodyPr/>
          <a:lstStyle/>
          <a:p>
            <a:endParaRPr lang="en-US"/>
          </a:p>
        </p:txBody>
      </p:sp>
      <p:sp>
        <p:nvSpPr>
          <p:cNvPr id="24" name="Text 21"/>
          <p:cNvSpPr txBox="1"/>
          <p:nvPr/>
        </p:nvSpPr>
        <p:spPr>
          <a:xfrm>
            <a:off x="8257032" y="2377440"/>
            <a:ext cx="182880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scam score</a:t>
            </a:r>
            <a:endParaRPr lang="en-US" sz="1600" dirty="0"/>
          </a:p>
          <a:p>
            <a:pPr marL="0" indent="0" algn="ctr">
              <a:buNone/>
            </a:pPr>
            <a:r>
              <a:rPr lang="en-US" sz="1800" b="1" dirty="0">
                <a:solidFill>
                  <a:srgbClr val="D9731A"/>
                </a:solidFill>
                <a:latin typeface="Aptos" pitchFamily="34" charset="0"/>
                <a:ea typeface="Aptos" pitchFamily="34" charset="-122"/>
                <a:cs typeface="Aptos" pitchFamily="34" charset="-120"/>
              </a:rPr>
              <a:t>1.5 × 10⁻⁴</a:t>
            </a:r>
            <a:endParaRPr lang="en-US" sz="1600" dirty="0"/>
          </a:p>
        </p:txBody>
      </p:sp>
      <p:sp>
        <p:nvSpPr>
          <p:cNvPr id="25" name="Shape 22"/>
          <p:cNvSpPr/>
          <p:nvPr/>
        </p:nvSpPr>
        <p:spPr>
          <a:xfrm>
            <a:off x="777240" y="3611880"/>
            <a:ext cx="105156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26" name="Text 23"/>
          <p:cNvSpPr txBox="1"/>
          <p:nvPr/>
        </p:nvSpPr>
        <p:spPr>
          <a:xfrm>
            <a:off x="777240" y="3611880"/>
            <a:ext cx="10515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Legit</a:t>
            </a:r>
            <a:endParaRPr lang="en-US" sz="1400" dirty="0"/>
          </a:p>
        </p:txBody>
      </p:sp>
      <p:sp>
        <p:nvSpPr>
          <p:cNvPr id="27" name="Shape 24"/>
          <p:cNvSpPr/>
          <p:nvPr/>
        </p:nvSpPr>
        <p:spPr>
          <a:xfrm>
            <a:off x="1965960" y="3429000"/>
            <a:ext cx="128016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28" name="Text 25"/>
          <p:cNvSpPr txBox="1"/>
          <p:nvPr/>
        </p:nvSpPr>
        <p:spPr>
          <a:xfrm>
            <a:off x="1965960"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prior</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0.8</a:t>
            </a:r>
            <a:endParaRPr lang="en-US" sz="1600" dirty="0"/>
          </a:p>
        </p:txBody>
      </p:sp>
      <p:sp>
        <p:nvSpPr>
          <p:cNvPr id="29" name="Text 26"/>
          <p:cNvSpPr txBox="1"/>
          <p:nvPr/>
        </p:nvSpPr>
        <p:spPr>
          <a:xfrm>
            <a:off x="3246120"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0" name="Shape 27"/>
          <p:cNvSpPr/>
          <p:nvPr/>
        </p:nvSpPr>
        <p:spPr>
          <a:xfrm>
            <a:off x="3538728" y="342900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1" name="Text 28"/>
          <p:cNvSpPr txBox="1"/>
          <p:nvPr/>
        </p:nvSpPr>
        <p:spPr>
          <a:xfrm>
            <a:off x="3538728"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free</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0.0125</a:t>
            </a:r>
            <a:endParaRPr lang="en-US" sz="1600" dirty="0"/>
          </a:p>
        </p:txBody>
      </p:sp>
      <p:sp>
        <p:nvSpPr>
          <p:cNvPr id="32" name="Text 29"/>
          <p:cNvSpPr txBox="1"/>
          <p:nvPr/>
        </p:nvSpPr>
        <p:spPr>
          <a:xfrm>
            <a:off x="4818888"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3" name="Shape 30"/>
          <p:cNvSpPr/>
          <p:nvPr/>
        </p:nvSpPr>
        <p:spPr>
          <a:xfrm>
            <a:off x="5111496" y="342900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4" name="Text 31"/>
          <p:cNvSpPr txBox="1"/>
          <p:nvPr/>
        </p:nvSpPr>
        <p:spPr>
          <a:xfrm>
            <a:off x="5111496"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call</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0.075</a:t>
            </a:r>
            <a:endParaRPr lang="en-US" sz="1600" dirty="0"/>
          </a:p>
        </p:txBody>
      </p:sp>
      <p:sp>
        <p:nvSpPr>
          <p:cNvPr id="35" name="Text 32"/>
          <p:cNvSpPr txBox="1"/>
          <p:nvPr/>
        </p:nvSpPr>
        <p:spPr>
          <a:xfrm>
            <a:off x="6391656"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6" name="Shape 33"/>
          <p:cNvSpPr/>
          <p:nvPr/>
        </p:nvSpPr>
        <p:spPr>
          <a:xfrm>
            <a:off x="6684264" y="342900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7" name="Text 34"/>
          <p:cNvSpPr txBox="1"/>
          <p:nvPr/>
        </p:nvSpPr>
        <p:spPr>
          <a:xfrm>
            <a:off x="6684264"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now</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0.0375</a:t>
            </a:r>
            <a:endParaRPr lang="en-US" sz="1600" dirty="0"/>
          </a:p>
        </p:txBody>
      </p:sp>
      <p:sp>
        <p:nvSpPr>
          <p:cNvPr id="38" name="Text 35"/>
          <p:cNvSpPr txBox="1"/>
          <p:nvPr/>
        </p:nvSpPr>
        <p:spPr>
          <a:xfrm>
            <a:off x="7964424"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9" name="Shape 36"/>
          <p:cNvSpPr/>
          <p:nvPr/>
        </p:nvSpPr>
        <p:spPr>
          <a:xfrm>
            <a:off x="8257032" y="3429000"/>
            <a:ext cx="182880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40" name="Text 37"/>
          <p:cNvSpPr txBox="1"/>
          <p:nvPr/>
        </p:nvSpPr>
        <p:spPr>
          <a:xfrm>
            <a:off x="8257032" y="3429000"/>
            <a:ext cx="182880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legit score</a:t>
            </a:r>
            <a:endParaRPr lang="en-US" sz="1600" dirty="0"/>
          </a:p>
          <a:p>
            <a:pPr marL="0" indent="0" algn="ctr">
              <a:buNone/>
            </a:pPr>
            <a:r>
              <a:rPr lang="en-US" sz="1800" b="1" dirty="0">
                <a:solidFill>
                  <a:srgbClr val="1D5FA7"/>
                </a:solidFill>
                <a:latin typeface="Aptos" pitchFamily="34" charset="0"/>
                <a:ea typeface="Aptos" pitchFamily="34" charset="-122"/>
                <a:cs typeface="Aptos" pitchFamily="34" charset="-120"/>
              </a:rPr>
              <a:t>2.8 × 10⁻⁵</a:t>
            </a:r>
            <a:endParaRPr lang="en-US" sz="1600" dirty="0"/>
          </a:p>
        </p:txBody>
      </p:sp>
      <p:sp>
        <p:nvSpPr>
          <p:cNvPr id="41" name="Shape 38"/>
          <p:cNvSpPr/>
          <p:nvPr/>
        </p:nvSpPr>
        <p:spPr>
          <a:xfrm>
            <a:off x="777240" y="4434840"/>
            <a:ext cx="10607040" cy="1371600"/>
          </a:xfrm>
          <a:prstGeom prst="roundRect">
            <a:avLst>
              <a:gd name="adj" fmla="val 5333"/>
            </a:avLst>
          </a:prstGeom>
          <a:solidFill>
            <a:srgbClr val="FFFFFF"/>
          </a:solidFill>
          <a:ln w="12700">
            <a:solidFill>
              <a:srgbClr val="B8C7D8"/>
            </a:solidFill>
            <a:prstDash val="solid"/>
          </a:ln>
        </p:spPr>
        <p:txBody>
          <a:bodyPr/>
          <a:lstStyle/>
          <a:p>
            <a:endParaRPr lang="en-US"/>
          </a:p>
        </p:txBody>
      </p:sp>
      <p:sp>
        <p:nvSpPr>
          <p:cNvPr id="42" name="Text 39"/>
          <p:cNvSpPr txBox="1"/>
          <p:nvPr/>
        </p:nvSpPr>
        <p:spPr>
          <a:xfrm>
            <a:off x="1005840" y="4572000"/>
            <a:ext cx="914400" cy="457200"/>
          </a:xfrm>
          <a:prstGeom prst="rect">
            <a:avLst/>
          </a:prstGeom>
          <a:noFill/>
          <a:ln/>
        </p:spPr>
        <p:txBody>
          <a:bodyPr wrap="square" lIns="0" tIns="0" rIns="0" bIns="0" rtlCol="0" anchor="ctr"/>
          <a:lstStyle/>
          <a:p>
            <a:pPr marL="0" indent="0">
              <a:buNone/>
            </a:pPr>
            <a:r>
              <a:rPr lang="en-US" sz="1600" b="1" dirty="0">
                <a:solidFill>
                  <a:srgbClr val="0B2D55"/>
                </a:solidFill>
                <a:latin typeface="Aptos" pitchFamily="34" charset="0"/>
                <a:ea typeface="Aptos" pitchFamily="34" charset="-122"/>
                <a:cs typeface="Aptos" pitchFamily="34" charset="-120"/>
              </a:rPr>
              <a:t>Scam</a:t>
            </a:r>
            <a:endParaRPr lang="en-US" sz="1600" dirty="0"/>
          </a:p>
        </p:txBody>
      </p:sp>
      <p:sp>
        <p:nvSpPr>
          <p:cNvPr id="43" name="Shape 40"/>
          <p:cNvSpPr/>
          <p:nvPr/>
        </p:nvSpPr>
        <p:spPr>
          <a:xfrm>
            <a:off x="2011680" y="4663440"/>
            <a:ext cx="4937760" cy="292608"/>
          </a:xfrm>
          <a:prstGeom prst="rect">
            <a:avLst/>
          </a:prstGeom>
          <a:solidFill>
            <a:srgbClr val="D9731A"/>
          </a:solidFill>
          <a:ln w="12700">
            <a:solidFill>
              <a:srgbClr val="D9731A"/>
            </a:solidFill>
            <a:prstDash val="solid"/>
          </a:ln>
        </p:spPr>
        <p:txBody>
          <a:bodyPr/>
          <a:lstStyle/>
          <a:p>
            <a:endParaRPr lang="en-US"/>
          </a:p>
        </p:txBody>
      </p:sp>
      <p:sp>
        <p:nvSpPr>
          <p:cNvPr id="44" name="Text 41"/>
          <p:cNvSpPr txBox="1"/>
          <p:nvPr/>
        </p:nvSpPr>
        <p:spPr>
          <a:xfrm>
            <a:off x="7086600" y="4572000"/>
            <a:ext cx="2011680" cy="457200"/>
          </a:xfrm>
          <a:prstGeom prst="rect">
            <a:avLst/>
          </a:prstGeom>
          <a:noFill/>
          <a:ln/>
        </p:spPr>
        <p:txBody>
          <a:bodyPr wrap="square" lIns="0" tIns="0" rIns="0" bIns="0" rtlCol="0" anchor="ctr"/>
          <a:lstStyle/>
          <a:p>
            <a:pPr marL="0" indent="0">
              <a:buNone/>
            </a:pPr>
            <a:r>
              <a:rPr lang="en-US" sz="1500" b="1" dirty="0">
                <a:solidFill>
                  <a:srgbClr val="D9731A"/>
                </a:solidFill>
                <a:latin typeface="Aptos" pitchFamily="34" charset="0"/>
                <a:ea typeface="Aptos" pitchFamily="34" charset="-122"/>
                <a:cs typeface="Aptos" pitchFamily="34" charset="-120"/>
              </a:rPr>
              <a:t>1.5 × 10⁻⁴</a:t>
            </a:r>
            <a:endParaRPr lang="en-US" sz="1500" dirty="0"/>
          </a:p>
        </p:txBody>
      </p:sp>
      <p:sp>
        <p:nvSpPr>
          <p:cNvPr id="45" name="Text 42"/>
          <p:cNvSpPr txBox="1"/>
          <p:nvPr/>
        </p:nvSpPr>
        <p:spPr>
          <a:xfrm>
            <a:off x="1005840" y="5120640"/>
            <a:ext cx="914400" cy="457200"/>
          </a:xfrm>
          <a:prstGeom prst="rect">
            <a:avLst/>
          </a:prstGeom>
          <a:noFill/>
          <a:ln/>
        </p:spPr>
        <p:txBody>
          <a:bodyPr wrap="square" lIns="0" tIns="0" rIns="0" bIns="0" rtlCol="0" anchor="ctr"/>
          <a:lstStyle/>
          <a:p>
            <a:pPr marL="0" indent="0">
              <a:buNone/>
            </a:pPr>
            <a:r>
              <a:rPr lang="en-US" sz="1600" b="1" dirty="0">
                <a:solidFill>
                  <a:srgbClr val="0B2D55"/>
                </a:solidFill>
                <a:latin typeface="Aptos" pitchFamily="34" charset="0"/>
                <a:ea typeface="Aptos" pitchFamily="34" charset="-122"/>
                <a:cs typeface="Aptos" pitchFamily="34" charset="-120"/>
              </a:rPr>
              <a:t>Legit</a:t>
            </a:r>
            <a:endParaRPr lang="en-US" sz="1600" dirty="0"/>
          </a:p>
        </p:txBody>
      </p:sp>
      <p:sp>
        <p:nvSpPr>
          <p:cNvPr id="46" name="Shape 43"/>
          <p:cNvSpPr/>
          <p:nvPr/>
        </p:nvSpPr>
        <p:spPr>
          <a:xfrm>
            <a:off x="2011680" y="5212080"/>
            <a:ext cx="921715" cy="292608"/>
          </a:xfrm>
          <a:prstGeom prst="rect">
            <a:avLst/>
          </a:prstGeom>
          <a:solidFill>
            <a:srgbClr val="1D5FA7"/>
          </a:solidFill>
          <a:ln w="12700">
            <a:solidFill>
              <a:srgbClr val="1D5FA7"/>
            </a:solidFill>
            <a:prstDash val="solid"/>
          </a:ln>
        </p:spPr>
        <p:txBody>
          <a:bodyPr/>
          <a:lstStyle/>
          <a:p>
            <a:endParaRPr lang="en-US"/>
          </a:p>
        </p:txBody>
      </p:sp>
      <p:sp>
        <p:nvSpPr>
          <p:cNvPr id="47" name="Text 44"/>
          <p:cNvSpPr txBox="1"/>
          <p:nvPr/>
        </p:nvSpPr>
        <p:spPr>
          <a:xfrm>
            <a:off x="3070555" y="5120640"/>
            <a:ext cx="2011680" cy="457200"/>
          </a:xfrm>
          <a:prstGeom prst="rect">
            <a:avLst/>
          </a:prstGeom>
          <a:noFill/>
          <a:ln/>
        </p:spPr>
        <p:txBody>
          <a:bodyPr wrap="square" lIns="0" tIns="0" rIns="0" bIns="0" rtlCol="0" anchor="ctr"/>
          <a:lstStyle/>
          <a:p>
            <a:pPr marL="0" indent="0">
              <a:buNone/>
            </a:pPr>
            <a:r>
              <a:rPr lang="en-US" sz="1500" b="1" dirty="0">
                <a:solidFill>
                  <a:srgbClr val="1D5FA7"/>
                </a:solidFill>
                <a:latin typeface="Aptos" pitchFamily="34" charset="0"/>
                <a:ea typeface="Aptos" pitchFamily="34" charset="-122"/>
                <a:cs typeface="Aptos" pitchFamily="34" charset="-120"/>
              </a:rPr>
              <a:t>0.28 × 10⁻⁴</a:t>
            </a:r>
            <a:endParaRPr lang="en-US" sz="1500" dirty="0"/>
          </a:p>
        </p:txBody>
      </p:sp>
      <p:sp>
        <p:nvSpPr>
          <p:cNvPr id="48" name="Text 45"/>
          <p:cNvSpPr txBox="1"/>
          <p:nvPr/>
        </p:nvSpPr>
        <p:spPr>
          <a:xfrm>
            <a:off x="9144000" y="4434840"/>
            <a:ext cx="2103120" cy="137160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Larger score wins: scam.</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Interpret, normalize, predict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Which words did the work, and how sure should we be?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15</a:t>
            </a:r>
            <a:endParaRPr lang="en-US" sz="850" dirty="0"/>
          </a:p>
        </p:txBody>
      </p:sp>
      <p:sp>
        <p:nvSpPr>
          <p:cNvPr id="7" name="Shape 4"/>
          <p:cNvSpPr/>
          <p:nvPr/>
        </p:nvSpPr>
        <p:spPr>
          <a:xfrm>
            <a:off x="576072" y="1554480"/>
            <a:ext cx="2606040" cy="1051560"/>
          </a:xfrm>
          <a:prstGeom prst="roundRect">
            <a:avLst>
              <a:gd name="adj" fmla="val 6957"/>
            </a:avLst>
          </a:prstGeom>
          <a:solidFill>
            <a:srgbClr val="FCE9D8"/>
          </a:solidFill>
          <a:ln w="12700">
            <a:solidFill>
              <a:srgbClr val="D9731A"/>
            </a:solidFill>
            <a:prstDash val="solid"/>
          </a:ln>
        </p:spPr>
        <p:txBody>
          <a:bodyPr/>
          <a:lstStyle/>
          <a:p>
            <a:endParaRPr lang="en-US"/>
          </a:p>
        </p:txBody>
      </p:sp>
      <p:sp>
        <p:nvSpPr>
          <p:cNvPr id="8" name="Text 5"/>
          <p:cNvSpPr txBox="1"/>
          <p:nvPr/>
        </p:nvSpPr>
        <p:spPr>
          <a:xfrm>
            <a:off x="576072" y="1554480"/>
            <a:ext cx="2606040" cy="105156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free</a:t>
            </a:r>
            <a:endParaRPr lang="en-US" sz="1600" dirty="0"/>
          </a:p>
          <a:p>
            <a:pPr marL="0" indent="0" algn="ctr">
              <a:buNone/>
            </a:pPr>
            <a:r>
              <a:rPr lang="en-US" sz="1500" b="1" dirty="0">
                <a:solidFill>
                  <a:srgbClr val="D9731A"/>
                </a:solidFill>
                <a:latin typeface="Aptos" pitchFamily="34" charset="0"/>
                <a:ea typeface="Aptos" pitchFamily="34" charset="-122"/>
                <a:cs typeface="Aptos" pitchFamily="34" charset="-120"/>
              </a:rPr>
              <a:t>12× toward scam</a:t>
            </a:r>
            <a:endParaRPr lang="en-US" sz="1600" dirty="0"/>
          </a:p>
        </p:txBody>
      </p:sp>
      <p:sp>
        <p:nvSpPr>
          <p:cNvPr id="9" name="Shape 6"/>
          <p:cNvSpPr/>
          <p:nvPr/>
        </p:nvSpPr>
        <p:spPr>
          <a:xfrm>
            <a:off x="3392424" y="1554480"/>
            <a:ext cx="2606040" cy="1051560"/>
          </a:xfrm>
          <a:prstGeom prst="roundRect">
            <a:avLst>
              <a:gd name="adj" fmla="val 6957"/>
            </a:avLst>
          </a:prstGeom>
          <a:solidFill>
            <a:srgbClr val="EAF2F8"/>
          </a:solidFill>
          <a:ln w="12700">
            <a:solidFill>
              <a:srgbClr val="1F5D9B"/>
            </a:solidFill>
            <a:prstDash val="solid"/>
          </a:ln>
        </p:spPr>
        <p:txBody>
          <a:bodyPr/>
          <a:lstStyle/>
          <a:p>
            <a:endParaRPr lang="en-US"/>
          </a:p>
        </p:txBody>
      </p:sp>
      <p:sp>
        <p:nvSpPr>
          <p:cNvPr id="10" name="Text 7"/>
          <p:cNvSpPr txBox="1"/>
          <p:nvPr/>
        </p:nvSpPr>
        <p:spPr>
          <a:xfrm>
            <a:off x="3392424" y="1554480"/>
            <a:ext cx="2606040" cy="105156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call</a:t>
            </a:r>
            <a:endParaRPr lang="en-US" sz="1600" dirty="0"/>
          </a:p>
          <a:p>
            <a:pPr marL="0" indent="0" algn="ctr">
              <a:buNone/>
            </a:pPr>
            <a:r>
              <a:rPr lang="en-US" sz="1500" b="1" dirty="0">
                <a:solidFill>
                  <a:srgbClr val="1F5D9B"/>
                </a:solidFill>
                <a:latin typeface="Aptos" pitchFamily="34" charset="0"/>
                <a:ea typeface="Aptos" pitchFamily="34" charset="-122"/>
                <a:cs typeface="Aptos" pitchFamily="34" charset="-120"/>
              </a:rPr>
              <a:t>1.5× toward legit</a:t>
            </a:r>
            <a:endParaRPr lang="en-US" sz="1600" dirty="0"/>
          </a:p>
        </p:txBody>
      </p:sp>
      <p:sp>
        <p:nvSpPr>
          <p:cNvPr id="11" name="Shape 8"/>
          <p:cNvSpPr/>
          <p:nvPr/>
        </p:nvSpPr>
        <p:spPr>
          <a:xfrm>
            <a:off x="6208776" y="1554480"/>
            <a:ext cx="2606040" cy="1051560"/>
          </a:xfrm>
          <a:prstGeom prst="roundRect">
            <a:avLst>
              <a:gd name="adj" fmla="val 6957"/>
            </a:avLst>
          </a:prstGeom>
          <a:solidFill>
            <a:srgbClr val="FCE9D8"/>
          </a:solidFill>
          <a:ln w="12700">
            <a:solidFill>
              <a:srgbClr val="D9731A"/>
            </a:solidFill>
            <a:prstDash val="solid"/>
          </a:ln>
        </p:spPr>
        <p:txBody>
          <a:bodyPr/>
          <a:lstStyle/>
          <a:p>
            <a:endParaRPr lang="en-US"/>
          </a:p>
        </p:txBody>
      </p:sp>
      <p:sp>
        <p:nvSpPr>
          <p:cNvPr id="12" name="Text 9"/>
          <p:cNvSpPr txBox="1"/>
          <p:nvPr/>
        </p:nvSpPr>
        <p:spPr>
          <a:xfrm>
            <a:off x="6208776" y="1554480"/>
            <a:ext cx="2606040" cy="105156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now</a:t>
            </a:r>
            <a:endParaRPr lang="en-US" sz="1600" dirty="0"/>
          </a:p>
          <a:p>
            <a:pPr marL="0" indent="0" algn="ctr">
              <a:buNone/>
            </a:pPr>
            <a:r>
              <a:rPr lang="en-US" sz="1500" b="1" dirty="0">
                <a:solidFill>
                  <a:srgbClr val="D9731A"/>
                </a:solidFill>
                <a:latin typeface="Aptos" pitchFamily="34" charset="0"/>
                <a:ea typeface="Aptos" pitchFamily="34" charset="-122"/>
                <a:cs typeface="Aptos" pitchFamily="34" charset="-120"/>
              </a:rPr>
              <a:t>2.7× toward scam</a:t>
            </a:r>
            <a:endParaRPr lang="en-US" sz="1600" dirty="0"/>
          </a:p>
        </p:txBody>
      </p:sp>
      <p:sp>
        <p:nvSpPr>
          <p:cNvPr id="13" name="Shape 10"/>
          <p:cNvSpPr/>
          <p:nvPr/>
        </p:nvSpPr>
        <p:spPr>
          <a:xfrm>
            <a:off x="9025128" y="1554480"/>
            <a:ext cx="2606040" cy="1051560"/>
          </a:xfrm>
          <a:prstGeom prst="roundRect">
            <a:avLst>
              <a:gd name="adj" fmla="val 6957"/>
            </a:avLst>
          </a:prstGeom>
          <a:solidFill>
            <a:srgbClr val="EAF2F8"/>
          </a:solidFill>
          <a:ln w="12700">
            <a:solidFill>
              <a:srgbClr val="1F5D9B"/>
            </a:solidFill>
            <a:prstDash val="solid"/>
          </a:ln>
        </p:spPr>
        <p:txBody>
          <a:bodyPr/>
          <a:lstStyle/>
          <a:p>
            <a:endParaRPr lang="en-US"/>
          </a:p>
        </p:txBody>
      </p:sp>
      <p:sp>
        <p:nvSpPr>
          <p:cNvPr id="14" name="Text 11"/>
          <p:cNvSpPr txBox="1"/>
          <p:nvPr/>
        </p:nvSpPr>
        <p:spPr>
          <a:xfrm>
            <a:off x="9025128" y="1554480"/>
            <a:ext cx="2606040" cy="105156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prior</a:t>
            </a:r>
            <a:endParaRPr lang="en-US" sz="1600" dirty="0"/>
          </a:p>
          <a:p>
            <a:pPr marL="0" indent="0" algn="ctr">
              <a:buNone/>
            </a:pPr>
            <a:r>
              <a:rPr lang="en-US" sz="1500" b="1" dirty="0">
                <a:solidFill>
                  <a:srgbClr val="1F5D9B"/>
                </a:solidFill>
                <a:latin typeface="Aptos" pitchFamily="34" charset="0"/>
                <a:ea typeface="Aptos" pitchFamily="34" charset="-122"/>
                <a:cs typeface="Aptos" pitchFamily="34" charset="-120"/>
              </a:rPr>
              <a:t>4× toward legit</a:t>
            </a:r>
            <a:endParaRPr lang="en-US" sz="1600" dirty="0"/>
          </a:p>
        </p:txBody>
      </p:sp>
      <p:sp>
        <p:nvSpPr>
          <p:cNvPr id="15" name="Text 12"/>
          <p:cNvSpPr txBox="1"/>
          <p:nvPr/>
        </p:nvSpPr>
        <p:spPr>
          <a:xfrm>
            <a:off x="576072" y="2670048"/>
            <a:ext cx="11036808" cy="274320"/>
          </a:xfrm>
          <a:prstGeom prst="rect">
            <a:avLst/>
          </a:prstGeom>
          <a:noFill/>
          <a:ln/>
        </p:spPr>
        <p:txBody>
          <a:bodyPr wrap="square" lIns="0" tIns="0" rIns="0" bIns="0" rtlCol="0" anchor="t"/>
          <a:lstStyle/>
          <a:p>
            <a:pPr marL="0" indent="0" algn="ctr">
              <a:buNone/>
            </a:pPr>
            <a:r>
              <a:rPr lang="en-US" sz="1250" i="1" dirty="0">
                <a:solidFill>
                  <a:srgbClr val="6D7C8F"/>
                </a:solidFill>
                <a:latin typeface="Aptos" pitchFamily="34" charset="0"/>
                <a:ea typeface="Aptos" pitchFamily="34" charset="-122"/>
                <a:cs typeface="Aptos" pitchFamily="34" charset="-120"/>
              </a:rPr>
              <a:t>Each ratio = P(w | scam) / P(w | legit), or its inverse</a:t>
            </a:r>
            <a:endParaRPr lang="en-US" sz="1250" dirty="0"/>
          </a:p>
        </p:txBody>
      </p:sp>
      <p:sp>
        <p:nvSpPr>
          <p:cNvPr id="16" name="Shape 13"/>
          <p:cNvSpPr/>
          <p:nvPr/>
        </p:nvSpPr>
        <p:spPr>
          <a:xfrm>
            <a:off x="576072" y="3154680"/>
            <a:ext cx="3566160" cy="1737360"/>
          </a:xfrm>
          <a:prstGeom prst="roundRect">
            <a:avLst>
              <a:gd name="adj" fmla="val 4211"/>
            </a:avLst>
          </a:prstGeom>
          <a:solidFill>
            <a:srgbClr val="EAF2F8"/>
          </a:solidFill>
          <a:ln w="12700">
            <a:solidFill>
              <a:srgbClr val="1F5D9B"/>
            </a:solidFill>
            <a:prstDash val="solid"/>
          </a:ln>
        </p:spPr>
        <p:txBody>
          <a:bodyPr/>
          <a:lstStyle/>
          <a:p>
            <a:endParaRPr lang="en-US"/>
          </a:p>
        </p:txBody>
      </p:sp>
      <p:sp>
        <p:nvSpPr>
          <p:cNvPr id="17" name="Text 14"/>
          <p:cNvSpPr txBox="1"/>
          <p:nvPr/>
        </p:nvSpPr>
        <p:spPr>
          <a:xfrm>
            <a:off x="758952" y="326440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Normalize</a:t>
            </a:r>
            <a:endParaRPr lang="en-US" sz="1500" dirty="0"/>
          </a:p>
        </p:txBody>
      </p:sp>
      <p:sp>
        <p:nvSpPr>
          <p:cNvPr id="18" name="Text 15"/>
          <p:cNvSpPr txBox="1"/>
          <p:nvPr/>
        </p:nvSpPr>
        <p:spPr>
          <a:xfrm>
            <a:off x="758952" y="3593592"/>
            <a:ext cx="3200400" cy="120700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P(scam | message) = 1.5 / (1.5 + 0.28) ≈ 0.84</a:t>
            </a:r>
            <a:endParaRPr lang="en-US" sz="1600" dirty="0"/>
          </a:p>
        </p:txBody>
      </p:sp>
      <p:sp>
        <p:nvSpPr>
          <p:cNvPr id="19" name="Shape 16"/>
          <p:cNvSpPr/>
          <p:nvPr/>
        </p:nvSpPr>
        <p:spPr>
          <a:xfrm>
            <a:off x="4315968" y="3154680"/>
            <a:ext cx="3566160" cy="1737360"/>
          </a:xfrm>
          <a:prstGeom prst="roundRect">
            <a:avLst>
              <a:gd name="adj" fmla="val 4211"/>
            </a:avLst>
          </a:prstGeom>
          <a:solidFill>
            <a:srgbClr val="DFF0D8"/>
          </a:solidFill>
          <a:ln w="12700">
            <a:solidFill>
              <a:srgbClr val="2E7D32"/>
            </a:solidFill>
            <a:prstDash val="solid"/>
          </a:ln>
        </p:spPr>
        <p:txBody>
          <a:bodyPr/>
          <a:lstStyle/>
          <a:p>
            <a:endParaRPr lang="en-US"/>
          </a:p>
        </p:txBody>
      </p:sp>
      <p:sp>
        <p:nvSpPr>
          <p:cNvPr id="20" name="Text 17"/>
          <p:cNvSpPr txBox="1"/>
          <p:nvPr/>
        </p:nvSpPr>
        <p:spPr>
          <a:xfrm>
            <a:off x="4498848" y="326440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21" name="Text 18"/>
          <p:cNvSpPr txBox="1"/>
          <p:nvPr/>
        </p:nvSpPr>
        <p:spPr>
          <a:xfrm>
            <a:off x="4498848" y="3593592"/>
            <a:ext cx="3200400" cy="120700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“call” and the prior favored legit, but “free” and “now” outweighed them.</a:t>
            </a:r>
            <a:endParaRPr lang="en-US" sz="1600" dirty="0"/>
          </a:p>
        </p:txBody>
      </p:sp>
      <p:sp>
        <p:nvSpPr>
          <p:cNvPr id="22" name="Shape 19"/>
          <p:cNvSpPr/>
          <p:nvPr/>
        </p:nvSpPr>
        <p:spPr>
          <a:xfrm>
            <a:off x="8055864" y="3154680"/>
            <a:ext cx="3566160" cy="1737360"/>
          </a:xfrm>
          <a:prstGeom prst="roundRect">
            <a:avLst>
              <a:gd name="adj" fmla="val 4211"/>
            </a:avLst>
          </a:prstGeom>
          <a:solidFill>
            <a:srgbClr val="FFF4CE"/>
          </a:solidFill>
          <a:ln w="12700">
            <a:solidFill>
              <a:srgbClr val="F2C14E"/>
            </a:solidFill>
            <a:prstDash val="solid"/>
          </a:ln>
        </p:spPr>
        <p:txBody>
          <a:bodyPr/>
          <a:lstStyle/>
          <a:p>
            <a:endParaRPr lang="en-US"/>
          </a:p>
        </p:txBody>
      </p:sp>
      <p:sp>
        <p:nvSpPr>
          <p:cNvPr id="23" name="Text 20"/>
          <p:cNvSpPr txBox="1"/>
          <p:nvPr/>
        </p:nvSpPr>
        <p:spPr>
          <a:xfrm>
            <a:off x="8238744" y="326440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24" name="Text 21"/>
          <p:cNvSpPr txBox="1"/>
          <p:nvPr/>
        </p:nvSpPr>
        <p:spPr>
          <a:xfrm>
            <a:off x="8238744" y="3593592"/>
            <a:ext cx="3200400" cy="120700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What if the text also said “tonight”? Check its scam count on slide 13.</a:t>
            </a:r>
            <a:endParaRPr lang="en-US" sz="1600" dirty="0"/>
          </a:p>
        </p:txBody>
      </p:sp>
      <p:sp>
        <p:nvSpPr>
          <p:cNvPr id="25" name="Text 22"/>
          <p:cNvSpPr txBox="1"/>
          <p:nvPr/>
        </p:nvSpPr>
        <p:spPr>
          <a:xfrm>
            <a:off x="822960" y="5303520"/>
            <a:ext cx="10515600" cy="502920"/>
          </a:xfrm>
          <a:prstGeom prst="rect">
            <a:avLst/>
          </a:prstGeom>
          <a:noFill/>
          <a:ln/>
        </p:spPr>
        <p:txBody>
          <a:bodyPr wrap="square" lIns="0" tIns="0" rIns="0" bIns="0" rtlCol="0" anchor="ctr"/>
          <a:lstStyle/>
          <a:p>
            <a:pPr marL="0" indent="0" algn="ctr">
              <a:buNone/>
            </a:pPr>
            <a:r>
              <a:rPr lang="en-US" sz="2000" b="1" dirty="0">
                <a:solidFill>
                  <a:srgbClr val="0B2D55"/>
                </a:solidFill>
                <a:latin typeface="Aptos" pitchFamily="34" charset="0"/>
                <a:ea typeface="Aptos" pitchFamily="34" charset="-122"/>
                <a:cs typeface="Aptos" pitchFamily="34" charset="-120"/>
              </a:rPr>
              <a:t>Scores compare classes. Normalizing turns them into a probability.</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Practice: classify “claim now”</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Pairs, 2 minutes. Use the table from slide 13.</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16</a:t>
            </a:r>
            <a:endParaRPr lang="en-US" sz="850" dirty="0"/>
          </a:p>
        </p:txBody>
      </p:sp>
      <p:sp>
        <p:nvSpPr>
          <p:cNvPr id="7" name="Shape 4"/>
          <p:cNvSpPr/>
          <p:nvPr/>
        </p:nvSpPr>
        <p:spPr>
          <a:xfrm>
            <a:off x="576072" y="1554480"/>
            <a:ext cx="2606040" cy="868680"/>
          </a:xfrm>
          <a:prstGeom prst="roundRect">
            <a:avLst>
              <a:gd name="adj" fmla="val 8421"/>
            </a:avLst>
          </a:prstGeom>
          <a:solidFill>
            <a:srgbClr val="FCE9D8"/>
          </a:solidFill>
          <a:ln w="12700">
            <a:solidFill>
              <a:srgbClr val="D9731A"/>
            </a:solidFill>
            <a:prstDash val="solid"/>
          </a:ln>
        </p:spPr>
        <p:txBody>
          <a:bodyPr/>
          <a:lstStyle/>
          <a:p>
            <a:endParaRPr lang="en-US"/>
          </a:p>
        </p:txBody>
      </p:sp>
      <p:sp>
        <p:nvSpPr>
          <p:cNvPr id="8" name="Text 5"/>
          <p:cNvSpPr txBox="1"/>
          <p:nvPr/>
        </p:nvSpPr>
        <p:spPr>
          <a:xfrm>
            <a:off x="576072"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P(claim | scam)</a:t>
            </a:r>
            <a:endParaRPr lang="en-US" sz="1600" dirty="0"/>
          </a:p>
          <a:p>
            <a:pPr marL="0" indent="0" algn="ctr">
              <a:buNone/>
            </a:pPr>
            <a:r>
              <a:rPr lang="en-US" sz="2000" b="1" dirty="0">
                <a:solidFill>
                  <a:srgbClr val="0B2D55"/>
                </a:solidFill>
                <a:latin typeface="Aptos" pitchFamily="34" charset="0"/>
                <a:ea typeface="Aptos" pitchFamily="34" charset="-122"/>
                <a:cs typeface="Aptos" pitchFamily="34" charset="-120"/>
              </a:rPr>
              <a:t>4/40</a:t>
            </a:r>
            <a:endParaRPr lang="en-US" sz="1600" dirty="0"/>
          </a:p>
        </p:txBody>
      </p:sp>
      <p:sp>
        <p:nvSpPr>
          <p:cNvPr id="9" name="Shape 6"/>
          <p:cNvSpPr/>
          <p:nvPr/>
        </p:nvSpPr>
        <p:spPr>
          <a:xfrm>
            <a:off x="3392424" y="1554480"/>
            <a:ext cx="2606040" cy="868680"/>
          </a:xfrm>
          <a:prstGeom prst="roundRect">
            <a:avLst>
              <a:gd name="adj" fmla="val 8421"/>
            </a:avLst>
          </a:prstGeom>
          <a:solidFill>
            <a:srgbClr val="EAF2F8"/>
          </a:solidFill>
          <a:ln w="12700">
            <a:solidFill>
              <a:srgbClr val="1F5D9B"/>
            </a:solidFill>
            <a:prstDash val="solid"/>
          </a:ln>
        </p:spPr>
        <p:txBody>
          <a:bodyPr/>
          <a:lstStyle/>
          <a:p>
            <a:endParaRPr lang="en-US"/>
          </a:p>
        </p:txBody>
      </p:sp>
      <p:sp>
        <p:nvSpPr>
          <p:cNvPr id="10" name="Text 7"/>
          <p:cNvSpPr txBox="1"/>
          <p:nvPr/>
        </p:nvSpPr>
        <p:spPr>
          <a:xfrm>
            <a:off x="3392424"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P(claim | legit)</a:t>
            </a:r>
            <a:endParaRPr lang="en-US" sz="1600" dirty="0"/>
          </a:p>
          <a:p>
            <a:pPr marL="0" indent="0" algn="ctr">
              <a:buNone/>
            </a:pPr>
            <a:r>
              <a:rPr lang="en-US" sz="2000" b="1" dirty="0">
                <a:solidFill>
                  <a:srgbClr val="0B2D55"/>
                </a:solidFill>
                <a:latin typeface="Aptos" pitchFamily="34" charset="0"/>
                <a:ea typeface="Aptos" pitchFamily="34" charset="-122"/>
                <a:cs typeface="Aptos" pitchFamily="34" charset="-120"/>
              </a:rPr>
              <a:t>1/160</a:t>
            </a:r>
            <a:endParaRPr lang="en-US" sz="1600" dirty="0"/>
          </a:p>
        </p:txBody>
      </p:sp>
      <p:sp>
        <p:nvSpPr>
          <p:cNvPr id="11" name="Shape 8"/>
          <p:cNvSpPr/>
          <p:nvPr/>
        </p:nvSpPr>
        <p:spPr>
          <a:xfrm>
            <a:off x="6208776" y="1554480"/>
            <a:ext cx="2606040" cy="868680"/>
          </a:xfrm>
          <a:prstGeom prst="roundRect">
            <a:avLst>
              <a:gd name="adj" fmla="val 8421"/>
            </a:avLst>
          </a:prstGeom>
          <a:solidFill>
            <a:srgbClr val="FCE9D8"/>
          </a:solidFill>
          <a:ln w="12700">
            <a:solidFill>
              <a:srgbClr val="D9731A"/>
            </a:solidFill>
            <a:prstDash val="solid"/>
          </a:ln>
        </p:spPr>
        <p:txBody>
          <a:bodyPr/>
          <a:lstStyle/>
          <a:p>
            <a:endParaRPr lang="en-US"/>
          </a:p>
        </p:txBody>
      </p:sp>
      <p:sp>
        <p:nvSpPr>
          <p:cNvPr id="12" name="Text 9"/>
          <p:cNvSpPr txBox="1"/>
          <p:nvPr/>
        </p:nvSpPr>
        <p:spPr>
          <a:xfrm>
            <a:off x="6208776"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P(now | scam)</a:t>
            </a:r>
            <a:endParaRPr lang="en-US" sz="1600" dirty="0"/>
          </a:p>
          <a:p>
            <a:pPr marL="0" indent="0" algn="ctr">
              <a:buNone/>
            </a:pPr>
            <a:r>
              <a:rPr lang="en-US" sz="2000" b="1" dirty="0">
                <a:solidFill>
                  <a:srgbClr val="0B2D55"/>
                </a:solidFill>
                <a:latin typeface="Aptos" pitchFamily="34" charset="0"/>
                <a:ea typeface="Aptos" pitchFamily="34" charset="-122"/>
                <a:cs typeface="Aptos" pitchFamily="34" charset="-120"/>
              </a:rPr>
              <a:t>4/40</a:t>
            </a:r>
            <a:endParaRPr lang="en-US" sz="1600" dirty="0"/>
          </a:p>
        </p:txBody>
      </p:sp>
      <p:sp>
        <p:nvSpPr>
          <p:cNvPr id="13" name="Shape 10"/>
          <p:cNvSpPr/>
          <p:nvPr/>
        </p:nvSpPr>
        <p:spPr>
          <a:xfrm>
            <a:off x="9025128" y="1554480"/>
            <a:ext cx="2606040" cy="868680"/>
          </a:xfrm>
          <a:prstGeom prst="roundRect">
            <a:avLst>
              <a:gd name="adj" fmla="val 8421"/>
            </a:avLst>
          </a:prstGeom>
          <a:solidFill>
            <a:srgbClr val="EAF2F8"/>
          </a:solidFill>
          <a:ln w="12700">
            <a:solidFill>
              <a:srgbClr val="1F5D9B"/>
            </a:solidFill>
            <a:prstDash val="solid"/>
          </a:ln>
        </p:spPr>
        <p:txBody>
          <a:bodyPr/>
          <a:lstStyle/>
          <a:p>
            <a:endParaRPr lang="en-US"/>
          </a:p>
        </p:txBody>
      </p:sp>
      <p:sp>
        <p:nvSpPr>
          <p:cNvPr id="14" name="Text 11"/>
          <p:cNvSpPr txBox="1"/>
          <p:nvPr/>
        </p:nvSpPr>
        <p:spPr>
          <a:xfrm>
            <a:off x="9025128" y="1554480"/>
            <a:ext cx="2606040" cy="868680"/>
          </a:xfrm>
          <a:prstGeom prst="rect">
            <a:avLst/>
          </a:prstGeom>
          <a:noFill/>
          <a:ln/>
        </p:spPr>
        <p:txBody>
          <a:bodyPr wrap="square" lIns="0" tIns="0" rIns="0" bIns="0" rtlCol="0" anchor="ctr"/>
          <a:lstStyle/>
          <a:p>
            <a:pPr marL="0" indent="0" algn="ctr">
              <a:buNone/>
            </a:pPr>
            <a:r>
              <a:rPr lang="en-US" sz="1300" dirty="0">
                <a:solidFill>
                  <a:srgbClr val="6D7C8F"/>
                </a:solidFill>
                <a:latin typeface="Aptos" pitchFamily="34" charset="0"/>
                <a:ea typeface="Aptos" pitchFamily="34" charset="-122"/>
                <a:cs typeface="Aptos" pitchFamily="34" charset="-120"/>
              </a:rPr>
              <a:t>P(now | legit)</a:t>
            </a:r>
            <a:endParaRPr lang="en-US" sz="1600" dirty="0"/>
          </a:p>
          <a:p>
            <a:pPr marL="0" indent="0" algn="ctr">
              <a:buNone/>
            </a:pPr>
            <a:r>
              <a:rPr lang="en-US" sz="2000" b="1" dirty="0">
                <a:solidFill>
                  <a:srgbClr val="0B2D55"/>
                </a:solidFill>
                <a:latin typeface="Aptos" pitchFamily="34" charset="0"/>
                <a:ea typeface="Aptos" pitchFamily="34" charset="-122"/>
                <a:cs typeface="Aptos" pitchFamily="34" charset="-120"/>
              </a:rPr>
              <a:t>6/160</a:t>
            </a:r>
            <a:endParaRPr lang="en-US" sz="1600" dirty="0"/>
          </a:p>
        </p:txBody>
      </p:sp>
      <p:sp>
        <p:nvSpPr>
          <p:cNvPr id="15" name="Text 12"/>
          <p:cNvSpPr txBox="1"/>
          <p:nvPr/>
        </p:nvSpPr>
        <p:spPr>
          <a:xfrm>
            <a:off x="576072" y="2514600"/>
            <a:ext cx="11036808" cy="320040"/>
          </a:xfrm>
          <a:prstGeom prst="rect">
            <a:avLst/>
          </a:prstGeom>
          <a:noFill/>
          <a:ln/>
        </p:spPr>
        <p:txBody>
          <a:bodyPr wrap="square" lIns="0" tIns="0" rIns="0" bIns="0" rtlCol="0" anchor="t"/>
          <a:lstStyle/>
          <a:p>
            <a:pPr marL="0" indent="0" algn="ctr">
              <a:buNone/>
            </a:pPr>
            <a:r>
              <a:rPr lang="en-US" sz="1500" b="1" dirty="0">
                <a:solidFill>
                  <a:srgbClr val="1D5FA7"/>
                </a:solidFill>
                <a:latin typeface="Aptos" pitchFamily="34" charset="0"/>
                <a:ea typeface="Aptos" pitchFamily="34" charset="-122"/>
                <a:cs typeface="Aptos" pitchFamily="34" charset="-120"/>
              </a:rPr>
              <a:t>Priors: P(scam) = 0.2, P(legit) = 0.8</a:t>
            </a:r>
            <a:endParaRPr lang="en-US" sz="1500" dirty="0"/>
          </a:p>
        </p:txBody>
      </p:sp>
      <p:sp>
        <p:nvSpPr>
          <p:cNvPr id="16" name="Shape 13"/>
          <p:cNvSpPr/>
          <p:nvPr/>
        </p:nvSpPr>
        <p:spPr>
          <a:xfrm>
            <a:off x="576072" y="3017520"/>
            <a:ext cx="6583680" cy="640080"/>
          </a:xfrm>
          <a:prstGeom prst="roundRect">
            <a:avLst>
              <a:gd name="adj" fmla="val 11429"/>
            </a:avLst>
          </a:prstGeom>
          <a:solidFill>
            <a:srgbClr val="FFFFFF"/>
          </a:solidFill>
          <a:ln w="12700">
            <a:solidFill>
              <a:srgbClr val="B8C7D8"/>
            </a:solidFill>
            <a:prstDash val="solid"/>
          </a:ln>
        </p:spPr>
        <p:txBody>
          <a:bodyPr/>
          <a:lstStyle/>
          <a:p>
            <a:endParaRPr lang="en-US"/>
          </a:p>
        </p:txBody>
      </p:sp>
      <p:sp>
        <p:nvSpPr>
          <p:cNvPr id="17" name="Text 14"/>
          <p:cNvSpPr txBox="1"/>
          <p:nvPr/>
        </p:nvSpPr>
        <p:spPr>
          <a:xfrm>
            <a:off x="777240" y="3017520"/>
            <a:ext cx="6309360" cy="640080"/>
          </a:xfrm>
          <a:prstGeom prst="rect">
            <a:avLst/>
          </a:prstGeom>
          <a:noFill/>
          <a:ln/>
        </p:spPr>
        <p:txBody>
          <a:bodyPr wrap="square" lIns="0" tIns="0" rIns="0" bIns="0" rtlCol="0" anchor="ctr"/>
          <a:lstStyle/>
          <a:p>
            <a:pPr marL="0" indent="0">
              <a:buNone/>
            </a:pPr>
            <a:r>
              <a:rPr lang="en-US" sz="1900" b="1" dirty="0">
                <a:solidFill>
                  <a:srgbClr val="0B2D55"/>
                </a:solidFill>
                <a:latin typeface="Aptos" pitchFamily="34" charset="0"/>
                <a:ea typeface="Aptos" pitchFamily="34" charset="-122"/>
                <a:cs typeface="Aptos" pitchFamily="34" charset="-120"/>
              </a:rPr>
              <a:t>Scam score  =  </a:t>
            </a:r>
            <a:r>
              <a:rPr lang="en-US" sz="1900" b="1" dirty="0">
                <a:solidFill>
                  <a:srgbClr val="1D5FA7"/>
                </a:solidFill>
                <a:latin typeface="Aptos" pitchFamily="34" charset="0"/>
                <a:ea typeface="Aptos" pitchFamily="34" charset="-122"/>
                <a:cs typeface="Aptos" pitchFamily="34" charset="-120"/>
              </a:rPr>
              <a:t>?</a:t>
            </a:r>
            <a:endParaRPr lang="en-US" sz="1900" dirty="0"/>
          </a:p>
        </p:txBody>
      </p:sp>
      <p:sp>
        <p:nvSpPr>
          <p:cNvPr id="18" name="Shape 15"/>
          <p:cNvSpPr/>
          <p:nvPr/>
        </p:nvSpPr>
        <p:spPr>
          <a:xfrm>
            <a:off x="576072" y="3794760"/>
            <a:ext cx="6583680" cy="640080"/>
          </a:xfrm>
          <a:prstGeom prst="roundRect">
            <a:avLst>
              <a:gd name="adj" fmla="val 11429"/>
            </a:avLst>
          </a:prstGeom>
          <a:solidFill>
            <a:srgbClr val="FFFFFF"/>
          </a:solidFill>
          <a:ln w="12700">
            <a:solidFill>
              <a:srgbClr val="B8C7D8"/>
            </a:solidFill>
            <a:prstDash val="solid"/>
          </a:ln>
        </p:spPr>
        <p:txBody>
          <a:bodyPr/>
          <a:lstStyle/>
          <a:p>
            <a:endParaRPr lang="en-US"/>
          </a:p>
        </p:txBody>
      </p:sp>
      <p:sp>
        <p:nvSpPr>
          <p:cNvPr id="19" name="Text 16"/>
          <p:cNvSpPr txBox="1"/>
          <p:nvPr/>
        </p:nvSpPr>
        <p:spPr>
          <a:xfrm>
            <a:off x="777240" y="3794760"/>
            <a:ext cx="6309360" cy="640080"/>
          </a:xfrm>
          <a:prstGeom prst="rect">
            <a:avLst/>
          </a:prstGeom>
          <a:noFill/>
          <a:ln/>
        </p:spPr>
        <p:txBody>
          <a:bodyPr wrap="square" lIns="0" tIns="0" rIns="0" bIns="0" rtlCol="0" anchor="ctr"/>
          <a:lstStyle/>
          <a:p>
            <a:pPr marL="0" indent="0">
              <a:buNone/>
            </a:pPr>
            <a:r>
              <a:rPr lang="en-US" sz="1900" b="1" dirty="0">
                <a:solidFill>
                  <a:srgbClr val="0B2D55"/>
                </a:solidFill>
                <a:latin typeface="Aptos" pitchFamily="34" charset="0"/>
                <a:ea typeface="Aptos" pitchFamily="34" charset="-122"/>
                <a:cs typeface="Aptos" pitchFamily="34" charset="-120"/>
              </a:rPr>
              <a:t>Legit score  =  </a:t>
            </a:r>
            <a:r>
              <a:rPr lang="en-US" sz="1900" b="1" dirty="0">
                <a:solidFill>
                  <a:srgbClr val="1D5FA7"/>
                </a:solidFill>
                <a:latin typeface="Aptos" pitchFamily="34" charset="0"/>
                <a:ea typeface="Aptos" pitchFamily="34" charset="-122"/>
                <a:cs typeface="Aptos" pitchFamily="34" charset="-120"/>
              </a:rPr>
              <a:t>?</a:t>
            </a:r>
            <a:endParaRPr lang="en-US" sz="1900" dirty="0"/>
          </a:p>
        </p:txBody>
      </p:sp>
      <p:sp>
        <p:nvSpPr>
          <p:cNvPr id="20" name="Shape 17"/>
          <p:cNvSpPr/>
          <p:nvPr/>
        </p:nvSpPr>
        <p:spPr>
          <a:xfrm>
            <a:off x="576072" y="4572000"/>
            <a:ext cx="6583680" cy="640080"/>
          </a:xfrm>
          <a:prstGeom prst="roundRect">
            <a:avLst>
              <a:gd name="adj" fmla="val 11429"/>
            </a:avLst>
          </a:prstGeom>
          <a:solidFill>
            <a:srgbClr val="FFFFFF"/>
          </a:solidFill>
          <a:ln w="12700">
            <a:solidFill>
              <a:srgbClr val="B8C7D8"/>
            </a:solidFill>
            <a:prstDash val="solid"/>
          </a:ln>
        </p:spPr>
        <p:txBody>
          <a:bodyPr/>
          <a:lstStyle/>
          <a:p>
            <a:endParaRPr lang="en-US"/>
          </a:p>
        </p:txBody>
      </p:sp>
      <p:sp>
        <p:nvSpPr>
          <p:cNvPr id="21" name="Text 18"/>
          <p:cNvSpPr txBox="1"/>
          <p:nvPr/>
        </p:nvSpPr>
        <p:spPr>
          <a:xfrm>
            <a:off x="777240" y="4572000"/>
            <a:ext cx="6309360" cy="640080"/>
          </a:xfrm>
          <a:prstGeom prst="rect">
            <a:avLst/>
          </a:prstGeom>
          <a:noFill/>
          <a:ln/>
        </p:spPr>
        <p:txBody>
          <a:bodyPr wrap="square" lIns="0" tIns="0" rIns="0" bIns="0" rtlCol="0" anchor="ctr"/>
          <a:lstStyle/>
          <a:p>
            <a:pPr marL="0" indent="0">
              <a:buNone/>
            </a:pPr>
            <a:r>
              <a:rPr lang="en-US" sz="1900" b="1" dirty="0">
                <a:solidFill>
                  <a:srgbClr val="0B2D55"/>
                </a:solidFill>
                <a:latin typeface="Aptos" pitchFamily="34" charset="0"/>
                <a:ea typeface="Aptos" pitchFamily="34" charset="-122"/>
                <a:cs typeface="Aptos" pitchFamily="34" charset="-120"/>
              </a:rPr>
              <a:t>P(scam | “claim now”)  =  </a:t>
            </a:r>
            <a:r>
              <a:rPr lang="en-US" sz="1900" b="1" dirty="0">
                <a:solidFill>
                  <a:srgbClr val="1D5FA7"/>
                </a:solidFill>
                <a:latin typeface="Aptos" pitchFamily="34" charset="0"/>
                <a:ea typeface="Aptos" pitchFamily="34" charset="-122"/>
                <a:cs typeface="Aptos" pitchFamily="34" charset="-120"/>
              </a:rPr>
              <a:t>?</a:t>
            </a:r>
            <a:endParaRPr lang="en-US" sz="1900" dirty="0"/>
          </a:p>
        </p:txBody>
      </p:sp>
      <p:sp>
        <p:nvSpPr>
          <p:cNvPr id="22" name="Shape 19"/>
          <p:cNvSpPr/>
          <p:nvPr/>
        </p:nvSpPr>
        <p:spPr>
          <a:xfrm>
            <a:off x="7406640" y="3017520"/>
            <a:ext cx="4206240" cy="2194560"/>
          </a:xfrm>
          <a:prstGeom prst="roundRect">
            <a:avLst>
              <a:gd name="adj" fmla="val 3333"/>
            </a:avLst>
          </a:prstGeom>
          <a:solidFill>
            <a:srgbClr val="FFF4CE"/>
          </a:solidFill>
          <a:ln w="12700">
            <a:solidFill>
              <a:srgbClr val="F2C14E"/>
            </a:solidFill>
            <a:prstDash val="solid"/>
          </a:ln>
        </p:spPr>
        <p:txBody>
          <a:bodyPr/>
          <a:lstStyle/>
          <a:p>
            <a:endParaRPr lang="en-US"/>
          </a:p>
        </p:txBody>
      </p:sp>
      <p:sp>
        <p:nvSpPr>
          <p:cNvPr id="23" name="Text 20"/>
          <p:cNvSpPr txBox="1"/>
          <p:nvPr/>
        </p:nvSpPr>
        <p:spPr>
          <a:xfrm>
            <a:off x="7589520" y="3017520"/>
            <a:ext cx="3840480" cy="219456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Which word did more of the work, and how can you tell?</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Why “naive”? Words travel in packs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Correlated words get counted as separate evidence.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17</a:t>
            </a:r>
            <a:endParaRPr lang="en-US" sz="850" dirty="0"/>
          </a:p>
        </p:txBody>
      </p:sp>
      <p:sp>
        <p:nvSpPr>
          <p:cNvPr id="7" name="Shape 4"/>
          <p:cNvSpPr/>
          <p:nvPr/>
        </p:nvSpPr>
        <p:spPr>
          <a:xfrm>
            <a:off x="822960" y="1600200"/>
            <a:ext cx="5029200" cy="3291840"/>
          </a:xfrm>
          <a:prstGeom prst="roundRect">
            <a:avLst>
              <a:gd name="adj" fmla="val 2222"/>
            </a:avLst>
          </a:prstGeom>
          <a:solidFill>
            <a:srgbClr val="DFF0D8"/>
          </a:solidFill>
          <a:ln w="12700">
            <a:solidFill>
              <a:srgbClr val="2E7D32"/>
            </a:solidFill>
            <a:prstDash val="solid"/>
          </a:ln>
        </p:spPr>
        <p:txBody>
          <a:bodyPr/>
          <a:lstStyle/>
          <a:p>
            <a:endParaRPr lang="en-US"/>
          </a:p>
        </p:txBody>
      </p:sp>
      <p:sp>
        <p:nvSpPr>
          <p:cNvPr id="8" name="Text 5"/>
          <p:cNvSpPr txBox="1"/>
          <p:nvPr/>
        </p:nvSpPr>
        <p:spPr>
          <a:xfrm>
            <a:off x="1005840" y="1737360"/>
            <a:ext cx="4663440" cy="411480"/>
          </a:xfrm>
          <a:prstGeom prst="rect">
            <a:avLst/>
          </a:prstGeom>
          <a:noFill/>
          <a:ln/>
        </p:spPr>
        <p:txBody>
          <a:bodyPr wrap="square" lIns="0" tIns="0" rIns="0" bIns="0" rtlCol="0" anchor="t"/>
          <a:lstStyle/>
          <a:p>
            <a:pPr marL="0" indent="0" algn="ctr">
              <a:buNone/>
            </a:pPr>
            <a:r>
              <a:rPr lang="en-US" sz="2000" b="1" dirty="0">
                <a:solidFill>
                  <a:srgbClr val="0B2D55"/>
                </a:solidFill>
                <a:latin typeface="Aptos" pitchFamily="34" charset="0"/>
                <a:ea typeface="Aptos" pitchFamily="34" charset="-122"/>
                <a:cs typeface="Aptos" pitchFamily="34" charset="-120"/>
              </a:rPr>
              <a:t>What really happened</a:t>
            </a:r>
            <a:endParaRPr lang="en-US" sz="2000" dirty="0"/>
          </a:p>
        </p:txBody>
      </p:sp>
      <p:sp>
        <p:nvSpPr>
          <p:cNvPr id="9" name="Shape 6"/>
          <p:cNvSpPr/>
          <p:nvPr/>
        </p:nvSpPr>
        <p:spPr>
          <a:xfrm>
            <a:off x="2331720" y="2560320"/>
            <a:ext cx="2011680" cy="548640"/>
          </a:xfrm>
          <a:prstGeom prst="roundRect">
            <a:avLst>
              <a:gd name="adj" fmla="val 13333"/>
            </a:avLst>
          </a:prstGeom>
          <a:solidFill>
            <a:srgbClr val="D9731A"/>
          </a:solidFill>
          <a:ln w="12700">
            <a:solidFill>
              <a:srgbClr val="D9731A"/>
            </a:solidFill>
            <a:prstDash val="solid"/>
          </a:ln>
        </p:spPr>
        <p:txBody>
          <a:bodyPr/>
          <a:lstStyle/>
          <a:p>
            <a:endParaRPr lang="en-US"/>
          </a:p>
        </p:txBody>
      </p:sp>
      <p:sp>
        <p:nvSpPr>
          <p:cNvPr id="10" name="Text 7"/>
          <p:cNvSpPr txBox="1"/>
          <p:nvPr/>
        </p:nvSpPr>
        <p:spPr>
          <a:xfrm>
            <a:off x="2331720" y="2560320"/>
            <a:ext cx="201168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gift card</a:t>
            </a:r>
            <a:endParaRPr lang="en-US" sz="2000" dirty="0"/>
          </a:p>
        </p:txBody>
      </p:sp>
      <p:sp>
        <p:nvSpPr>
          <p:cNvPr id="11" name="Text 8"/>
          <p:cNvSpPr txBox="1"/>
          <p:nvPr/>
        </p:nvSpPr>
        <p:spPr>
          <a:xfrm>
            <a:off x="1005840" y="3383280"/>
            <a:ext cx="4663440" cy="457200"/>
          </a:xfrm>
          <a:prstGeom prst="rect">
            <a:avLst/>
          </a:prstGeom>
          <a:noFill/>
          <a:ln/>
        </p:spPr>
        <p:txBody>
          <a:bodyPr wrap="square" lIns="0" tIns="0" rIns="0" bIns="0" rtlCol="0" anchor="t"/>
          <a:lstStyle/>
          <a:p>
            <a:pPr marL="0" indent="0" algn="ctr">
              <a:buNone/>
            </a:pPr>
            <a:r>
              <a:rPr lang="en-US" sz="1600" dirty="0">
                <a:solidFill>
                  <a:srgbClr val="132033"/>
                </a:solidFill>
                <a:latin typeface="Aptos" pitchFamily="34" charset="0"/>
                <a:ea typeface="Aptos" pitchFamily="34" charset="-122"/>
                <a:cs typeface="Aptos" pitchFamily="34" charset="-120"/>
              </a:rPr>
              <a:t>One fact: the text mentions a gift card.</a:t>
            </a:r>
            <a:endParaRPr lang="en-US" sz="1600" dirty="0"/>
          </a:p>
        </p:txBody>
      </p:sp>
      <p:sp>
        <p:nvSpPr>
          <p:cNvPr id="12" name="Text 9"/>
          <p:cNvSpPr txBox="1"/>
          <p:nvPr/>
        </p:nvSpPr>
        <p:spPr>
          <a:xfrm>
            <a:off x="1005840" y="4069080"/>
            <a:ext cx="4663440" cy="457200"/>
          </a:xfrm>
          <a:prstGeom prst="rect">
            <a:avLst/>
          </a:prstGeom>
          <a:noFill/>
          <a:ln/>
        </p:spPr>
        <p:txBody>
          <a:bodyPr wrap="square" lIns="0" tIns="0" rIns="0" bIns="0" rtlCol="0" anchor="t"/>
          <a:lstStyle/>
          <a:p>
            <a:pPr marL="0" indent="0" algn="ctr">
              <a:buNone/>
            </a:pPr>
            <a:r>
              <a:rPr lang="en-US" sz="1800" b="1" dirty="0">
                <a:solidFill>
                  <a:srgbClr val="2E7D32"/>
                </a:solidFill>
                <a:latin typeface="Aptos" pitchFamily="34" charset="0"/>
                <a:ea typeface="Aptos" pitchFamily="34" charset="-122"/>
                <a:cs typeface="Aptos" pitchFamily="34" charset="-120"/>
              </a:rPr>
              <a:t>One piece of evidence</a:t>
            </a:r>
            <a:endParaRPr lang="en-US" sz="1800" dirty="0"/>
          </a:p>
        </p:txBody>
      </p:sp>
      <p:sp>
        <p:nvSpPr>
          <p:cNvPr id="13" name="Shape 10"/>
          <p:cNvSpPr/>
          <p:nvPr/>
        </p:nvSpPr>
        <p:spPr>
          <a:xfrm>
            <a:off x="6309360" y="1600200"/>
            <a:ext cx="5029200" cy="3291840"/>
          </a:xfrm>
          <a:prstGeom prst="roundRect">
            <a:avLst>
              <a:gd name="adj" fmla="val 2222"/>
            </a:avLst>
          </a:prstGeom>
          <a:solidFill>
            <a:srgbClr val="F7D7D7"/>
          </a:solidFill>
          <a:ln w="12700">
            <a:solidFill>
              <a:srgbClr val="B43A3A"/>
            </a:solidFill>
            <a:prstDash val="solid"/>
          </a:ln>
        </p:spPr>
        <p:txBody>
          <a:bodyPr/>
          <a:lstStyle/>
          <a:p>
            <a:endParaRPr lang="en-US"/>
          </a:p>
        </p:txBody>
      </p:sp>
      <p:sp>
        <p:nvSpPr>
          <p:cNvPr id="14" name="Text 11"/>
          <p:cNvSpPr txBox="1"/>
          <p:nvPr/>
        </p:nvSpPr>
        <p:spPr>
          <a:xfrm>
            <a:off x="6492240" y="1737360"/>
            <a:ext cx="4663440" cy="411480"/>
          </a:xfrm>
          <a:prstGeom prst="rect">
            <a:avLst/>
          </a:prstGeom>
          <a:noFill/>
          <a:ln/>
        </p:spPr>
        <p:txBody>
          <a:bodyPr wrap="square" lIns="0" tIns="0" rIns="0" bIns="0" rtlCol="0" anchor="t"/>
          <a:lstStyle/>
          <a:p>
            <a:pPr marL="0" indent="0" algn="ctr">
              <a:buNone/>
            </a:pPr>
            <a:r>
              <a:rPr lang="en-US" sz="2000" b="1" dirty="0">
                <a:solidFill>
                  <a:srgbClr val="0B2D55"/>
                </a:solidFill>
                <a:latin typeface="Aptos" pitchFamily="34" charset="0"/>
                <a:ea typeface="Aptos" pitchFamily="34" charset="-122"/>
                <a:cs typeface="Aptos" pitchFamily="34" charset="-120"/>
              </a:rPr>
              <a:t>What Naive Bayes counts</a:t>
            </a:r>
            <a:endParaRPr lang="en-US" sz="2000" dirty="0"/>
          </a:p>
        </p:txBody>
      </p:sp>
      <p:sp>
        <p:nvSpPr>
          <p:cNvPr id="15" name="Shape 12"/>
          <p:cNvSpPr/>
          <p:nvPr/>
        </p:nvSpPr>
        <p:spPr>
          <a:xfrm>
            <a:off x="7178040" y="2560320"/>
            <a:ext cx="1371600" cy="548640"/>
          </a:xfrm>
          <a:prstGeom prst="roundRect">
            <a:avLst>
              <a:gd name="adj" fmla="val 13333"/>
            </a:avLst>
          </a:prstGeom>
          <a:solidFill>
            <a:srgbClr val="D9731A"/>
          </a:solidFill>
          <a:ln w="12700">
            <a:solidFill>
              <a:srgbClr val="D9731A"/>
            </a:solidFill>
            <a:prstDash val="solid"/>
          </a:ln>
        </p:spPr>
        <p:txBody>
          <a:bodyPr/>
          <a:lstStyle/>
          <a:p>
            <a:endParaRPr lang="en-US"/>
          </a:p>
        </p:txBody>
      </p:sp>
      <p:sp>
        <p:nvSpPr>
          <p:cNvPr id="16" name="Text 13"/>
          <p:cNvSpPr txBox="1"/>
          <p:nvPr/>
        </p:nvSpPr>
        <p:spPr>
          <a:xfrm>
            <a:off x="7178040" y="256032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gift</a:t>
            </a:r>
            <a:endParaRPr lang="en-US" sz="2000" dirty="0"/>
          </a:p>
        </p:txBody>
      </p:sp>
      <p:sp>
        <p:nvSpPr>
          <p:cNvPr id="17" name="Shape 14"/>
          <p:cNvSpPr/>
          <p:nvPr/>
        </p:nvSpPr>
        <p:spPr>
          <a:xfrm>
            <a:off x="9098280" y="2560320"/>
            <a:ext cx="1371600" cy="548640"/>
          </a:xfrm>
          <a:prstGeom prst="roundRect">
            <a:avLst>
              <a:gd name="adj" fmla="val 13333"/>
            </a:avLst>
          </a:prstGeom>
          <a:solidFill>
            <a:srgbClr val="D9731A"/>
          </a:solidFill>
          <a:ln w="12700">
            <a:solidFill>
              <a:srgbClr val="D9731A"/>
            </a:solidFill>
            <a:prstDash val="solid"/>
          </a:ln>
        </p:spPr>
        <p:txBody>
          <a:bodyPr/>
          <a:lstStyle/>
          <a:p>
            <a:endParaRPr lang="en-US"/>
          </a:p>
        </p:txBody>
      </p:sp>
      <p:sp>
        <p:nvSpPr>
          <p:cNvPr id="18" name="Text 15"/>
          <p:cNvSpPr txBox="1"/>
          <p:nvPr/>
        </p:nvSpPr>
        <p:spPr>
          <a:xfrm>
            <a:off x="9098280" y="2560320"/>
            <a:ext cx="137160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Aptos" pitchFamily="34" charset="0"/>
                <a:ea typeface="Aptos" pitchFamily="34" charset="-122"/>
                <a:cs typeface="Aptos" pitchFamily="34" charset="-120"/>
              </a:rPr>
              <a:t>card</a:t>
            </a:r>
            <a:endParaRPr lang="en-US" sz="2000" dirty="0"/>
          </a:p>
        </p:txBody>
      </p:sp>
      <p:sp>
        <p:nvSpPr>
          <p:cNvPr id="19" name="Text 16"/>
          <p:cNvSpPr txBox="1"/>
          <p:nvPr/>
        </p:nvSpPr>
        <p:spPr>
          <a:xfrm>
            <a:off x="8549640" y="2560320"/>
            <a:ext cx="548640" cy="548640"/>
          </a:xfrm>
          <a:prstGeom prst="rect">
            <a:avLst/>
          </a:prstGeom>
          <a:noFill/>
          <a:ln/>
        </p:spPr>
        <p:txBody>
          <a:bodyPr wrap="square" lIns="0" tIns="0" rIns="0" bIns="0" rtlCol="0" anchor="ctr"/>
          <a:lstStyle/>
          <a:p>
            <a:pPr marL="0" indent="0" algn="ctr">
              <a:buNone/>
            </a:pPr>
            <a:r>
              <a:rPr lang="en-US" sz="2400" b="1" dirty="0">
                <a:solidFill>
                  <a:srgbClr val="6D7C8F"/>
                </a:solidFill>
                <a:latin typeface="Aptos" pitchFamily="34" charset="0"/>
                <a:ea typeface="Aptos" pitchFamily="34" charset="-122"/>
                <a:cs typeface="Aptos" pitchFamily="34" charset="-120"/>
              </a:rPr>
              <a:t>×</a:t>
            </a:r>
            <a:endParaRPr lang="en-US" sz="2400" dirty="0"/>
          </a:p>
        </p:txBody>
      </p:sp>
      <p:sp>
        <p:nvSpPr>
          <p:cNvPr id="20" name="Text 17"/>
          <p:cNvSpPr txBox="1"/>
          <p:nvPr/>
        </p:nvSpPr>
        <p:spPr>
          <a:xfrm>
            <a:off x="6492240" y="3383280"/>
            <a:ext cx="4663440" cy="457200"/>
          </a:xfrm>
          <a:prstGeom prst="rect">
            <a:avLst/>
          </a:prstGeom>
          <a:noFill/>
          <a:ln/>
        </p:spPr>
        <p:txBody>
          <a:bodyPr wrap="square" lIns="0" tIns="0" rIns="0" bIns="0" rtlCol="0" anchor="t"/>
          <a:lstStyle/>
          <a:p>
            <a:pPr marL="0" indent="0" algn="ctr">
              <a:buNone/>
            </a:pPr>
            <a:r>
              <a:rPr lang="en-US" sz="1600" dirty="0">
                <a:solidFill>
                  <a:srgbClr val="132033"/>
                </a:solidFill>
                <a:latin typeface="Aptos" pitchFamily="34" charset="0"/>
                <a:ea typeface="Aptos" pitchFamily="34" charset="-122"/>
                <a:cs typeface="Aptos" pitchFamily="34" charset="-120"/>
              </a:rPr>
              <a:t>Two “independent” clues, multiplied.</a:t>
            </a:r>
            <a:endParaRPr lang="en-US" sz="1600" dirty="0"/>
          </a:p>
        </p:txBody>
      </p:sp>
      <p:sp>
        <p:nvSpPr>
          <p:cNvPr id="21" name="Text 18"/>
          <p:cNvSpPr txBox="1"/>
          <p:nvPr/>
        </p:nvSpPr>
        <p:spPr>
          <a:xfrm>
            <a:off x="6492240" y="4069080"/>
            <a:ext cx="4663440" cy="457200"/>
          </a:xfrm>
          <a:prstGeom prst="rect">
            <a:avLst/>
          </a:prstGeom>
          <a:noFill/>
          <a:ln/>
        </p:spPr>
        <p:txBody>
          <a:bodyPr wrap="square" lIns="0" tIns="0" rIns="0" bIns="0" rtlCol="0" anchor="t"/>
          <a:lstStyle/>
          <a:p>
            <a:pPr marL="0" indent="0" algn="ctr">
              <a:buNone/>
            </a:pPr>
            <a:r>
              <a:rPr lang="en-US" sz="1800" b="1" dirty="0">
                <a:solidFill>
                  <a:srgbClr val="B43A3A"/>
                </a:solidFill>
                <a:latin typeface="Aptos" pitchFamily="34" charset="0"/>
                <a:ea typeface="Aptos" pitchFamily="34" charset="-122"/>
                <a:cs typeface="Aptos" pitchFamily="34" charset="-120"/>
              </a:rPr>
              <a:t>Evidence counted twice</a:t>
            </a:r>
            <a:endParaRPr lang="en-US" sz="1800" dirty="0"/>
          </a:p>
        </p:txBody>
      </p:sp>
      <p:sp>
        <p:nvSpPr>
          <p:cNvPr id="22" name="Text 19"/>
          <p:cNvSpPr txBox="1"/>
          <p:nvPr/>
        </p:nvSpPr>
        <p:spPr>
          <a:xfrm>
            <a:off x="822960" y="5257800"/>
            <a:ext cx="10515600" cy="50292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Other packs: “click here,” “verify account,” “running late.” Name one more.</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double counting</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Compute → Interpret → Predict with a phrase that always appears together.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18</a:t>
            </a:r>
            <a:endParaRPr lang="en-US" sz="850" dirty="0"/>
          </a:p>
        </p:txBody>
      </p:sp>
      <p:sp>
        <p:nvSpPr>
          <p:cNvPr id="7" name="Shape 4"/>
          <p:cNvSpPr/>
          <p:nvPr/>
        </p:nvSpPr>
        <p:spPr>
          <a:xfrm>
            <a:off x="576072" y="1554480"/>
            <a:ext cx="11036808" cy="731520"/>
          </a:xfrm>
          <a:prstGeom prst="roundRect">
            <a:avLst>
              <a:gd name="adj" fmla="val 10000"/>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731520" y="1554480"/>
            <a:ext cx="10698480" cy="731520"/>
          </a:xfrm>
          <a:prstGeom prst="rect">
            <a:avLst/>
          </a:prstGeom>
          <a:noFill/>
          <a:ln/>
        </p:spPr>
        <p:txBody>
          <a:bodyPr wrap="square" lIns="0" tIns="0" rIns="0" bIns="0" rtlCol="0" anchor="ctr"/>
          <a:lstStyle/>
          <a:p>
            <a:pPr marL="0" indent="0" algn="ctr">
              <a:buNone/>
            </a:pPr>
            <a:r>
              <a:rPr lang="en-US" sz="1450" b="1" dirty="0">
                <a:solidFill>
                  <a:srgbClr val="0B2D55"/>
                </a:solidFill>
                <a:latin typeface="Aptos" pitchFamily="34" charset="0"/>
                <a:ea typeface="Aptos" pitchFamily="34" charset="-122"/>
                <a:cs typeface="Aptos" pitchFamily="34" charset="-120"/>
              </a:rPr>
              <a:t>P(gift | scam) = P(card | scam) = 0.10     P(gift | legit) = P(card | legit) = 0.02     Priors 0.2 / 0.8</a:t>
            </a:r>
            <a:endParaRPr lang="en-US" sz="1450" dirty="0"/>
          </a:p>
        </p:txBody>
      </p:sp>
      <p:sp>
        <p:nvSpPr>
          <p:cNvPr id="9" name="Shape 6"/>
          <p:cNvSpPr/>
          <p:nvPr/>
        </p:nvSpPr>
        <p:spPr>
          <a:xfrm>
            <a:off x="576072" y="2514600"/>
            <a:ext cx="5458968" cy="2148840"/>
          </a:xfrm>
          <a:prstGeom prst="roundRect">
            <a:avLst>
              <a:gd name="adj" fmla="val 3404"/>
            </a:avLst>
          </a:prstGeom>
          <a:solidFill>
            <a:srgbClr val="DFF0D8"/>
          </a:solidFill>
          <a:ln w="12700">
            <a:solidFill>
              <a:srgbClr val="2E7D32"/>
            </a:solidFill>
            <a:prstDash val="solid"/>
          </a:ln>
        </p:spPr>
        <p:txBody>
          <a:bodyPr/>
          <a:lstStyle/>
          <a:p>
            <a:endParaRPr lang="en-US"/>
          </a:p>
        </p:txBody>
      </p:sp>
      <p:sp>
        <p:nvSpPr>
          <p:cNvPr id="10" name="Text 7"/>
          <p:cNvSpPr txBox="1"/>
          <p:nvPr/>
        </p:nvSpPr>
        <p:spPr>
          <a:xfrm>
            <a:off x="804672" y="2606040"/>
            <a:ext cx="5029200" cy="384048"/>
          </a:xfrm>
          <a:prstGeom prst="rect">
            <a:avLst/>
          </a:prstGeom>
          <a:noFill/>
          <a:ln/>
        </p:spPr>
        <p:txBody>
          <a:bodyPr wrap="square" lIns="0" tIns="0" rIns="0" bIns="0" rtlCol="0" anchor="t"/>
          <a:lstStyle/>
          <a:p>
            <a:pPr marL="0" indent="0">
              <a:buNone/>
            </a:pPr>
            <a:r>
              <a:rPr lang="en-US" sz="1800" b="1" dirty="0">
                <a:solidFill>
                  <a:srgbClr val="0B2D55"/>
                </a:solidFill>
                <a:latin typeface="Aptos" pitchFamily="34" charset="0"/>
                <a:ea typeface="Aptos" pitchFamily="34" charset="-122"/>
                <a:cs typeface="Aptos" pitchFamily="34" charset="-120"/>
              </a:rPr>
              <a:t>Counted once (the truth here)</a:t>
            </a:r>
            <a:endParaRPr lang="en-US" sz="1800" dirty="0"/>
          </a:p>
        </p:txBody>
      </p:sp>
      <p:sp>
        <p:nvSpPr>
          <p:cNvPr id="11" name="Text 8"/>
          <p:cNvSpPr txBox="1"/>
          <p:nvPr/>
        </p:nvSpPr>
        <p:spPr>
          <a:xfrm>
            <a:off x="804672" y="3017520"/>
            <a:ext cx="3794760" cy="1463040"/>
          </a:xfrm>
          <a:prstGeom prst="rect">
            <a:avLst/>
          </a:prstGeom>
          <a:noFill/>
          <a:ln/>
        </p:spPr>
        <p:txBody>
          <a:bodyPr wrap="square" lIns="0" tIns="0" rIns="0" bIns="0" rtlCol="0" anchor="ctr"/>
          <a:lstStyle/>
          <a:p>
            <a:pPr marL="0" indent="0">
              <a:spcAft>
                <a:spcPts val="400"/>
              </a:spcAft>
              <a:buNone/>
            </a:pPr>
            <a:r>
              <a:rPr lang="en-US" sz="1450" dirty="0">
                <a:solidFill>
                  <a:srgbClr val="132033"/>
                </a:solidFill>
                <a:latin typeface="Aptos" pitchFamily="34" charset="0"/>
                <a:ea typeface="Aptos" pitchFamily="34" charset="-122"/>
                <a:cs typeface="Aptos" pitchFamily="34" charset="-120"/>
              </a:rPr>
              <a:t>Scam: 0.2 × 0.10 = 0.02</a:t>
            </a:r>
            <a:endParaRPr lang="en-US" sz="1450" dirty="0"/>
          </a:p>
          <a:p>
            <a:pPr marL="0" indent="0">
              <a:spcAft>
                <a:spcPts val="400"/>
              </a:spcAft>
              <a:buNone/>
            </a:pPr>
            <a:r>
              <a:rPr lang="en-US" sz="1450" dirty="0">
                <a:solidFill>
                  <a:srgbClr val="132033"/>
                </a:solidFill>
                <a:latin typeface="Aptos" pitchFamily="34" charset="0"/>
                <a:ea typeface="Aptos" pitchFamily="34" charset="-122"/>
                <a:cs typeface="Aptos" pitchFamily="34" charset="-120"/>
              </a:rPr>
              <a:t>Legit: 0.8 × 0.02 = 0.016</a:t>
            </a:r>
            <a:endParaRPr lang="en-US" sz="1450" dirty="0"/>
          </a:p>
          <a:p>
            <a:pPr marL="0" indent="0">
              <a:spcAft>
                <a:spcPts val="400"/>
              </a:spcAft>
              <a:buNone/>
            </a:pPr>
            <a:r>
              <a:rPr lang="en-US" sz="1450" dirty="0">
                <a:solidFill>
                  <a:srgbClr val="132033"/>
                </a:solidFill>
                <a:latin typeface="Aptos" pitchFamily="34" charset="0"/>
                <a:ea typeface="Aptos" pitchFamily="34" charset="-122"/>
                <a:cs typeface="Aptos" pitchFamily="34" charset="-120"/>
              </a:rPr>
              <a:t>P(scam) = 0.02 / 0.036</a:t>
            </a:r>
            <a:endParaRPr lang="en-US" sz="1450" dirty="0"/>
          </a:p>
        </p:txBody>
      </p:sp>
      <p:sp>
        <p:nvSpPr>
          <p:cNvPr id="12" name="Text 9"/>
          <p:cNvSpPr txBox="1"/>
          <p:nvPr/>
        </p:nvSpPr>
        <p:spPr>
          <a:xfrm>
            <a:off x="4599432" y="3017520"/>
            <a:ext cx="1371600" cy="1463040"/>
          </a:xfrm>
          <a:prstGeom prst="rect">
            <a:avLst/>
          </a:prstGeom>
          <a:noFill/>
          <a:ln/>
        </p:spPr>
        <p:txBody>
          <a:bodyPr wrap="square" lIns="0" tIns="0" rIns="0" bIns="0" rtlCol="0" anchor="ctr"/>
          <a:lstStyle/>
          <a:p>
            <a:pPr marL="0" indent="0" algn="ctr">
              <a:buNone/>
            </a:pPr>
            <a:r>
              <a:rPr lang="en-US" sz="2800" b="1" dirty="0">
                <a:solidFill>
                  <a:srgbClr val="2E7D32"/>
                </a:solidFill>
                <a:latin typeface="Aptos" pitchFamily="34" charset="0"/>
                <a:ea typeface="Aptos" pitchFamily="34" charset="-122"/>
                <a:cs typeface="Aptos" pitchFamily="34" charset="-120"/>
              </a:rPr>
              <a:t>≈ 0.56</a:t>
            </a:r>
            <a:endParaRPr lang="en-US" sz="2800" dirty="0"/>
          </a:p>
        </p:txBody>
      </p:sp>
      <p:sp>
        <p:nvSpPr>
          <p:cNvPr id="13" name="Shape 10"/>
          <p:cNvSpPr/>
          <p:nvPr/>
        </p:nvSpPr>
        <p:spPr>
          <a:xfrm>
            <a:off x="6153912" y="2514600"/>
            <a:ext cx="5458968" cy="2148840"/>
          </a:xfrm>
          <a:prstGeom prst="roundRect">
            <a:avLst>
              <a:gd name="adj" fmla="val 3404"/>
            </a:avLst>
          </a:prstGeom>
          <a:solidFill>
            <a:srgbClr val="F7D7D7"/>
          </a:solidFill>
          <a:ln w="12700">
            <a:solidFill>
              <a:srgbClr val="B43A3A"/>
            </a:solidFill>
            <a:prstDash val="solid"/>
          </a:ln>
        </p:spPr>
        <p:txBody>
          <a:bodyPr/>
          <a:lstStyle/>
          <a:p>
            <a:endParaRPr lang="en-US"/>
          </a:p>
        </p:txBody>
      </p:sp>
      <p:sp>
        <p:nvSpPr>
          <p:cNvPr id="14" name="Text 11"/>
          <p:cNvSpPr txBox="1"/>
          <p:nvPr/>
        </p:nvSpPr>
        <p:spPr>
          <a:xfrm>
            <a:off x="6382512" y="2606040"/>
            <a:ext cx="5029200" cy="384048"/>
          </a:xfrm>
          <a:prstGeom prst="rect">
            <a:avLst/>
          </a:prstGeom>
          <a:noFill/>
          <a:ln/>
        </p:spPr>
        <p:txBody>
          <a:bodyPr wrap="square" lIns="0" tIns="0" rIns="0" bIns="0" rtlCol="0" anchor="t"/>
          <a:lstStyle/>
          <a:p>
            <a:pPr marL="0" indent="0">
              <a:buNone/>
            </a:pPr>
            <a:r>
              <a:rPr lang="en-US" sz="1800" b="1" dirty="0">
                <a:solidFill>
                  <a:srgbClr val="0B2D55"/>
                </a:solidFill>
                <a:latin typeface="Aptos" pitchFamily="34" charset="0"/>
                <a:ea typeface="Aptos" pitchFamily="34" charset="-122"/>
                <a:cs typeface="Aptos" pitchFamily="34" charset="-120"/>
              </a:rPr>
              <a:t>Naive Bayes (counted twice)</a:t>
            </a:r>
            <a:endParaRPr lang="en-US" sz="1800" dirty="0"/>
          </a:p>
        </p:txBody>
      </p:sp>
      <p:sp>
        <p:nvSpPr>
          <p:cNvPr id="15" name="Text 12"/>
          <p:cNvSpPr txBox="1"/>
          <p:nvPr/>
        </p:nvSpPr>
        <p:spPr>
          <a:xfrm>
            <a:off x="6382512" y="3017520"/>
            <a:ext cx="3794760" cy="1463040"/>
          </a:xfrm>
          <a:prstGeom prst="rect">
            <a:avLst/>
          </a:prstGeom>
          <a:noFill/>
          <a:ln/>
        </p:spPr>
        <p:txBody>
          <a:bodyPr wrap="square" lIns="0" tIns="0" rIns="0" bIns="0" rtlCol="0" anchor="ctr"/>
          <a:lstStyle/>
          <a:p>
            <a:pPr marL="0" indent="0">
              <a:spcAft>
                <a:spcPts val="400"/>
              </a:spcAft>
              <a:buNone/>
            </a:pPr>
            <a:r>
              <a:rPr lang="en-US" sz="1450" dirty="0">
                <a:solidFill>
                  <a:srgbClr val="132033"/>
                </a:solidFill>
                <a:latin typeface="Aptos" pitchFamily="34" charset="0"/>
                <a:ea typeface="Aptos" pitchFamily="34" charset="-122"/>
                <a:cs typeface="Aptos" pitchFamily="34" charset="-120"/>
              </a:rPr>
              <a:t>Scam: 0.2 × 0.10 × 0.10 = 0.002</a:t>
            </a:r>
            <a:endParaRPr lang="en-US" sz="1450" dirty="0"/>
          </a:p>
          <a:p>
            <a:pPr marL="0" indent="0">
              <a:spcAft>
                <a:spcPts val="400"/>
              </a:spcAft>
              <a:buNone/>
            </a:pPr>
            <a:r>
              <a:rPr lang="en-US" sz="1450" dirty="0">
                <a:solidFill>
                  <a:srgbClr val="132033"/>
                </a:solidFill>
                <a:latin typeface="Aptos" pitchFamily="34" charset="0"/>
                <a:ea typeface="Aptos" pitchFamily="34" charset="-122"/>
                <a:cs typeface="Aptos" pitchFamily="34" charset="-120"/>
              </a:rPr>
              <a:t>Legit: 0.8 × 0.02 × 0.02 = 0.00032</a:t>
            </a:r>
            <a:endParaRPr lang="en-US" sz="1450" dirty="0"/>
          </a:p>
          <a:p>
            <a:pPr marL="0" indent="0">
              <a:spcAft>
                <a:spcPts val="400"/>
              </a:spcAft>
              <a:buNone/>
            </a:pPr>
            <a:r>
              <a:rPr lang="en-US" sz="1450" dirty="0">
                <a:solidFill>
                  <a:srgbClr val="132033"/>
                </a:solidFill>
                <a:latin typeface="Aptos" pitchFamily="34" charset="0"/>
                <a:ea typeface="Aptos" pitchFamily="34" charset="-122"/>
                <a:cs typeface="Aptos" pitchFamily="34" charset="-120"/>
              </a:rPr>
              <a:t>P(scam) = 0.002 / 0.00232</a:t>
            </a:r>
            <a:endParaRPr lang="en-US" sz="1450" dirty="0"/>
          </a:p>
        </p:txBody>
      </p:sp>
      <p:sp>
        <p:nvSpPr>
          <p:cNvPr id="16" name="Text 13"/>
          <p:cNvSpPr txBox="1"/>
          <p:nvPr/>
        </p:nvSpPr>
        <p:spPr>
          <a:xfrm>
            <a:off x="10177272" y="3017520"/>
            <a:ext cx="1371600" cy="1463040"/>
          </a:xfrm>
          <a:prstGeom prst="rect">
            <a:avLst/>
          </a:prstGeom>
          <a:noFill/>
          <a:ln/>
        </p:spPr>
        <p:txBody>
          <a:bodyPr wrap="square" lIns="0" tIns="0" rIns="0" bIns="0" rtlCol="0" anchor="ctr"/>
          <a:lstStyle/>
          <a:p>
            <a:pPr marL="0" indent="0" algn="ctr">
              <a:buNone/>
            </a:pPr>
            <a:r>
              <a:rPr lang="en-US" sz="2800" b="1" dirty="0">
                <a:solidFill>
                  <a:srgbClr val="B43A3A"/>
                </a:solidFill>
                <a:latin typeface="Aptos" pitchFamily="34" charset="0"/>
                <a:ea typeface="Aptos" pitchFamily="34" charset="-122"/>
                <a:cs typeface="Aptos" pitchFamily="34" charset="-120"/>
              </a:rPr>
              <a:t>≈ 0.86</a:t>
            </a:r>
            <a:endParaRPr lang="en-US" sz="2800" dirty="0"/>
          </a:p>
        </p:txBody>
      </p:sp>
      <p:sp>
        <p:nvSpPr>
          <p:cNvPr id="17" name="Shape 14"/>
          <p:cNvSpPr/>
          <p:nvPr/>
        </p:nvSpPr>
        <p:spPr>
          <a:xfrm>
            <a:off x="576072" y="4846320"/>
            <a:ext cx="5458968" cy="1097280"/>
          </a:xfrm>
          <a:prstGeom prst="roundRect">
            <a:avLst>
              <a:gd name="adj" fmla="val 6667"/>
            </a:avLst>
          </a:prstGeom>
          <a:solidFill>
            <a:srgbClr val="DFF0D8"/>
          </a:solidFill>
          <a:ln w="12700">
            <a:solidFill>
              <a:srgbClr val="2E7D32"/>
            </a:solidFill>
            <a:prstDash val="solid"/>
          </a:ln>
        </p:spPr>
        <p:txBody>
          <a:bodyPr/>
          <a:lstStyle/>
          <a:p>
            <a:endParaRPr lang="en-US"/>
          </a:p>
        </p:txBody>
      </p:sp>
      <p:sp>
        <p:nvSpPr>
          <p:cNvPr id="18" name="Text 15"/>
          <p:cNvSpPr txBox="1"/>
          <p:nvPr/>
        </p:nvSpPr>
        <p:spPr>
          <a:xfrm>
            <a:off x="758952" y="4956048"/>
            <a:ext cx="5093208"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19" name="Text 16"/>
          <p:cNvSpPr txBox="1"/>
          <p:nvPr/>
        </p:nvSpPr>
        <p:spPr>
          <a:xfrm>
            <a:off x="758952" y="5285232"/>
            <a:ext cx="5093208" cy="56692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Same decision, but Naive Bayes is far more confident than the evidence justifies.</a:t>
            </a:r>
            <a:endParaRPr lang="en-US" sz="1550" dirty="0"/>
          </a:p>
        </p:txBody>
      </p:sp>
      <p:sp>
        <p:nvSpPr>
          <p:cNvPr id="20" name="Shape 17"/>
          <p:cNvSpPr/>
          <p:nvPr/>
        </p:nvSpPr>
        <p:spPr>
          <a:xfrm>
            <a:off x="6153912" y="4846320"/>
            <a:ext cx="5458968" cy="1097280"/>
          </a:xfrm>
          <a:prstGeom prst="roundRect">
            <a:avLst>
              <a:gd name="adj" fmla="val 6667"/>
            </a:avLst>
          </a:prstGeom>
          <a:solidFill>
            <a:srgbClr val="FFF4CE"/>
          </a:solidFill>
          <a:ln w="12700">
            <a:solidFill>
              <a:srgbClr val="F2C14E"/>
            </a:solidFill>
            <a:prstDash val="solid"/>
          </a:ln>
        </p:spPr>
        <p:txBody>
          <a:bodyPr/>
          <a:lstStyle/>
          <a:p>
            <a:endParaRPr lang="en-US"/>
          </a:p>
        </p:txBody>
      </p:sp>
      <p:sp>
        <p:nvSpPr>
          <p:cNvPr id="21" name="Text 18"/>
          <p:cNvSpPr txBox="1"/>
          <p:nvPr/>
        </p:nvSpPr>
        <p:spPr>
          <a:xfrm>
            <a:off x="6336792" y="4956048"/>
            <a:ext cx="5093208"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22" name="Text 19"/>
          <p:cNvSpPr txBox="1"/>
          <p:nvPr/>
        </p:nvSpPr>
        <p:spPr>
          <a:xfrm>
            <a:off x="6336792" y="5285232"/>
            <a:ext cx="5093208" cy="56692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Add a word 2× more common in legit: once → 0.38 (legit); naive → 0.76 (scam). It flips.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Wrong probabilities, often right decisions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Naive Bayes ranks well even when its percentages are inflated.</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19</a:t>
            </a:r>
            <a:endParaRPr lang="en-US" sz="850" dirty="0"/>
          </a:p>
        </p:txBody>
      </p:sp>
      <p:sp>
        <p:nvSpPr>
          <p:cNvPr id="7" name="Shape 4"/>
          <p:cNvSpPr/>
          <p:nvPr/>
        </p:nvSpPr>
        <p:spPr>
          <a:xfrm>
            <a:off x="1097280" y="2514600"/>
            <a:ext cx="4983480" cy="146304"/>
          </a:xfrm>
          <a:prstGeom prst="rect">
            <a:avLst/>
          </a:prstGeom>
          <a:solidFill>
            <a:srgbClr val="C9DBEE"/>
          </a:solidFill>
          <a:ln w="12700">
            <a:solidFill>
              <a:srgbClr val="C9DBEE"/>
            </a:solidFill>
            <a:prstDash val="solid"/>
          </a:ln>
        </p:spPr>
        <p:txBody>
          <a:bodyPr/>
          <a:lstStyle/>
          <a:p>
            <a:endParaRPr lang="en-US"/>
          </a:p>
        </p:txBody>
      </p:sp>
      <p:sp>
        <p:nvSpPr>
          <p:cNvPr id="8" name="Shape 5"/>
          <p:cNvSpPr/>
          <p:nvPr/>
        </p:nvSpPr>
        <p:spPr>
          <a:xfrm>
            <a:off x="6080760" y="2514600"/>
            <a:ext cx="4983480" cy="146304"/>
          </a:xfrm>
          <a:prstGeom prst="rect">
            <a:avLst/>
          </a:prstGeom>
          <a:solidFill>
            <a:srgbClr val="F6D3B5"/>
          </a:solidFill>
          <a:ln w="12700">
            <a:solidFill>
              <a:srgbClr val="F6D3B5"/>
            </a:solidFill>
            <a:prstDash val="solid"/>
          </a:ln>
        </p:spPr>
        <p:txBody>
          <a:bodyPr/>
          <a:lstStyle/>
          <a:p>
            <a:endParaRPr lang="en-US"/>
          </a:p>
        </p:txBody>
      </p:sp>
      <p:sp>
        <p:nvSpPr>
          <p:cNvPr id="9" name="Text 6"/>
          <p:cNvSpPr txBox="1"/>
          <p:nvPr/>
        </p:nvSpPr>
        <p:spPr>
          <a:xfrm>
            <a:off x="640080" y="2404872"/>
            <a:ext cx="365760" cy="365760"/>
          </a:xfrm>
          <a:prstGeom prst="rect">
            <a:avLst/>
          </a:prstGeom>
          <a:noFill/>
          <a:ln/>
        </p:spPr>
        <p:txBody>
          <a:bodyPr wrap="square" lIns="0" tIns="0" rIns="0" bIns="0" rtlCol="0" anchor="ctr"/>
          <a:lstStyle/>
          <a:p>
            <a:pPr marL="0" indent="0" algn="r">
              <a:buNone/>
            </a:pPr>
            <a:r>
              <a:rPr lang="en-US" sz="1400" dirty="0">
                <a:solidFill>
                  <a:srgbClr val="6D7C8F"/>
                </a:solidFill>
                <a:latin typeface="Aptos" pitchFamily="34" charset="0"/>
                <a:ea typeface="Aptos" pitchFamily="34" charset="-122"/>
                <a:cs typeface="Aptos" pitchFamily="34" charset="-120"/>
              </a:rPr>
              <a:t>0</a:t>
            </a:r>
            <a:endParaRPr lang="en-US" sz="1400" dirty="0"/>
          </a:p>
        </p:txBody>
      </p:sp>
      <p:sp>
        <p:nvSpPr>
          <p:cNvPr id="10" name="Text 7"/>
          <p:cNvSpPr txBox="1"/>
          <p:nvPr/>
        </p:nvSpPr>
        <p:spPr>
          <a:xfrm>
            <a:off x="11155680" y="2404872"/>
            <a:ext cx="365760" cy="365760"/>
          </a:xfrm>
          <a:prstGeom prst="rect">
            <a:avLst/>
          </a:prstGeom>
          <a:noFill/>
          <a:ln/>
        </p:spPr>
        <p:txBody>
          <a:bodyPr wrap="square" lIns="0" tIns="0" rIns="0" bIns="0" rtlCol="0" anchor="ctr"/>
          <a:lstStyle/>
          <a:p>
            <a:pPr marL="0" indent="0">
              <a:buNone/>
            </a:pPr>
            <a:r>
              <a:rPr lang="en-US" sz="1400" dirty="0">
                <a:solidFill>
                  <a:srgbClr val="6D7C8F"/>
                </a:solidFill>
                <a:latin typeface="Aptos" pitchFamily="34" charset="0"/>
                <a:ea typeface="Aptos" pitchFamily="34" charset="-122"/>
                <a:cs typeface="Aptos" pitchFamily="34" charset="-120"/>
              </a:rPr>
              <a:t>1</a:t>
            </a:r>
            <a:endParaRPr lang="en-US" sz="1400" dirty="0"/>
          </a:p>
        </p:txBody>
      </p:sp>
      <p:sp>
        <p:nvSpPr>
          <p:cNvPr id="11" name="Shape 8"/>
          <p:cNvSpPr/>
          <p:nvPr/>
        </p:nvSpPr>
        <p:spPr>
          <a:xfrm>
            <a:off x="6080760" y="2011680"/>
            <a:ext cx="0" cy="1143000"/>
          </a:xfrm>
          <a:prstGeom prst="line">
            <a:avLst/>
          </a:prstGeom>
          <a:noFill/>
          <a:ln w="31750">
            <a:solidFill>
              <a:srgbClr val="0B2D55"/>
            </a:solidFill>
            <a:prstDash val="dash"/>
          </a:ln>
        </p:spPr>
        <p:txBody>
          <a:bodyPr/>
          <a:lstStyle/>
          <a:p>
            <a:endParaRPr lang="en-US"/>
          </a:p>
        </p:txBody>
      </p:sp>
      <p:sp>
        <p:nvSpPr>
          <p:cNvPr id="12" name="Text 9"/>
          <p:cNvSpPr txBox="1"/>
          <p:nvPr/>
        </p:nvSpPr>
        <p:spPr>
          <a:xfrm>
            <a:off x="5166360" y="3200400"/>
            <a:ext cx="1828800" cy="274320"/>
          </a:xfrm>
          <a:prstGeom prst="rect">
            <a:avLst/>
          </a:prstGeom>
          <a:noFill/>
          <a:ln/>
        </p:spPr>
        <p:txBody>
          <a:bodyPr wrap="square" lIns="0" tIns="0" rIns="0" bIns="0" rtlCol="0" anchor="t"/>
          <a:lstStyle/>
          <a:p>
            <a:pPr marL="0" indent="0" algn="ctr">
              <a:buNone/>
            </a:pPr>
            <a:r>
              <a:rPr lang="en-US" sz="1300" b="1" dirty="0">
                <a:solidFill>
                  <a:srgbClr val="0B2D55"/>
                </a:solidFill>
                <a:latin typeface="Aptos" pitchFamily="34" charset="0"/>
                <a:ea typeface="Aptos" pitchFamily="34" charset="-122"/>
                <a:cs typeface="Aptos" pitchFamily="34" charset="-120"/>
              </a:rPr>
              <a:t>threshold 0.5</a:t>
            </a:r>
            <a:endParaRPr lang="en-US" sz="1300" dirty="0"/>
          </a:p>
        </p:txBody>
      </p:sp>
      <p:sp>
        <p:nvSpPr>
          <p:cNvPr id="13" name="Text 10"/>
          <p:cNvSpPr txBox="1"/>
          <p:nvPr/>
        </p:nvSpPr>
        <p:spPr>
          <a:xfrm>
            <a:off x="1097280" y="2743200"/>
            <a:ext cx="2743200" cy="274320"/>
          </a:xfrm>
          <a:prstGeom prst="rect">
            <a:avLst/>
          </a:prstGeom>
          <a:noFill/>
          <a:ln/>
        </p:spPr>
        <p:txBody>
          <a:bodyPr wrap="square" lIns="0" tIns="0" rIns="0" bIns="0" rtlCol="0" anchor="t"/>
          <a:lstStyle/>
          <a:p>
            <a:pPr marL="0" indent="0">
              <a:buNone/>
            </a:pPr>
            <a:r>
              <a:rPr lang="en-US" sz="1300" b="1" dirty="0">
                <a:solidFill>
                  <a:srgbClr val="1D5FA7"/>
                </a:solidFill>
                <a:latin typeface="Aptos" pitchFamily="34" charset="0"/>
                <a:ea typeface="Aptos" pitchFamily="34" charset="-122"/>
                <a:cs typeface="Aptos" pitchFamily="34" charset="-120"/>
              </a:rPr>
              <a:t>predict LEGIT</a:t>
            </a:r>
            <a:endParaRPr lang="en-US" sz="1300" dirty="0"/>
          </a:p>
        </p:txBody>
      </p:sp>
      <p:sp>
        <p:nvSpPr>
          <p:cNvPr id="14" name="Text 11"/>
          <p:cNvSpPr txBox="1"/>
          <p:nvPr/>
        </p:nvSpPr>
        <p:spPr>
          <a:xfrm>
            <a:off x="8321040" y="2743200"/>
            <a:ext cx="2743200" cy="274320"/>
          </a:xfrm>
          <a:prstGeom prst="rect">
            <a:avLst/>
          </a:prstGeom>
          <a:noFill/>
          <a:ln/>
        </p:spPr>
        <p:txBody>
          <a:bodyPr wrap="square" lIns="0" tIns="0" rIns="0" bIns="0" rtlCol="0" anchor="t"/>
          <a:lstStyle/>
          <a:p>
            <a:pPr marL="0" indent="0" algn="r">
              <a:buNone/>
            </a:pPr>
            <a:r>
              <a:rPr lang="en-US" sz="1300" b="1" dirty="0">
                <a:solidFill>
                  <a:srgbClr val="D9731A"/>
                </a:solidFill>
                <a:latin typeface="Aptos" pitchFamily="34" charset="0"/>
                <a:ea typeface="Aptos" pitchFamily="34" charset="-122"/>
                <a:cs typeface="Aptos" pitchFamily="34" charset="-120"/>
              </a:rPr>
              <a:t>predict SCAM</a:t>
            </a:r>
            <a:endParaRPr lang="en-US" sz="1300" dirty="0"/>
          </a:p>
        </p:txBody>
      </p:sp>
      <p:sp>
        <p:nvSpPr>
          <p:cNvPr id="15" name="Shape 12"/>
          <p:cNvSpPr/>
          <p:nvPr/>
        </p:nvSpPr>
        <p:spPr>
          <a:xfrm>
            <a:off x="6514186" y="2423160"/>
            <a:ext cx="329184" cy="329184"/>
          </a:xfrm>
          <a:prstGeom prst="ellipse">
            <a:avLst/>
          </a:prstGeom>
          <a:solidFill>
            <a:srgbClr val="2E7D32"/>
          </a:solidFill>
          <a:ln w="25400">
            <a:solidFill>
              <a:srgbClr val="FFFFFF"/>
            </a:solidFill>
            <a:prstDash val="solid"/>
          </a:ln>
        </p:spPr>
        <p:txBody>
          <a:bodyPr/>
          <a:lstStyle/>
          <a:p>
            <a:endParaRPr lang="en-US"/>
          </a:p>
        </p:txBody>
      </p:sp>
      <p:sp>
        <p:nvSpPr>
          <p:cNvPr id="16" name="Text 13"/>
          <p:cNvSpPr txBox="1"/>
          <p:nvPr/>
        </p:nvSpPr>
        <p:spPr>
          <a:xfrm>
            <a:off x="6358738" y="1965960"/>
            <a:ext cx="2377440" cy="365760"/>
          </a:xfrm>
          <a:prstGeom prst="rect">
            <a:avLst/>
          </a:prstGeom>
          <a:noFill/>
          <a:ln/>
        </p:spPr>
        <p:txBody>
          <a:bodyPr wrap="square" lIns="0" tIns="0" rIns="0" bIns="0" rtlCol="0" anchor="t"/>
          <a:lstStyle/>
          <a:p>
            <a:pPr marL="0" indent="0" algn="l">
              <a:buNone/>
            </a:pPr>
            <a:r>
              <a:rPr lang="en-US" sz="1400" b="1" dirty="0">
                <a:solidFill>
                  <a:srgbClr val="2E7D32"/>
                </a:solidFill>
                <a:latin typeface="Aptos" pitchFamily="34" charset="0"/>
                <a:ea typeface="Aptos" pitchFamily="34" charset="-122"/>
                <a:cs typeface="Aptos" pitchFamily="34" charset="-120"/>
              </a:rPr>
              <a:t>counted once: 0.56</a:t>
            </a:r>
            <a:endParaRPr lang="en-US" sz="1400" dirty="0"/>
          </a:p>
        </p:txBody>
      </p:sp>
      <p:sp>
        <p:nvSpPr>
          <p:cNvPr id="17" name="Shape 14"/>
          <p:cNvSpPr/>
          <p:nvPr/>
        </p:nvSpPr>
        <p:spPr>
          <a:xfrm>
            <a:off x="9504274" y="2423160"/>
            <a:ext cx="329184" cy="329184"/>
          </a:xfrm>
          <a:prstGeom prst="ellipse">
            <a:avLst/>
          </a:prstGeom>
          <a:solidFill>
            <a:srgbClr val="B43A3A"/>
          </a:solidFill>
          <a:ln w="25400">
            <a:solidFill>
              <a:srgbClr val="FFFFFF"/>
            </a:solidFill>
            <a:prstDash val="solid"/>
          </a:ln>
        </p:spPr>
        <p:txBody>
          <a:bodyPr/>
          <a:lstStyle/>
          <a:p>
            <a:endParaRPr lang="en-US"/>
          </a:p>
        </p:txBody>
      </p:sp>
      <p:sp>
        <p:nvSpPr>
          <p:cNvPr id="18" name="Text 15"/>
          <p:cNvSpPr txBox="1"/>
          <p:nvPr/>
        </p:nvSpPr>
        <p:spPr>
          <a:xfrm>
            <a:off x="9348826" y="1965960"/>
            <a:ext cx="2377440" cy="365760"/>
          </a:xfrm>
          <a:prstGeom prst="rect">
            <a:avLst/>
          </a:prstGeom>
          <a:noFill/>
          <a:ln/>
        </p:spPr>
        <p:txBody>
          <a:bodyPr wrap="square" lIns="0" tIns="0" rIns="0" bIns="0" rtlCol="0" anchor="t"/>
          <a:lstStyle/>
          <a:p>
            <a:pPr marL="0" indent="0" algn="l">
              <a:buNone/>
            </a:pPr>
            <a:r>
              <a:rPr lang="en-US" sz="1400" b="1" dirty="0">
                <a:solidFill>
                  <a:srgbClr val="B43A3A"/>
                </a:solidFill>
                <a:latin typeface="Aptos" pitchFamily="34" charset="0"/>
                <a:ea typeface="Aptos" pitchFamily="34" charset="-122"/>
                <a:cs typeface="Aptos" pitchFamily="34" charset="-120"/>
              </a:rPr>
              <a:t>Naive Bayes: 0.86</a:t>
            </a:r>
            <a:endParaRPr lang="en-US" sz="1400" dirty="0"/>
          </a:p>
        </p:txBody>
      </p:sp>
      <p:sp>
        <p:nvSpPr>
          <p:cNvPr id="19" name="Text 16"/>
          <p:cNvSpPr txBox="1"/>
          <p:nvPr/>
        </p:nvSpPr>
        <p:spPr>
          <a:xfrm>
            <a:off x="1097280" y="1444752"/>
            <a:ext cx="9966960" cy="320040"/>
          </a:xfrm>
          <a:prstGeom prst="rect">
            <a:avLst/>
          </a:prstGeom>
          <a:noFill/>
          <a:ln/>
        </p:spPr>
        <p:txBody>
          <a:bodyPr wrap="square" lIns="0" tIns="0" rIns="0" bIns="0" rtlCol="0" anchor="t"/>
          <a:lstStyle/>
          <a:p>
            <a:pPr marL="0" indent="0" algn="ctr">
              <a:buNone/>
            </a:pPr>
            <a:r>
              <a:rPr lang="en-US" sz="1500" b="1" dirty="0">
                <a:solidFill>
                  <a:srgbClr val="0B2D55"/>
                </a:solidFill>
                <a:latin typeface="Aptos" pitchFamily="34" charset="0"/>
                <a:ea typeface="Aptos" pitchFamily="34" charset="-122"/>
                <a:cs typeface="Aptos" pitchFamily="34" charset="-120"/>
              </a:rPr>
              <a:t>P(scam | “gift card”)</a:t>
            </a:r>
            <a:endParaRPr lang="en-US" sz="1500" dirty="0"/>
          </a:p>
        </p:txBody>
      </p:sp>
      <p:sp>
        <p:nvSpPr>
          <p:cNvPr id="20" name="Shape 17"/>
          <p:cNvSpPr/>
          <p:nvPr/>
        </p:nvSpPr>
        <p:spPr>
          <a:xfrm>
            <a:off x="822960" y="3611880"/>
            <a:ext cx="5120640" cy="1600200"/>
          </a:xfrm>
          <a:prstGeom prst="roundRect">
            <a:avLst>
              <a:gd name="adj" fmla="val 4571"/>
            </a:avLst>
          </a:prstGeom>
          <a:solidFill>
            <a:srgbClr val="DFF0D8"/>
          </a:solidFill>
          <a:ln w="12700">
            <a:solidFill>
              <a:srgbClr val="2E7D32"/>
            </a:solidFill>
            <a:prstDash val="solid"/>
          </a:ln>
        </p:spPr>
        <p:txBody>
          <a:bodyPr/>
          <a:lstStyle/>
          <a:p>
            <a:endParaRPr lang="en-US"/>
          </a:p>
        </p:txBody>
      </p:sp>
      <p:sp>
        <p:nvSpPr>
          <p:cNvPr id="21" name="Text 18"/>
          <p:cNvSpPr txBox="1"/>
          <p:nvPr/>
        </p:nvSpPr>
        <p:spPr>
          <a:xfrm>
            <a:off x="1005840" y="3721608"/>
            <a:ext cx="475488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Trust the ranking</a:t>
            </a:r>
            <a:endParaRPr lang="en-US" sz="1500" dirty="0"/>
          </a:p>
        </p:txBody>
      </p:sp>
      <p:sp>
        <p:nvSpPr>
          <p:cNvPr id="22" name="Text 19"/>
          <p:cNvSpPr txBox="1"/>
          <p:nvPr/>
        </p:nvSpPr>
        <p:spPr>
          <a:xfrm>
            <a:off x="1005840" y="4050792"/>
            <a:ext cx="4754880" cy="106984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Both land on the scam side, so the filter makes the same call. Naive Bayes usually ranks messages well.</a:t>
            </a:r>
            <a:endParaRPr lang="en-US" sz="1600" dirty="0"/>
          </a:p>
        </p:txBody>
      </p:sp>
      <p:sp>
        <p:nvSpPr>
          <p:cNvPr id="23" name="Shape 20"/>
          <p:cNvSpPr/>
          <p:nvPr/>
        </p:nvSpPr>
        <p:spPr>
          <a:xfrm>
            <a:off x="6217920" y="3611880"/>
            <a:ext cx="5120640" cy="1600200"/>
          </a:xfrm>
          <a:prstGeom prst="roundRect">
            <a:avLst>
              <a:gd name="adj" fmla="val 4571"/>
            </a:avLst>
          </a:prstGeom>
          <a:solidFill>
            <a:srgbClr val="F7D7D7"/>
          </a:solidFill>
          <a:ln w="12700">
            <a:solidFill>
              <a:srgbClr val="B43A3A"/>
            </a:solidFill>
            <a:prstDash val="solid"/>
          </a:ln>
        </p:spPr>
        <p:txBody>
          <a:bodyPr/>
          <a:lstStyle/>
          <a:p>
            <a:endParaRPr lang="en-US"/>
          </a:p>
        </p:txBody>
      </p:sp>
      <p:sp>
        <p:nvSpPr>
          <p:cNvPr id="24" name="Text 21"/>
          <p:cNvSpPr txBox="1"/>
          <p:nvPr/>
        </p:nvSpPr>
        <p:spPr>
          <a:xfrm>
            <a:off x="6400800" y="3721608"/>
            <a:ext cx="475488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Don’t trust the percentage</a:t>
            </a:r>
            <a:endParaRPr lang="en-US" sz="1500" dirty="0"/>
          </a:p>
        </p:txBody>
      </p:sp>
      <p:sp>
        <p:nvSpPr>
          <p:cNvPr id="25" name="Text 22"/>
          <p:cNvSpPr txBox="1"/>
          <p:nvPr/>
        </p:nvSpPr>
        <p:spPr>
          <a:xfrm>
            <a:off x="6400800" y="4050792"/>
            <a:ext cx="4754880" cy="106984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A reported 0.99 may really be closer to 0.6. Tuning a threshold on these numbers (L26) can mislead.</a:t>
            </a:r>
            <a:endParaRPr lang="en-US" sz="1600" dirty="0"/>
          </a:p>
        </p:txBody>
      </p:sp>
      <p:sp>
        <p:nvSpPr>
          <p:cNvPr id="26" name="Text 23"/>
          <p:cNvSpPr txBox="1"/>
          <p:nvPr/>
        </p:nvSpPr>
        <p:spPr>
          <a:xfrm>
            <a:off x="822960" y="5486400"/>
            <a:ext cx="10515600" cy="502920"/>
          </a:xfrm>
          <a:prstGeom prst="rect">
            <a:avLst/>
          </a:prstGeom>
          <a:noFill/>
          <a:ln/>
        </p:spPr>
        <p:txBody>
          <a:bodyPr wrap="square" lIns="0" tIns="0" rIns="0" bIns="0" rtlCol="0" anchor="ctr"/>
          <a:lstStyle/>
          <a:p>
            <a:pPr marL="0" indent="0" algn="ctr">
              <a:buNone/>
            </a:pPr>
            <a:r>
              <a:rPr lang="en-US" sz="2400" b="1" dirty="0">
                <a:solidFill>
                  <a:srgbClr val="0B2D55"/>
                </a:solidFill>
                <a:latin typeface="Aptos" pitchFamily="34" charset="0"/>
                <a:ea typeface="Aptos" pitchFamily="34" charset="-122"/>
                <a:cs typeface="Aptos" pitchFamily="34" charset="-120"/>
              </a:rPr>
              <a:t>Trust the ranking, not the percentage.</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absolute veto</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One zero erases every other clue.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20</a:t>
            </a:r>
            <a:endParaRPr lang="en-US" sz="850" dirty="0"/>
          </a:p>
        </p:txBody>
      </p:sp>
      <p:sp>
        <p:nvSpPr>
          <p:cNvPr id="7" name="Shape 4"/>
          <p:cNvSpPr/>
          <p:nvPr/>
        </p:nvSpPr>
        <p:spPr>
          <a:xfrm>
            <a:off x="4023360" y="1508760"/>
            <a:ext cx="4114800" cy="594360"/>
          </a:xfrm>
          <a:prstGeom prst="roundRect">
            <a:avLst>
              <a:gd name="adj" fmla="val 23077"/>
            </a:avLst>
          </a:prstGeom>
          <a:solidFill>
            <a:srgbClr val="E3E9F0"/>
          </a:solidFill>
          <a:ln w="12700">
            <a:solidFill>
              <a:srgbClr val="E3E9F0"/>
            </a:solidFill>
            <a:prstDash val="solid"/>
          </a:ln>
        </p:spPr>
        <p:txBody>
          <a:bodyPr/>
          <a:lstStyle/>
          <a:p>
            <a:endParaRPr lang="en-US"/>
          </a:p>
        </p:txBody>
      </p:sp>
      <p:sp>
        <p:nvSpPr>
          <p:cNvPr id="8" name="Text 5"/>
          <p:cNvSpPr txBox="1"/>
          <p:nvPr/>
        </p:nvSpPr>
        <p:spPr>
          <a:xfrm>
            <a:off x="4160520" y="1508760"/>
            <a:ext cx="3840480" cy="594360"/>
          </a:xfrm>
          <a:prstGeom prst="rect">
            <a:avLst/>
          </a:prstGeom>
          <a:noFill/>
          <a:ln/>
        </p:spPr>
        <p:txBody>
          <a:bodyPr wrap="square" lIns="0" tIns="0" rIns="0" bIns="0" rtlCol="0" anchor="ctr"/>
          <a:lstStyle/>
          <a:p>
            <a:pPr marL="0" indent="0">
              <a:buNone/>
            </a:pPr>
            <a:r>
              <a:rPr lang="en-US" sz="2000" dirty="0">
                <a:solidFill>
                  <a:srgbClr val="132033"/>
                </a:solidFill>
                <a:latin typeface="Aptos" pitchFamily="34" charset="0"/>
                <a:ea typeface="Aptos" pitchFamily="34" charset="-122"/>
                <a:cs typeface="Aptos" pitchFamily="34" charset="-120"/>
              </a:rPr>
              <a:t>claim prize tonight</a:t>
            </a:r>
            <a:endParaRPr lang="en-US" sz="2000" dirty="0"/>
          </a:p>
        </p:txBody>
      </p:sp>
      <p:sp>
        <p:nvSpPr>
          <p:cNvPr id="9" name="Shape 6"/>
          <p:cNvSpPr/>
          <p:nvPr/>
        </p:nvSpPr>
        <p:spPr>
          <a:xfrm>
            <a:off x="777240" y="2560320"/>
            <a:ext cx="1051560" cy="384048"/>
          </a:xfrm>
          <a:prstGeom prst="roundRect">
            <a:avLst>
              <a:gd name="adj" fmla="val 19048"/>
            </a:avLst>
          </a:prstGeom>
          <a:solidFill>
            <a:srgbClr val="D9731A"/>
          </a:solidFill>
          <a:ln w="12700">
            <a:solidFill>
              <a:srgbClr val="D9731A"/>
            </a:solidFill>
            <a:prstDash val="solid"/>
          </a:ln>
        </p:spPr>
        <p:txBody>
          <a:bodyPr/>
          <a:lstStyle/>
          <a:p>
            <a:endParaRPr lang="en-US"/>
          </a:p>
        </p:txBody>
      </p:sp>
      <p:sp>
        <p:nvSpPr>
          <p:cNvPr id="10" name="Text 7"/>
          <p:cNvSpPr txBox="1"/>
          <p:nvPr/>
        </p:nvSpPr>
        <p:spPr>
          <a:xfrm>
            <a:off x="777240" y="2560320"/>
            <a:ext cx="10515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Scam</a:t>
            </a:r>
            <a:endParaRPr lang="en-US" sz="1400" dirty="0"/>
          </a:p>
        </p:txBody>
      </p:sp>
      <p:sp>
        <p:nvSpPr>
          <p:cNvPr id="11" name="Shape 8"/>
          <p:cNvSpPr/>
          <p:nvPr/>
        </p:nvSpPr>
        <p:spPr>
          <a:xfrm>
            <a:off x="1965960" y="2377440"/>
            <a:ext cx="128016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12" name="Text 9"/>
          <p:cNvSpPr txBox="1"/>
          <p:nvPr/>
        </p:nvSpPr>
        <p:spPr>
          <a:xfrm>
            <a:off x="1965960"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prior</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0.2</a:t>
            </a:r>
            <a:endParaRPr lang="en-US" sz="1600" dirty="0"/>
          </a:p>
        </p:txBody>
      </p:sp>
      <p:sp>
        <p:nvSpPr>
          <p:cNvPr id="13" name="Text 10"/>
          <p:cNvSpPr txBox="1"/>
          <p:nvPr/>
        </p:nvSpPr>
        <p:spPr>
          <a:xfrm>
            <a:off x="3246120"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4" name="Shape 11"/>
          <p:cNvSpPr/>
          <p:nvPr/>
        </p:nvSpPr>
        <p:spPr>
          <a:xfrm>
            <a:off x="3538728" y="237744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5" name="Text 12"/>
          <p:cNvSpPr txBox="1"/>
          <p:nvPr/>
        </p:nvSpPr>
        <p:spPr>
          <a:xfrm>
            <a:off x="3538728"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claim</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0.10</a:t>
            </a:r>
            <a:endParaRPr lang="en-US" sz="1600" dirty="0"/>
          </a:p>
        </p:txBody>
      </p:sp>
      <p:sp>
        <p:nvSpPr>
          <p:cNvPr id="16" name="Text 13"/>
          <p:cNvSpPr txBox="1"/>
          <p:nvPr/>
        </p:nvSpPr>
        <p:spPr>
          <a:xfrm>
            <a:off x="4818888"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7" name="Shape 14"/>
          <p:cNvSpPr/>
          <p:nvPr/>
        </p:nvSpPr>
        <p:spPr>
          <a:xfrm>
            <a:off x="5111496" y="237744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8" name="Text 15"/>
          <p:cNvSpPr txBox="1"/>
          <p:nvPr/>
        </p:nvSpPr>
        <p:spPr>
          <a:xfrm>
            <a:off x="5111496"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prize</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0.075</a:t>
            </a:r>
            <a:endParaRPr lang="en-US" sz="1600" dirty="0"/>
          </a:p>
        </p:txBody>
      </p:sp>
      <p:sp>
        <p:nvSpPr>
          <p:cNvPr id="19" name="Text 16"/>
          <p:cNvSpPr txBox="1"/>
          <p:nvPr/>
        </p:nvSpPr>
        <p:spPr>
          <a:xfrm>
            <a:off x="6391656"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0" name="Shape 17"/>
          <p:cNvSpPr/>
          <p:nvPr/>
        </p:nvSpPr>
        <p:spPr>
          <a:xfrm>
            <a:off x="6684264" y="2377440"/>
            <a:ext cx="1280160" cy="749808"/>
          </a:xfrm>
          <a:prstGeom prst="roundRect">
            <a:avLst>
              <a:gd name="adj" fmla="val 9756"/>
            </a:avLst>
          </a:prstGeom>
          <a:solidFill>
            <a:srgbClr val="F7D7D7"/>
          </a:solidFill>
          <a:ln w="12700">
            <a:solidFill>
              <a:srgbClr val="B43A3A"/>
            </a:solidFill>
            <a:prstDash val="solid"/>
          </a:ln>
        </p:spPr>
        <p:txBody>
          <a:bodyPr/>
          <a:lstStyle/>
          <a:p>
            <a:endParaRPr lang="en-US"/>
          </a:p>
        </p:txBody>
      </p:sp>
      <p:sp>
        <p:nvSpPr>
          <p:cNvPr id="21" name="Text 18"/>
          <p:cNvSpPr txBox="1"/>
          <p:nvPr/>
        </p:nvSpPr>
        <p:spPr>
          <a:xfrm>
            <a:off x="6684264" y="237744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tonight</a:t>
            </a:r>
            <a:endParaRPr lang="en-US" sz="1600" dirty="0"/>
          </a:p>
          <a:p>
            <a:pPr marL="0" indent="0" algn="ctr">
              <a:buNone/>
            </a:pPr>
            <a:r>
              <a:rPr lang="en-US" sz="1700" b="1" dirty="0">
                <a:solidFill>
                  <a:srgbClr val="B43A3A"/>
                </a:solidFill>
                <a:latin typeface="Aptos" pitchFamily="34" charset="0"/>
                <a:ea typeface="Aptos" pitchFamily="34" charset="-122"/>
                <a:cs typeface="Aptos" pitchFamily="34" charset="-120"/>
              </a:rPr>
              <a:t>0</a:t>
            </a:r>
            <a:endParaRPr lang="en-US" sz="1600" dirty="0"/>
          </a:p>
        </p:txBody>
      </p:sp>
      <p:sp>
        <p:nvSpPr>
          <p:cNvPr id="22" name="Text 19"/>
          <p:cNvSpPr txBox="1"/>
          <p:nvPr/>
        </p:nvSpPr>
        <p:spPr>
          <a:xfrm>
            <a:off x="7964424" y="237744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3" name="Shape 20"/>
          <p:cNvSpPr/>
          <p:nvPr/>
        </p:nvSpPr>
        <p:spPr>
          <a:xfrm>
            <a:off x="8257032" y="2377440"/>
            <a:ext cx="1828800" cy="749808"/>
          </a:xfrm>
          <a:prstGeom prst="roundRect">
            <a:avLst>
              <a:gd name="adj" fmla="val 9756"/>
            </a:avLst>
          </a:prstGeom>
          <a:solidFill>
            <a:srgbClr val="F7D7D7"/>
          </a:solidFill>
          <a:ln w="12700">
            <a:solidFill>
              <a:srgbClr val="B43A3A"/>
            </a:solidFill>
            <a:prstDash val="solid"/>
          </a:ln>
        </p:spPr>
        <p:txBody>
          <a:bodyPr/>
          <a:lstStyle/>
          <a:p>
            <a:endParaRPr lang="en-US"/>
          </a:p>
        </p:txBody>
      </p:sp>
      <p:sp>
        <p:nvSpPr>
          <p:cNvPr id="24" name="Text 21"/>
          <p:cNvSpPr txBox="1"/>
          <p:nvPr/>
        </p:nvSpPr>
        <p:spPr>
          <a:xfrm>
            <a:off x="8257032" y="2377440"/>
            <a:ext cx="182880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scam score</a:t>
            </a:r>
            <a:endParaRPr lang="en-US" sz="1600" dirty="0"/>
          </a:p>
          <a:p>
            <a:pPr marL="0" indent="0" algn="ctr">
              <a:buNone/>
            </a:pPr>
            <a:r>
              <a:rPr lang="en-US" sz="1800" b="1" dirty="0">
                <a:solidFill>
                  <a:srgbClr val="B43A3A"/>
                </a:solidFill>
                <a:latin typeface="Aptos" pitchFamily="34" charset="0"/>
                <a:ea typeface="Aptos" pitchFamily="34" charset="-122"/>
                <a:cs typeface="Aptos" pitchFamily="34" charset="-120"/>
              </a:rPr>
              <a:t>0</a:t>
            </a:r>
            <a:endParaRPr lang="en-US" sz="1600" dirty="0"/>
          </a:p>
        </p:txBody>
      </p:sp>
      <p:sp>
        <p:nvSpPr>
          <p:cNvPr id="25" name="Shape 22"/>
          <p:cNvSpPr/>
          <p:nvPr/>
        </p:nvSpPr>
        <p:spPr>
          <a:xfrm>
            <a:off x="777240" y="3611880"/>
            <a:ext cx="105156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26" name="Text 23"/>
          <p:cNvSpPr txBox="1"/>
          <p:nvPr/>
        </p:nvSpPr>
        <p:spPr>
          <a:xfrm>
            <a:off x="777240" y="3611880"/>
            <a:ext cx="10515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Legit</a:t>
            </a:r>
            <a:endParaRPr lang="en-US" sz="1400" dirty="0"/>
          </a:p>
        </p:txBody>
      </p:sp>
      <p:sp>
        <p:nvSpPr>
          <p:cNvPr id="27" name="Shape 24"/>
          <p:cNvSpPr/>
          <p:nvPr/>
        </p:nvSpPr>
        <p:spPr>
          <a:xfrm>
            <a:off x="1965960" y="3429000"/>
            <a:ext cx="128016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28" name="Text 25"/>
          <p:cNvSpPr txBox="1"/>
          <p:nvPr/>
        </p:nvSpPr>
        <p:spPr>
          <a:xfrm>
            <a:off x="1965960"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prior</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0.8</a:t>
            </a:r>
            <a:endParaRPr lang="en-US" sz="1600" dirty="0"/>
          </a:p>
        </p:txBody>
      </p:sp>
      <p:sp>
        <p:nvSpPr>
          <p:cNvPr id="29" name="Text 26"/>
          <p:cNvSpPr txBox="1"/>
          <p:nvPr/>
        </p:nvSpPr>
        <p:spPr>
          <a:xfrm>
            <a:off x="3246120"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0" name="Shape 27"/>
          <p:cNvSpPr/>
          <p:nvPr/>
        </p:nvSpPr>
        <p:spPr>
          <a:xfrm>
            <a:off x="3538728" y="342900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1" name="Text 28"/>
          <p:cNvSpPr txBox="1"/>
          <p:nvPr/>
        </p:nvSpPr>
        <p:spPr>
          <a:xfrm>
            <a:off x="3538728"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claim</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0.00625</a:t>
            </a:r>
            <a:endParaRPr lang="en-US" sz="1600" dirty="0"/>
          </a:p>
        </p:txBody>
      </p:sp>
      <p:sp>
        <p:nvSpPr>
          <p:cNvPr id="32" name="Text 29"/>
          <p:cNvSpPr txBox="1"/>
          <p:nvPr/>
        </p:nvSpPr>
        <p:spPr>
          <a:xfrm>
            <a:off x="4818888"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3" name="Shape 30"/>
          <p:cNvSpPr/>
          <p:nvPr/>
        </p:nvSpPr>
        <p:spPr>
          <a:xfrm>
            <a:off x="5111496" y="342900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4" name="Text 31"/>
          <p:cNvSpPr txBox="1"/>
          <p:nvPr/>
        </p:nvSpPr>
        <p:spPr>
          <a:xfrm>
            <a:off x="5111496"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prize</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0.00625</a:t>
            </a:r>
            <a:endParaRPr lang="en-US" sz="1600" dirty="0"/>
          </a:p>
        </p:txBody>
      </p:sp>
      <p:sp>
        <p:nvSpPr>
          <p:cNvPr id="35" name="Text 32"/>
          <p:cNvSpPr txBox="1"/>
          <p:nvPr/>
        </p:nvSpPr>
        <p:spPr>
          <a:xfrm>
            <a:off x="6391656"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6" name="Shape 33"/>
          <p:cNvSpPr/>
          <p:nvPr/>
        </p:nvSpPr>
        <p:spPr>
          <a:xfrm>
            <a:off x="6684264" y="342900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7" name="Text 34"/>
          <p:cNvSpPr txBox="1"/>
          <p:nvPr/>
        </p:nvSpPr>
        <p:spPr>
          <a:xfrm>
            <a:off x="6684264" y="342900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tonight</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0.05</a:t>
            </a:r>
            <a:endParaRPr lang="en-US" sz="1600" dirty="0"/>
          </a:p>
        </p:txBody>
      </p:sp>
      <p:sp>
        <p:nvSpPr>
          <p:cNvPr id="38" name="Text 35"/>
          <p:cNvSpPr txBox="1"/>
          <p:nvPr/>
        </p:nvSpPr>
        <p:spPr>
          <a:xfrm>
            <a:off x="7964424" y="342900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9" name="Shape 36"/>
          <p:cNvSpPr/>
          <p:nvPr/>
        </p:nvSpPr>
        <p:spPr>
          <a:xfrm>
            <a:off x="8257032" y="3429000"/>
            <a:ext cx="182880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40" name="Text 37"/>
          <p:cNvSpPr txBox="1"/>
          <p:nvPr/>
        </p:nvSpPr>
        <p:spPr>
          <a:xfrm>
            <a:off x="8257032" y="3429000"/>
            <a:ext cx="182880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legit score</a:t>
            </a:r>
            <a:endParaRPr lang="en-US" sz="1600" dirty="0"/>
          </a:p>
          <a:p>
            <a:pPr marL="0" indent="0" algn="ctr">
              <a:buNone/>
            </a:pPr>
            <a:r>
              <a:rPr lang="en-US" sz="1800" b="1" dirty="0">
                <a:solidFill>
                  <a:srgbClr val="1D5FA7"/>
                </a:solidFill>
                <a:latin typeface="Aptos" pitchFamily="34" charset="0"/>
                <a:ea typeface="Aptos" pitchFamily="34" charset="-122"/>
                <a:cs typeface="Aptos" pitchFamily="34" charset="-120"/>
              </a:rPr>
              <a:t>1.56 × 10⁻⁶</a:t>
            </a:r>
            <a:endParaRPr lang="en-US" sz="1600" dirty="0"/>
          </a:p>
        </p:txBody>
      </p:sp>
      <p:sp>
        <p:nvSpPr>
          <p:cNvPr id="41" name="Shape 38"/>
          <p:cNvSpPr/>
          <p:nvPr/>
        </p:nvSpPr>
        <p:spPr>
          <a:xfrm>
            <a:off x="777240" y="4526280"/>
            <a:ext cx="10607040" cy="1234440"/>
          </a:xfrm>
          <a:prstGeom prst="roundRect">
            <a:avLst>
              <a:gd name="adj" fmla="val 5926"/>
            </a:avLst>
          </a:prstGeom>
          <a:solidFill>
            <a:srgbClr val="F7D7D7"/>
          </a:solidFill>
          <a:ln w="12700">
            <a:solidFill>
              <a:srgbClr val="B43A3A"/>
            </a:solidFill>
            <a:prstDash val="solid"/>
          </a:ln>
        </p:spPr>
        <p:txBody>
          <a:bodyPr/>
          <a:lstStyle/>
          <a:p>
            <a:endParaRPr lang="en-US"/>
          </a:p>
        </p:txBody>
      </p:sp>
      <p:sp>
        <p:nvSpPr>
          <p:cNvPr id="42" name="Text 39"/>
          <p:cNvSpPr txBox="1"/>
          <p:nvPr/>
        </p:nvSpPr>
        <p:spPr>
          <a:xfrm>
            <a:off x="1005840" y="4526280"/>
            <a:ext cx="10149840" cy="1234440"/>
          </a:xfrm>
          <a:prstGeom prst="rect">
            <a:avLst/>
          </a:prstGeom>
          <a:noFill/>
          <a:ln/>
        </p:spPr>
        <p:txBody>
          <a:bodyPr wrap="square" lIns="0" tIns="0" rIns="0" bIns="0" rtlCol="0" anchor="ctr"/>
          <a:lstStyle/>
          <a:p>
            <a:pPr marL="0" indent="0" algn="ctr">
              <a:buNone/>
            </a:pPr>
            <a:r>
              <a:rPr lang="en-US" sz="1700" b="1" dirty="0">
                <a:solidFill>
                  <a:srgbClr val="B43A3A"/>
                </a:solidFill>
                <a:latin typeface="Aptos" pitchFamily="34" charset="0"/>
                <a:ea typeface="Aptos" pitchFamily="34" charset="-122"/>
                <a:cs typeface="Aptos" pitchFamily="34" charset="-120"/>
              </a:rPr>
              <a:t>Legit wins by veto, </a:t>
            </a:r>
            <a:r>
              <a:rPr lang="en-US" sz="1700" dirty="0">
                <a:solidFill>
                  <a:srgbClr val="132033"/>
                </a:solidFill>
                <a:latin typeface="Aptos" pitchFamily="34" charset="0"/>
                <a:ea typeface="Aptos" pitchFamily="34" charset="-122"/>
                <a:cs typeface="Aptos" pitchFamily="34" charset="-120"/>
              </a:rPr>
              <a:t>even though “claim” is 16× and “prize” is 12× more likely in scams. A zero count claims a scam can never say “tonight.”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Laplace smoothing</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Pretend every vocabulary word was seen α more times in every class.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21</a:t>
            </a:r>
            <a:endParaRPr lang="en-US" sz="850" dirty="0"/>
          </a:p>
        </p:txBody>
      </p:sp>
      <p:sp>
        <p:nvSpPr>
          <p:cNvPr id="7" name="Shape 4"/>
          <p:cNvSpPr/>
          <p:nvPr/>
        </p:nvSpPr>
        <p:spPr>
          <a:xfrm>
            <a:off x="576072" y="1554480"/>
            <a:ext cx="5760720" cy="1371600"/>
          </a:xfrm>
          <a:prstGeom prst="roundRect">
            <a:avLst>
              <a:gd name="adj" fmla="val 5333"/>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685800" y="1554480"/>
            <a:ext cx="5532120" cy="137160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P(w | C) = </a:t>
            </a:r>
            <a:r>
              <a:rPr lang="en-US" sz="1700" b="1" dirty="0">
                <a:solidFill>
                  <a:srgbClr val="D9731A"/>
                </a:solidFill>
                <a:latin typeface="Aptos" pitchFamily="34" charset="0"/>
                <a:ea typeface="Aptos" pitchFamily="34" charset="-122"/>
                <a:cs typeface="Aptos" pitchFamily="34" charset="-120"/>
              </a:rPr>
              <a:t>(count + α)</a:t>
            </a:r>
            <a:r>
              <a:rPr lang="en-US" sz="1700" b="1" dirty="0">
                <a:solidFill>
                  <a:srgbClr val="6D7C8F"/>
                </a:solidFill>
                <a:latin typeface="Aptos" pitchFamily="34" charset="0"/>
                <a:ea typeface="Aptos" pitchFamily="34" charset="-122"/>
                <a:cs typeface="Aptos" pitchFamily="34" charset="-120"/>
              </a:rPr>
              <a:t>  /  </a:t>
            </a:r>
            <a:r>
              <a:rPr lang="en-US" sz="1700" b="1" dirty="0">
                <a:solidFill>
                  <a:srgbClr val="1D5FA7"/>
                </a:solidFill>
                <a:latin typeface="Aptos" pitchFamily="34" charset="0"/>
                <a:ea typeface="Aptos" pitchFamily="34" charset="-122"/>
                <a:cs typeface="Aptos" pitchFamily="34" charset="-120"/>
              </a:rPr>
              <a:t>(total words in C + α|V|)</a:t>
            </a:r>
            <a:endParaRPr lang="en-US" sz="1700" dirty="0"/>
          </a:p>
        </p:txBody>
      </p:sp>
      <p:sp>
        <p:nvSpPr>
          <p:cNvPr id="9" name="Text 6"/>
          <p:cNvSpPr txBox="1"/>
          <p:nvPr/>
        </p:nvSpPr>
        <p:spPr>
          <a:xfrm>
            <a:off x="685800" y="3063240"/>
            <a:ext cx="5577840" cy="384048"/>
          </a:xfrm>
          <a:prstGeom prst="rect">
            <a:avLst/>
          </a:prstGeom>
          <a:noFill/>
          <a:ln/>
        </p:spPr>
        <p:txBody>
          <a:bodyPr wrap="square" lIns="0" tIns="0" rIns="0" bIns="0" rtlCol="0" anchor="ctr"/>
          <a:lstStyle/>
          <a:p>
            <a:pPr marL="0" indent="0">
              <a:buNone/>
            </a:pPr>
            <a:r>
              <a:rPr lang="en-US" sz="1400" b="1" dirty="0">
                <a:solidFill>
                  <a:srgbClr val="0B2D55"/>
                </a:solidFill>
                <a:latin typeface="Aptos" pitchFamily="34" charset="0"/>
                <a:ea typeface="Aptos" pitchFamily="34" charset="-122"/>
                <a:cs typeface="Aptos" pitchFamily="34" charset="-120"/>
              </a:rPr>
              <a:t>α:  </a:t>
            </a:r>
            <a:r>
              <a:rPr lang="en-US" sz="1400" dirty="0">
                <a:solidFill>
                  <a:srgbClr val="132033"/>
                </a:solidFill>
                <a:latin typeface="Aptos" pitchFamily="34" charset="0"/>
                <a:ea typeface="Aptos" pitchFamily="34" charset="-122"/>
                <a:cs typeface="Aptos" pitchFamily="34" charset="-120"/>
              </a:rPr>
              <a:t>smoothing strength (usually 1)</a:t>
            </a:r>
            <a:endParaRPr lang="en-US" sz="1400" dirty="0"/>
          </a:p>
        </p:txBody>
      </p:sp>
      <p:sp>
        <p:nvSpPr>
          <p:cNvPr id="10" name="Text 7"/>
          <p:cNvSpPr txBox="1"/>
          <p:nvPr/>
        </p:nvSpPr>
        <p:spPr>
          <a:xfrm>
            <a:off x="685800" y="3474720"/>
            <a:ext cx="5577840" cy="384048"/>
          </a:xfrm>
          <a:prstGeom prst="rect">
            <a:avLst/>
          </a:prstGeom>
          <a:noFill/>
          <a:ln/>
        </p:spPr>
        <p:txBody>
          <a:bodyPr wrap="square" lIns="0" tIns="0" rIns="0" bIns="0" rtlCol="0" anchor="ctr"/>
          <a:lstStyle/>
          <a:p>
            <a:pPr marL="0" indent="0">
              <a:buNone/>
            </a:pPr>
            <a:r>
              <a:rPr lang="en-US" sz="1400" b="1" dirty="0">
                <a:solidFill>
                  <a:srgbClr val="0B2D55"/>
                </a:solidFill>
                <a:latin typeface="Aptos" pitchFamily="34" charset="0"/>
                <a:ea typeface="Aptos" pitchFamily="34" charset="-122"/>
                <a:cs typeface="Aptos" pitchFamily="34" charset="-120"/>
              </a:rPr>
              <a:t>|V|:  </a:t>
            </a:r>
            <a:r>
              <a:rPr lang="en-US" sz="1400" dirty="0">
                <a:solidFill>
                  <a:srgbClr val="132033"/>
                </a:solidFill>
                <a:latin typeface="Aptos" pitchFamily="34" charset="0"/>
                <a:ea typeface="Aptos" pitchFamily="34" charset="-122"/>
                <a:cs typeface="Aptos" pitchFamily="34" charset="-120"/>
              </a:rPr>
              <a:t>vocabulary size: 40 here</a:t>
            </a:r>
            <a:endParaRPr lang="en-US" sz="1400" dirty="0"/>
          </a:p>
        </p:txBody>
      </p:sp>
      <p:sp>
        <p:nvSpPr>
          <p:cNvPr id="11" name="Text 8"/>
          <p:cNvSpPr txBox="1"/>
          <p:nvPr/>
        </p:nvSpPr>
        <p:spPr>
          <a:xfrm>
            <a:off x="685800" y="3886200"/>
            <a:ext cx="5577840" cy="384048"/>
          </a:xfrm>
          <a:prstGeom prst="rect">
            <a:avLst/>
          </a:prstGeom>
          <a:noFill/>
          <a:ln/>
        </p:spPr>
        <p:txBody>
          <a:bodyPr wrap="square" lIns="0" tIns="0" rIns="0" bIns="0" rtlCol="0" anchor="ctr"/>
          <a:lstStyle/>
          <a:p>
            <a:pPr marL="0" indent="0">
              <a:buNone/>
            </a:pPr>
            <a:r>
              <a:rPr lang="en-US" sz="1400" b="1" dirty="0">
                <a:solidFill>
                  <a:srgbClr val="0B2D55"/>
                </a:solidFill>
                <a:latin typeface="Aptos" pitchFamily="34" charset="0"/>
                <a:ea typeface="Aptos" pitchFamily="34" charset="-122"/>
                <a:cs typeface="Aptos" pitchFamily="34" charset="-120"/>
              </a:rPr>
              <a:t>denominators:  </a:t>
            </a:r>
            <a:r>
              <a:rPr lang="en-US" sz="1400" dirty="0">
                <a:solidFill>
                  <a:srgbClr val="132033"/>
                </a:solidFill>
                <a:latin typeface="Aptos" pitchFamily="34" charset="0"/>
                <a:ea typeface="Aptos" pitchFamily="34" charset="-122"/>
                <a:cs typeface="Aptos" pitchFamily="34" charset="-120"/>
              </a:rPr>
              <a:t>scam 40 + 40 = 80;  legit 160 + 40 = 200</a:t>
            </a:r>
            <a:endParaRPr lang="en-US" sz="1400" dirty="0"/>
          </a:p>
        </p:txBody>
      </p:sp>
      <p:sp>
        <p:nvSpPr>
          <p:cNvPr id="12" name="Shape 9"/>
          <p:cNvSpPr/>
          <p:nvPr/>
        </p:nvSpPr>
        <p:spPr>
          <a:xfrm>
            <a:off x="576072" y="4434840"/>
            <a:ext cx="5760720" cy="1417320"/>
          </a:xfrm>
          <a:prstGeom prst="roundRect">
            <a:avLst>
              <a:gd name="adj" fmla="val 5161"/>
            </a:avLst>
          </a:prstGeom>
          <a:solidFill>
            <a:srgbClr val="DFF0D8"/>
          </a:solidFill>
          <a:ln w="12700">
            <a:solidFill>
              <a:srgbClr val="2E7D32"/>
            </a:solidFill>
            <a:prstDash val="solid"/>
          </a:ln>
        </p:spPr>
        <p:txBody>
          <a:bodyPr/>
          <a:lstStyle/>
          <a:p>
            <a:endParaRPr lang="en-US"/>
          </a:p>
        </p:txBody>
      </p:sp>
      <p:sp>
        <p:nvSpPr>
          <p:cNvPr id="13" name="Text 10"/>
          <p:cNvSpPr txBox="1"/>
          <p:nvPr/>
        </p:nvSpPr>
        <p:spPr>
          <a:xfrm>
            <a:off x="758952" y="4544568"/>
            <a:ext cx="539496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Compute</a:t>
            </a:r>
            <a:endParaRPr lang="en-US" sz="1500" dirty="0"/>
          </a:p>
        </p:txBody>
      </p:sp>
      <p:sp>
        <p:nvSpPr>
          <p:cNvPr id="14" name="Text 11"/>
          <p:cNvSpPr txBox="1"/>
          <p:nvPr/>
        </p:nvSpPr>
        <p:spPr>
          <a:xfrm>
            <a:off x="758952" y="4873752"/>
            <a:ext cx="5394960" cy="886968"/>
          </a:xfrm>
          <a:prstGeom prst="rect">
            <a:avLst/>
          </a:prstGeom>
          <a:noFill/>
          <a:ln/>
        </p:spPr>
        <p:txBody>
          <a:bodyPr wrap="square" lIns="0" tIns="0" rIns="0" bIns="0" rtlCol="0" anchor="t"/>
          <a:lstStyle/>
          <a:p>
            <a:pPr marL="0" indent="0">
              <a:buNone/>
            </a:pPr>
            <a:r>
              <a:rPr lang="en-US" sz="1550" dirty="0">
                <a:solidFill>
                  <a:srgbClr val="132033"/>
                </a:solidFill>
                <a:latin typeface="Aptos" pitchFamily="34" charset="0"/>
                <a:ea typeface="Aptos" pitchFamily="34" charset="-122"/>
                <a:cs typeface="Aptos" pitchFamily="34" charset="-120"/>
              </a:rPr>
              <a:t>P(tonight | scam) = (0 + 1) / 80 = 0.0125</a:t>
            </a:r>
            <a:endParaRPr lang="en-US" sz="1550" dirty="0"/>
          </a:p>
          <a:p>
            <a:pPr marL="0" indent="0">
              <a:buNone/>
            </a:pPr>
            <a:r>
              <a:rPr lang="en-US" sz="1550" dirty="0">
                <a:solidFill>
                  <a:srgbClr val="132033"/>
                </a:solidFill>
                <a:latin typeface="Aptos" pitchFamily="34" charset="0"/>
                <a:ea typeface="Aptos" pitchFamily="34" charset="-122"/>
                <a:cs typeface="Aptos" pitchFamily="34" charset="-120"/>
              </a:rPr>
              <a:t>P(free | scam) = (6 + 1) / 80 = 0.0875 (was 0.15)</a:t>
            </a:r>
            <a:endParaRPr lang="en-US" sz="1550" dirty="0"/>
          </a:p>
        </p:txBody>
      </p:sp>
      <p:graphicFrame>
        <p:nvGraphicFramePr>
          <p:cNvPr id="15" name="Chart 0"/>
          <p:cNvGraphicFramePr/>
          <p:nvPr/>
        </p:nvGraphicFramePr>
        <p:xfrm>
          <a:off x="6583680" y="1508760"/>
          <a:ext cx="5029200" cy="4343400"/>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Worked example: the rescue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Compute → Interpret → Predict: “claim prize tonight” with α = 1.</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22</a:t>
            </a:r>
            <a:endParaRPr lang="en-US" sz="850" dirty="0"/>
          </a:p>
        </p:txBody>
      </p:sp>
      <p:sp>
        <p:nvSpPr>
          <p:cNvPr id="7" name="Shape 4"/>
          <p:cNvSpPr/>
          <p:nvPr/>
        </p:nvSpPr>
        <p:spPr>
          <a:xfrm>
            <a:off x="777240" y="1737360"/>
            <a:ext cx="1051560" cy="384048"/>
          </a:xfrm>
          <a:prstGeom prst="roundRect">
            <a:avLst>
              <a:gd name="adj" fmla="val 19048"/>
            </a:avLst>
          </a:prstGeom>
          <a:solidFill>
            <a:srgbClr val="D9731A"/>
          </a:solidFill>
          <a:ln w="12700">
            <a:solidFill>
              <a:srgbClr val="D9731A"/>
            </a:solidFill>
            <a:prstDash val="solid"/>
          </a:ln>
        </p:spPr>
        <p:txBody>
          <a:bodyPr/>
          <a:lstStyle/>
          <a:p>
            <a:endParaRPr lang="en-US"/>
          </a:p>
        </p:txBody>
      </p:sp>
      <p:sp>
        <p:nvSpPr>
          <p:cNvPr id="8" name="Text 5"/>
          <p:cNvSpPr txBox="1"/>
          <p:nvPr/>
        </p:nvSpPr>
        <p:spPr>
          <a:xfrm>
            <a:off x="777240" y="1737360"/>
            <a:ext cx="10515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Scam</a:t>
            </a:r>
            <a:endParaRPr lang="en-US" sz="1400" dirty="0"/>
          </a:p>
        </p:txBody>
      </p:sp>
      <p:sp>
        <p:nvSpPr>
          <p:cNvPr id="9" name="Shape 6"/>
          <p:cNvSpPr/>
          <p:nvPr/>
        </p:nvSpPr>
        <p:spPr>
          <a:xfrm>
            <a:off x="1965960" y="1554480"/>
            <a:ext cx="128016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10" name="Text 7"/>
          <p:cNvSpPr txBox="1"/>
          <p:nvPr/>
        </p:nvSpPr>
        <p:spPr>
          <a:xfrm>
            <a:off x="1965960" y="155448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prior</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0.2</a:t>
            </a:r>
            <a:endParaRPr lang="en-US" sz="1600" dirty="0"/>
          </a:p>
        </p:txBody>
      </p:sp>
      <p:sp>
        <p:nvSpPr>
          <p:cNvPr id="11" name="Text 8"/>
          <p:cNvSpPr txBox="1"/>
          <p:nvPr/>
        </p:nvSpPr>
        <p:spPr>
          <a:xfrm>
            <a:off x="3246120" y="155448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2" name="Shape 9"/>
          <p:cNvSpPr/>
          <p:nvPr/>
        </p:nvSpPr>
        <p:spPr>
          <a:xfrm>
            <a:off x="3538728" y="155448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3" name="Text 10"/>
          <p:cNvSpPr txBox="1"/>
          <p:nvPr/>
        </p:nvSpPr>
        <p:spPr>
          <a:xfrm>
            <a:off x="3538728" y="155448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claim</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5/80</a:t>
            </a:r>
            <a:endParaRPr lang="en-US" sz="1600" dirty="0"/>
          </a:p>
        </p:txBody>
      </p:sp>
      <p:sp>
        <p:nvSpPr>
          <p:cNvPr id="14" name="Text 11"/>
          <p:cNvSpPr txBox="1"/>
          <p:nvPr/>
        </p:nvSpPr>
        <p:spPr>
          <a:xfrm>
            <a:off x="4818888" y="155448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5" name="Shape 12"/>
          <p:cNvSpPr/>
          <p:nvPr/>
        </p:nvSpPr>
        <p:spPr>
          <a:xfrm>
            <a:off x="5111496" y="155448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16" name="Text 13"/>
          <p:cNvSpPr txBox="1"/>
          <p:nvPr/>
        </p:nvSpPr>
        <p:spPr>
          <a:xfrm>
            <a:off x="5111496" y="155448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prize</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4/80</a:t>
            </a:r>
            <a:endParaRPr lang="en-US" sz="1600" dirty="0"/>
          </a:p>
        </p:txBody>
      </p:sp>
      <p:sp>
        <p:nvSpPr>
          <p:cNvPr id="17" name="Text 14"/>
          <p:cNvSpPr txBox="1"/>
          <p:nvPr/>
        </p:nvSpPr>
        <p:spPr>
          <a:xfrm>
            <a:off x="6391656" y="155448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18" name="Shape 15"/>
          <p:cNvSpPr/>
          <p:nvPr/>
        </p:nvSpPr>
        <p:spPr>
          <a:xfrm>
            <a:off x="6684264" y="1554480"/>
            <a:ext cx="1280160" cy="749808"/>
          </a:xfrm>
          <a:prstGeom prst="roundRect">
            <a:avLst>
              <a:gd name="adj" fmla="val 9756"/>
            </a:avLst>
          </a:prstGeom>
          <a:solidFill>
            <a:srgbClr val="DFF0D8"/>
          </a:solidFill>
          <a:ln w="12700">
            <a:solidFill>
              <a:srgbClr val="2E7D32"/>
            </a:solidFill>
            <a:prstDash val="solid"/>
          </a:ln>
        </p:spPr>
        <p:txBody>
          <a:bodyPr/>
          <a:lstStyle/>
          <a:p>
            <a:endParaRPr lang="en-US"/>
          </a:p>
        </p:txBody>
      </p:sp>
      <p:sp>
        <p:nvSpPr>
          <p:cNvPr id="19" name="Text 16"/>
          <p:cNvSpPr txBox="1"/>
          <p:nvPr/>
        </p:nvSpPr>
        <p:spPr>
          <a:xfrm>
            <a:off x="6684264" y="155448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tonight</a:t>
            </a:r>
            <a:endParaRPr lang="en-US" sz="1600" dirty="0"/>
          </a:p>
          <a:p>
            <a:pPr marL="0" indent="0" algn="ctr">
              <a:buNone/>
            </a:pPr>
            <a:r>
              <a:rPr lang="en-US" sz="1700" b="1" dirty="0">
                <a:solidFill>
                  <a:srgbClr val="2E7D32"/>
                </a:solidFill>
                <a:latin typeface="Aptos" pitchFamily="34" charset="0"/>
                <a:ea typeface="Aptos" pitchFamily="34" charset="-122"/>
                <a:cs typeface="Aptos" pitchFamily="34" charset="-120"/>
              </a:rPr>
              <a:t>1/80</a:t>
            </a:r>
            <a:endParaRPr lang="en-US" sz="1600" dirty="0"/>
          </a:p>
        </p:txBody>
      </p:sp>
      <p:sp>
        <p:nvSpPr>
          <p:cNvPr id="20" name="Text 17"/>
          <p:cNvSpPr txBox="1"/>
          <p:nvPr/>
        </p:nvSpPr>
        <p:spPr>
          <a:xfrm>
            <a:off x="7964424" y="155448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1" name="Shape 18"/>
          <p:cNvSpPr/>
          <p:nvPr/>
        </p:nvSpPr>
        <p:spPr>
          <a:xfrm>
            <a:off x="8257032" y="1554480"/>
            <a:ext cx="1828800" cy="749808"/>
          </a:xfrm>
          <a:prstGeom prst="roundRect">
            <a:avLst>
              <a:gd name="adj" fmla="val 9756"/>
            </a:avLst>
          </a:prstGeom>
          <a:solidFill>
            <a:srgbClr val="FCE9D8"/>
          </a:solidFill>
          <a:ln w="12700">
            <a:solidFill>
              <a:srgbClr val="D9731A"/>
            </a:solidFill>
            <a:prstDash val="solid"/>
          </a:ln>
        </p:spPr>
        <p:txBody>
          <a:bodyPr/>
          <a:lstStyle/>
          <a:p>
            <a:endParaRPr lang="en-US"/>
          </a:p>
        </p:txBody>
      </p:sp>
      <p:sp>
        <p:nvSpPr>
          <p:cNvPr id="22" name="Text 19"/>
          <p:cNvSpPr txBox="1"/>
          <p:nvPr/>
        </p:nvSpPr>
        <p:spPr>
          <a:xfrm>
            <a:off x="8257032" y="1554480"/>
            <a:ext cx="182880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scam score</a:t>
            </a:r>
            <a:endParaRPr lang="en-US" sz="1600" dirty="0"/>
          </a:p>
          <a:p>
            <a:pPr marL="0" indent="0" algn="ctr">
              <a:buNone/>
            </a:pPr>
            <a:r>
              <a:rPr lang="en-US" sz="1800" b="1" dirty="0">
                <a:solidFill>
                  <a:srgbClr val="D9731A"/>
                </a:solidFill>
                <a:latin typeface="Aptos" pitchFamily="34" charset="0"/>
                <a:ea typeface="Aptos" pitchFamily="34" charset="-122"/>
                <a:cs typeface="Aptos" pitchFamily="34" charset="-120"/>
              </a:rPr>
              <a:t>7.8 × 10⁻⁶</a:t>
            </a:r>
            <a:endParaRPr lang="en-US" sz="1600" dirty="0"/>
          </a:p>
        </p:txBody>
      </p:sp>
      <p:sp>
        <p:nvSpPr>
          <p:cNvPr id="23" name="Shape 20"/>
          <p:cNvSpPr/>
          <p:nvPr/>
        </p:nvSpPr>
        <p:spPr>
          <a:xfrm>
            <a:off x="777240" y="2743200"/>
            <a:ext cx="1051560" cy="384048"/>
          </a:xfrm>
          <a:prstGeom prst="roundRect">
            <a:avLst>
              <a:gd name="adj" fmla="val 19048"/>
            </a:avLst>
          </a:prstGeom>
          <a:solidFill>
            <a:srgbClr val="1D5FA7"/>
          </a:solidFill>
          <a:ln w="12700">
            <a:solidFill>
              <a:srgbClr val="1D5FA7"/>
            </a:solidFill>
            <a:prstDash val="solid"/>
          </a:ln>
        </p:spPr>
        <p:txBody>
          <a:bodyPr/>
          <a:lstStyle/>
          <a:p>
            <a:endParaRPr lang="en-US"/>
          </a:p>
        </p:txBody>
      </p:sp>
      <p:sp>
        <p:nvSpPr>
          <p:cNvPr id="24" name="Text 21"/>
          <p:cNvSpPr txBox="1"/>
          <p:nvPr/>
        </p:nvSpPr>
        <p:spPr>
          <a:xfrm>
            <a:off x="777240" y="2743200"/>
            <a:ext cx="1051560"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Aptos" pitchFamily="34" charset="0"/>
                <a:ea typeface="Aptos" pitchFamily="34" charset="-122"/>
                <a:cs typeface="Aptos" pitchFamily="34" charset="-120"/>
              </a:rPr>
              <a:t>Legit</a:t>
            </a:r>
            <a:endParaRPr lang="en-US" sz="1400" dirty="0"/>
          </a:p>
        </p:txBody>
      </p:sp>
      <p:sp>
        <p:nvSpPr>
          <p:cNvPr id="25" name="Shape 22"/>
          <p:cNvSpPr/>
          <p:nvPr/>
        </p:nvSpPr>
        <p:spPr>
          <a:xfrm>
            <a:off x="1965960" y="2560320"/>
            <a:ext cx="128016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26" name="Text 23"/>
          <p:cNvSpPr txBox="1"/>
          <p:nvPr/>
        </p:nvSpPr>
        <p:spPr>
          <a:xfrm>
            <a:off x="1965960" y="256032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prior</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0.8</a:t>
            </a:r>
            <a:endParaRPr lang="en-US" sz="1600" dirty="0"/>
          </a:p>
        </p:txBody>
      </p:sp>
      <p:sp>
        <p:nvSpPr>
          <p:cNvPr id="27" name="Text 24"/>
          <p:cNvSpPr txBox="1"/>
          <p:nvPr/>
        </p:nvSpPr>
        <p:spPr>
          <a:xfrm>
            <a:off x="3246120" y="256032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28" name="Shape 25"/>
          <p:cNvSpPr/>
          <p:nvPr/>
        </p:nvSpPr>
        <p:spPr>
          <a:xfrm>
            <a:off x="3538728" y="256032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29" name="Text 26"/>
          <p:cNvSpPr txBox="1"/>
          <p:nvPr/>
        </p:nvSpPr>
        <p:spPr>
          <a:xfrm>
            <a:off x="3538728" y="256032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claim</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2/200</a:t>
            </a:r>
            <a:endParaRPr lang="en-US" sz="1600" dirty="0"/>
          </a:p>
        </p:txBody>
      </p:sp>
      <p:sp>
        <p:nvSpPr>
          <p:cNvPr id="30" name="Text 27"/>
          <p:cNvSpPr txBox="1"/>
          <p:nvPr/>
        </p:nvSpPr>
        <p:spPr>
          <a:xfrm>
            <a:off x="4818888" y="256032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1" name="Shape 28"/>
          <p:cNvSpPr/>
          <p:nvPr/>
        </p:nvSpPr>
        <p:spPr>
          <a:xfrm>
            <a:off x="5111496" y="256032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2" name="Text 29"/>
          <p:cNvSpPr txBox="1"/>
          <p:nvPr/>
        </p:nvSpPr>
        <p:spPr>
          <a:xfrm>
            <a:off x="5111496" y="256032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prize</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2/200</a:t>
            </a:r>
            <a:endParaRPr lang="en-US" sz="1600" dirty="0"/>
          </a:p>
        </p:txBody>
      </p:sp>
      <p:sp>
        <p:nvSpPr>
          <p:cNvPr id="33" name="Text 30"/>
          <p:cNvSpPr txBox="1"/>
          <p:nvPr/>
        </p:nvSpPr>
        <p:spPr>
          <a:xfrm>
            <a:off x="6391656" y="256032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4" name="Shape 31"/>
          <p:cNvSpPr/>
          <p:nvPr/>
        </p:nvSpPr>
        <p:spPr>
          <a:xfrm>
            <a:off x="6684264" y="2560320"/>
            <a:ext cx="1280160" cy="749808"/>
          </a:xfrm>
          <a:prstGeom prst="roundRect">
            <a:avLst>
              <a:gd name="adj" fmla="val 9756"/>
            </a:avLst>
          </a:prstGeom>
          <a:solidFill>
            <a:srgbClr val="FFFFFF"/>
          </a:solidFill>
          <a:ln w="12700">
            <a:solidFill>
              <a:srgbClr val="B8C7D8"/>
            </a:solidFill>
            <a:prstDash val="solid"/>
          </a:ln>
        </p:spPr>
        <p:txBody>
          <a:bodyPr/>
          <a:lstStyle/>
          <a:p>
            <a:endParaRPr lang="en-US"/>
          </a:p>
        </p:txBody>
      </p:sp>
      <p:sp>
        <p:nvSpPr>
          <p:cNvPr id="35" name="Text 32"/>
          <p:cNvSpPr txBox="1"/>
          <p:nvPr/>
        </p:nvSpPr>
        <p:spPr>
          <a:xfrm>
            <a:off x="6684264" y="2560320"/>
            <a:ext cx="128016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tonight</a:t>
            </a:r>
            <a:endParaRPr lang="en-US" sz="1600" dirty="0"/>
          </a:p>
          <a:p>
            <a:pPr marL="0" indent="0" algn="ctr">
              <a:buNone/>
            </a:pPr>
            <a:r>
              <a:rPr lang="en-US" sz="1700" b="1" dirty="0">
                <a:solidFill>
                  <a:srgbClr val="0B2D55"/>
                </a:solidFill>
                <a:latin typeface="Aptos" pitchFamily="34" charset="0"/>
                <a:ea typeface="Aptos" pitchFamily="34" charset="-122"/>
                <a:cs typeface="Aptos" pitchFamily="34" charset="-120"/>
              </a:rPr>
              <a:t>9/200</a:t>
            </a:r>
            <a:endParaRPr lang="en-US" sz="1600" dirty="0"/>
          </a:p>
        </p:txBody>
      </p:sp>
      <p:sp>
        <p:nvSpPr>
          <p:cNvPr id="36" name="Text 33"/>
          <p:cNvSpPr txBox="1"/>
          <p:nvPr/>
        </p:nvSpPr>
        <p:spPr>
          <a:xfrm>
            <a:off x="7964424" y="2560320"/>
            <a:ext cx="292608" cy="749808"/>
          </a:xfrm>
          <a:prstGeom prst="rect">
            <a:avLst/>
          </a:prstGeom>
          <a:noFill/>
          <a:ln/>
        </p:spPr>
        <p:txBody>
          <a:bodyPr wrap="square" lIns="0" tIns="0" rIns="0" bIns="0" rtlCol="0" anchor="ctr"/>
          <a:lstStyle/>
          <a:p>
            <a:pPr marL="0" indent="0" algn="ctr">
              <a:buNone/>
            </a:pPr>
            <a:r>
              <a:rPr lang="en-US" sz="2200" b="1" dirty="0">
                <a:solidFill>
                  <a:srgbClr val="6D7C8F"/>
                </a:solidFill>
                <a:latin typeface="Aptos" pitchFamily="34" charset="0"/>
                <a:ea typeface="Aptos" pitchFamily="34" charset="-122"/>
                <a:cs typeface="Aptos" pitchFamily="34" charset="-120"/>
              </a:rPr>
              <a:t>=</a:t>
            </a:r>
            <a:endParaRPr lang="en-US" sz="2200" dirty="0"/>
          </a:p>
        </p:txBody>
      </p:sp>
      <p:sp>
        <p:nvSpPr>
          <p:cNvPr id="37" name="Shape 34"/>
          <p:cNvSpPr/>
          <p:nvPr/>
        </p:nvSpPr>
        <p:spPr>
          <a:xfrm>
            <a:off x="8257032" y="2560320"/>
            <a:ext cx="1828800" cy="749808"/>
          </a:xfrm>
          <a:prstGeom prst="roundRect">
            <a:avLst>
              <a:gd name="adj" fmla="val 9756"/>
            </a:avLst>
          </a:prstGeom>
          <a:solidFill>
            <a:srgbClr val="EAF2F8"/>
          </a:solidFill>
          <a:ln w="12700">
            <a:solidFill>
              <a:srgbClr val="1F5D9B"/>
            </a:solidFill>
            <a:prstDash val="solid"/>
          </a:ln>
        </p:spPr>
        <p:txBody>
          <a:bodyPr/>
          <a:lstStyle/>
          <a:p>
            <a:endParaRPr lang="en-US"/>
          </a:p>
        </p:txBody>
      </p:sp>
      <p:sp>
        <p:nvSpPr>
          <p:cNvPr id="38" name="Text 35"/>
          <p:cNvSpPr txBox="1"/>
          <p:nvPr/>
        </p:nvSpPr>
        <p:spPr>
          <a:xfrm>
            <a:off x="8257032" y="2560320"/>
            <a:ext cx="1828800" cy="749808"/>
          </a:xfrm>
          <a:prstGeom prst="rect">
            <a:avLst/>
          </a:prstGeom>
          <a:noFill/>
          <a:ln/>
        </p:spPr>
        <p:txBody>
          <a:bodyPr wrap="square" lIns="0" tIns="0" rIns="0" bIns="0" rtlCol="0" anchor="ctr"/>
          <a:lstStyle/>
          <a:p>
            <a:pPr marL="0" indent="0" algn="ctr">
              <a:buNone/>
            </a:pPr>
            <a:r>
              <a:rPr lang="en-US" sz="1150" dirty="0">
                <a:solidFill>
                  <a:srgbClr val="6D7C8F"/>
                </a:solidFill>
                <a:latin typeface="Aptos" pitchFamily="34" charset="0"/>
                <a:ea typeface="Aptos" pitchFamily="34" charset="-122"/>
                <a:cs typeface="Aptos" pitchFamily="34" charset="-120"/>
              </a:rPr>
              <a:t>legit score</a:t>
            </a:r>
            <a:endParaRPr lang="en-US" sz="1600" dirty="0"/>
          </a:p>
          <a:p>
            <a:pPr marL="0" indent="0" algn="ctr">
              <a:buNone/>
            </a:pPr>
            <a:r>
              <a:rPr lang="en-US" sz="1800" b="1" dirty="0">
                <a:solidFill>
                  <a:srgbClr val="1D5FA7"/>
                </a:solidFill>
                <a:latin typeface="Aptos" pitchFamily="34" charset="0"/>
                <a:ea typeface="Aptos" pitchFamily="34" charset="-122"/>
                <a:cs typeface="Aptos" pitchFamily="34" charset="-120"/>
              </a:rPr>
              <a:t>3.6 × 10⁻⁶</a:t>
            </a:r>
            <a:endParaRPr lang="en-US" sz="1600" dirty="0"/>
          </a:p>
        </p:txBody>
      </p:sp>
      <p:sp>
        <p:nvSpPr>
          <p:cNvPr id="39" name="Shape 36"/>
          <p:cNvSpPr/>
          <p:nvPr/>
        </p:nvSpPr>
        <p:spPr>
          <a:xfrm>
            <a:off x="576072" y="3657600"/>
            <a:ext cx="3566160" cy="2103120"/>
          </a:xfrm>
          <a:prstGeom prst="roundRect">
            <a:avLst>
              <a:gd name="adj" fmla="val 3478"/>
            </a:avLst>
          </a:prstGeom>
          <a:solidFill>
            <a:srgbClr val="EAF2F8"/>
          </a:solidFill>
          <a:ln w="12700">
            <a:solidFill>
              <a:srgbClr val="1F5D9B"/>
            </a:solidFill>
            <a:prstDash val="solid"/>
          </a:ln>
        </p:spPr>
        <p:txBody>
          <a:bodyPr/>
          <a:lstStyle/>
          <a:p>
            <a:endParaRPr lang="en-US"/>
          </a:p>
        </p:txBody>
      </p:sp>
      <p:sp>
        <p:nvSpPr>
          <p:cNvPr id="40" name="Text 37"/>
          <p:cNvSpPr txBox="1"/>
          <p:nvPr/>
        </p:nvSpPr>
        <p:spPr>
          <a:xfrm>
            <a:off x="758952" y="376732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Normalize</a:t>
            </a:r>
            <a:endParaRPr lang="en-US" sz="1500" dirty="0"/>
          </a:p>
        </p:txBody>
      </p:sp>
      <p:sp>
        <p:nvSpPr>
          <p:cNvPr id="41" name="Text 38"/>
          <p:cNvSpPr txBox="1"/>
          <p:nvPr/>
        </p:nvSpPr>
        <p:spPr>
          <a:xfrm>
            <a:off x="758952" y="4096512"/>
            <a:ext cx="3200400" cy="157276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P(scam) = 7.8 / (7.8 + 3.6) ≈ 0.68. The decision flips to scam.</a:t>
            </a:r>
            <a:endParaRPr lang="en-US" sz="1600" dirty="0"/>
          </a:p>
        </p:txBody>
      </p:sp>
      <p:sp>
        <p:nvSpPr>
          <p:cNvPr id="42" name="Shape 39"/>
          <p:cNvSpPr/>
          <p:nvPr/>
        </p:nvSpPr>
        <p:spPr>
          <a:xfrm>
            <a:off x="4315968" y="3657600"/>
            <a:ext cx="3566160" cy="2103120"/>
          </a:xfrm>
          <a:prstGeom prst="roundRect">
            <a:avLst>
              <a:gd name="adj" fmla="val 3478"/>
            </a:avLst>
          </a:prstGeom>
          <a:solidFill>
            <a:srgbClr val="DFF0D8"/>
          </a:solidFill>
          <a:ln w="12700">
            <a:solidFill>
              <a:srgbClr val="2E7D32"/>
            </a:solidFill>
            <a:prstDash val="solid"/>
          </a:ln>
        </p:spPr>
        <p:txBody>
          <a:bodyPr/>
          <a:lstStyle/>
          <a:p>
            <a:endParaRPr lang="en-US"/>
          </a:p>
        </p:txBody>
      </p:sp>
      <p:sp>
        <p:nvSpPr>
          <p:cNvPr id="43" name="Text 40"/>
          <p:cNvSpPr txBox="1"/>
          <p:nvPr/>
        </p:nvSpPr>
        <p:spPr>
          <a:xfrm>
            <a:off x="4498848" y="376732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Interpret</a:t>
            </a:r>
            <a:endParaRPr lang="en-US" sz="1500" dirty="0"/>
          </a:p>
        </p:txBody>
      </p:sp>
      <p:sp>
        <p:nvSpPr>
          <p:cNvPr id="44" name="Text 41"/>
          <p:cNvSpPr txBox="1"/>
          <p:nvPr/>
        </p:nvSpPr>
        <p:spPr>
          <a:xfrm>
            <a:off x="4498848" y="4096512"/>
            <a:ext cx="3200400" cy="157276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“tonight” still votes for legit (about 3.6×), but it can no longer veto everything else.</a:t>
            </a:r>
            <a:endParaRPr lang="en-US" sz="1600" dirty="0"/>
          </a:p>
        </p:txBody>
      </p:sp>
      <p:sp>
        <p:nvSpPr>
          <p:cNvPr id="45" name="Shape 42"/>
          <p:cNvSpPr/>
          <p:nvPr/>
        </p:nvSpPr>
        <p:spPr>
          <a:xfrm>
            <a:off x="8055864" y="3657600"/>
            <a:ext cx="3566160" cy="2103120"/>
          </a:xfrm>
          <a:prstGeom prst="roundRect">
            <a:avLst>
              <a:gd name="adj" fmla="val 3478"/>
            </a:avLst>
          </a:prstGeom>
          <a:solidFill>
            <a:srgbClr val="FFF4CE"/>
          </a:solidFill>
          <a:ln w="12700">
            <a:solidFill>
              <a:srgbClr val="F2C14E"/>
            </a:solidFill>
            <a:prstDash val="solid"/>
          </a:ln>
        </p:spPr>
        <p:txBody>
          <a:bodyPr/>
          <a:lstStyle/>
          <a:p>
            <a:endParaRPr lang="en-US"/>
          </a:p>
        </p:txBody>
      </p:sp>
      <p:sp>
        <p:nvSpPr>
          <p:cNvPr id="46" name="Text 43"/>
          <p:cNvSpPr txBox="1"/>
          <p:nvPr/>
        </p:nvSpPr>
        <p:spPr>
          <a:xfrm>
            <a:off x="8238744" y="3767328"/>
            <a:ext cx="32004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Predict</a:t>
            </a:r>
            <a:endParaRPr lang="en-US" sz="1500" dirty="0"/>
          </a:p>
        </p:txBody>
      </p:sp>
      <p:sp>
        <p:nvSpPr>
          <p:cNvPr id="47" name="Text 44"/>
          <p:cNvSpPr txBox="1"/>
          <p:nvPr/>
        </p:nvSpPr>
        <p:spPr>
          <a:xfrm>
            <a:off x="8238744" y="4096512"/>
            <a:ext cx="3200400" cy="157276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Huge α? Every likelihood → 1/|V|. Words stop mattering and the prior decides: high bias.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Practice: triage a maintenance write-up</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Safety-critical or routine? Compute without and then with smoothing.</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23</a:t>
            </a:r>
            <a:endParaRPr lang="en-US" sz="850" dirty="0"/>
          </a:p>
        </p:txBody>
      </p:sp>
      <p:sp>
        <p:nvSpPr>
          <p:cNvPr id="7" name="Shape 4"/>
          <p:cNvSpPr/>
          <p:nvPr/>
        </p:nvSpPr>
        <p:spPr>
          <a:xfrm>
            <a:off x="576072" y="1554480"/>
            <a:ext cx="4572000" cy="640080"/>
          </a:xfrm>
          <a:prstGeom prst="roundRect">
            <a:avLst>
              <a:gd name="adj" fmla="val 21429"/>
            </a:avLst>
          </a:prstGeom>
          <a:solidFill>
            <a:srgbClr val="E3E9F0"/>
          </a:solidFill>
          <a:ln w="12700">
            <a:solidFill>
              <a:srgbClr val="E3E9F0"/>
            </a:solidFill>
            <a:prstDash val="solid"/>
          </a:ln>
        </p:spPr>
        <p:txBody>
          <a:bodyPr/>
          <a:lstStyle/>
          <a:p>
            <a:endParaRPr lang="en-US"/>
          </a:p>
        </p:txBody>
      </p:sp>
      <p:sp>
        <p:nvSpPr>
          <p:cNvPr id="8" name="Text 5"/>
          <p:cNvSpPr txBox="1"/>
          <p:nvPr/>
        </p:nvSpPr>
        <p:spPr>
          <a:xfrm>
            <a:off x="713232" y="1554480"/>
            <a:ext cx="4297680" cy="640080"/>
          </a:xfrm>
          <a:prstGeom prst="rect">
            <a:avLst/>
          </a:prstGeom>
          <a:noFill/>
          <a:ln/>
        </p:spPr>
        <p:txBody>
          <a:bodyPr wrap="square" lIns="0" tIns="0" rIns="0" bIns="0" rtlCol="0" anchor="ctr"/>
          <a:lstStyle/>
          <a:p>
            <a:pPr marL="0" indent="0">
              <a:buNone/>
            </a:pPr>
            <a:r>
              <a:rPr lang="en-US" sz="2000" dirty="0">
                <a:solidFill>
                  <a:srgbClr val="132033"/>
                </a:solidFill>
                <a:latin typeface="Aptos" pitchFamily="34" charset="0"/>
                <a:ea typeface="Aptos" pitchFamily="34" charset="-122"/>
                <a:cs typeface="Aptos" pitchFamily="34" charset="-120"/>
              </a:rPr>
              <a:t>“minor hydraulic leak”</a:t>
            </a:r>
            <a:endParaRPr lang="en-US" sz="2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76072" y="2377440"/>
          <a:ext cx="4572000" cy="2194560"/>
        </p:xfrm>
        <a:graphic>
          <a:graphicData uri="http://schemas.openxmlformats.org/drawingml/2006/table">
            <a:tbl>
              <a:tblPr/>
              <a:tblGrid>
                <a:gridCol w="16459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438912">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Word</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Critical count</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Routine count</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438912">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minor</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b="1" dirty="0">
                          <a:solidFill>
                            <a:srgbClr val="B43A3A"/>
                          </a:solidFill>
                          <a:latin typeface="Aptos" pitchFamily="34" charset="0"/>
                          <a:ea typeface="Aptos" pitchFamily="34" charset="-122"/>
                          <a:cs typeface="Aptos" pitchFamily="34" charset="-120"/>
                        </a:rPr>
                        <a:t>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7D7D7"/>
                    </a:solidFill>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9</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hydraulic</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4</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3</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leak</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5</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1</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Total words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132033"/>
                          </a:solidFill>
                          <a:latin typeface="Aptos" pitchFamily="34" charset="0"/>
                          <a:ea typeface="Aptos" pitchFamily="34" charset="-122"/>
                          <a:cs typeface="Aptos" pitchFamily="34" charset="-120"/>
                        </a:rPr>
                        <a:t>50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132033"/>
                          </a:solidFill>
                          <a:latin typeface="Aptos" pitchFamily="34" charset="0"/>
                          <a:ea typeface="Aptos" pitchFamily="34" charset="-122"/>
                          <a:cs typeface="Aptos" pitchFamily="34" charset="-120"/>
                        </a:rPr>
                        <a:t>150</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4"/>
                  </a:ext>
                </a:extLst>
              </a:tr>
            </a:tbl>
          </a:graphicData>
        </a:graphic>
      </p:graphicFrame>
      <p:sp>
        <p:nvSpPr>
          <p:cNvPr id="10" name="Text 6"/>
          <p:cNvSpPr txBox="1"/>
          <p:nvPr/>
        </p:nvSpPr>
        <p:spPr>
          <a:xfrm>
            <a:off x="576072" y="4983480"/>
            <a:ext cx="4572000" cy="365760"/>
          </a:xfrm>
          <a:prstGeom prst="rect">
            <a:avLst/>
          </a:prstGeom>
          <a:noFill/>
          <a:ln/>
        </p:spPr>
        <p:txBody>
          <a:bodyPr wrap="square" lIns="0" tIns="0" rIns="0" bIns="0" rtlCol="0" anchor="t"/>
          <a:lstStyle/>
          <a:p>
            <a:pPr marL="0" indent="0" algn="ctr">
              <a:buNone/>
            </a:pPr>
            <a:r>
              <a:rPr lang="en-US" sz="1500" b="1" dirty="0">
                <a:solidFill>
                  <a:srgbClr val="1D5FA7"/>
                </a:solidFill>
                <a:latin typeface="Aptos" pitchFamily="34" charset="0"/>
                <a:ea typeface="Aptos" pitchFamily="34" charset="-122"/>
                <a:cs typeface="Aptos" pitchFamily="34" charset="-120"/>
              </a:rPr>
              <a:t>Priors: critical 0.3, routine 0.7     |V| = 50</a:t>
            </a:r>
            <a:endParaRPr lang="en-US" sz="1500" dirty="0"/>
          </a:p>
        </p:txBody>
      </p:sp>
      <p:sp>
        <p:nvSpPr>
          <p:cNvPr id="11" name="Shape 7"/>
          <p:cNvSpPr/>
          <p:nvPr/>
        </p:nvSpPr>
        <p:spPr>
          <a:xfrm>
            <a:off x="5486400" y="1554480"/>
            <a:ext cx="6126480" cy="1005840"/>
          </a:xfrm>
          <a:prstGeom prst="roundRect">
            <a:avLst>
              <a:gd name="adj" fmla="val 7273"/>
            </a:avLst>
          </a:prstGeom>
          <a:solidFill>
            <a:srgbClr val="FFFFFF"/>
          </a:solidFill>
          <a:ln w="12700">
            <a:solidFill>
              <a:srgbClr val="B8C7D8"/>
            </a:solidFill>
            <a:prstDash val="solid"/>
          </a:ln>
        </p:spPr>
        <p:txBody>
          <a:bodyPr/>
          <a:lstStyle/>
          <a:p>
            <a:endParaRPr lang="en-US"/>
          </a:p>
        </p:txBody>
      </p:sp>
      <p:sp>
        <p:nvSpPr>
          <p:cNvPr id="12" name="Shape 8"/>
          <p:cNvSpPr/>
          <p:nvPr/>
        </p:nvSpPr>
        <p:spPr>
          <a:xfrm>
            <a:off x="5669280" y="1828800"/>
            <a:ext cx="438912" cy="438912"/>
          </a:xfrm>
          <a:prstGeom prst="ellipse">
            <a:avLst/>
          </a:prstGeom>
          <a:solidFill>
            <a:srgbClr val="1D5FA7"/>
          </a:solidFill>
          <a:ln w="12700">
            <a:solidFill>
              <a:srgbClr val="1D5FA7"/>
            </a:solidFill>
            <a:prstDash val="solid"/>
          </a:ln>
        </p:spPr>
        <p:txBody>
          <a:bodyPr/>
          <a:lstStyle/>
          <a:p>
            <a:endParaRPr lang="en-US"/>
          </a:p>
        </p:txBody>
      </p:sp>
      <p:sp>
        <p:nvSpPr>
          <p:cNvPr id="13" name="Text 9"/>
          <p:cNvSpPr txBox="1"/>
          <p:nvPr/>
        </p:nvSpPr>
        <p:spPr>
          <a:xfrm>
            <a:off x="5669280" y="182880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4" name="Text 10"/>
          <p:cNvSpPr txBox="1"/>
          <p:nvPr/>
        </p:nvSpPr>
        <p:spPr>
          <a:xfrm>
            <a:off x="6263640" y="1554480"/>
            <a:ext cx="5212080" cy="1005840"/>
          </a:xfrm>
          <a:prstGeom prst="rect">
            <a:avLst/>
          </a:prstGeom>
          <a:noFill/>
          <a:ln/>
        </p:spPr>
        <p:txBody>
          <a:bodyPr wrap="square" lIns="0" tIns="0" rIns="0" bIns="0" rtlCol="0" anchor="ctr"/>
          <a:lstStyle/>
          <a:p>
            <a:pPr marL="0" indent="0">
              <a:buNone/>
            </a:pPr>
            <a:r>
              <a:rPr lang="en-US" sz="1700" b="1" dirty="0">
                <a:solidFill>
                  <a:srgbClr val="0B2D55"/>
                </a:solidFill>
                <a:latin typeface="Aptos" pitchFamily="34" charset="0"/>
                <a:ea typeface="Aptos" pitchFamily="34" charset="-122"/>
                <a:cs typeface="Aptos" pitchFamily="34" charset="-120"/>
              </a:rPr>
              <a:t>Without smoothing: which class wins, and why?</a:t>
            </a:r>
            <a:endParaRPr lang="en-US" sz="1700" dirty="0"/>
          </a:p>
        </p:txBody>
      </p:sp>
      <p:sp>
        <p:nvSpPr>
          <p:cNvPr id="15" name="Shape 11"/>
          <p:cNvSpPr/>
          <p:nvPr/>
        </p:nvSpPr>
        <p:spPr>
          <a:xfrm>
            <a:off x="5486400" y="2743200"/>
            <a:ext cx="6126480" cy="1005840"/>
          </a:xfrm>
          <a:prstGeom prst="roundRect">
            <a:avLst>
              <a:gd name="adj" fmla="val 7273"/>
            </a:avLst>
          </a:prstGeom>
          <a:solidFill>
            <a:srgbClr val="FFFFFF"/>
          </a:solidFill>
          <a:ln w="12700">
            <a:solidFill>
              <a:srgbClr val="B8C7D8"/>
            </a:solidFill>
            <a:prstDash val="solid"/>
          </a:ln>
        </p:spPr>
        <p:txBody>
          <a:bodyPr/>
          <a:lstStyle/>
          <a:p>
            <a:endParaRPr lang="en-US"/>
          </a:p>
        </p:txBody>
      </p:sp>
      <p:sp>
        <p:nvSpPr>
          <p:cNvPr id="16" name="Shape 12"/>
          <p:cNvSpPr/>
          <p:nvPr/>
        </p:nvSpPr>
        <p:spPr>
          <a:xfrm>
            <a:off x="5669280" y="3017520"/>
            <a:ext cx="438912" cy="438912"/>
          </a:xfrm>
          <a:prstGeom prst="ellipse">
            <a:avLst/>
          </a:prstGeom>
          <a:solidFill>
            <a:srgbClr val="1D5FA7"/>
          </a:solidFill>
          <a:ln w="12700">
            <a:solidFill>
              <a:srgbClr val="1D5FA7"/>
            </a:solidFill>
            <a:prstDash val="solid"/>
          </a:ln>
        </p:spPr>
        <p:txBody>
          <a:bodyPr/>
          <a:lstStyle/>
          <a:p>
            <a:endParaRPr lang="en-US"/>
          </a:p>
        </p:txBody>
      </p:sp>
      <p:sp>
        <p:nvSpPr>
          <p:cNvPr id="17" name="Text 13"/>
          <p:cNvSpPr txBox="1"/>
          <p:nvPr/>
        </p:nvSpPr>
        <p:spPr>
          <a:xfrm>
            <a:off x="5669280" y="301752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8" name="Text 14"/>
          <p:cNvSpPr txBox="1"/>
          <p:nvPr/>
        </p:nvSpPr>
        <p:spPr>
          <a:xfrm>
            <a:off x="6263640" y="2743200"/>
            <a:ext cx="5212080" cy="1005840"/>
          </a:xfrm>
          <a:prstGeom prst="rect">
            <a:avLst/>
          </a:prstGeom>
          <a:noFill/>
          <a:ln/>
        </p:spPr>
        <p:txBody>
          <a:bodyPr wrap="square" lIns="0" tIns="0" rIns="0" bIns="0" rtlCol="0" anchor="ctr"/>
          <a:lstStyle/>
          <a:p>
            <a:pPr marL="0" indent="0">
              <a:buNone/>
            </a:pPr>
            <a:r>
              <a:rPr lang="en-US" sz="1700" b="1" dirty="0">
                <a:solidFill>
                  <a:srgbClr val="0B2D55"/>
                </a:solidFill>
                <a:latin typeface="Aptos" pitchFamily="34" charset="0"/>
                <a:ea typeface="Aptos" pitchFamily="34" charset="-122"/>
                <a:cs typeface="Aptos" pitchFamily="34" charset="-120"/>
              </a:rPr>
              <a:t>With α = 1: compute both scores. Which wins?</a:t>
            </a:r>
            <a:endParaRPr lang="en-US" sz="1700" dirty="0"/>
          </a:p>
        </p:txBody>
      </p:sp>
      <p:sp>
        <p:nvSpPr>
          <p:cNvPr id="19" name="Shape 15"/>
          <p:cNvSpPr/>
          <p:nvPr/>
        </p:nvSpPr>
        <p:spPr>
          <a:xfrm>
            <a:off x="5486400" y="3931920"/>
            <a:ext cx="6126480" cy="1005840"/>
          </a:xfrm>
          <a:prstGeom prst="roundRect">
            <a:avLst>
              <a:gd name="adj" fmla="val 7273"/>
            </a:avLst>
          </a:prstGeom>
          <a:solidFill>
            <a:srgbClr val="FFF4CE"/>
          </a:solidFill>
          <a:ln w="12700">
            <a:solidFill>
              <a:srgbClr val="F2C14E"/>
            </a:solidFill>
            <a:prstDash val="solid"/>
          </a:ln>
        </p:spPr>
        <p:txBody>
          <a:bodyPr/>
          <a:lstStyle/>
          <a:p>
            <a:endParaRPr lang="en-US"/>
          </a:p>
        </p:txBody>
      </p:sp>
      <p:sp>
        <p:nvSpPr>
          <p:cNvPr id="20" name="Shape 16"/>
          <p:cNvSpPr/>
          <p:nvPr/>
        </p:nvSpPr>
        <p:spPr>
          <a:xfrm>
            <a:off x="5669280" y="4206240"/>
            <a:ext cx="438912" cy="438912"/>
          </a:xfrm>
          <a:prstGeom prst="ellipse">
            <a:avLst/>
          </a:prstGeom>
          <a:solidFill>
            <a:srgbClr val="1D5FA7"/>
          </a:solidFill>
          <a:ln w="12700">
            <a:solidFill>
              <a:srgbClr val="1D5FA7"/>
            </a:solidFill>
            <a:prstDash val="solid"/>
          </a:ln>
        </p:spPr>
        <p:txBody>
          <a:bodyPr/>
          <a:lstStyle/>
          <a:p>
            <a:endParaRPr lang="en-US"/>
          </a:p>
        </p:txBody>
      </p:sp>
      <p:sp>
        <p:nvSpPr>
          <p:cNvPr id="21" name="Text 17"/>
          <p:cNvSpPr txBox="1"/>
          <p:nvPr/>
        </p:nvSpPr>
        <p:spPr>
          <a:xfrm>
            <a:off x="5669280" y="420624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2" name="Text 18"/>
          <p:cNvSpPr txBox="1"/>
          <p:nvPr/>
        </p:nvSpPr>
        <p:spPr>
          <a:xfrm>
            <a:off x="6263640" y="3931920"/>
            <a:ext cx="5212080" cy="1005840"/>
          </a:xfrm>
          <a:prstGeom prst="rect">
            <a:avLst/>
          </a:prstGeom>
          <a:noFill/>
          <a:ln/>
        </p:spPr>
        <p:txBody>
          <a:bodyPr wrap="square" lIns="0" tIns="0" rIns="0" bIns="0" rtlCol="0" anchor="ctr"/>
          <a:lstStyle/>
          <a:p>
            <a:pPr marL="0" indent="0">
              <a:buNone/>
            </a:pPr>
            <a:r>
              <a:rPr lang="en-US" sz="1700" b="1" dirty="0">
                <a:solidFill>
                  <a:srgbClr val="0B2D55"/>
                </a:solidFill>
                <a:latin typeface="Aptos" pitchFamily="34" charset="0"/>
                <a:ea typeface="Aptos" pitchFamily="34" charset="-122"/>
                <a:cs typeface="Aptos" pitchFamily="34" charset="-120"/>
              </a:rPr>
              <a:t>Which L26 metric should drive this decision?</a:t>
            </a:r>
            <a:endParaRPr lang="en-US" sz="1700" dirty="0"/>
          </a:p>
        </p:txBody>
      </p:sp>
      <p:sp>
        <p:nvSpPr>
          <p:cNvPr id="23" name="Text 19"/>
          <p:cNvSpPr txBox="1"/>
          <p:nvPr/>
        </p:nvSpPr>
        <p:spPr>
          <a:xfrm>
            <a:off x="5486400" y="5120640"/>
            <a:ext cx="6126480" cy="548640"/>
          </a:xfrm>
          <a:prstGeom prst="rect">
            <a:avLst/>
          </a:prstGeom>
          <a:noFill/>
          <a:ln/>
        </p:spPr>
        <p:txBody>
          <a:bodyPr wrap="square" lIns="0" tIns="0" rIns="0" bIns="0" rtlCol="0" anchor="t"/>
          <a:lstStyle/>
          <a:p>
            <a:pPr marL="0" indent="0" algn="ctr">
              <a:buNone/>
            </a:pPr>
            <a:r>
              <a:rPr lang="en-US" sz="1400" i="1" dirty="0">
                <a:solidFill>
                  <a:srgbClr val="6D7C8F"/>
                </a:solidFill>
                <a:latin typeface="Aptos" pitchFamily="34" charset="0"/>
                <a:ea typeface="Aptos" pitchFamily="34" charset="-122"/>
                <a:cs typeface="Aptos" pitchFamily="34" charset="-120"/>
              </a:rPr>
              <a:t>Scoring works the same for any text: maintenance logs, radio traffic, email.</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The Naive Bayes pipeline</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Five steps, two warnings, one new row in the L26 comparison table.</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24</a:t>
            </a:r>
            <a:endParaRPr lang="en-US" sz="850" dirty="0"/>
          </a:p>
        </p:txBody>
      </p:sp>
      <p:sp>
        <p:nvSpPr>
          <p:cNvPr id="7" name="Shape 4"/>
          <p:cNvSpPr/>
          <p:nvPr/>
        </p:nvSpPr>
        <p:spPr>
          <a:xfrm>
            <a:off x="576072" y="1554480"/>
            <a:ext cx="1965960" cy="914400"/>
          </a:xfrm>
          <a:prstGeom prst="roundRect">
            <a:avLst>
              <a:gd name="adj" fmla="val 8000"/>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576072" y="1554480"/>
            <a:ext cx="1965960" cy="91440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Count</a:t>
            </a:r>
            <a:endParaRPr lang="en-US" sz="1600" dirty="0"/>
          </a:p>
          <a:p>
            <a:pPr marL="0" indent="0" algn="ctr">
              <a:buNone/>
            </a:pPr>
            <a:r>
              <a:rPr lang="en-US" sz="1350" dirty="0">
                <a:solidFill>
                  <a:srgbClr val="132033"/>
                </a:solidFill>
                <a:latin typeface="Aptos" pitchFamily="34" charset="0"/>
                <a:ea typeface="Aptos" pitchFamily="34" charset="-122"/>
                <a:cs typeface="Aptos" pitchFamily="34" charset="-120"/>
              </a:rPr>
              <a:t>words per class</a:t>
            </a:r>
            <a:endParaRPr lang="en-US" sz="1600" dirty="0"/>
          </a:p>
        </p:txBody>
      </p:sp>
      <p:sp>
        <p:nvSpPr>
          <p:cNvPr id="9" name="Shape 6"/>
          <p:cNvSpPr/>
          <p:nvPr/>
        </p:nvSpPr>
        <p:spPr>
          <a:xfrm>
            <a:off x="2560320" y="2011680"/>
            <a:ext cx="256032" cy="0"/>
          </a:xfrm>
          <a:prstGeom prst="line">
            <a:avLst/>
          </a:prstGeom>
          <a:noFill/>
          <a:ln w="22225">
            <a:solidFill>
              <a:srgbClr val="1D5FA7"/>
            </a:solidFill>
            <a:prstDash val="solid"/>
            <a:tailEnd type="triangle"/>
          </a:ln>
        </p:spPr>
        <p:txBody>
          <a:bodyPr/>
          <a:lstStyle/>
          <a:p>
            <a:endParaRPr lang="en-US"/>
          </a:p>
        </p:txBody>
      </p:sp>
      <p:sp>
        <p:nvSpPr>
          <p:cNvPr id="10" name="Shape 7"/>
          <p:cNvSpPr/>
          <p:nvPr/>
        </p:nvSpPr>
        <p:spPr>
          <a:xfrm>
            <a:off x="2834640" y="1554480"/>
            <a:ext cx="1965960" cy="914400"/>
          </a:xfrm>
          <a:prstGeom prst="roundRect">
            <a:avLst>
              <a:gd name="adj" fmla="val 8000"/>
            </a:avLst>
          </a:prstGeom>
          <a:solidFill>
            <a:srgbClr val="EAF2F8"/>
          </a:solidFill>
          <a:ln w="12700">
            <a:solidFill>
              <a:srgbClr val="1F5D9B"/>
            </a:solidFill>
            <a:prstDash val="solid"/>
          </a:ln>
        </p:spPr>
        <p:txBody>
          <a:bodyPr/>
          <a:lstStyle/>
          <a:p>
            <a:endParaRPr lang="en-US"/>
          </a:p>
        </p:txBody>
      </p:sp>
      <p:sp>
        <p:nvSpPr>
          <p:cNvPr id="11" name="Text 8"/>
          <p:cNvSpPr txBox="1"/>
          <p:nvPr/>
        </p:nvSpPr>
        <p:spPr>
          <a:xfrm>
            <a:off x="2834640" y="1554480"/>
            <a:ext cx="1965960" cy="91440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Smooth</a:t>
            </a:r>
            <a:endParaRPr lang="en-US" sz="1600" dirty="0"/>
          </a:p>
          <a:p>
            <a:pPr marL="0" indent="0" algn="ctr">
              <a:buNone/>
            </a:pPr>
            <a:r>
              <a:rPr lang="en-US" sz="1350" dirty="0">
                <a:solidFill>
                  <a:srgbClr val="132033"/>
                </a:solidFill>
                <a:latin typeface="Aptos" pitchFamily="34" charset="0"/>
                <a:ea typeface="Aptos" pitchFamily="34" charset="-122"/>
                <a:cs typeface="Aptos" pitchFamily="34" charset="-120"/>
              </a:rPr>
              <a:t>add α</a:t>
            </a:r>
            <a:endParaRPr lang="en-US" sz="1600" dirty="0"/>
          </a:p>
        </p:txBody>
      </p:sp>
      <p:sp>
        <p:nvSpPr>
          <p:cNvPr id="12" name="Shape 9"/>
          <p:cNvSpPr/>
          <p:nvPr/>
        </p:nvSpPr>
        <p:spPr>
          <a:xfrm>
            <a:off x="4818888" y="2011680"/>
            <a:ext cx="256032" cy="0"/>
          </a:xfrm>
          <a:prstGeom prst="line">
            <a:avLst/>
          </a:prstGeom>
          <a:noFill/>
          <a:ln w="22225">
            <a:solidFill>
              <a:srgbClr val="1D5FA7"/>
            </a:solidFill>
            <a:prstDash val="solid"/>
            <a:tailEnd type="triangle"/>
          </a:ln>
        </p:spPr>
        <p:txBody>
          <a:bodyPr/>
          <a:lstStyle/>
          <a:p>
            <a:endParaRPr lang="en-US"/>
          </a:p>
        </p:txBody>
      </p:sp>
      <p:sp>
        <p:nvSpPr>
          <p:cNvPr id="13" name="Shape 10"/>
          <p:cNvSpPr/>
          <p:nvPr/>
        </p:nvSpPr>
        <p:spPr>
          <a:xfrm>
            <a:off x="5093208" y="1554480"/>
            <a:ext cx="1965960" cy="914400"/>
          </a:xfrm>
          <a:prstGeom prst="roundRect">
            <a:avLst>
              <a:gd name="adj" fmla="val 8000"/>
            </a:avLst>
          </a:prstGeom>
          <a:solidFill>
            <a:srgbClr val="EAF2F8"/>
          </a:solidFill>
          <a:ln w="12700">
            <a:solidFill>
              <a:srgbClr val="1F5D9B"/>
            </a:solidFill>
            <a:prstDash val="solid"/>
          </a:ln>
        </p:spPr>
        <p:txBody>
          <a:bodyPr/>
          <a:lstStyle/>
          <a:p>
            <a:endParaRPr lang="en-US"/>
          </a:p>
        </p:txBody>
      </p:sp>
      <p:sp>
        <p:nvSpPr>
          <p:cNvPr id="14" name="Text 11"/>
          <p:cNvSpPr txBox="1"/>
          <p:nvPr/>
        </p:nvSpPr>
        <p:spPr>
          <a:xfrm>
            <a:off x="5093208" y="1554480"/>
            <a:ext cx="1965960" cy="91440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Multiply</a:t>
            </a:r>
            <a:endParaRPr lang="en-US" sz="1600" dirty="0"/>
          </a:p>
          <a:p>
            <a:pPr marL="0" indent="0" algn="ctr">
              <a:buNone/>
            </a:pPr>
            <a:r>
              <a:rPr lang="en-US" sz="1350" dirty="0">
                <a:solidFill>
                  <a:srgbClr val="132033"/>
                </a:solidFill>
                <a:latin typeface="Aptos" pitchFamily="34" charset="0"/>
                <a:ea typeface="Aptos" pitchFamily="34" charset="-122"/>
                <a:cs typeface="Aptos" pitchFamily="34" charset="-120"/>
              </a:rPr>
              <a:t>prior × likelihoods</a:t>
            </a:r>
            <a:endParaRPr lang="en-US" sz="1600" dirty="0"/>
          </a:p>
        </p:txBody>
      </p:sp>
      <p:sp>
        <p:nvSpPr>
          <p:cNvPr id="15" name="Shape 12"/>
          <p:cNvSpPr/>
          <p:nvPr/>
        </p:nvSpPr>
        <p:spPr>
          <a:xfrm>
            <a:off x="7077456" y="2011680"/>
            <a:ext cx="256032" cy="0"/>
          </a:xfrm>
          <a:prstGeom prst="line">
            <a:avLst/>
          </a:prstGeom>
          <a:noFill/>
          <a:ln w="22225">
            <a:solidFill>
              <a:srgbClr val="1D5FA7"/>
            </a:solidFill>
            <a:prstDash val="solid"/>
            <a:tailEnd type="triangle"/>
          </a:ln>
        </p:spPr>
        <p:txBody>
          <a:bodyPr/>
          <a:lstStyle/>
          <a:p>
            <a:endParaRPr lang="en-US"/>
          </a:p>
        </p:txBody>
      </p:sp>
      <p:sp>
        <p:nvSpPr>
          <p:cNvPr id="16" name="Shape 13"/>
          <p:cNvSpPr/>
          <p:nvPr/>
        </p:nvSpPr>
        <p:spPr>
          <a:xfrm>
            <a:off x="7351776" y="1554480"/>
            <a:ext cx="1965960" cy="914400"/>
          </a:xfrm>
          <a:prstGeom prst="roundRect">
            <a:avLst>
              <a:gd name="adj" fmla="val 8000"/>
            </a:avLst>
          </a:prstGeom>
          <a:solidFill>
            <a:srgbClr val="EAF2F8"/>
          </a:solidFill>
          <a:ln w="12700">
            <a:solidFill>
              <a:srgbClr val="1F5D9B"/>
            </a:solidFill>
            <a:prstDash val="solid"/>
          </a:ln>
        </p:spPr>
        <p:txBody>
          <a:bodyPr/>
          <a:lstStyle/>
          <a:p>
            <a:endParaRPr lang="en-US"/>
          </a:p>
        </p:txBody>
      </p:sp>
      <p:sp>
        <p:nvSpPr>
          <p:cNvPr id="17" name="Text 14"/>
          <p:cNvSpPr txBox="1"/>
          <p:nvPr/>
        </p:nvSpPr>
        <p:spPr>
          <a:xfrm>
            <a:off x="7351776" y="1554480"/>
            <a:ext cx="1965960" cy="91440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Normalize</a:t>
            </a:r>
            <a:endParaRPr lang="en-US" sz="1600" dirty="0"/>
          </a:p>
          <a:p>
            <a:pPr marL="0" indent="0" algn="ctr">
              <a:buNone/>
            </a:pPr>
            <a:r>
              <a:rPr lang="en-US" sz="1350" dirty="0">
                <a:solidFill>
                  <a:srgbClr val="132033"/>
                </a:solidFill>
                <a:latin typeface="Aptos" pitchFamily="34" charset="0"/>
                <a:ea typeface="Aptos" pitchFamily="34" charset="-122"/>
                <a:cs typeface="Aptos" pitchFamily="34" charset="-120"/>
              </a:rPr>
              <a:t>divide by sum</a:t>
            </a:r>
            <a:endParaRPr lang="en-US" sz="1600" dirty="0"/>
          </a:p>
        </p:txBody>
      </p:sp>
      <p:sp>
        <p:nvSpPr>
          <p:cNvPr id="18" name="Shape 15"/>
          <p:cNvSpPr/>
          <p:nvPr/>
        </p:nvSpPr>
        <p:spPr>
          <a:xfrm>
            <a:off x="9336024" y="2011680"/>
            <a:ext cx="256032" cy="0"/>
          </a:xfrm>
          <a:prstGeom prst="line">
            <a:avLst/>
          </a:prstGeom>
          <a:noFill/>
          <a:ln w="22225">
            <a:solidFill>
              <a:srgbClr val="1D5FA7"/>
            </a:solidFill>
            <a:prstDash val="solid"/>
            <a:tailEnd type="triangle"/>
          </a:ln>
        </p:spPr>
        <p:txBody>
          <a:bodyPr/>
          <a:lstStyle/>
          <a:p>
            <a:endParaRPr lang="en-US"/>
          </a:p>
        </p:txBody>
      </p:sp>
      <p:sp>
        <p:nvSpPr>
          <p:cNvPr id="19" name="Shape 16"/>
          <p:cNvSpPr/>
          <p:nvPr/>
        </p:nvSpPr>
        <p:spPr>
          <a:xfrm>
            <a:off x="9610344" y="1554480"/>
            <a:ext cx="1965960" cy="914400"/>
          </a:xfrm>
          <a:prstGeom prst="roundRect">
            <a:avLst>
              <a:gd name="adj" fmla="val 8000"/>
            </a:avLst>
          </a:prstGeom>
          <a:solidFill>
            <a:srgbClr val="EAF2F8"/>
          </a:solidFill>
          <a:ln w="12700">
            <a:solidFill>
              <a:srgbClr val="1F5D9B"/>
            </a:solidFill>
            <a:prstDash val="solid"/>
          </a:ln>
        </p:spPr>
        <p:txBody>
          <a:bodyPr/>
          <a:lstStyle/>
          <a:p>
            <a:endParaRPr lang="en-US"/>
          </a:p>
        </p:txBody>
      </p:sp>
      <p:sp>
        <p:nvSpPr>
          <p:cNvPr id="20" name="Text 17"/>
          <p:cNvSpPr txBox="1"/>
          <p:nvPr/>
        </p:nvSpPr>
        <p:spPr>
          <a:xfrm>
            <a:off x="9610344" y="1554480"/>
            <a:ext cx="1965960" cy="914400"/>
          </a:xfrm>
          <a:prstGeom prst="rect">
            <a:avLst/>
          </a:prstGeom>
          <a:noFill/>
          <a:ln/>
        </p:spPr>
        <p:txBody>
          <a:bodyPr wrap="square" lIns="0" tIns="0" rIns="0" bIns="0" rtlCol="0" anchor="ctr"/>
          <a:lstStyle/>
          <a:p>
            <a:pPr marL="0" indent="0" algn="ctr">
              <a:buNone/>
            </a:pPr>
            <a:r>
              <a:rPr lang="en-US" sz="1800" b="1" dirty="0">
                <a:solidFill>
                  <a:srgbClr val="0B2D55"/>
                </a:solidFill>
                <a:latin typeface="Aptos" pitchFamily="34" charset="0"/>
                <a:ea typeface="Aptos" pitchFamily="34" charset="-122"/>
                <a:cs typeface="Aptos" pitchFamily="34" charset="-120"/>
              </a:rPr>
              <a:t>Decide</a:t>
            </a:r>
            <a:endParaRPr lang="en-US" sz="1600" dirty="0"/>
          </a:p>
          <a:p>
            <a:pPr marL="0" indent="0" algn="ctr">
              <a:buNone/>
            </a:pPr>
            <a:r>
              <a:rPr lang="en-US" sz="1350" dirty="0">
                <a:solidFill>
                  <a:srgbClr val="132033"/>
                </a:solidFill>
                <a:latin typeface="Aptos" pitchFamily="34" charset="0"/>
                <a:ea typeface="Aptos" pitchFamily="34" charset="-122"/>
                <a:cs typeface="Aptos" pitchFamily="34" charset="-120"/>
              </a:rPr>
              <a:t>larger wins</a:t>
            </a:r>
            <a:endParaRPr lang="en-US" sz="1600" dirty="0"/>
          </a:p>
        </p:txBody>
      </p:sp>
      <p:sp>
        <p:nvSpPr>
          <p:cNvPr id="21" name="Shape 18"/>
          <p:cNvSpPr/>
          <p:nvPr/>
        </p:nvSpPr>
        <p:spPr>
          <a:xfrm>
            <a:off x="1828800" y="2651760"/>
            <a:ext cx="3566160" cy="640080"/>
          </a:xfrm>
          <a:prstGeom prst="roundRect">
            <a:avLst>
              <a:gd name="adj" fmla="val 11429"/>
            </a:avLst>
          </a:prstGeom>
          <a:solidFill>
            <a:srgbClr val="F7D7D7"/>
          </a:solidFill>
          <a:ln w="12700">
            <a:solidFill>
              <a:srgbClr val="B43A3A"/>
            </a:solidFill>
            <a:prstDash val="solid"/>
          </a:ln>
        </p:spPr>
        <p:txBody>
          <a:bodyPr/>
          <a:lstStyle/>
          <a:p>
            <a:endParaRPr lang="en-US"/>
          </a:p>
        </p:txBody>
      </p:sp>
      <p:sp>
        <p:nvSpPr>
          <p:cNvPr id="22" name="Text 19"/>
          <p:cNvSpPr txBox="1"/>
          <p:nvPr/>
        </p:nvSpPr>
        <p:spPr>
          <a:xfrm>
            <a:off x="1828800" y="2651760"/>
            <a:ext cx="3566160" cy="640080"/>
          </a:xfrm>
          <a:prstGeom prst="rect">
            <a:avLst/>
          </a:prstGeom>
          <a:noFill/>
          <a:ln/>
        </p:spPr>
        <p:txBody>
          <a:bodyPr wrap="square" lIns="0" tIns="0" rIns="0" bIns="0" rtlCol="0" anchor="ctr"/>
          <a:lstStyle/>
          <a:p>
            <a:pPr marL="0" indent="0" algn="ctr">
              <a:buNone/>
            </a:pPr>
            <a:r>
              <a:rPr lang="en-US" sz="1450" b="1" dirty="0">
                <a:solidFill>
                  <a:srgbClr val="B43A3A"/>
                </a:solidFill>
                <a:latin typeface="Aptos" pitchFamily="34" charset="0"/>
                <a:ea typeface="Aptos" pitchFamily="34" charset="-122"/>
                <a:cs typeface="Aptos" pitchFamily="34" charset="-120"/>
              </a:rPr>
              <a:t>Zeros veto → fixed by smoothing</a:t>
            </a:r>
            <a:endParaRPr lang="en-US" sz="1450" dirty="0"/>
          </a:p>
        </p:txBody>
      </p:sp>
      <p:sp>
        <p:nvSpPr>
          <p:cNvPr id="23" name="Shape 20"/>
          <p:cNvSpPr/>
          <p:nvPr/>
        </p:nvSpPr>
        <p:spPr>
          <a:xfrm>
            <a:off x="5760720" y="2651760"/>
            <a:ext cx="4754880" cy="640080"/>
          </a:xfrm>
          <a:prstGeom prst="roundRect">
            <a:avLst>
              <a:gd name="adj" fmla="val 11429"/>
            </a:avLst>
          </a:prstGeom>
          <a:solidFill>
            <a:srgbClr val="FFF4CE"/>
          </a:solidFill>
          <a:ln w="12700">
            <a:solidFill>
              <a:srgbClr val="F2C14E"/>
            </a:solidFill>
            <a:prstDash val="solid"/>
          </a:ln>
        </p:spPr>
        <p:txBody>
          <a:bodyPr/>
          <a:lstStyle/>
          <a:p>
            <a:endParaRPr lang="en-US"/>
          </a:p>
        </p:txBody>
      </p:sp>
      <p:sp>
        <p:nvSpPr>
          <p:cNvPr id="24" name="Text 21"/>
          <p:cNvSpPr txBox="1"/>
          <p:nvPr/>
        </p:nvSpPr>
        <p:spPr>
          <a:xfrm>
            <a:off x="5760720" y="2651760"/>
            <a:ext cx="4754880" cy="640080"/>
          </a:xfrm>
          <a:prstGeom prst="rect">
            <a:avLst/>
          </a:prstGeom>
          <a:noFill/>
          <a:ln/>
        </p:spPr>
        <p:txBody>
          <a:bodyPr wrap="square" lIns="0" tIns="0" rIns="0" bIns="0" rtlCol="0" anchor="ctr"/>
          <a:lstStyle/>
          <a:p>
            <a:pPr marL="0" indent="0" algn="ctr">
              <a:buNone/>
            </a:pPr>
            <a:r>
              <a:rPr lang="en-US" sz="1450" b="1" dirty="0">
                <a:solidFill>
                  <a:srgbClr val="8A6A10"/>
                </a:solidFill>
                <a:latin typeface="Aptos" pitchFamily="34" charset="0"/>
                <a:ea typeface="Aptos" pitchFamily="34" charset="-122"/>
                <a:cs typeface="Aptos" pitchFamily="34" charset="-120"/>
              </a:rPr>
              <a:t>Correlated words → overconfident scores</a:t>
            </a:r>
            <a:endParaRPr lang="en-US" sz="14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76072" y="3520440"/>
          <a:ext cx="11036808" cy="2176272"/>
        </p:xfrm>
        <a:graphic>
          <a:graphicData uri="http://schemas.openxmlformats.org/drawingml/2006/table">
            <a:tbl>
              <a:tblPr/>
              <a:tblGrid>
                <a:gridCol w="23774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898648">
                  <a:extLst>
                    <a:ext uri="{9D8B030D-6E8A-4147-A177-3AD203B41FA5}">
                      <a16:colId xmlns:a16="http://schemas.microsoft.com/office/drawing/2014/main" val="20003"/>
                    </a:ext>
                  </a:extLst>
                </a:gridCol>
              </a:tblGrid>
              <a:tr h="384048">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Model</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Key assumption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Boundary</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Bias / variance lean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566928">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Logistic regression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Log-odds are linear in the features</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Line</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Higher bias, low variance</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lgn="l">
                        <a:buNone/>
                      </a:pPr>
                      <a:r>
                        <a:rPr lang="en-US" sz="1500" b="1" dirty="0">
                          <a:solidFill>
                            <a:srgbClr val="0B2D55"/>
                          </a:solidFill>
                          <a:latin typeface="Aptos" pitchFamily="34" charset="0"/>
                          <a:ea typeface="Aptos" pitchFamily="34" charset="-122"/>
                          <a:cs typeface="Aptos" pitchFamily="34" charset="-120"/>
                        </a:rPr>
                        <a:t>LDA</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Bell-curve classes with one shared spread</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Line</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Higher bias, low variance</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658368">
                <a:tc>
                  <a:txBody>
                    <a:bodyPr/>
                    <a:lstStyle/>
                    <a:p>
                      <a:pPr marL="0" indent="0" algn="l">
                        <a:buNone/>
                      </a:pPr>
                      <a:r>
                        <a:rPr lang="en-US" sz="1500" b="1" dirty="0">
                          <a:solidFill>
                            <a:srgbClr val="D9731A"/>
                          </a:solidFill>
                          <a:latin typeface="Aptos" pitchFamily="34" charset="0"/>
                          <a:ea typeface="Aptos" pitchFamily="34" charset="-122"/>
                          <a:cs typeface="Aptos" pitchFamily="34" charset="-120"/>
                        </a:rPr>
                        <a:t>Naive Bayes (new)</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Features independent given the class</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Linear in word counts</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tc>
                  <a:txBody>
                    <a:bodyPr/>
                    <a:lstStyle/>
                    <a:p>
                      <a:pPr marL="0" indent="0" algn="ctr">
                        <a:buNone/>
                      </a:pPr>
                      <a:r>
                        <a:rPr lang="en-US" sz="1400" dirty="0">
                          <a:solidFill>
                            <a:srgbClr val="132033"/>
                          </a:solidFill>
                          <a:latin typeface="Aptos" pitchFamily="34" charset="0"/>
                          <a:ea typeface="Aptos" pitchFamily="34" charset="-122"/>
                          <a:cs typeface="Aptos" pitchFamily="34" charset="-120"/>
                        </a:rPr>
                        <a:t>High bias, low variance; strong with little data</a:t>
                      </a:r>
                      <a:endParaRPr lang="en-US" sz="14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CE9D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Diagnose the claim</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Correct or incorrect? Be ready to fix the incorrect ones.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25</a:t>
            </a:r>
            <a:endParaRPr lang="en-US" sz="850" dirty="0"/>
          </a:p>
        </p:txBody>
      </p:sp>
      <p:sp>
        <p:nvSpPr>
          <p:cNvPr id="7" name="Shape 4"/>
          <p:cNvSpPr/>
          <p:nvPr/>
        </p:nvSpPr>
        <p:spPr>
          <a:xfrm>
            <a:off x="822960" y="1554480"/>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8" name="Shape 5"/>
          <p:cNvSpPr/>
          <p:nvPr/>
        </p:nvSpPr>
        <p:spPr>
          <a:xfrm>
            <a:off x="1005840" y="1700784"/>
            <a:ext cx="420624" cy="420624"/>
          </a:xfrm>
          <a:prstGeom prst="ellipse">
            <a:avLst/>
          </a:prstGeom>
          <a:solidFill>
            <a:srgbClr val="0B2D55"/>
          </a:solidFill>
          <a:ln w="12700">
            <a:solidFill>
              <a:srgbClr val="0B2D55"/>
            </a:solidFill>
            <a:prstDash val="solid"/>
          </a:ln>
        </p:spPr>
        <p:txBody>
          <a:bodyPr/>
          <a:lstStyle/>
          <a:p>
            <a:endParaRPr lang="en-US"/>
          </a:p>
        </p:txBody>
      </p:sp>
      <p:sp>
        <p:nvSpPr>
          <p:cNvPr id="9" name="Text 6"/>
          <p:cNvSpPr txBox="1"/>
          <p:nvPr/>
        </p:nvSpPr>
        <p:spPr>
          <a:xfrm>
            <a:off x="1005840" y="1700784"/>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0" name="Text 7"/>
          <p:cNvSpPr txBox="1"/>
          <p:nvPr/>
        </p:nvSpPr>
        <p:spPr>
          <a:xfrm>
            <a:off x="1645920" y="1554480"/>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P(free | scam) and P(scam | free) are the same number.</a:t>
            </a:r>
            <a:endParaRPr lang="en-US" sz="1800" dirty="0"/>
          </a:p>
        </p:txBody>
      </p:sp>
      <p:grpSp>
        <p:nvGrpSpPr>
          <p:cNvPr id="6" name="Group 5">
            <a:extLst>
              <a:ext uri="{FF2B5EF4-FFF2-40B4-BE49-F238E27FC236}">
                <a16:creationId xmlns:a16="http://schemas.microsoft.com/office/drawing/2014/main" id="{D5EAB150-3BED-8C42-F29D-D7CAF06DAE78}"/>
              </a:ext>
            </a:extLst>
          </p:cNvPr>
          <p:cNvGrpSpPr/>
          <p:nvPr/>
        </p:nvGrpSpPr>
        <p:grpSpPr>
          <a:xfrm>
            <a:off x="8961120" y="1719072"/>
            <a:ext cx="1097280" cy="384048"/>
            <a:chOff x="8961120" y="1719072"/>
            <a:chExt cx="1097280" cy="384048"/>
          </a:xfrm>
        </p:grpSpPr>
        <p:sp>
          <p:nvSpPr>
            <p:cNvPr id="11" name="Shape 8"/>
            <p:cNvSpPr/>
            <p:nvPr/>
          </p:nvSpPr>
          <p:spPr>
            <a:xfrm>
              <a:off x="8961120" y="1719072"/>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12" name="Text 9"/>
            <p:cNvSpPr txBox="1"/>
            <p:nvPr/>
          </p:nvSpPr>
          <p:spPr>
            <a:xfrm>
              <a:off x="8961120" y="1719072"/>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sp>
        <p:nvSpPr>
          <p:cNvPr id="13" name="Shape 10"/>
          <p:cNvSpPr/>
          <p:nvPr/>
        </p:nvSpPr>
        <p:spPr>
          <a:xfrm>
            <a:off x="10149840" y="1719072"/>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14" name="Text 11"/>
          <p:cNvSpPr txBox="1"/>
          <p:nvPr/>
        </p:nvSpPr>
        <p:spPr>
          <a:xfrm>
            <a:off x="10149840" y="1719072"/>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15" name="Shape 12"/>
          <p:cNvSpPr/>
          <p:nvPr/>
        </p:nvSpPr>
        <p:spPr>
          <a:xfrm>
            <a:off x="822960" y="2404872"/>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16" name="Shape 13"/>
          <p:cNvSpPr/>
          <p:nvPr/>
        </p:nvSpPr>
        <p:spPr>
          <a:xfrm>
            <a:off x="1005840" y="2551176"/>
            <a:ext cx="420624" cy="420624"/>
          </a:xfrm>
          <a:prstGeom prst="ellipse">
            <a:avLst/>
          </a:prstGeom>
          <a:solidFill>
            <a:srgbClr val="0B2D55"/>
          </a:solidFill>
          <a:ln w="12700">
            <a:solidFill>
              <a:srgbClr val="0B2D55"/>
            </a:solidFill>
            <a:prstDash val="solid"/>
          </a:ln>
        </p:spPr>
        <p:txBody>
          <a:bodyPr/>
          <a:lstStyle/>
          <a:p>
            <a:endParaRPr lang="en-US"/>
          </a:p>
        </p:txBody>
      </p:sp>
      <p:sp>
        <p:nvSpPr>
          <p:cNvPr id="17" name="Text 14"/>
          <p:cNvSpPr txBox="1"/>
          <p:nvPr/>
        </p:nvSpPr>
        <p:spPr>
          <a:xfrm>
            <a:off x="1005840" y="2551176"/>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8" name="Text 15"/>
          <p:cNvSpPr txBox="1"/>
          <p:nvPr/>
        </p:nvSpPr>
        <p:spPr>
          <a:xfrm>
            <a:off x="1645920" y="2404872"/>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Naive Bayes ignores word order.</a:t>
            </a:r>
            <a:endParaRPr lang="en-US" sz="1800" dirty="0"/>
          </a:p>
        </p:txBody>
      </p:sp>
      <p:sp>
        <p:nvSpPr>
          <p:cNvPr id="19" name="Shape 16"/>
          <p:cNvSpPr/>
          <p:nvPr/>
        </p:nvSpPr>
        <p:spPr>
          <a:xfrm>
            <a:off x="8961120" y="2569464"/>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20" name="Text 17"/>
          <p:cNvSpPr txBox="1"/>
          <p:nvPr/>
        </p:nvSpPr>
        <p:spPr>
          <a:xfrm>
            <a:off x="8961120" y="2569464"/>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nvGrpSpPr>
          <p:cNvPr id="47" name="Group 46">
            <a:extLst>
              <a:ext uri="{FF2B5EF4-FFF2-40B4-BE49-F238E27FC236}">
                <a16:creationId xmlns:a16="http://schemas.microsoft.com/office/drawing/2014/main" id="{8C699F73-9B11-3403-919C-D577D81FAA34}"/>
              </a:ext>
            </a:extLst>
          </p:cNvPr>
          <p:cNvGrpSpPr/>
          <p:nvPr/>
        </p:nvGrpSpPr>
        <p:grpSpPr>
          <a:xfrm>
            <a:off x="10149840" y="2569464"/>
            <a:ext cx="1051560" cy="384048"/>
            <a:chOff x="10149840" y="2569464"/>
            <a:chExt cx="1051560" cy="384048"/>
          </a:xfrm>
        </p:grpSpPr>
        <p:sp>
          <p:nvSpPr>
            <p:cNvPr id="21" name="Shape 18"/>
            <p:cNvSpPr/>
            <p:nvPr/>
          </p:nvSpPr>
          <p:spPr>
            <a:xfrm>
              <a:off x="10149840" y="2569464"/>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22" name="Text 19"/>
            <p:cNvSpPr txBox="1"/>
            <p:nvPr/>
          </p:nvSpPr>
          <p:spPr>
            <a:xfrm>
              <a:off x="10149840" y="2569464"/>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grpSp>
      <p:sp>
        <p:nvSpPr>
          <p:cNvPr id="23" name="Shape 20"/>
          <p:cNvSpPr/>
          <p:nvPr/>
        </p:nvSpPr>
        <p:spPr>
          <a:xfrm>
            <a:off x="822960" y="3255264"/>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24" name="Shape 21"/>
          <p:cNvSpPr/>
          <p:nvPr/>
        </p:nvSpPr>
        <p:spPr>
          <a:xfrm>
            <a:off x="1005840" y="3401568"/>
            <a:ext cx="420624" cy="420624"/>
          </a:xfrm>
          <a:prstGeom prst="ellipse">
            <a:avLst/>
          </a:prstGeom>
          <a:solidFill>
            <a:srgbClr val="0B2D55"/>
          </a:solidFill>
          <a:ln w="12700">
            <a:solidFill>
              <a:srgbClr val="0B2D55"/>
            </a:solidFill>
            <a:prstDash val="solid"/>
          </a:ln>
        </p:spPr>
        <p:txBody>
          <a:bodyPr/>
          <a:lstStyle/>
          <a:p>
            <a:endParaRPr lang="en-US"/>
          </a:p>
        </p:txBody>
      </p:sp>
      <p:sp>
        <p:nvSpPr>
          <p:cNvPr id="25" name="Text 22"/>
          <p:cNvSpPr txBox="1"/>
          <p:nvPr/>
        </p:nvSpPr>
        <p:spPr>
          <a:xfrm>
            <a:off x="1005840" y="3401568"/>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6" name="Text 23"/>
          <p:cNvSpPr txBox="1"/>
          <p:nvPr/>
        </p:nvSpPr>
        <p:spPr>
          <a:xfrm>
            <a:off x="1645920" y="3255264"/>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Naive Bayes probabilities are well calibrated.</a:t>
            </a:r>
            <a:endParaRPr lang="en-US" sz="1800" dirty="0"/>
          </a:p>
        </p:txBody>
      </p:sp>
      <p:grpSp>
        <p:nvGrpSpPr>
          <p:cNvPr id="48" name="Group 47">
            <a:extLst>
              <a:ext uri="{FF2B5EF4-FFF2-40B4-BE49-F238E27FC236}">
                <a16:creationId xmlns:a16="http://schemas.microsoft.com/office/drawing/2014/main" id="{D9B23901-1B15-4BB8-3540-3D2F319E495E}"/>
              </a:ext>
            </a:extLst>
          </p:cNvPr>
          <p:cNvGrpSpPr/>
          <p:nvPr/>
        </p:nvGrpSpPr>
        <p:grpSpPr>
          <a:xfrm>
            <a:off x="8961120" y="3419856"/>
            <a:ext cx="1097280" cy="384048"/>
            <a:chOff x="8961120" y="3419856"/>
            <a:chExt cx="1097280" cy="384048"/>
          </a:xfrm>
        </p:grpSpPr>
        <p:sp>
          <p:nvSpPr>
            <p:cNvPr id="27" name="Shape 24"/>
            <p:cNvSpPr/>
            <p:nvPr/>
          </p:nvSpPr>
          <p:spPr>
            <a:xfrm>
              <a:off x="8961120" y="3419856"/>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28" name="Text 25"/>
            <p:cNvSpPr txBox="1"/>
            <p:nvPr/>
          </p:nvSpPr>
          <p:spPr>
            <a:xfrm>
              <a:off x="8961120" y="3419856"/>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sp>
        <p:nvSpPr>
          <p:cNvPr id="29" name="Shape 26"/>
          <p:cNvSpPr/>
          <p:nvPr/>
        </p:nvSpPr>
        <p:spPr>
          <a:xfrm>
            <a:off x="10149840" y="3419856"/>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30" name="Text 27"/>
          <p:cNvSpPr txBox="1"/>
          <p:nvPr/>
        </p:nvSpPr>
        <p:spPr>
          <a:xfrm>
            <a:off x="10149840" y="3419856"/>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31" name="Shape 28"/>
          <p:cNvSpPr/>
          <p:nvPr/>
        </p:nvSpPr>
        <p:spPr>
          <a:xfrm>
            <a:off x="822960" y="4105656"/>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32" name="Shape 29"/>
          <p:cNvSpPr/>
          <p:nvPr/>
        </p:nvSpPr>
        <p:spPr>
          <a:xfrm>
            <a:off x="1005840" y="4251960"/>
            <a:ext cx="420624" cy="420624"/>
          </a:xfrm>
          <a:prstGeom prst="ellipse">
            <a:avLst/>
          </a:prstGeom>
          <a:solidFill>
            <a:srgbClr val="0B2D55"/>
          </a:solidFill>
          <a:ln w="12700">
            <a:solidFill>
              <a:srgbClr val="0B2D55"/>
            </a:solidFill>
            <a:prstDash val="solid"/>
          </a:ln>
        </p:spPr>
        <p:txBody>
          <a:bodyPr/>
          <a:lstStyle/>
          <a:p>
            <a:endParaRPr lang="en-US"/>
          </a:p>
        </p:txBody>
      </p:sp>
      <p:sp>
        <p:nvSpPr>
          <p:cNvPr id="33" name="Text 30"/>
          <p:cNvSpPr txBox="1"/>
          <p:nvPr/>
        </p:nvSpPr>
        <p:spPr>
          <a:xfrm>
            <a:off x="1005840" y="4251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34" name="Text 31"/>
          <p:cNvSpPr txBox="1"/>
          <p:nvPr/>
        </p:nvSpPr>
        <p:spPr>
          <a:xfrm>
            <a:off x="1645920" y="4105656"/>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Laplace smoothing only changes words with zero counts.</a:t>
            </a:r>
            <a:endParaRPr lang="en-US" sz="1800" dirty="0"/>
          </a:p>
        </p:txBody>
      </p:sp>
      <p:grpSp>
        <p:nvGrpSpPr>
          <p:cNvPr id="49" name="Group 48">
            <a:extLst>
              <a:ext uri="{FF2B5EF4-FFF2-40B4-BE49-F238E27FC236}">
                <a16:creationId xmlns:a16="http://schemas.microsoft.com/office/drawing/2014/main" id="{75ED7558-A6F6-161E-B790-CE536E6AC6C8}"/>
              </a:ext>
            </a:extLst>
          </p:cNvPr>
          <p:cNvGrpSpPr/>
          <p:nvPr/>
        </p:nvGrpSpPr>
        <p:grpSpPr>
          <a:xfrm>
            <a:off x="8961120" y="4270248"/>
            <a:ext cx="1097280" cy="384048"/>
            <a:chOff x="8961120" y="4270248"/>
            <a:chExt cx="1097280" cy="384048"/>
          </a:xfrm>
        </p:grpSpPr>
        <p:sp>
          <p:nvSpPr>
            <p:cNvPr id="35" name="Shape 32"/>
            <p:cNvSpPr/>
            <p:nvPr/>
          </p:nvSpPr>
          <p:spPr>
            <a:xfrm>
              <a:off x="8961120" y="4270248"/>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36" name="Text 33"/>
            <p:cNvSpPr txBox="1"/>
            <p:nvPr/>
          </p:nvSpPr>
          <p:spPr>
            <a:xfrm>
              <a:off x="8961120" y="4270248"/>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sp>
        <p:nvSpPr>
          <p:cNvPr id="37" name="Shape 34"/>
          <p:cNvSpPr/>
          <p:nvPr/>
        </p:nvSpPr>
        <p:spPr>
          <a:xfrm>
            <a:off x="10149840" y="4270248"/>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38" name="Text 35"/>
          <p:cNvSpPr txBox="1"/>
          <p:nvPr/>
        </p:nvSpPr>
        <p:spPr>
          <a:xfrm>
            <a:off x="10149840" y="4270248"/>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sp>
        <p:nvSpPr>
          <p:cNvPr id="39" name="Shape 36"/>
          <p:cNvSpPr/>
          <p:nvPr/>
        </p:nvSpPr>
        <p:spPr>
          <a:xfrm>
            <a:off x="822960" y="4956048"/>
            <a:ext cx="10515600" cy="713232"/>
          </a:xfrm>
          <a:prstGeom prst="roundRect">
            <a:avLst>
              <a:gd name="adj" fmla="val 10256"/>
            </a:avLst>
          </a:prstGeom>
          <a:solidFill>
            <a:srgbClr val="FFFFFF"/>
          </a:solidFill>
          <a:ln w="12700">
            <a:solidFill>
              <a:srgbClr val="B8C7D8"/>
            </a:solidFill>
            <a:prstDash val="solid"/>
          </a:ln>
        </p:spPr>
        <p:txBody>
          <a:bodyPr/>
          <a:lstStyle/>
          <a:p>
            <a:endParaRPr lang="en-US"/>
          </a:p>
        </p:txBody>
      </p:sp>
      <p:sp>
        <p:nvSpPr>
          <p:cNvPr id="40" name="Shape 37"/>
          <p:cNvSpPr/>
          <p:nvPr/>
        </p:nvSpPr>
        <p:spPr>
          <a:xfrm>
            <a:off x="1005840" y="5102352"/>
            <a:ext cx="420624" cy="420624"/>
          </a:xfrm>
          <a:prstGeom prst="ellipse">
            <a:avLst/>
          </a:prstGeom>
          <a:solidFill>
            <a:srgbClr val="0B2D55"/>
          </a:solidFill>
          <a:ln w="12700">
            <a:solidFill>
              <a:srgbClr val="0B2D55"/>
            </a:solidFill>
            <a:prstDash val="solid"/>
          </a:ln>
        </p:spPr>
        <p:txBody>
          <a:bodyPr/>
          <a:lstStyle/>
          <a:p>
            <a:endParaRPr lang="en-US"/>
          </a:p>
        </p:txBody>
      </p:sp>
      <p:sp>
        <p:nvSpPr>
          <p:cNvPr id="41" name="Text 38"/>
          <p:cNvSpPr txBox="1"/>
          <p:nvPr/>
        </p:nvSpPr>
        <p:spPr>
          <a:xfrm>
            <a:off x="1005840" y="5102352"/>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42" name="Text 39"/>
          <p:cNvSpPr txBox="1"/>
          <p:nvPr/>
        </p:nvSpPr>
        <p:spPr>
          <a:xfrm>
            <a:off x="1645920" y="4956048"/>
            <a:ext cx="7223760" cy="713232"/>
          </a:xfrm>
          <a:prstGeom prst="rect">
            <a:avLst/>
          </a:prstGeom>
          <a:noFill/>
          <a:ln/>
        </p:spPr>
        <p:txBody>
          <a:bodyPr wrap="square" lIns="0" tIns="0" rIns="0" bIns="0" rtlCol="0" anchor="ctr"/>
          <a:lstStyle/>
          <a:p>
            <a:pPr marL="0" indent="0">
              <a:buNone/>
            </a:pPr>
            <a:r>
              <a:rPr lang="en-US" sz="1800" dirty="0">
                <a:solidFill>
                  <a:srgbClr val="132033"/>
                </a:solidFill>
                <a:latin typeface="Aptos" pitchFamily="34" charset="0"/>
                <a:ea typeface="Aptos" pitchFamily="34" charset="-122"/>
                <a:cs typeface="Aptos" pitchFamily="34" charset="-120"/>
              </a:rPr>
              <a:t>Without smoothing, one unseen word can zero out a class score.</a:t>
            </a:r>
            <a:endParaRPr lang="en-US" sz="1800" dirty="0"/>
          </a:p>
        </p:txBody>
      </p:sp>
      <p:sp>
        <p:nvSpPr>
          <p:cNvPr id="43" name="Shape 40"/>
          <p:cNvSpPr/>
          <p:nvPr/>
        </p:nvSpPr>
        <p:spPr>
          <a:xfrm>
            <a:off x="8961120" y="5120640"/>
            <a:ext cx="109728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44" name="Text 41"/>
          <p:cNvSpPr txBox="1"/>
          <p:nvPr/>
        </p:nvSpPr>
        <p:spPr>
          <a:xfrm>
            <a:off x="8961120" y="5120640"/>
            <a:ext cx="109728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Correct</a:t>
            </a:r>
            <a:endParaRPr lang="en-US" sz="1300" dirty="0"/>
          </a:p>
        </p:txBody>
      </p:sp>
      <p:grpSp>
        <p:nvGrpSpPr>
          <p:cNvPr id="50" name="Group 49">
            <a:extLst>
              <a:ext uri="{FF2B5EF4-FFF2-40B4-BE49-F238E27FC236}">
                <a16:creationId xmlns:a16="http://schemas.microsoft.com/office/drawing/2014/main" id="{3DC4CC16-B74C-A5DD-DF87-316AC24ED118}"/>
              </a:ext>
            </a:extLst>
          </p:cNvPr>
          <p:cNvGrpSpPr/>
          <p:nvPr/>
        </p:nvGrpSpPr>
        <p:grpSpPr>
          <a:xfrm>
            <a:off x="10149840" y="5120640"/>
            <a:ext cx="1051560" cy="384048"/>
            <a:chOff x="10149840" y="5120640"/>
            <a:chExt cx="1051560" cy="384048"/>
          </a:xfrm>
        </p:grpSpPr>
        <p:sp>
          <p:nvSpPr>
            <p:cNvPr id="45" name="Shape 42"/>
            <p:cNvSpPr/>
            <p:nvPr/>
          </p:nvSpPr>
          <p:spPr>
            <a:xfrm>
              <a:off x="10149840" y="5120640"/>
              <a:ext cx="1051560" cy="384048"/>
            </a:xfrm>
            <a:prstGeom prst="roundRect">
              <a:avLst>
                <a:gd name="adj" fmla="val 19048"/>
              </a:avLst>
            </a:prstGeom>
            <a:solidFill>
              <a:srgbClr val="EEF1F5"/>
            </a:solidFill>
            <a:ln w="12700">
              <a:solidFill>
                <a:srgbClr val="EEF1F5"/>
              </a:solidFill>
              <a:prstDash val="solid"/>
            </a:ln>
          </p:spPr>
          <p:txBody>
            <a:bodyPr/>
            <a:lstStyle/>
            <a:p>
              <a:endParaRPr lang="en-US"/>
            </a:p>
          </p:txBody>
        </p:sp>
        <p:sp>
          <p:nvSpPr>
            <p:cNvPr id="46" name="Text 43"/>
            <p:cNvSpPr txBox="1"/>
            <p:nvPr/>
          </p:nvSpPr>
          <p:spPr>
            <a:xfrm>
              <a:off x="10149840" y="5120640"/>
              <a:ext cx="1051560" cy="384048"/>
            </a:xfrm>
            <a:prstGeom prst="rect">
              <a:avLst/>
            </a:prstGeom>
            <a:noFill/>
            <a:ln/>
          </p:spPr>
          <p:txBody>
            <a:bodyPr wrap="square" lIns="0" tIns="0" rIns="0" bIns="0" rtlCol="0" anchor="ctr"/>
            <a:lstStyle/>
            <a:p>
              <a:pPr marL="0" indent="0" algn="ctr">
                <a:buNone/>
              </a:pPr>
              <a:r>
                <a:rPr lang="en-US" sz="1300" b="1" dirty="0">
                  <a:solidFill>
                    <a:srgbClr val="6D7C8F"/>
                  </a:solidFill>
                  <a:latin typeface="Aptos" pitchFamily="34" charset="0"/>
                  <a:ea typeface="Aptos" pitchFamily="34" charset="-122"/>
                  <a:cs typeface="Aptos" pitchFamily="34" charset="-120"/>
                </a:rPr>
                <a:t>Incorrect</a:t>
              </a:r>
              <a:endParaRPr lang="en-US" sz="13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4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4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4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Exit ticket: the new slang word</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Put the whole lesson together.</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26</a:t>
            </a:r>
            <a:endParaRPr lang="en-US" sz="850" dirty="0"/>
          </a:p>
        </p:txBody>
      </p:sp>
      <p:sp>
        <p:nvSpPr>
          <p:cNvPr id="7" name="Shape 4"/>
          <p:cNvSpPr/>
          <p:nvPr/>
        </p:nvSpPr>
        <p:spPr>
          <a:xfrm>
            <a:off x="822960" y="1554480"/>
            <a:ext cx="10515600" cy="1188720"/>
          </a:xfrm>
          <a:prstGeom prst="roundRect">
            <a:avLst>
              <a:gd name="adj" fmla="val 6154"/>
            </a:avLst>
          </a:prstGeom>
          <a:solidFill>
            <a:srgbClr val="FFF4CE"/>
          </a:solidFill>
          <a:ln w="12700">
            <a:solidFill>
              <a:srgbClr val="F2C14E"/>
            </a:solidFill>
            <a:prstDash val="solid"/>
          </a:ln>
        </p:spPr>
        <p:txBody>
          <a:bodyPr/>
          <a:lstStyle/>
          <a:p>
            <a:endParaRPr lang="en-US"/>
          </a:p>
        </p:txBody>
      </p:sp>
      <p:sp>
        <p:nvSpPr>
          <p:cNvPr id="8" name="Text 5"/>
          <p:cNvSpPr txBox="1"/>
          <p:nvPr/>
        </p:nvSpPr>
        <p:spPr>
          <a:xfrm>
            <a:off x="1051560" y="1554480"/>
            <a:ext cx="10058400" cy="1188720"/>
          </a:xfrm>
          <a:prstGeom prst="rect">
            <a:avLst/>
          </a:prstGeom>
          <a:noFill/>
          <a:ln/>
        </p:spPr>
        <p:txBody>
          <a:bodyPr wrap="square" lIns="0" tIns="0" rIns="0" bIns="0" rtlCol="0" anchor="ctr"/>
          <a:lstStyle/>
          <a:p>
            <a:pPr marL="0" indent="0">
              <a:buNone/>
            </a:pPr>
            <a:r>
              <a:rPr lang="en-US" sz="1700" dirty="0">
                <a:solidFill>
                  <a:srgbClr val="132033"/>
                </a:solidFill>
                <a:latin typeface="Aptos" pitchFamily="34" charset="0"/>
                <a:ea typeface="Aptos" pitchFamily="34" charset="-122"/>
                <a:cs typeface="Aptos" pitchFamily="34" charset="-120"/>
              </a:rPr>
              <a:t>An app-review classifier (Positive vs. Negative) meets the new slang word “mid.” It never appeared in any Positive training review. The Positive class has 2,000 total words; the vocabulary has 1,000 words.</a:t>
            </a:r>
            <a:endParaRPr lang="en-US" sz="1700" dirty="0"/>
          </a:p>
        </p:txBody>
      </p:sp>
      <p:sp>
        <p:nvSpPr>
          <p:cNvPr id="9" name="Shape 6"/>
          <p:cNvSpPr/>
          <p:nvPr/>
        </p:nvSpPr>
        <p:spPr>
          <a:xfrm>
            <a:off x="822960" y="2971800"/>
            <a:ext cx="3291840" cy="1691640"/>
          </a:xfrm>
          <a:prstGeom prst="roundRect">
            <a:avLst>
              <a:gd name="adj" fmla="val 4324"/>
            </a:avLst>
          </a:prstGeom>
          <a:solidFill>
            <a:srgbClr val="FFFFFF"/>
          </a:solidFill>
          <a:ln w="12700">
            <a:solidFill>
              <a:srgbClr val="B8C7D8"/>
            </a:solidFill>
            <a:prstDash val="solid"/>
          </a:ln>
        </p:spPr>
        <p:txBody>
          <a:bodyPr/>
          <a:lstStyle/>
          <a:p>
            <a:endParaRPr lang="en-US"/>
          </a:p>
        </p:txBody>
      </p:sp>
      <p:sp>
        <p:nvSpPr>
          <p:cNvPr id="10" name="Shape 7"/>
          <p:cNvSpPr/>
          <p:nvPr/>
        </p:nvSpPr>
        <p:spPr>
          <a:xfrm>
            <a:off x="1005840" y="3108960"/>
            <a:ext cx="420624" cy="420624"/>
          </a:xfrm>
          <a:prstGeom prst="ellipse">
            <a:avLst/>
          </a:prstGeom>
          <a:solidFill>
            <a:srgbClr val="1D5FA7"/>
          </a:solidFill>
          <a:ln w="12700">
            <a:solidFill>
              <a:srgbClr val="1D5FA7"/>
            </a:solidFill>
            <a:prstDash val="solid"/>
          </a:ln>
        </p:spPr>
        <p:txBody>
          <a:bodyPr/>
          <a:lstStyle/>
          <a:p>
            <a:endParaRPr lang="en-US"/>
          </a:p>
        </p:txBody>
      </p:sp>
      <p:sp>
        <p:nvSpPr>
          <p:cNvPr id="11" name="Text 8"/>
          <p:cNvSpPr txBox="1"/>
          <p:nvPr/>
        </p:nvSpPr>
        <p:spPr>
          <a:xfrm>
            <a:off x="1005840" y="3108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2" name="Text 9"/>
          <p:cNvSpPr txBox="1"/>
          <p:nvPr/>
        </p:nvSpPr>
        <p:spPr>
          <a:xfrm>
            <a:off x="1005840" y="3611880"/>
            <a:ext cx="2926080" cy="96012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Without smoothing, what happens to the Positive score?</a:t>
            </a:r>
            <a:endParaRPr lang="en-US" sz="1600" dirty="0"/>
          </a:p>
        </p:txBody>
      </p:sp>
      <p:sp>
        <p:nvSpPr>
          <p:cNvPr id="13" name="Shape 10"/>
          <p:cNvSpPr/>
          <p:nvPr/>
        </p:nvSpPr>
        <p:spPr>
          <a:xfrm>
            <a:off x="4389120" y="2971800"/>
            <a:ext cx="3291840" cy="1691640"/>
          </a:xfrm>
          <a:prstGeom prst="roundRect">
            <a:avLst>
              <a:gd name="adj" fmla="val 4324"/>
            </a:avLst>
          </a:prstGeom>
          <a:solidFill>
            <a:srgbClr val="FFFFFF"/>
          </a:solidFill>
          <a:ln w="12700">
            <a:solidFill>
              <a:srgbClr val="B8C7D8"/>
            </a:solidFill>
            <a:prstDash val="solid"/>
          </a:ln>
        </p:spPr>
        <p:txBody>
          <a:bodyPr/>
          <a:lstStyle/>
          <a:p>
            <a:endParaRPr lang="en-US"/>
          </a:p>
        </p:txBody>
      </p:sp>
      <p:sp>
        <p:nvSpPr>
          <p:cNvPr id="14" name="Shape 11"/>
          <p:cNvSpPr/>
          <p:nvPr/>
        </p:nvSpPr>
        <p:spPr>
          <a:xfrm>
            <a:off x="4572000" y="3108960"/>
            <a:ext cx="420624" cy="420624"/>
          </a:xfrm>
          <a:prstGeom prst="ellipse">
            <a:avLst/>
          </a:prstGeom>
          <a:solidFill>
            <a:srgbClr val="1D5FA7"/>
          </a:solidFill>
          <a:ln w="12700">
            <a:solidFill>
              <a:srgbClr val="1D5FA7"/>
            </a:solidFill>
            <a:prstDash val="solid"/>
          </a:ln>
        </p:spPr>
        <p:txBody>
          <a:bodyPr/>
          <a:lstStyle/>
          <a:p>
            <a:endParaRPr lang="en-US"/>
          </a:p>
        </p:txBody>
      </p:sp>
      <p:sp>
        <p:nvSpPr>
          <p:cNvPr id="15" name="Text 12"/>
          <p:cNvSpPr txBox="1"/>
          <p:nvPr/>
        </p:nvSpPr>
        <p:spPr>
          <a:xfrm>
            <a:off x="4572000" y="3108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6" name="Text 13"/>
          <p:cNvSpPr txBox="1"/>
          <p:nvPr/>
        </p:nvSpPr>
        <p:spPr>
          <a:xfrm>
            <a:off x="4572000" y="3611880"/>
            <a:ext cx="2926080" cy="96012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Compute P(“mid” | Positive) with α = 1.</a:t>
            </a:r>
            <a:endParaRPr lang="en-US" sz="1600" dirty="0"/>
          </a:p>
        </p:txBody>
      </p:sp>
      <p:sp>
        <p:nvSpPr>
          <p:cNvPr id="17" name="Shape 14"/>
          <p:cNvSpPr/>
          <p:nvPr/>
        </p:nvSpPr>
        <p:spPr>
          <a:xfrm>
            <a:off x="7955280" y="2971800"/>
            <a:ext cx="3291840" cy="1691640"/>
          </a:xfrm>
          <a:prstGeom prst="roundRect">
            <a:avLst>
              <a:gd name="adj" fmla="val 4324"/>
            </a:avLst>
          </a:prstGeom>
          <a:solidFill>
            <a:srgbClr val="FFFFFF"/>
          </a:solidFill>
          <a:ln w="12700">
            <a:solidFill>
              <a:srgbClr val="B8C7D8"/>
            </a:solidFill>
            <a:prstDash val="solid"/>
          </a:ln>
        </p:spPr>
        <p:txBody>
          <a:bodyPr/>
          <a:lstStyle/>
          <a:p>
            <a:endParaRPr lang="en-US"/>
          </a:p>
        </p:txBody>
      </p:sp>
      <p:sp>
        <p:nvSpPr>
          <p:cNvPr id="18" name="Shape 15"/>
          <p:cNvSpPr/>
          <p:nvPr/>
        </p:nvSpPr>
        <p:spPr>
          <a:xfrm>
            <a:off x="8138160" y="3108960"/>
            <a:ext cx="420624" cy="420624"/>
          </a:xfrm>
          <a:prstGeom prst="ellipse">
            <a:avLst/>
          </a:prstGeom>
          <a:solidFill>
            <a:srgbClr val="1D5FA7"/>
          </a:solidFill>
          <a:ln w="12700">
            <a:solidFill>
              <a:srgbClr val="1D5FA7"/>
            </a:solidFill>
            <a:prstDash val="solid"/>
          </a:ln>
        </p:spPr>
        <p:txBody>
          <a:bodyPr/>
          <a:lstStyle/>
          <a:p>
            <a:endParaRPr lang="en-US"/>
          </a:p>
        </p:txBody>
      </p:sp>
      <p:sp>
        <p:nvSpPr>
          <p:cNvPr id="19" name="Text 16"/>
          <p:cNvSpPr txBox="1"/>
          <p:nvPr/>
        </p:nvSpPr>
        <p:spPr>
          <a:xfrm>
            <a:off x="8138160" y="3108960"/>
            <a:ext cx="420624" cy="420624"/>
          </a:xfrm>
          <a:prstGeom prst="rect">
            <a:avLst/>
          </a:prstGeom>
          <a:noFill/>
          <a:ln/>
        </p:spPr>
        <p:txBody>
          <a:bodyPr wrap="square" lIns="0" tIns="0" rIns="0" bIns="0" rtlCol="0" anchor="ctr"/>
          <a:lstStyle/>
          <a:p>
            <a:pPr marL="0" indent="0" algn="ctr">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20" name="Text 17"/>
          <p:cNvSpPr txBox="1"/>
          <p:nvPr/>
        </p:nvSpPr>
        <p:spPr>
          <a:xfrm>
            <a:off x="8138160" y="3611880"/>
            <a:ext cx="2926080" cy="960120"/>
          </a:xfrm>
          <a:prstGeom prst="rect">
            <a:avLst/>
          </a:prstGeom>
          <a:noFill/>
          <a:ln/>
        </p:spPr>
        <p:txBody>
          <a:bodyPr wrap="square" lIns="0" tIns="0" rIns="0" bIns="0" rtlCol="0" anchor="t"/>
          <a:lstStyle/>
          <a:p>
            <a:pPr marL="0" indent="0">
              <a:buNone/>
            </a:pPr>
            <a:r>
              <a:rPr lang="en-US" sz="1600" b="1" dirty="0">
                <a:solidFill>
                  <a:srgbClr val="0B2D55"/>
                </a:solidFill>
                <a:latin typeface="Aptos" pitchFamily="34" charset="0"/>
                <a:ea typeface="Aptos" pitchFamily="34" charset="-122"/>
                <a:cs typeface="Aptos" pitchFamily="34" charset="-120"/>
              </a:rPr>
              <a:t>The model says 0.999 Negative. Why be cautious about that number?</a:t>
            </a:r>
            <a:endParaRPr lang="en-US" sz="1600" dirty="0"/>
          </a:p>
        </p:txBody>
      </p:sp>
      <p:sp>
        <p:nvSpPr>
          <p:cNvPr id="21" name="Shape 18"/>
          <p:cNvSpPr/>
          <p:nvPr/>
        </p:nvSpPr>
        <p:spPr>
          <a:xfrm>
            <a:off x="822960" y="4937760"/>
            <a:ext cx="10515600" cy="914400"/>
          </a:xfrm>
          <a:prstGeom prst="roundRect">
            <a:avLst>
              <a:gd name="adj" fmla="val 8000"/>
            </a:avLst>
          </a:prstGeom>
          <a:solidFill>
            <a:srgbClr val="EAF2F8"/>
          </a:solidFill>
          <a:ln w="12700">
            <a:solidFill>
              <a:srgbClr val="1F5D9B"/>
            </a:solidFill>
            <a:prstDash val="solid"/>
          </a:ln>
        </p:spPr>
        <p:txBody>
          <a:bodyPr/>
          <a:lstStyle/>
          <a:p>
            <a:endParaRPr lang="en-US"/>
          </a:p>
        </p:txBody>
      </p:sp>
      <p:sp>
        <p:nvSpPr>
          <p:cNvPr id="22" name="Text 19"/>
          <p:cNvSpPr txBox="1"/>
          <p:nvPr/>
        </p:nvSpPr>
        <p:spPr>
          <a:xfrm>
            <a:off x="1005840" y="4937760"/>
            <a:ext cx="10149840" cy="91440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Every word is evidence against a starting belief. Smooth the zeros, and trust the ranking more than the percentage.</a:t>
            </a:r>
            <a:endParaRPr lang="en-US" sz="1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Backup B1: log-probabilities</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Real implementations add logs instead of multiplying probabilities.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27</a:t>
            </a:r>
            <a:endParaRPr lang="en-US" sz="850" dirty="0"/>
          </a:p>
        </p:txBody>
      </p:sp>
      <p:sp>
        <p:nvSpPr>
          <p:cNvPr id="7" name="Shape 4"/>
          <p:cNvSpPr/>
          <p:nvPr/>
        </p:nvSpPr>
        <p:spPr>
          <a:xfrm>
            <a:off x="576072" y="1554480"/>
            <a:ext cx="11036808" cy="1005840"/>
          </a:xfrm>
          <a:prstGeom prst="roundRect">
            <a:avLst>
              <a:gd name="adj" fmla="val 7273"/>
            </a:avLst>
          </a:prstGeom>
          <a:solidFill>
            <a:srgbClr val="EAF2F8"/>
          </a:solidFill>
          <a:ln w="12700">
            <a:solidFill>
              <a:srgbClr val="1F5D9B"/>
            </a:solidFill>
            <a:prstDash val="solid"/>
          </a:ln>
        </p:spPr>
        <p:txBody>
          <a:bodyPr/>
          <a:lstStyle/>
          <a:p>
            <a:endParaRPr lang="en-US"/>
          </a:p>
        </p:txBody>
      </p:sp>
      <p:sp>
        <p:nvSpPr>
          <p:cNvPr id="8" name="Text 5"/>
          <p:cNvSpPr txBox="1"/>
          <p:nvPr/>
        </p:nvSpPr>
        <p:spPr>
          <a:xfrm>
            <a:off x="731520" y="1554480"/>
            <a:ext cx="10698480" cy="1005840"/>
          </a:xfrm>
          <a:prstGeom prst="rect">
            <a:avLst/>
          </a:prstGeom>
          <a:noFill/>
          <a:ln/>
        </p:spPr>
        <p:txBody>
          <a:bodyPr wrap="square" lIns="0" tIns="0" rIns="0" bIns="0" rtlCol="0" anchor="ctr"/>
          <a:lstStyle/>
          <a:p>
            <a:pPr marL="0" indent="0" algn="ctr">
              <a:buNone/>
            </a:pPr>
            <a:r>
              <a:rPr lang="en-US" sz="2600" b="1" dirty="0">
                <a:solidFill>
                  <a:srgbClr val="0B2D55"/>
                </a:solidFill>
                <a:latin typeface="Aptos" pitchFamily="34" charset="0"/>
                <a:ea typeface="Aptos" pitchFamily="34" charset="-122"/>
                <a:cs typeface="Aptos" pitchFamily="34" charset="-120"/>
              </a:rPr>
              <a:t>log score(C)  =  log P(C)  +  Σ log P(wᵢ | C)</a:t>
            </a:r>
            <a:endParaRPr lang="en-US" sz="2600" dirty="0"/>
          </a:p>
        </p:txBody>
      </p:sp>
      <p:sp>
        <p:nvSpPr>
          <p:cNvPr id="9" name="Shape 6"/>
          <p:cNvSpPr/>
          <p:nvPr/>
        </p:nvSpPr>
        <p:spPr>
          <a:xfrm>
            <a:off x="576072" y="2788920"/>
            <a:ext cx="5394960" cy="1417320"/>
          </a:xfrm>
          <a:prstGeom prst="roundRect">
            <a:avLst>
              <a:gd name="adj" fmla="val 5161"/>
            </a:avLst>
          </a:prstGeom>
          <a:solidFill>
            <a:srgbClr val="F7D7D7"/>
          </a:solidFill>
          <a:ln w="12700">
            <a:solidFill>
              <a:srgbClr val="B43A3A"/>
            </a:solidFill>
            <a:prstDash val="solid"/>
          </a:ln>
        </p:spPr>
        <p:txBody>
          <a:bodyPr/>
          <a:lstStyle/>
          <a:p>
            <a:endParaRPr lang="en-US"/>
          </a:p>
        </p:txBody>
      </p:sp>
      <p:sp>
        <p:nvSpPr>
          <p:cNvPr id="10" name="Text 7"/>
          <p:cNvSpPr txBox="1"/>
          <p:nvPr/>
        </p:nvSpPr>
        <p:spPr>
          <a:xfrm>
            <a:off x="758952" y="2898648"/>
            <a:ext cx="50292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The problem: underflow</a:t>
            </a:r>
            <a:endParaRPr lang="en-US" sz="1500" dirty="0"/>
          </a:p>
        </p:txBody>
      </p:sp>
      <p:sp>
        <p:nvSpPr>
          <p:cNvPr id="11" name="Text 8"/>
          <p:cNvSpPr txBox="1"/>
          <p:nvPr/>
        </p:nvSpPr>
        <p:spPr>
          <a:xfrm>
            <a:off x="758952" y="3227832"/>
            <a:ext cx="5029200" cy="88696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200 words × likelihoods near 0.01 ≈ 10⁻⁴⁰⁰. Computers round that to 0 for every class.</a:t>
            </a:r>
            <a:endParaRPr lang="en-US" sz="1600" dirty="0"/>
          </a:p>
        </p:txBody>
      </p:sp>
      <p:sp>
        <p:nvSpPr>
          <p:cNvPr id="12" name="Shape 9"/>
          <p:cNvSpPr/>
          <p:nvPr/>
        </p:nvSpPr>
        <p:spPr>
          <a:xfrm>
            <a:off x="6217920" y="2788920"/>
            <a:ext cx="5394960" cy="1417320"/>
          </a:xfrm>
          <a:prstGeom prst="roundRect">
            <a:avLst>
              <a:gd name="adj" fmla="val 5161"/>
            </a:avLst>
          </a:prstGeom>
          <a:solidFill>
            <a:srgbClr val="DFF0D8"/>
          </a:solidFill>
          <a:ln w="12700">
            <a:solidFill>
              <a:srgbClr val="2E7D32"/>
            </a:solidFill>
            <a:prstDash val="solid"/>
          </a:ln>
        </p:spPr>
        <p:txBody>
          <a:bodyPr/>
          <a:lstStyle/>
          <a:p>
            <a:endParaRPr lang="en-US"/>
          </a:p>
        </p:txBody>
      </p:sp>
      <p:sp>
        <p:nvSpPr>
          <p:cNvPr id="13" name="Text 10"/>
          <p:cNvSpPr txBox="1"/>
          <p:nvPr/>
        </p:nvSpPr>
        <p:spPr>
          <a:xfrm>
            <a:off x="6400800" y="2898648"/>
            <a:ext cx="5029200" cy="292608"/>
          </a:xfrm>
          <a:prstGeom prst="rect">
            <a:avLst/>
          </a:prstGeom>
          <a:noFill/>
          <a:ln/>
        </p:spPr>
        <p:txBody>
          <a:bodyPr wrap="square" lIns="0" tIns="0" rIns="0" bIns="0" rtlCol="0" anchor="t"/>
          <a:lstStyle/>
          <a:p>
            <a:pPr marL="0" indent="0">
              <a:buNone/>
            </a:pPr>
            <a:r>
              <a:rPr lang="en-US" sz="1500" b="1" dirty="0">
                <a:solidFill>
                  <a:srgbClr val="0B2D55"/>
                </a:solidFill>
                <a:latin typeface="Aptos" pitchFamily="34" charset="0"/>
                <a:ea typeface="Aptos" pitchFamily="34" charset="-122"/>
                <a:cs typeface="Aptos" pitchFamily="34" charset="-120"/>
              </a:rPr>
              <a:t>The fix: add logs</a:t>
            </a:r>
            <a:endParaRPr lang="en-US" sz="1500" dirty="0"/>
          </a:p>
        </p:txBody>
      </p:sp>
      <p:sp>
        <p:nvSpPr>
          <p:cNvPr id="14" name="Text 11"/>
          <p:cNvSpPr txBox="1"/>
          <p:nvPr/>
        </p:nvSpPr>
        <p:spPr>
          <a:xfrm>
            <a:off x="6400800" y="3227832"/>
            <a:ext cx="5029200" cy="886968"/>
          </a:xfrm>
          <a:prstGeom prst="rect">
            <a:avLst/>
          </a:prstGeom>
          <a:noFill/>
          <a:ln/>
        </p:spPr>
        <p:txBody>
          <a:bodyPr wrap="square" lIns="0" tIns="0" rIns="0" bIns="0" rtlCol="0" anchor="t"/>
          <a:lstStyle/>
          <a:p>
            <a:pPr marL="0" indent="0">
              <a:buNone/>
            </a:pPr>
            <a:r>
              <a:rPr lang="en-US" sz="1600" dirty="0">
                <a:solidFill>
                  <a:srgbClr val="132033"/>
                </a:solidFill>
                <a:latin typeface="Aptos" pitchFamily="34" charset="0"/>
                <a:ea typeface="Aptos" pitchFamily="34" charset="-122"/>
                <a:cs typeface="Aptos" pitchFamily="34" charset="-120"/>
              </a:rPr>
              <a:t>Logs turn a product into a sum. Larger log-score = larger score, so the decision is identical.</a:t>
            </a:r>
            <a:endParaRPr lang="en-US" sz="1600" dirty="0"/>
          </a:p>
        </p:txBody>
      </p:sp>
      <p:sp>
        <p:nvSpPr>
          <p:cNvPr id="15" name="Shape 12"/>
          <p:cNvSpPr/>
          <p:nvPr/>
        </p:nvSpPr>
        <p:spPr>
          <a:xfrm>
            <a:off x="576072" y="4434840"/>
            <a:ext cx="11036808" cy="1325880"/>
          </a:xfrm>
          <a:prstGeom prst="roundRect">
            <a:avLst>
              <a:gd name="adj" fmla="val 5517"/>
            </a:avLst>
          </a:prstGeom>
          <a:solidFill>
            <a:srgbClr val="FFFFFF"/>
          </a:solidFill>
          <a:ln w="12700">
            <a:solidFill>
              <a:srgbClr val="B8C7D8"/>
            </a:solidFill>
            <a:prstDash val="solid"/>
          </a:ln>
        </p:spPr>
        <p:txBody>
          <a:bodyPr/>
          <a:lstStyle/>
          <a:p>
            <a:endParaRPr lang="en-US"/>
          </a:p>
        </p:txBody>
      </p:sp>
      <p:sp>
        <p:nvSpPr>
          <p:cNvPr id="16" name="Text 13"/>
          <p:cNvSpPr txBox="1"/>
          <p:nvPr/>
        </p:nvSpPr>
        <p:spPr>
          <a:xfrm>
            <a:off x="777240" y="4434840"/>
            <a:ext cx="10607040" cy="1325880"/>
          </a:xfrm>
          <a:prstGeom prst="rect">
            <a:avLst/>
          </a:prstGeom>
          <a:noFill/>
          <a:ln/>
        </p:spPr>
        <p:txBody>
          <a:bodyPr wrap="square" lIns="0" tIns="0" rIns="0" bIns="0" rtlCol="0" anchor="ctr"/>
          <a:lstStyle/>
          <a:p>
            <a:pPr marL="0" indent="0" algn="ctr">
              <a:buNone/>
            </a:pPr>
            <a:r>
              <a:rPr lang="en-US" sz="1700" b="1" dirty="0">
                <a:solidFill>
                  <a:srgbClr val="0B2D55"/>
                </a:solidFill>
                <a:latin typeface="Aptos" pitchFamily="34" charset="0"/>
                <a:ea typeface="Aptos" pitchFamily="34" charset="-122"/>
                <a:cs typeface="Aptos" pitchFamily="34" charset="-120"/>
              </a:rPr>
              <a:t>Check with slide 14:  </a:t>
            </a:r>
            <a:r>
              <a:rPr lang="en-US" sz="1700" dirty="0">
                <a:solidFill>
                  <a:srgbClr val="132033"/>
                </a:solidFill>
                <a:latin typeface="Aptos" pitchFamily="34" charset="0"/>
                <a:ea typeface="Aptos" pitchFamily="34" charset="-122"/>
                <a:cs typeface="Aptos" pitchFamily="34" charset="-120"/>
              </a:rPr>
              <a:t>ln 0.2 + ln 0.15 + ln 0.05 + ln 0.10 = −1.61 − 1.90 − 3.00 − 2.30 = −8.81,  and  e</a:t>
            </a:r>
            <a:r>
              <a:rPr lang="en-US" sz="1700" baseline="30000" dirty="0">
                <a:solidFill>
                  <a:srgbClr val="132033"/>
                </a:solidFill>
                <a:latin typeface="Aptos" pitchFamily="34" charset="0"/>
                <a:ea typeface="Aptos" pitchFamily="34" charset="-122"/>
                <a:cs typeface="Aptos" pitchFamily="34" charset="-120"/>
              </a:rPr>
              <a:t>−8.81</a:t>
            </a:r>
            <a:r>
              <a:rPr lang="en-US" sz="1700" dirty="0">
                <a:solidFill>
                  <a:srgbClr val="132033"/>
                </a:solidFill>
                <a:latin typeface="Aptos" pitchFamily="34" charset="0"/>
                <a:ea typeface="Aptos" pitchFamily="34" charset="-122"/>
                <a:cs typeface="Aptos" pitchFamily="34" charset="-120"/>
              </a:rPr>
              <a:t> ≈ 1.5 × 10</a:t>
            </a:r>
            <a:r>
              <a:rPr lang="en-US" sz="1700" baseline="30000" dirty="0">
                <a:solidFill>
                  <a:srgbClr val="132033"/>
                </a:solidFill>
                <a:latin typeface="Aptos" pitchFamily="34" charset="0"/>
                <a:ea typeface="Aptos" pitchFamily="34" charset="-122"/>
                <a:cs typeface="Aptos" pitchFamily="34" charset="-120"/>
              </a:rPr>
              <a:t>−4</a:t>
            </a:r>
            <a:endParaRPr lang="en-US" sz="17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Backup B2: two kinds of Naive Bayes for text</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Count the words, or just check whether each word appears.</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28</a:t>
            </a:r>
            <a:endParaRPr lang="en-US" sz="85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6072" y="1600200"/>
          <a:ext cx="11036808" cy="3291840"/>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15968">
                  <a:extLst>
                    <a:ext uri="{9D8B030D-6E8A-4147-A177-3AD203B41FA5}">
                      <a16:colId xmlns:a16="http://schemas.microsoft.com/office/drawing/2014/main" val="20002"/>
                    </a:ext>
                  </a:extLst>
                </a:gridCol>
              </a:tblGrid>
              <a:tr h="548640">
                <a:tc>
                  <a:txBody>
                    <a:bodyPr/>
                    <a:lstStyle/>
                    <a:p>
                      <a:pPr marL="0" indent="0" algn="ctr">
                        <a:buNone/>
                      </a:pP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Multinomial (this lesson)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Bernoulli</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What is recorded</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How many times each word appears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Whether each vocabulary word appears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P(w | C)</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count of w / total words in C</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texts containing w / texts in C</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Smoothing</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(count + α) / (total + α|V|)</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(count + α) / (texts + 2α)</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Absent words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Ignored</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Count as evidence too</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scikit-learn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MultinomialNB</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BernoulliNB</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txBox="1"/>
          <p:nvPr/>
        </p:nvSpPr>
        <p:spPr>
          <a:xfrm>
            <a:off x="822960" y="5257800"/>
            <a:ext cx="10515600" cy="50292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Pick one variant per problem. Don’t mix message percentages with word-count smoothing.</a:t>
            </a:r>
            <a:endParaRPr lang="en-US" sz="1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76072" y="566928"/>
            <a:ext cx="10972800" cy="475488"/>
          </a:xfrm>
          <a:prstGeom prst="rect">
            <a:avLst/>
          </a:prstGeom>
          <a:noFill/>
          <a:ln/>
        </p:spPr>
        <p:txBody>
          <a:bodyPr wrap="square" lIns="0" tIns="0" rIns="0" bIns="0" rtlCol="0" anchor="ctr"/>
          <a:lstStyle/>
          <a:p>
            <a:pPr marL="0" indent="0">
              <a:buNone/>
            </a:pPr>
            <a:r>
              <a:rPr lang="en-US" sz="3400" b="1" dirty="0">
                <a:solidFill>
                  <a:srgbClr val="0B2D55"/>
                </a:solidFill>
                <a:latin typeface="Aptos Display" pitchFamily="34" charset="0"/>
                <a:ea typeface="Aptos Display" pitchFamily="34" charset="-122"/>
                <a:cs typeface="Aptos Display" pitchFamily="34" charset="-120"/>
              </a:rPr>
              <a:t>Backup B3: Naive Bayes vs. logistic</a:t>
            </a:r>
            <a:endParaRPr lang="en-US" sz="3400" dirty="0"/>
          </a:p>
        </p:txBody>
      </p:sp>
      <p:sp>
        <p:nvSpPr>
          <p:cNvPr id="3" name="Text 1"/>
          <p:cNvSpPr txBox="1"/>
          <p:nvPr/>
        </p:nvSpPr>
        <p:spPr>
          <a:xfrm>
            <a:off x="594360" y="1051560"/>
            <a:ext cx="10972800" cy="292608"/>
          </a:xfrm>
          <a:prstGeom prst="rect">
            <a:avLst/>
          </a:prstGeom>
          <a:noFill/>
          <a:ln/>
        </p:spPr>
        <p:txBody>
          <a:bodyPr wrap="square" lIns="0" tIns="0" rIns="0" bIns="0" rtlCol="0" anchor="ctr"/>
          <a:lstStyle/>
          <a:p>
            <a:pPr marL="0" indent="0">
              <a:buNone/>
            </a:pPr>
            <a:r>
              <a:rPr lang="en-US" sz="1500" dirty="0">
                <a:solidFill>
                  <a:srgbClr val="132033"/>
                </a:solidFill>
                <a:latin typeface="Aptos" pitchFamily="34" charset="0"/>
                <a:ea typeface="Aptos" pitchFamily="34" charset="-122"/>
                <a:cs typeface="Aptos" pitchFamily="34" charset="-120"/>
              </a:rPr>
              <a:t>Two ways to reach a linear boundary.</a:t>
            </a:r>
            <a:endParaRPr lang="en-US" sz="1500" dirty="0"/>
          </a:p>
        </p:txBody>
      </p:sp>
      <p:sp>
        <p:nvSpPr>
          <p:cNvPr id="4" name="Text 2"/>
          <p:cNvSpPr txBox="1"/>
          <p:nvPr/>
        </p:nvSpPr>
        <p:spPr>
          <a:xfrm>
            <a:off x="502920" y="6528816"/>
            <a:ext cx="4937760" cy="201168"/>
          </a:xfrm>
          <a:prstGeom prst="rect">
            <a:avLst/>
          </a:prstGeom>
          <a:noFill/>
          <a:ln/>
        </p:spPr>
        <p:txBody>
          <a:bodyPr wrap="square" lIns="0" tIns="0" rIns="0" bIns="0" rtlCol="0" anchor="ctr"/>
          <a:lstStyle/>
          <a:p>
            <a:pPr marL="0" indent="0">
              <a:buNone/>
            </a:pPr>
            <a:r>
              <a:rPr lang="en-US" sz="850" dirty="0">
                <a:solidFill>
                  <a:srgbClr val="6D7C8F"/>
                </a:solidFill>
                <a:latin typeface="Aptos" pitchFamily="34" charset="0"/>
                <a:ea typeface="Aptos" pitchFamily="34" charset="-122"/>
                <a:cs typeface="Aptos" pitchFamily="34" charset="-120"/>
              </a:rPr>
              <a:t>CS 471  |  L27: Naive Bayes</a:t>
            </a:r>
            <a:endParaRPr lang="en-US" sz="850" dirty="0"/>
          </a:p>
        </p:txBody>
      </p:sp>
      <p:sp>
        <p:nvSpPr>
          <p:cNvPr id="5" name="Text 3"/>
          <p:cNvSpPr txBox="1"/>
          <p:nvPr/>
        </p:nvSpPr>
        <p:spPr>
          <a:xfrm>
            <a:off x="11402568" y="6528816"/>
            <a:ext cx="320040" cy="201168"/>
          </a:xfrm>
          <a:prstGeom prst="rect">
            <a:avLst/>
          </a:prstGeom>
          <a:noFill/>
          <a:ln/>
        </p:spPr>
        <p:txBody>
          <a:bodyPr wrap="square" lIns="0" tIns="0" rIns="0" bIns="0" rtlCol="0" anchor="ctr"/>
          <a:lstStyle/>
          <a:p>
            <a:pPr marL="0" indent="0" algn="r">
              <a:buNone/>
            </a:pPr>
            <a:r>
              <a:rPr lang="en-US" sz="850" dirty="0">
                <a:solidFill>
                  <a:srgbClr val="6D7C8F"/>
                </a:solidFill>
                <a:latin typeface="Aptos" pitchFamily="34" charset="0"/>
                <a:ea typeface="Aptos" pitchFamily="34" charset="-122"/>
                <a:cs typeface="Aptos" pitchFamily="34" charset="-120"/>
              </a:rPr>
              <a:t>29</a:t>
            </a:r>
            <a:endParaRPr lang="en-US" sz="8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6072" y="1600200"/>
          <a:ext cx="11036808" cy="3291840"/>
        </p:xfrm>
        <a:graphic>
          <a:graphicData uri="http://schemas.openxmlformats.org/drawingml/2006/table">
            <a:tbl>
              <a:tblPr/>
              <a:tblGrid>
                <a:gridCol w="2377440">
                  <a:extLst>
                    <a:ext uri="{9D8B030D-6E8A-4147-A177-3AD203B41FA5}">
                      <a16:colId xmlns:a16="http://schemas.microsoft.com/office/drawing/2014/main" val="20000"/>
                    </a:ext>
                  </a:extLst>
                </a:gridCol>
                <a:gridCol w="4343400">
                  <a:extLst>
                    <a:ext uri="{9D8B030D-6E8A-4147-A177-3AD203B41FA5}">
                      <a16:colId xmlns:a16="http://schemas.microsoft.com/office/drawing/2014/main" val="20001"/>
                    </a:ext>
                  </a:extLst>
                </a:gridCol>
                <a:gridCol w="4315968">
                  <a:extLst>
                    <a:ext uri="{9D8B030D-6E8A-4147-A177-3AD203B41FA5}">
                      <a16:colId xmlns:a16="http://schemas.microsoft.com/office/drawing/2014/main" val="20002"/>
                    </a:ext>
                  </a:extLst>
                </a:gridCol>
              </a:tblGrid>
              <a:tr h="548640">
                <a:tc>
                  <a:txBody>
                    <a:bodyPr/>
                    <a:lstStyle/>
                    <a:p>
                      <a:pPr marL="0" indent="0" algn="ctr">
                        <a:buNone/>
                      </a:pP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Naive Bayes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Logistic regression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solidFill>
                      <a:srgbClr val="F4F8FC"/>
                    </a:solidFill>
                  </a:tcPr>
                </a:tc>
                <a:extLst>
                  <a:ext uri="{0D108BD9-81ED-4DB2-BD59-A6C34878D82A}">
                    <a16:rowId xmlns:a16="http://schemas.microsoft.com/office/drawing/2014/main" val="10000"/>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Models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How each class generates words: P(words | class)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The class directly: P(class | words)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Type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Generative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Discriminative</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Training</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Counting (one pass, very fast)</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Iterative optimization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Correlated features</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Double-counted</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Weights adjust for overlap</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lgn="ctr">
                        <a:buNone/>
                      </a:pPr>
                      <a:r>
                        <a:rPr lang="en-US" sz="1500" b="1" dirty="0">
                          <a:solidFill>
                            <a:srgbClr val="0B2D55"/>
                          </a:solidFill>
                          <a:latin typeface="Aptos" pitchFamily="34" charset="0"/>
                          <a:ea typeface="Aptos" pitchFamily="34" charset="-122"/>
                          <a:cs typeface="Aptos" pitchFamily="34" charset="-120"/>
                        </a:rPr>
                        <a:t>Best when</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Little training data</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tc>
                  <a:txBody>
                    <a:bodyPr/>
                    <a:lstStyle/>
                    <a:p>
                      <a:pPr marL="0" indent="0" algn="ctr">
                        <a:buNone/>
                      </a:pPr>
                      <a:r>
                        <a:rPr lang="en-US" sz="1500" dirty="0">
                          <a:solidFill>
                            <a:srgbClr val="132033"/>
                          </a:solidFill>
                          <a:latin typeface="Aptos" pitchFamily="34" charset="0"/>
                          <a:ea typeface="Aptos" pitchFamily="34" charset="-122"/>
                          <a:cs typeface="Aptos" pitchFamily="34" charset="-120"/>
                        </a:rPr>
                        <a:t>Plenty of training data</a:t>
                      </a:r>
                      <a:endParaRPr lang="en-US" sz="1500" dirty="0">
                        <a:latin typeface="Aptos" charset="0"/>
                        <a:ea typeface="Aptos" charset="0"/>
                        <a:cs typeface="Aptos" charset="0"/>
                      </a:endParaRPr>
                    </a:p>
                  </a:txBody>
                  <a:tcPr anchor="ctr">
                    <a:lnL w="12700" cap="flat" cmpd="sng" algn="ctr">
                      <a:solidFill>
                        <a:srgbClr val="B8C7D8"/>
                      </a:solidFill>
                      <a:prstDash val="solid"/>
                      <a:round/>
                      <a:headEnd type="none" w="med" len="med"/>
                      <a:tailEnd type="none" w="med" len="med"/>
                    </a:lnL>
                    <a:lnR w="12700" cap="flat" cmpd="sng" algn="ctr">
                      <a:solidFill>
                        <a:srgbClr val="B8C7D8"/>
                      </a:solidFill>
                      <a:prstDash val="solid"/>
                      <a:round/>
                      <a:headEnd type="none" w="med" len="med"/>
                      <a:tailEnd type="none" w="med" len="med"/>
                    </a:lnR>
                    <a:lnT w="12700" cap="flat" cmpd="sng" algn="ctr">
                      <a:solidFill>
                        <a:srgbClr val="B8C7D8"/>
                      </a:solidFill>
                      <a:prstDash val="solid"/>
                      <a:round/>
                      <a:headEnd type="none" w="med" len="med"/>
                      <a:tailEnd type="none" w="med" len="med"/>
                    </a:lnT>
                    <a:lnB w="12700" cap="flat" cmpd="sng" algn="ctr">
                      <a:solidFill>
                        <a:srgbClr val="B8C7D8"/>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txBox="1"/>
          <p:nvPr/>
        </p:nvSpPr>
        <p:spPr>
          <a:xfrm>
            <a:off x="822960" y="5257800"/>
            <a:ext cx="10515600" cy="502920"/>
          </a:xfrm>
          <a:prstGeom prst="rect">
            <a:avLst/>
          </a:prstGeom>
          <a:noFill/>
          <a:ln/>
        </p:spPr>
        <p:txBody>
          <a:bodyPr wrap="square" lIns="0" tIns="0" rIns="0" bIns="0" rtlCol="0" anchor="ctr"/>
          <a:lstStyle/>
          <a:p>
            <a:pPr marL="0" indent="0" algn="ctr">
              <a:buNone/>
            </a:pPr>
            <a:r>
              <a:rPr lang="en-US" sz="1900" b="1" dirty="0">
                <a:solidFill>
                  <a:srgbClr val="0B2D55"/>
                </a:solidFill>
                <a:latin typeface="Aptos" pitchFamily="34" charset="0"/>
                <a:ea typeface="Aptos" pitchFamily="34" charset="-122"/>
                <a:cs typeface="Aptos" pitchFamily="34" charset="-120"/>
              </a:rPr>
              <a:t>Same linear boundary shape; different assumptions about where it comes from.</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7D154A9B6B4745A92074A700A40869" ma:contentTypeVersion="24" ma:contentTypeDescription="Create a new document." ma:contentTypeScope="" ma:versionID="49c36a49e684e25092aa685b0fe35842">
  <xsd:schema xmlns:xsd="http://www.w3.org/2001/XMLSchema" xmlns:xs="http://www.w3.org/2001/XMLSchema" xmlns:p="http://schemas.microsoft.com/office/2006/metadata/properties" xmlns:ns1="http://schemas.microsoft.com/sharepoint/v3" xmlns:ns2="fcae3b96-bd14-4ee2-8386-a94084e60018" xmlns:ns3="56f87f42-bac6-49e2-b9d5-04744cb514ee" targetNamespace="http://schemas.microsoft.com/office/2006/metadata/properties" ma:root="true" ma:fieldsID="9c960b9d532a5d3a9032170b89435a2d" ns1:_="" ns2:_="" ns3:_="">
    <xsd:import namespace="http://schemas.microsoft.com/sharepoint/v3"/>
    <xsd:import namespace="fcae3b96-bd14-4ee2-8386-a94084e60018"/>
    <xsd:import namespace="56f87f42-bac6-49e2-b9d5-04744cb514ee"/>
    <xsd:element name="properties">
      <xsd:complexType>
        <xsd:sequence>
          <xsd:element name="documentManagement">
            <xsd:complexType>
              <xsd:all>
                <xsd:element ref="ns1:_ip_UnifiedCompliancePolicyProperties" minOccurs="0"/>
                <xsd:element ref="ns1:_ip_UnifiedCompliancePolicyUIAction"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2:MediaServiceLocation" minOccurs="0"/>
                <xsd:element ref="ns2:MediaLengthInSeconds" minOccurs="0"/>
                <xsd:element ref="ns3:TaxCatchAll" minOccurs="0"/>
                <xsd:element ref="ns2:lcf76f155ced4ddcb4097134ff3c332f"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8" nillable="true" ma:displayName="Unified Compliance Policy Properties" ma:hidden="true" ma:internalName="_ip_UnifiedCompliancePolicyProperties">
      <xsd:simpleType>
        <xsd:restriction base="dms:Note"/>
      </xsd:simpleType>
    </xsd:element>
    <xsd:element name="_ip_UnifiedCompliancePolicyUIAction" ma:index="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cae3b96-bd14-4ee2-8386-a94084e60018"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5"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f87f42-bac6-49e2-b9d5-04744cb514e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88e345d7-e916-42f7-ade4-36d8c15b0911}" ma:internalName="TaxCatchAll" ma:showField="CatchAllData" ma:web="56f87f42-bac6-49e2-b9d5-04744cb514e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6f87f42-bac6-49e2-b9d5-04744cb514ee" xsi:nil="true"/>
    <lcf76f155ced4ddcb4097134ff3c332f xmlns="fcae3b96-bd14-4ee2-8386-a94084e60018">
      <Terms xmlns="http://schemas.microsoft.com/office/infopath/2007/PartnerControls"/>
    </lcf76f155ced4ddcb4097134ff3c332f>
    <_ip_UnifiedCompliancePolicyProperties xmlns="http://schemas.microsoft.com/sharepoint/v3" xsi:nil="true"/>
  </documentManagement>
</p:properties>
</file>

<file path=customXml/itemProps1.xml><?xml version="1.0" encoding="utf-8"?>
<ds:datastoreItem xmlns:ds="http://schemas.openxmlformats.org/officeDocument/2006/customXml" ds:itemID="{3E7CC25D-C095-48C0-A98E-478D9E322031}"/>
</file>

<file path=customXml/itemProps2.xml><?xml version="1.0" encoding="utf-8"?>
<ds:datastoreItem xmlns:ds="http://schemas.openxmlformats.org/officeDocument/2006/customXml" ds:itemID="{08260E83-F1D2-44B7-8B87-73C717264B02}"/>
</file>

<file path=customXml/itemProps3.xml><?xml version="1.0" encoding="utf-8"?>
<ds:datastoreItem xmlns:ds="http://schemas.openxmlformats.org/officeDocument/2006/customXml" ds:itemID="{181D0EAD-3C2F-4D4D-B702-6B3C23EB873A}"/>
</file>

<file path=docProps/app.xml><?xml version="1.0" encoding="utf-8"?>
<Properties xmlns="http://schemas.openxmlformats.org/officeDocument/2006/extended-properties" xmlns:vt="http://schemas.openxmlformats.org/officeDocument/2006/docPropsVTypes">
  <TotalTime>9</TotalTime>
  <Words>8943</Words>
  <Application>Microsoft Office PowerPoint</Application>
  <PresentationFormat>Widescreen</PresentationFormat>
  <Paragraphs>677</Paragraphs>
  <Slides>29</Slides>
  <Notes>29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471 L27: Naive Bayes Classification</dc:title>
  <dc:subject>PptxGenJS Presentation</dc:subject>
  <dc:creator>PptxGenJS</dc:creator>
  <cp:lastModifiedBy>Michael Todd</cp:lastModifiedBy>
  <cp:revision>2</cp:revision>
  <dcterms:created xsi:type="dcterms:W3CDTF">2026-09-23T19:31:31Z</dcterms:created>
  <dcterms:modified xsi:type="dcterms:W3CDTF">2026-09-23T20:02:05Z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0x0101006A7D154A9B6B4745A92074A700A40869</vt:lpwstr>
  </property>
</Properties>
</file>