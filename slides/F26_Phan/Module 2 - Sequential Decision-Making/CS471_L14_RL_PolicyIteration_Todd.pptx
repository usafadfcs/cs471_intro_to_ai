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4"/>
  </p:notesMasterIdLst>
  <p:sldIdLst>
    <p:sldId id="293" r:id="rId5"/>
    <p:sldId id="295" r:id="rId6"/>
    <p:sldId id="257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98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99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6E837-18AA-4C87-B35B-299FDE1B88AB}" v="1" dt="2026-09-15T04:06:34.168"/>
    <p1510:client id="{EA5993F5-FCFB-4914-A34C-80364449DAC2}" v="205" dt="2026-09-14T20:08:22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40" autoAdjust="0"/>
  </p:normalViewPr>
  <p:slideViewPr>
    <p:cSldViewPr snapToGrid="0" snapToObjects="1">
      <p:cViewPr>
        <p:scale>
          <a:sx n="100" d="100"/>
          <a:sy n="100" d="100"/>
        </p:scale>
        <p:origin x="-931" y="11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90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contrasting value iteration with policy iteration. Emphasize that the MDP model stays the same; the organization of computation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the objectives. Emphasize that students should be able to identify phases, improve a policy from Q-values, and state the stopping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Ask students what the MAX meant in value iteration and what convergence meant. Then introduce policy iteration as a more explicit evaluate/improve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position value iteration and policy iteration as siblings rather than completely separate topics.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Stress that policy evaluation estimates values under the current policy, not the optimal policy.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Spend about 60–90 seconds. The goal is retrieval, not a new probability lesson.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main mathematical distinction. The MAX appears during policy improvement, not during deterministic policy evaluation.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Walk students through this evaluation backup.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BC11-D499-9929-F1BB-EA88E44E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EB456-4493-6EFA-ACDE-455DD55D6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7BFDF-050D-DF27-EB7E-0581962F4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21B09-E092-EA2A-A54D-20A027A94A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97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C21B-8C5E-4050-841C-5DF4B3AD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0DA27-1BFC-823F-319B-2493894E5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86F48-F4AB-25DC-C202-178385C81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5E804-46B6-64AD-E3E6-77DB8CEDC7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10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 a complete cycle with small tables. The goal is seeing the alternation rather than performing lots of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termination condition assessed in the module. Make sure students use “policy stops changing,” not “rewards become zero.”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Make this comparison explicit to prevent students from overapplying the value iteration convergence idea.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Set up L15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students work in pairs. Expected improved policy: </a:t>
            </a:r>
            <a:r>
              <a:rPr lang="en-US" dirty="0" err="1"/>
              <a:t>P→Charge</a:t>
            </a:r>
            <a:r>
              <a:rPr lang="en-US" dirty="0"/>
              <a:t>, </a:t>
            </a:r>
            <a:r>
              <a:rPr lang="en-US" dirty="0" err="1"/>
              <a:t>Q→Hold</a:t>
            </a:r>
            <a:r>
              <a:rPr lang="en-US" dirty="0"/>
              <a:t>, </a:t>
            </a:r>
            <a:r>
              <a:rPr lang="en-US" dirty="0" err="1"/>
              <a:t>R→Hold</a:t>
            </a:r>
            <a:r>
              <a:rPr lang="en-US" dirty="0"/>
              <a:t>. Then ask whether the policy changed and whether the algorithm is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or use as retrieval. Expected answers: policy fixed; Vπ; best/highest-valued; evaluate the new policy; terminate; explain VI vs PI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5DA7767-BF0D-DC92-E26F-0230D00BE84F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681D8C-888C-44D3-6C7E-45FFCCA2F481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>
            <a:extLst>
              <a:ext uri="{FF2B5EF4-FFF2-40B4-BE49-F238E27FC236}">
                <a16:creationId xmlns:a16="http://schemas.microsoft.com/office/drawing/2014/main" id="{D740DD9C-5873-4795-FFDC-1A1F28FC34DF}"/>
              </a:ext>
            </a:extLst>
          </p:cNvPr>
          <p:cNvSpPr/>
          <p:nvPr/>
        </p:nvSpPr>
        <p:spPr>
          <a:xfrm>
            <a:off x="0" y="202020"/>
            <a:ext cx="12191695" cy="6655980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" name="Text 0"/>
          <p:cNvSpPr/>
          <p:nvPr/>
        </p:nvSpPr>
        <p:spPr>
          <a:xfrm>
            <a:off x="73152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CompSci 471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24358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933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D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14: Reinforcement Learning II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</a:p>
        </p:txBody>
      </p:sp>
      <p:sp>
        <p:nvSpPr>
          <p:cNvPr id="15" name="Text 13"/>
          <p:cNvSpPr/>
          <p:nvPr/>
        </p:nvSpPr>
        <p:spPr>
          <a:xfrm>
            <a:off x="638856" y="3195828"/>
            <a:ext cx="6404795" cy="548640"/>
          </a:xfrm>
          <a:prstGeom prst="roundRect">
            <a:avLst>
              <a:gd name="adj" fmla="val 8333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82B55"/>
                </a:solidFill>
              </a:rPr>
              <a:t>LOCK the arrows → update the numbers. </a:t>
            </a:r>
            <a:br>
              <a:rPr lang="en-US" sz="1600" b="1" dirty="0">
                <a:solidFill>
                  <a:srgbClr val="082B55"/>
                </a:solidFill>
              </a:rPr>
            </a:br>
            <a:r>
              <a:rPr lang="en-US" sz="1600" b="1" dirty="0">
                <a:solidFill>
                  <a:srgbClr val="082B55"/>
                </a:solidFill>
              </a:rPr>
              <a:t>UNLOCK the arrows → choose better actions.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6263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2E7DEFB-A276-4B39-F31B-2FFEBF2F070E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5FB522AD-F414-759B-9EAA-B2CFC50A7AB1}"/>
              </a:ext>
            </a:extLst>
          </p:cNvPr>
          <p:cNvSpPr/>
          <p:nvPr/>
        </p:nvSpPr>
        <p:spPr>
          <a:xfrm>
            <a:off x="7685729" y="632589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D4C190B-6C65-3944-1C80-1DBA1E19C04B}"/>
              </a:ext>
            </a:extLst>
          </p:cNvPr>
          <p:cNvSpPr/>
          <p:nvPr/>
        </p:nvSpPr>
        <p:spPr>
          <a:xfrm>
            <a:off x="8640183" y="632589"/>
            <a:ext cx="951649" cy="951649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2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423A674-66DB-4CB6-E052-7F65A19440EC}"/>
              </a:ext>
            </a:extLst>
          </p:cNvPr>
          <p:cNvSpPr/>
          <p:nvPr/>
        </p:nvSpPr>
        <p:spPr>
          <a:xfrm>
            <a:off x="9594637" y="632589"/>
            <a:ext cx="951649" cy="951649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20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D2DF3EE-CC23-EBA5-AF08-5924C2D01610}"/>
              </a:ext>
            </a:extLst>
          </p:cNvPr>
          <p:cNvSpPr/>
          <p:nvPr/>
        </p:nvSpPr>
        <p:spPr>
          <a:xfrm>
            <a:off x="10543479" y="632589"/>
            <a:ext cx="951649" cy="951649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822074A5-530D-6339-7153-E4425D13E69A}"/>
              </a:ext>
            </a:extLst>
          </p:cNvPr>
          <p:cNvSpPr/>
          <p:nvPr/>
        </p:nvSpPr>
        <p:spPr>
          <a:xfrm>
            <a:off x="7685729" y="1581431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873A8836-AAFF-1D91-8A55-123D306A5CA4}"/>
              </a:ext>
            </a:extLst>
          </p:cNvPr>
          <p:cNvSpPr/>
          <p:nvPr/>
        </p:nvSpPr>
        <p:spPr>
          <a:xfrm>
            <a:off x="8640183" y="1581431"/>
            <a:ext cx="951649" cy="951649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358D207C-6186-90A0-0239-5B6177238DC6}"/>
              </a:ext>
            </a:extLst>
          </p:cNvPr>
          <p:cNvSpPr/>
          <p:nvPr/>
        </p:nvSpPr>
        <p:spPr>
          <a:xfrm>
            <a:off x="9594637" y="1581431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20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8771E175-C0D4-A0B7-735F-D46886C7AFF6}"/>
              </a:ext>
            </a:extLst>
          </p:cNvPr>
          <p:cNvSpPr/>
          <p:nvPr/>
        </p:nvSpPr>
        <p:spPr>
          <a:xfrm>
            <a:off x="10543479" y="1581431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0D7016D4-0ED1-83C7-FFBE-82C6DFBCE893}"/>
              </a:ext>
            </a:extLst>
          </p:cNvPr>
          <p:cNvSpPr/>
          <p:nvPr/>
        </p:nvSpPr>
        <p:spPr>
          <a:xfrm>
            <a:off x="7685729" y="2530273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10FCCE8E-77C9-4AE9-85E8-E88B656E4633}"/>
              </a:ext>
            </a:extLst>
          </p:cNvPr>
          <p:cNvSpPr/>
          <p:nvPr/>
        </p:nvSpPr>
        <p:spPr>
          <a:xfrm>
            <a:off x="8640183" y="2530273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A522B600-EF0B-6B5F-440C-E85641150116}"/>
              </a:ext>
            </a:extLst>
          </p:cNvPr>
          <p:cNvSpPr/>
          <p:nvPr/>
        </p:nvSpPr>
        <p:spPr>
          <a:xfrm>
            <a:off x="9594637" y="2530273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20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024FDF12-B192-5E02-B90F-935C01FB5DC9}"/>
              </a:ext>
            </a:extLst>
          </p:cNvPr>
          <p:cNvSpPr/>
          <p:nvPr/>
        </p:nvSpPr>
        <p:spPr>
          <a:xfrm>
            <a:off x="10543479" y="2530273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20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0DC72DCD-E6DF-75FF-BD9D-30E1C5B08E93}"/>
              </a:ext>
            </a:extLst>
          </p:cNvPr>
          <p:cNvSpPr/>
          <p:nvPr/>
        </p:nvSpPr>
        <p:spPr>
          <a:xfrm>
            <a:off x="7550913" y="36296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Same Gridworld. Different strategy.</a:t>
            </a:r>
            <a:endParaRPr lang="en-US" dirty="0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59956F6D-9B89-E228-AEB3-A7164C9EAB28}"/>
              </a:ext>
            </a:extLst>
          </p:cNvPr>
          <p:cNvSpPr/>
          <p:nvPr/>
        </p:nvSpPr>
        <p:spPr>
          <a:xfrm>
            <a:off x="7550913" y="5082401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iteration loop</a:t>
            </a:r>
            <a:endParaRPr lang="en-US" sz="1100" dirty="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F1646A56-47D2-AAF4-4E5F-E5C83803FAFE}"/>
              </a:ext>
            </a:extLst>
          </p:cNvPr>
          <p:cNvSpPr/>
          <p:nvPr/>
        </p:nvSpPr>
        <p:spPr>
          <a:xfrm>
            <a:off x="8081265" y="419543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</a:t>
            </a: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</a:t>
            </a:r>
            <a:r>
              <a:rPr lang="en-US" sz="1400" b="1" baseline="-25000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0</a:t>
            </a:r>
            <a:endParaRPr lang="en-US" sz="1400" dirty="0"/>
          </a:p>
        </p:txBody>
      </p:sp>
      <p:sp>
        <p:nvSpPr>
          <p:cNvPr id="75" name="Text 10">
            <a:extLst>
              <a:ext uri="{FF2B5EF4-FFF2-40B4-BE49-F238E27FC236}">
                <a16:creationId xmlns:a16="http://schemas.microsoft.com/office/drawing/2014/main" id="{457D0CB1-0679-AA55-FB7C-6CFBC9D5A33E}"/>
              </a:ext>
            </a:extLst>
          </p:cNvPr>
          <p:cNvSpPr/>
          <p:nvPr/>
        </p:nvSpPr>
        <p:spPr>
          <a:xfrm>
            <a:off x="9910065" y="4195433"/>
            <a:ext cx="1325880" cy="685800"/>
          </a:xfrm>
          <a:prstGeom prst="rect">
            <a:avLst/>
          </a:prstGeom>
          <a:solidFill>
            <a:srgbClr val="1F5D9B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</a:t>
            </a: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</a:t>
            </a:r>
            <a:endParaRPr lang="en-US" sz="1400" dirty="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F2798050-D43B-D149-5B2F-7D44953CBAEC}"/>
              </a:ext>
            </a:extLst>
          </p:cNvPr>
          <p:cNvSpPr/>
          <p:nvPr/>
        </p:nvSpPr>
        <p:spPr>
          <a:xfrm>
            <a:off x="8081265" y="565847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Stable?</a:t>
            </a:r>
            <a:endParaRPr lang="en-US" sz="1400" dirty="0"/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2B6543BC-6D1B-DE77-09E5-14A952EEA159}"/>
              </a:ext>
            </a:extLst>
          </p:cNvPr>
          <p:cNvSpPr/>
          <p:nvPr/>
        </p:nvSpPr>
        <p:spPr>
          <a:xfrm>
            <a:off x="9910065" y="565847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</a:t>
            </a: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</a:t>
            </a: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D22D6FBE-4C3D-F5AC-542E-FC807060813E}"/>
              </a:ext>
            </a:extLst>
          </p:cNvPr>
          <p:cNvSpPr/>
          <p:nvPr/>
        </p:nvSpPr>
        <p:spPr>
          <a:xfrm>
            <a:off x="9425433" y="433259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9" name="Text 14">
            <a:extLst>
              <a:ext uri="{FF2B5EF4-FFF2-40B4-BE49-F238E27FC236}">
                <a16:creationId xmlns:a16="http://schemas.microsoft.com/office/drawing/2014/main" id="{0AFC7E29-7D82-27F0-726F-C3E7CE61283F}"/>
              </a:ext>
            </a:extLst>
          </p:cNvPr>
          <p:cNvSpPr/>
          <p:nvPr/>
        </p:nvSpPr>
        <p:spPr>
          <a:xfrm rot="10800000">
            <a:off x="9425433" y="579563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5C6B8B6D-2E03-CBCF-D53A-73E4D2BEAB27}"/>
              </a:ext>
            </a:extLst>
          </p:cNvPr>
          <p:cNvSpPr/>
          <p:nvPr/>
        </p:nvSpPr>
        <p:spPr>
          <a:xfrm rot="10800000">
            <a:off x="8538465" y="4990960"/>
            <a:ext cx="320040" cy="5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93" name="Text 16">
            <a:extLst>
              <a:ext uri="{FF2B5EF4-FFF2-40B4-BE49-F238E27FC236}">
                <a16:creationId xmlns:a16="http://schemas.microsoft.com/office/drawing/2014/main" id="{78301E1F-E769-460A-72C6-BFCD54735EC8}"/>
              </a:ext>
            </a:extLst>
          </p:cNvPr>
          <p:cNvSpPr/>
          <p:nvPr/>
        </p:nvSpPr>
        <p:spPr>
          <a:xfrm>
            <a:off x="10367265" y="4990960"/>
            <a:ext cx="320040" cy="5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/>
              <a:t>Policy and value give meaning to behavior over time.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/>
              <a:t>2</a:t>
            </a:r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policy evaluation and policy improvement.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79806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simple policy-iteration step.</a:t>
            </a:r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84962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policy iteration and value iteration.</a:t>
            </a:r>
          </a:p>
        </p:txBody>
      </p:sp>
      <p:sp>
        <p:nvSpPr>
          <p:cNvPr id="12" name="Text 10"/>
          <p:cNvSpPr/>
          <p:nvPr/>
        </p:nvSpPr>
        <p:spPr>
          <a:xfrm>
            <a:off x="1005840" y="5257800"/>
            <a:ext cx="10149840" cy="713232"/>
          </a:xfrm>
          <a:prstGeom prst="roundRect">
            <a:avLst>
              <a:gd name="adj" fmla="val 6410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82B55"/>
                </a:solidFill>
              </a:rPr>
              <a:t>Performance target: </a:t>
            </a:r>
            <a:r>
              <a:rPr lang="en-US" sz="1600" b="1" dirty="0">
                <a:solidFill>
                  <a:srgbClr val="243447"/>
                </a:solidFill>
                <a:latin typeface="Aptos" pitchFamily="34" charset="0"/>
              </a:rPr>
              <a:t>g</a:t>
            </a:r>
            <a:r>
              <a:rPr lang="en-US" sz="16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iven a current policy and evaluated action values, determine whether the policy should change and explain when policy iteration terminates.</a:t>
            </a:r>
            <a:endParaRPr lang="en-US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90160" y="1944696"/>
            <a:ext cx="2011680" cy="2057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MAX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V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03316" y="2876201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back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67908" y="3214529"/>
            <a:ext cx="40416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the Bellman backup use MAX?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67908" y="3598577"/>
            <a:ext cx="40416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convergence look like?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93336" y="4788480"/>
            <a:ext cx="5605328" cy="75576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solve the same MDP, but organize the work differently.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" y="5877287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Value iteration mixes judging and choosing inside each backup.</a:t>
            </a:r>
            <a:endParaRPr lang="en-US" sz="16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DB82234B-3C72-13DB-5EB7-AF8CF976459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Retrieval: what did value iteration do?</a:t>
            </a:r>
            <a:endParaRPr lang="en-US" sz="32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88D11B5A-1791-9841-DC63-41AD4EB9612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 repeatedly applied optimality backups.</a:t>
            </a:r>
            <a:endParaRPr lang="en-US" sz="16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4B80901-8460-C974-29A7-117296EFA80F}"/>
              </a:ext>
            </a:extLst>
          </p:cNvPr>
          <p:cNvSpPr/>
          <p:nvPr/>
        </p:nvSpPr>
        <p:spPr>
          <a:xfrm>
            <a:off x="594360" y="1600710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623035C-3F4E-433B-D6E0-CF932853F1F0}"/>
              </a:ext>
            </a:extLst>
          </p:cNvPr>
          <p:cNvSpPr/>
          <p:nvPr/>
        </p:nvSpPr>
        <p:spPr>
          <a:xfrm>
            <a:off x="1548814" y="1600710"/>
            <a:ext cx="951649" cy="951649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20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ED25AFF-1561-CFC0-3AF5-02825B77064F}"/>
              </a:ext>
            </a:extLst>
          </p:cNvPr>
          <p:cNvSpPr/>
          <p:nvPr/>
        </p:nvSpPr>
        <p:spPr>
          <a:xfrm>
            <a:off x="2503268" y="1600710"/>
            <a:ext cx="951649" cy="951649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20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7E18C6E1-B674-C68A-A88A-4CFD0AC5F3E3}"/>
              </a:ext>
            </a:extLst>
          </p:cNvPr>
          <p:cNvSpPr/>
          <p:nvPr/>
        </p:nvSpPr>
        <p:spPr>
          <a:xfrm>
            <a:off x="3452110" y="1600710"/>
            <a:ext cx="951649" cy="951649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C660F481-B586-54AD-3F2F-1647C8254547}"/>
              </a:ext>
            </a:extLst>
          </p:cNvPr>
          <p:cNvSpPr/>
          <p:nvPr/>
        </p:nvSpPr>
        <p:spPr>
          <a:xfrm>
            <a:off x="594360" y="2549552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02D55D74-52CA-AC79-1B35-5E9D4DB26E8C}"/>
              </a:ext>
            </a:extLst>
          </p:cNvPr>
          <p:cNvSpPr/>
          <p:nvPr/>
        </p:nvSpPr>
        <p:spPr>
          <a:xfrm>
            <a:off x="1548814" y="2549552"/>
            <a:ext cx="951649" cy="951649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F245FE86-3748-FFC9-6615-5AFEDEF06912}"/>
              </a:ext>
            </a:extLst>
          </p:cNvPr>
          <p:cNvSpPr/>
          <p:nvPr/>
        </p:nvSpPr>
        <p:spPr>
          <a:xfrm>
            <a:off x="2503268" y="2549552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20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B81F2A1D-24B6-A094-8896-8A3DB299C3D1}"/>
              </a:ext>
            </a:extLst>
          </p:cNvPr>
          <p:cNvSpPr/>
          <p:nvPr/>
        </p:nvSpPr>
        <p:spPr>
          <a:xfrm>
            <a:off x="3452110" y="2549552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1BF8CB79-08FE-1F58-3656-0D2CC9F5D2C7}"/>
              </a:ext>
            </a:extLst>
          </p:cNvPr>
          <p:cNvSpPr/>
          <p:nvPr/>
        </p:nvSpPr>
        <p:spPr>
          <a:xfrm>
            <a:off x="594360" y="3498394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A3146C31-DF3D-9A4E-AB26-9F0D2B10F024}"/>
              </a:ext>
            </a:extLst>
          </p:cNvPr>
          <p:cNvSpPr/>
          <p:nvPr/>
        </p:nvSpPr>
        <p:spPr>
          <a:xfrm>
            <a:off x="1548814" y="3498394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9423BC7A-5568-697E-A91B-98A7D6E5570E}"/>
              </a:ext>
            </a:extLst>
          </p:cNvPr>
          <p:cNvSpPr/>
          <p:nvPr/>
        </p:nvSpPr>
        <p:spPr>
          <a:xfrm>
            <a:off x="2503268" y="3498394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20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D6DF56E1-213A-CF3B-E119-8F7AD98C052B}"/>
              </a:ext>
            </a:extLst>
          </p:cNvPr>
          <p:cNvSpPr/>
          <p:nvPr/>
        </p:nvSpPr>
        <p:spPr>
          <a:xfrm>
            <a:off x="3452110" y="3498394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4">
                <a:extLst>
                  <a:ext uri="{FF2B5EF4-FFF2-40B4-BE49-F238E27FC236}">
                    <a16:creationId xmlns:a16="http://schemas.microsoft.com/office/drawing/2014/main" id="{3DAFFD93-AB62-5D89-A7AE-4E530D569F0F}"/>
                  </a:ext>
                </a:extLst>
              </p:cNvPr>
              <p:cNvSpPr/>
              <p:nvPr/>
            </p:nvSpPr>
            <p:spPr>
              <a:xfrm>
                <a:off x="7203859" y="2140596"/>
                <a:ext cx="4805154" cy="4937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ₖ₊₁(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) =  </m:t>
                      </m:r>
                      <m:func>
                        <m:funcPr>
                          <m:ctrlPr>
                            <a:rPr lang="en-US" sz="16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16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) + 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′ |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ₖ(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′)</m:t>
                              </m:r>
                            </m:e>
                          </m:nary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sz="1200" dirty="0"/>
              </a:p>
            </p:txBody>
          </p:sp>
        </mc:Choice>
        <mc:Fallback xmlns="">
          <p:sp>
            <p:nvSpPr>
              <p:cNvPr id="55" name="Text 4">
                <a:extLst>
                  <a:ext uri="{FF2B5EF4-FFF2-40B4-BE49-F238E27FC236}">
                    <a16:creationId xmlns:a16="http://schemas.microsoft.com/office/drawing/2014/main" id="{3DAFFD93-AB62-5D89-A7AE-4E530D569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859" y="2140596"/>
                <a:ext cx="4805154" cy="493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841983"/>
            <a:ext cx="4206240" cy="33832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values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Immediately take MAX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values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86600" y="1841983"/>
            <a:ext cx="4206240" cy="338328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policy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that policy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that policy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03520" y="3533623"/>
            <a:ext cx="15087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158240" y="576184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Same states, actions, transitions, rewards — different organization of the reasoning.</a:t>
            </a:r>
            <a:endParaRPr lang="en-US" sz="155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539DB3F-29C8-1433-A0BF-FF5B37C7F05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different strategy for the same MDP</a:t>
            </a:r>
            <a:endParaRPr lang="en-US" sz="3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9F69505D-C246-75EA-D298-685102067E8A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methods use the same model, but structure the computation differently.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24128" y="2075688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75688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50592" y="2075688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63824" y="2075688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4128" y="2788920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788920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0592" y="2788920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63824" y="278892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24128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50592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63824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" y="444398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arrows specify the current policy.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66360" y="2523744"/>
            <a:ext cx="2240280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policy optimal?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1428" y="2403582"/>
            <a:ext cx="2240280" cy="11430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know yet.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we evaluate 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640" y="5541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Policy iteration starts by asking: “How good is the behavior I already have?”</a:t>
            </a:r>
            <a:endParaRPr lang="en-US" sz="16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40352CF0-95B9-22DD-E1A2-AEFCEDB4F303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policy — not with optimal values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E49C058-E01D-2FFB-9378-E91E6BCB5689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 begins with behavior that may or may not be good.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28705" y="2176552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87073" y="2176552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45441" y="2176552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03809" y="2176552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8705" y="2834920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7073" y="2834920"/>
            <a:ext cx="658368" cy="65836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45441" y="2834920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03809" y="2834920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8705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87073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45441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03809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43850" y="1749540"/>
            <a:ext cx="1828800" cy="5486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π(s) = a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067641" y="5495404"/>
            <a:ext cx="10056717" cy="402616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world is uncertain, the policy still tells the agent what to do after the outcome occurs.</a:t>
            </a:r>
            <a:endParaRPr lang="en-US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F18BA3FF-A8AF-BA8C-C367-6DB515D2F55C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arrows are the current policy</a:t>
            </a:r>
            <a:endParaRPr lang="en-US" sz="32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35AC3E0A-8258-E206-1933-31AC131BD4A4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policy maps each state to an action.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2C36BF-6742-40EF-A861-6452E919E4A6}"/>
              </a:ext>
            </a:extLst>
          </p:cNvPr>
          <p:cNvSpPr txBox="1"/>
          <p:nvPr/>
        </p:nvSpPr>
        <p:spPr>
          <a:xfrm>
            <a:off x="4441783" y="2556548"/>
            <a:ext cx="60329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Policy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A rule for what to do in each state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Not a single action (“East” is one choice)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Tells us what to do whenever each state is reached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855425" y="1856232"/>
            <a:ext cx="1645920" cy="50292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800" b="1" baseline="30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</a:t>
            </a:r>
            <a:r>
              <a:rPr lang="en-US" sz="2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800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2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23704" y="2587752"/>
            <a:ext cx="608917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23705" y="2862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</a:rPr>
              <a:t>Expected cumulative discounted return starting in state s and following policy π.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3704" y="3685032"/>
            <a:ext cx="608917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23705" y="39593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</a:rPr>
              <a:t>We are not yet searching for a better action.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23704" y="4690872"/>
            <a:ext cx="6363495" cy="8229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judges the current arrows.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change the arrows.</a:t>
            </a:r>
            <a:endParaRPr lang="en-US" sz="20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9A13012E-7A9B-06CE-E97C-4A38079CEF3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evaluation asks one question</a:t>
            </a:r>
            <a:endParaRPr lang="en-US" sz="32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E7C35C16-CD97-7C0C-D800-AA1247622631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good is this behavior if we keep following it?</a:t>
            </a:r>
            <a:endParaRPr lang="en-US" sz="16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03548B5A-7BBF-E34C-17C3-50A97F952715}"/>
              </a:ext>
            </a:extLst>
          </p:cNvPr>
          <p:cNvSpPr/>
          <p:nvPr/>
        </p:nvSpPr>
        <p:spPr>
          <a:xfrm>
            <a:off x="999015" y="1994853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8FB408B-AFD1-7DD9-61E3-FCCF9B6D9D8C}"/>
              </a:ext>
            </a:extLst>
          </p:cNvPr>
          <p:cNvSpPr/>
          <p:nvPr/>
        </p:nvSpPr>
        <p:spPr>
          <a:xfrm>
            <a:off x="1953469" y="1994853"/>
            <a:ext cx="951649" cy="951649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20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1F0E161B-B7D7-A673-C559-5F671155F27B}"/>
              </a:ext>
            </a:extLst>
          </p:cNvPr>
          <p:cNvSpPr/>
          <p:nvPr/>
        </p:nvSpPr>
        <p:spPr>
          <a:xfrm>
            <a:off x="2907923" y="1994853"/>
            <a:ext cx="951649" cy="951649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20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E23E6BF5-52EF-5168-B81F-CD8C62E842A9}"/>
              </a:ext>
            </a:extLst>
          </p:cNvPr>
          <p:cNvSpPr/>
          <p:nvPr/>
        </p:nvSpPr>
        <p:spPr>
          <a:xfrm>
            <a:off x="3856765" y="1994853"/>
            <a:ext cx="951649" cy="951649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410A3AC8-AA0A-5824-CEC3-633623FD352B}"/>
              </a:ext>
            </a:extLst>
          </p:cNvPr>
          <p:cNvSpPr/>
          <p:nvPr/>
        </p:nvSpPr>
        <p:spPr>
          <a:xfrm>
            <a:off x="999015" y="2943695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D80E78FF-6AB3-9C15-B7BA-12239C3FEE5A}"/>
              </a:ext>
            </a:extLst>
          </p:cNvPr>
          <p:cNvSpPr/>
          <p:nvPr/>
        </p:nvSpPr>
        <p:spPr>
          <a:xfrm>
            <a:off x="1953469" y="2943695"/>
            <a:ext cx="951649" cy="951649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4C4B9511-601F-354D-11B0-ABEBB4B253F5}"/>
              </a:ext>
            </a:extLst>
          </p:cNvPr>
          <p:cNvSpPr/>
          <p:nvPr/>
        </p:nvSpPr>
        <p:spPr>
          <a:xfrm>
            <a:off x="2907923" y="2943695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20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41A29BEC-170D-5241-0A88-899C7931C8CF}"/>
              </a:ext>
            </a:extLst>
          </p:cNvPr>
          <p:cNvSpPr/>
          <p:nvPr/>
        </p:nvSpPr>
        <p:spPr>
          <a:xfrm>
            <a:off x="3856765" y="2943695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4CC7A9C0-AB5F-992C-0F49-948582A1AD22}"/>
              </a:ext>
            </a:extLst>
          </p:cNvPr>
          <p:cNvSpPr/>
          <p:nvPr/>
        </p:nvSpPr>
        <p:spPr>
          <a:xfrm>
            <a:off x="999015" y="3892537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FC18324-9BEE-0138-5B5A-F90D1DE008CE}"/>
              </a:ext>
            </a:extLst>
          </p:cNvPr>
          <p:cNvSpPr/>
          <p:nvPr/>
        </p:nvSpPr>
        <p:spPr>
          <a:xfrm>
            <a:off x="1953469" y="3892537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8727EA23-5BDB-BECD-CA47-526776DEA801}"/>
              </a:ext>
            </a:extLst>
          </p:cNvPr>
          <p:cNvSpPr/>
          <p:nvPr/>
        </p:nvSpPr>
        <p:spPr>
          <a:xfrm>
            <a:off x="2907923" y="3892537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20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C8F13600-5E27-8AD5-DB44-B82784750CA5}"/>
              </a:ext>
            </a:extLst>
          </p:cNvPr>
          <p:cNvSpPr/>
          <p:nvPr/>
        </p:nvSpPr>
        <p:spPr>
          <a:xfrm>
            <a:off x="3856765" y="3892537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6991" y="200253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80223" y="200253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93455" y="200253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06687" y="2002536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66991" y="2715768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80223" y="2715768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93455" y="2715768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06687" y="27157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66991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80223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93455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06687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21512" y="2468880"/>
            <a:ext cx="2560320" cy="96012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EVALUATION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18130" y="1906664"/>
            <a:ext cx="3607112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change?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estimates in the cells.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18130" y="3095384"/>
            <a:ext cx="3607112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cannot change yet?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arrows selected by π.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58240" y="5330447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55"/>
                </a:solidFill>
              </a:rPr>
              <a:t>Evaluation changes the numbers — not the behavior.</a:t>
            </a:r>
            <a:endParaRPr lang="en-US" sz="17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CFC434E6-9DEE-0771-A90C-C83586E576A2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 THE POLICY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5342012-3F42-734F-CF50-E9A7248D6F2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policy evaluation, the arrows do not move.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24400" y="3726180"/>
            <a:ext cx="2743200" cy="6858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0.8(5) + 0.2(1) = 4.2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18040" y="4716564"/>
            <a:ext cx="6355920" cy="68580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difference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only evaluate the action specified by the current policy.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5824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55"/>
                </a:solidFill>
              </a:rPr>
              <a:t>Same arithmetic. Different question: “How good is this policy?”</a:t>
            </a:r>
            <a:endParaRPr lang="en-US" sz="17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EB18135-8685-E247-4D05-D058C5832DD8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Tiny math retrieval</a:t>
            </a:r>
            <a:endParaRPr lang="en-US" sz="3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5716C46-E3E2-3F6A-243A-00EF09BAE036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expected-value operation as L13; a different action-selection rule.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26709D8-1055-64D0-1B13-CF237E5F65F2}"/>
              </a:ext>
            </a:extLst>
          </p:cNvPr>
          <p:cNvSpPr/>
          <p:nvPr/>
        </p:nvSpPr>
        <p:spPr>
          <a:xfrm>
            <a:off x="2822579" y="1693939"/>
            <a:ext cx="2926080" cy="502920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state</a:t>
            </a:r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A93BFF2-64FE-3FF4-27E1-D8BF05F3BFC3}"/>
              </a:ext>
            </a:extLst>
          </p:cNvPr>
          <p:cNvSpPr/>
          <p:nvPr/>
        </p:nvSpPr>
        <p:spPr>
          <a:xfrm>
            <a:off x="5748659" y="1693939"/>
            <a:ext cx="1828800" cy="502920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1D65CB8-12F4-BB45-39EE-CC0D7034A507}"/>
              </a:ext>
            </a:extLst>
          </p:cNvPr>
          <p:cNvSpPr/>
          <p:nvPr/>
        </p:nvSpPr>
        <p:spPr>
          <a:xfrm>
            <a:off x="7577459" y="1693939"/>
            <a:ext cx="1828800" cy="502920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6001020-F5EB-3BA3-AD2A-878BCE64E8BA}"/>
              </a:ext>
            </a:extLst>
          </p:cNvPr>
          <p:cNvSpPr/>
          <p:nvPr/>
        </p:nvSpPr>
        <p:spPr>
          <a:xfrm>
            <a:off x="2822579" y="2196859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8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67216EF-944B-324D-66A1-B8933E2BCAEE}"/>
              </a:ext>
            </a:extLst>
          </p:cNvPr>
          <p:cNvSpPr/>
          <p:nvPr/>
        </p:nvSpPr>
        <p:spPr>
          <a:xfrm>
            <a:off x="5748659" y="2196859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</a:t>
            </a:r>
            <a:endParaRPr lang="en-US" sz="28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9631421-F207-72DB-18D7-749833506798}"/>
              </a:ext>
            </a:extLst>
          </p:cNvPr>
          <p:cNvSpPr/>
          <p:nvPr/>
        </p:nvSpPr>
        <p:spPr>
          <a:xfrm>
            <a:off x="7577459" y="2196859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59364C0-72F2-281D-9E7B-CF9F58C43FE0}"/>
              </a:ext>
            </a:extLst>
          </p:cNvPr>
          <p:cNvSpPr/>
          <p:nvPr/>
        </p:nvSpPr>
        <p:spPr>
          <a:xfrm>
            <a:off x="2822579" y="2699779"/>
            <a:ext cx="292608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28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F5025DD6-0C51-3071-6385-9C9B896571EA}"/>
              </a:ext>
            </a:extLst>
          </p:cNvPr>
          <p:cNvSpPr/>
          <p:nvPr/>
        </p:nvSpPr>
        <p:spPr>
          <a:xfrm>
            <a:off x="5748659" y="2699779"/>
            <a:ext cx="182880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</a:t>
            </a:r>
            <a:endParaRPr lang="en-US" sz="28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6D525299-2933-4669-E1D8-6F183886EB03}"/>
              </a:ext>
            </a:extLst>
          </p:cNvPr>
          <p:cNvSpPr/>
          <p:nvPr/>
        </p:nvSpPr>
        <p:spPr>
          <a:xfrm>
            <a:off x="7577459" y="2699779"/>
            <a:ext cx="182880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822960" y="1760220"/>
                <a:ext cx="4572000" cy="2743200"/>
              </a:xfrm>
              <a:prstGeom prst="rect">
                <a:avLst/>
              </a:prstGeom>
              <a:solidFill>
                <a:srgbClr val="F4F8FD"/>
              </a:solidFill>
              <a:ln w="13970">
                <a:solidFill>
                  <a:srgbClr val="2B70B9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Value iteration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Evaluate all actions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𝑉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𝑠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 ← </m:t>
                    </m:r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max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ₐ 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𝑄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𝑠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𝑎</m:t>
                    </m:r>
                  </m:oMath>
                </a14:m>
                <a:r>
                  <a:rPr lang="en-US" sz="20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760220"/>
                <a:ext cx="4572000" cy="2743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3970">
                <a:solidFill>
                  <a:srgbClr val="2B70B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6766560" y="1760220"/>
                <a:ext cx="4572000" cy="2743200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Policy evaluation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Evaluate only the policy action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𝑉</m:t>
                      </m:r>
                      <m:r>
                        <a:rPr lang="en-US" sz="2000" i="1" baseline="30000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 ←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𝑄</m:t>
                      </m:r>
                      <m:r>
                        <a:rPr lang="en-US" sz="2000" i="1" baseline="30000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0" y="1760220"/>
                <a:ext cx="4572000" cy="2743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822960" y="5074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Evaluation asks “How good is what I currently do?” — not “What should I do instead?”</a:t>
            </a:r>
            <a:endParaRPr lang="en-US" sz="155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556ED21-4A0C-3A92-0DCC-CDC70561C181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iteration versus policy evaluation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4A18450-DFB8-8722-DFEE-25D7C5C8771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MAX moves to a different phase.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48840" y="2871216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1956816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32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48840" y="37856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34640" y="3191256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Shape 11"/>
          <p:cNvSpPr/>
          <p:nvPr/>
        </p:nvSpPr>
        <p:spPr>
          <a:xfrm>
            <a:off x="2468880" y="3557016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1280160" y="465547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96060" y="1737360"/>
            <a:ext cx="4105263" cy="13258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evaluation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current policy action is active.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π(s)=North, evaluate North.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96059" y="3392424"/>
            <a:ext cx="4105263" cy="132588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Later, during improvement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compare action values and may change the arrow.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66800" y="56418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The other actions are alternatives — but they are not selected during fixed-policy evaluation.</a:t>
            </a:r>
            <a:endParaRPr lang="en-US" sz="155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F271AE9C-D69F-9F5D-6DFE-5C3C5627F6E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there is no MAX here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0CF7753-FA23-AC04-1435-D75E5FC0B9B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deterministic policy has already selected the action to evaluate.</a:t>
            </a:r>
            <a:endParaRPr lang="en-US" sz="16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32078587-D665-06EB-B807-FEEA6850A989}"/>
              </a:ext>
            </a:extLst>
          </p:cNvPr>
          <p:cNvSpPr/>
          <p:nvPr/>
        </p:nvSpPr>
        <p:spPr>
          <a:xfrm flipV="1">
            <a:off x="2468880" y="2597342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16834FF-DEE5-2404-B93B-3A7D22E152ED}"/>
              </a:ext>
            </a:extLst>
          </p:cNvPr>
          <p:cNvSpPr/>
          <p:nvPr/>
        </p:nvSpPr>
        <p:spPr>
          <a:xfrm flipH="1" flipV="1">
            <a:off x="1912946" y="3191256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176272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92224" y="2176272"/>
            <a:ext cx="530352" cy="530352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22576" y="2176272"/>
            <a:ext cx="530352" cy="53035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06624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2706624"/>
            <a:ext cx="530352" cy="53035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92224" y="2706624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22576" y="2706624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3236976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92224" y="3236976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22576" y="3236976"/>
            <a:ext cx="530352" cy="53035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67912" y="16962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67912" y="1970532"/>
            <a:ext cx="1828800" cy="45720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π(s) = East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67912" y="285859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32504" y="3178634"/>
            <a:ext cx="2761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 → intended cell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32504" y="3507818"/>
            <a:ext cx="2761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 → slip north/stay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32504" y="3837002"/>
            <a:ext cx="2761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 → slip south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6931152" y="2061972"/>
                <a:ext cx="4206240" cy="777240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 fontScale="92500"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l-GR" sz="2000" i="1" baseline="30000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) 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ar-AE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ar-AE" sz="20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sz="2000" i="1" dirty="0">
                                      <a:solidFill>
                                        <a:srgbClr val="082B5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 dirty="0">
                                      <a:solidFill>
                                        <a:srgbClr val="082B5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2000" i="1" dirty="0">
                                      <a:solidFill>
                                        <a:srgbClr val="082B55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ar-AE" sz="200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ar-AE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i="1" baseline="30000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′)</m:t>
                          </m:r>
                        </m:e>
                      </m:nary>
                      <m:r>
                        <a:rPr lang="ar-AE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152" y="2061972"/>
                <a:ext cx="4206240" cy="777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6931152" y="3159252"/>
            <a:ext cx="4206240" cy="73152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phrase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current policy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We are estimating what happens if the agent keeps behaving according to π.</a:t>
            </a:r>
            <a:endParaRPr lang="en-US" sz="155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242B11D9-CF7F-0998-52F6-DF9A72E599C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backup: one state</a:t>
            </a:r>
            <a:endParaRPr lang="en-US" sz="32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C9E7D28E-586B-2097-9D9E-070C78388CF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policy action and current successor values.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07280" y="1728216"/>
            <a:ext cx="2377440" cy="685800"/>
          </a:xfrm>
          <a:prstGeom prst="rect">
            <a:avLst/>
          </a:prstGeom>
          <a:solidFill>
            <a:srgbClr val="082B55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000" b="1" i="1" baseline="3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= 5.0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0248" y="2926080"/>
            <a:ext cx="3640210" cy="12344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backup returned a value estimate of 5.0 for this state.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75895" y="2926080"/>
            <a:ext cx="3640210" cy="12344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 is not an immediate reward. It is expected long-term return under π.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81542" y="2926080"/>
            <a:ext cx="3640210" cy="123444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successor-state values increase next sweep, this estimate may increase too.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55"/>
                </a:solidFill>
              </a:rPr>
              <a:t>Policy evaluation is about the value of continuing to follow this behavior.</a:t>
            </a:r>
            <a:endParaRPr lang="en-US" sz="17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201E361-55C5-F799-F0BF-E226015B6E0B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→ Interpret → Predict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D2B48AA-150C-04ED-6D18-207E896B494C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policy-evaluation number needs meaning.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7720" y="1927814"/>
            <a:ext cx="5121762" cy="21945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evaluation backup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one state’s estimate using the current policy action.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62518" y="1927814"/>
            <a:ext cx="5121762" cy="21945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evaluation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Repeatedly update values for the policy until the estimates are stable enough.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B55"/>
                </a:solidFill>
              </a:rPr>
              <a:t>The policy stays fixed while value information propagates through the grid.</a:t>
            </a:r>
            <a:endParaRPr lang="en-US" sz="165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E40CB34E-3C0A-987E-C1B9-FECFD285127E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backup is not policy evaluation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F51F96D-B439-EF25-540D-76E1A7D0AA7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evaluation repeats backups until values stabilize under the fixed policy.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831849" y="2084832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45081" y="2084832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58313" y="2084832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71545" y="2084832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31849" y="2798064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45081" y="2798064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58313" y="2798064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71545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31849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45081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58313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71545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87232" y="2900668"/>
            <a:ext cx="2377440" cy="64008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At the start, zero means initial estimate — not true value.</a:t>
            </a:r>
            <a:endParaRPr lang="en-US" sz="16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A36E6CAD-BCEB-A838-F690-93A9EF12ACCE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Sweep 0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5EDFD08-6892-65AE-8485-4E46867E741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estimates under the locked policy.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771018" y="20299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84250" y="20299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10714" y="2029968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71018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84250" y="2743200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97482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10714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71018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84250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97482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10714" y="3456432"/>
            <a:ext cx="713232" cy="71323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008762" y="4384555"/>
            <a:ext cx="2377440" cy="64008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353805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The current policy begins to reveal which states lead toward good or bad outcomes.</a:t>
            </a:r>
            <a:endParaRPr lang="en-US" sz="16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87DF1440-8E8D-0A51-05A3-59C36960B27C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Sweep 1 (closet to reward)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BE535E2-455B-6B1C-2688-1774938CA8F7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change. Arrows stay fixed.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53FA94-3857-A58A-C13C-1BDBF6765D0E}"/>
                  </a:ext>
                </a:extLst>
              </p:cNvPr>
              <p:cNvSpPr txBox="1"/>
              <p:nvPr/>
            </p:nvSpPr>
            <p:spPr>
              <a:xfrm>
                <a:off x="5141422" y="1202443"/>
                <a:ext cx="6105698" cy="4351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𝑉</m:t>
                          </m:r>
                        </m:e>
                        <m:sub>
                          <m:r>
                            <a:rPr lang="en-US" i="0">
                              <a:latin typeface="+mn-lt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+mn-lt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+mn-lt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′|</m:t>
                          </m:r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a:rPr lang="en-US" i="1">
                              <a:latin typeface="+mn-lt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𝑅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,</m:t>
                              </m:r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′</m:t>
                              </m:r>
                            </m:e>
                          </m:d>
                          <m:r>
                            <a:rPr lang="en-US" i="0">
                              <a:latin typeface="+mn-lt"/>
                            </a:rPr>
                            <m:t>+</m:t>
                          </m:r>
                          <m:r>
                            <a:rPr lang="en-US" i="1">
                              <a:latin typeface="+mn-lt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+mn-lt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0">
                                  <a:latin typeface="+mn-lt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𝐼𝑛𝑡𝑒𝑛𝑑𝑒𝑑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𝐴𝑐𝑡𝑖𝑜𝑛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𝐸𝐴𝑆𝑇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, 80%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+10 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𝑡𝑒𝑟𝑚𝑖𝑛𝑎𝑙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𝑎𝑤𝑎𝑟𝑑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=0.9;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𝑁𝑂𝑅𝑇𝐻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𝑆𝑂𝑈𝑇𝐻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𝑙𝑖𝑣𝑖𝑛𝑔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𝑟𝑒𝑤𝑎𝑟𝑑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−1.0,</m:t>
                      </m:r>
                    </m:oMath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>
                  <a:effectLst/>
                  <a:latin typeface="Google Sans Text"/>
                </a:endParaRPr>
              </a:p>
              <a:p>
                <a:endParaRPr lang="en-US" b="0" dirty="0">
                  <a:effectLst/>
                  <a:latin typeface="Google Sans Text"/>
                </a:endParaRPr>
              </a:p>
              <a:p>
                <a:br>
                  <a:rPr lang="en-US" b="0" dirty="0">
                    <a:effectLst/>
                    <a:latin typeface="Google Sans Text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𝐸𝐴𝑆𝑇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10.0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0.9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10.0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=19</m:t>
                      </m:r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𝑁𝑂𝑅𝑇𝐻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</a:rPr>
                            <m:t>−1.0</m:t>
                          </m:r>
                          <m:r>
                            <a:rPr lang="en-US" smtClean="0"/>
                            <m:t>+</m:t>
                          </m:r>
                          <m:r>
                            <a:rPr lang="en-US" smtClean="0">
                              <a:solidFill>
                                <a:schemeClr val="accent1"/>
                              </a:solidFill>
                            </a:rPr>
                            <m:t>0.9</m:t>
                          </m:r>
                          <m:d>
                            <m:dPr>
                              <m:ctrlP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  <m:t>0.0</m:t>
                              </m:r>
                            </m:e>
                          </m:d>
                        </m:e>
                      </m:d>
                      <m:r>
                        <a:rPr lang="en-US"/>
                        <m:t>=−1.0</m:t>
                      </m:r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𝑆𝑂𝑈𝑇𝐻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</a:rPr>
                            <m:t>−1.0</m:t>
                          </m:r>
                          <m:r>
                            <a:rPr lang="en-US"/>
                            <m:t>+</m:t>
                          </m:r>
                          <m:r>
                            <a:rPr lang="en-US" smtClean="0">
                              <a:solidFill>
                                <a:schemeClr val="accent1"/>
                              </a:solidFill>
                            </a:rPr>
                            <m:t>0.9</m:t>
                          </m:r>
                          <m:d>
                            <m:dPr>
                              <m:ctrlP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  <m:t>0.0</m:t>
                              </m:r>
                            </m:e>
                          </m:d>
                        </m:e>
                      </m:d>
                      <m:r>
                        <a:rPr lang="en-US"/>
                        <m:t>=−1.0</m:t>
                      </m:r>
                    </m:oMath>
                  </m:oMathPara>
                </a14:m>
                <a:endParaRPr lang="en-US" dirty="0">
                  <a:effectLst/>
                  <a:latin typeface="Google Sans Text"/>
                </a:endParaRPr>
              </a:p>
              <a:p>
                <a:endParaRPr lang="en-US" dirty="0">
                  <a:latin typeface="Google Sans Text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</m:sub>
                      </m:sSub>
                      <m:r>
                        <a:rPr lang="en-US"/>
                        <m:t>=0.8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19.0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−1.0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−1.0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</m:sub>
                      </m:sSub>
                      <m:r>
                        <a:rPr lang="en-US"/>
                        <m:t>=15.2−0.1−0.1=</m:t>
                      </m:r>
                      <m:r>
                        <a:rPr lang="en-US" b="1" i="1"/>
                        <m:t>𝟏𝟓</m:t>
                      </m:r>
                      <m:r>
                        <a:rPr lang="en-US" b="1"/>
                        <m:t>.</m:t>
                      </m:r>
                      <m:r>
                        <a:rPr lang="en-US" b="1" i="1"/>
                        <m:t>𝟎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53FA94-3857-A58A-C13C-1BDBF6765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422" y="1202443"/>
                <a:ext cx="6105698" cy="43513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3197482" y="2029968"/>
            <a:ext cx="713232" cy="713232"/>
          </a:xfrm>
          <a:prstGeom prst="rect">
            <a:avLst/>
          </a:prstGeom>
          <a:solidFill>
            <a:srgbClr val="CBEDD9"/>
          </a:solidFill>
          <a:ln w="76200">
            <a:solidFill>
              <a:srgbClr val="7030A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0009-175C-1D6F-7C5F-9EBEBF53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03EE7C-9BE6-4167-3C50-9F9FB017FD2B}"/>
              </a:ext>
            </a:extLst>
          </p:cNvPr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EA8765-9AF6-71AD-B649-43E197C9B158}"/>
              </a:ext>
            </a:extLst>
          </p:cNvPr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AFEE9E-B023-F64B-6245-D59AB3587BE1}"/>
              </a:ext>
            </a:extLst>
          </p:cNvPr>
          <p:cNvSpPr/>
          <p:nvPr/>
        </p:nvSpPr>
        <p:spPr>
          <a:xfrm>
            <a:off x="1771018" y="20299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8B42CE-56D5-BD6C-6859-1AD8E20B865A}"/>
              </a:ext>
            </a:extLst>
          </p:cNvPr>
          <p:cNvSpPr/>
          <p:nvPr/>
        </p:nvSpPr>
        <p:spPr>
          <a:xfrm>
            <a:off x="2484250" y="20299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F19F31-14FC-81D4-54E8-C0389DAAB372}"/>
              </a:ext>
            </a:extLst>
          </p:cNvPr>
          <p:cNvSpPr/>
          <p:nvPr/>
        </p:nvSpPr>
        <p:spPr>
          <a:xfrm>
            <a:off x="3197482" y="2029968"/>
            <a:ext cx="713232" cy="713232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389C497-010F-4DFB-BAE4-E9B58BA78C67}"/>
              </a:ext>
            </a:extLst>
          </p:cNvPr>
          <p:cNvSpPr/>
          <p:nvPr/>
        </p:nvSpPr>
        <p:spPr>
          <a:xfrm>
            <a:off x="3910714" y="2029968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77E0C0A-0A27-425A-1CFE-8ED4AA869835}"/>
              </a:ext>
            </a:extLst>
          </p:cNvPr>
          <p:cNvSpPr/>
          <p:nvPr/>
        </p:nvSpPr>
        <p:spPr>
          <a:xfrm>
            <a:off x="1771018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F2B32D-CF7C-418D-588B-2E746A8C9A85}"/>
              </a:ext>
            </a:extLst>
          </p:cNvPr>
          <p:cNvSpPr/>
          <p:nvPr/>
        </p:nvSpPr>
        <p:spPr>
          <a:xfrm>
            <a:off x="2484250" y="2743200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086FD3-774B-AFD7-2022-2EEACF752F9B}"/>
              </a:ext>
            </a:extLst>
          </p:cNvPr>
          <p:cNvSpPr/>
          <p:nvPr/>
        </p:nvSpPr>
        <p:spPr>
          <a:xfrm>
            <a:off x="3197482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6726235-BA98-5EA0-1100-ED00E00CE828}"/>
              </a:ext>
            </a:extLst>
          </p:cNvPr>
          <p:cNvSpPr/>
          <p:nvPr/>
        </p:nvSpPr>
        <p:spPr>
          <a:xfrm>
            <a:off x="3910714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C51672A-2DD4-E896-A2E4-89754DE6B290}"/>
              </a:ext>
            </a:extLst>
          </p:cNvPr>
          <p:cNvSpPr/>
          <p:nvPr/>
        </p:nvSpPr>
        <p:spPr>
          <a:xfrm>
            <a:off x="1771018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E820A7-AFE0-6331-3839-2E1CF121742C}"/>
              </a:ext>
            </a:extLst>
          </p:cNvPr>
          <p:cNvSpPr/>
          <p:nvPr/>
        </p:nvSpPr>
        <p:spPr>
          <a:xfrm>
            <a:off x="2484250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607E7C-CC6E-024B-3E44-CABA0C3EF63B}"/>
              </a:ext>
            </a:extLst>
          </p:cNvPr>
          <p:cNvSpPr/>
          <p:nvPr/>
        </p:nvSpPr>
        <p:spPr>
          <a:xfrm>
            <a:off x="3197482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9771C2-3443-D822-B82E-893429D33027}"/>
              </a:ext>
            </a:extLst>
          </p:cNvPr>
          <p:cNvSpPr/>
          <p:nvPr/>
        </p:nvSpPr>
        <p:spPr>
          <a:xfrm>
            <a:off x="3910714" y="3456432"/>
            <a:ext cx="713232" cy="713232"/>
          </a:xfrm>
          <a:prstGeom prst="rect">
            <a:avLst/>
          </a:prstGeom>
          <a:solidFill>
            <a:srgbClr val="F3B9B9"/>
          </a:solidFill>
          <a:ln w="76200">
            <a:solidFill>
              <a:srgbClr val="7030A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-15.4</a:t>
            </a:r>
            <a:endParaRPr lang="en-US" sz="20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F854351F-0B10-82F5-DCD2-605D3A6D1AA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Sweep 1 (bottom right)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49FCE0F6-D09D-E321-0C86-DED8A982FA05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change. Arrows stay fixed.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D7C899-5EE1-0EAC-9D2C-EAB5D355262C}"/>
                  </a:ext>
                </a:extLst>
              </p:cNvPr>
              <p:cNvSpPr txBox="1"/>
              <p:nvPr/>
            </p:nvSpPr>
            <p:spPr>
              <a:xfrm>
                <a:off x="5141422" y="1202443"/>
                <a:ext cx="6105698" cy="4364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𝑉</m:t>
                          </m:r>
                        </m:e>
                        <m:sub>
                          <m:r>
                            <a:rPr lang="en-US" i="0">
                              <a:latin typeface="+mn-lt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+mn-lt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+mn-lt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′|</m:t>
                          </m:r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a:rPr lang="en-US" i="1">
                              <a:latin typeface="+mn-lt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𝑅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,</m:t>
                              </m:r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′</m:t>
                              </m:r>
                            </m:e>
                          </m:d>
                          <m:r>
                            <a:rPr lang="en-US" i="0">
                              <a:latin typeface="+mn-lt"/>
                            </a:rPr>
                            <m:t>+</m:t>
                          </m:r>
                          <m:r>
                            <a:rPr lang="en-US" i="1">
                              <a:latin typeface="+mn-lt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+mn-lt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0">
                                  <a:latin typeface="+mn-lt"/>
                                </a:rPr>
                                <m:t>0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𝐼𝑛𝑡𝑒𝑛𝑑𝑒𝑑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𝐴𝑐𝑡𝑖𝑜𝑛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𝑁𝑂𝑅𝑇𝐻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, 80%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−10 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𝑡𝑒𝑟𝑚𝑖𝑛𝑎𝑙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𝑎𝑤𝑎𝑟𝑑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=0.9;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𝐸𝐴𝑆𝑇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𝑊𝐸𝑆𝑇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𝑙𝑖𝑣𝑖𝑛𝑔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𝑟𝑒𝑤𝑎𝑟𝑑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−1.0</m:t>
                      </m:r>
                    </m:oMath>
                    <m:oMath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br>
                  <a:rPr lang="en-US" b="0" dirty="0">
                    <a:effectLst/>
                    <a:latin typeface="Google Sans Text"/>
                  </a:rPr>
                </a:br>
                <a:br>
                  <a:rPr lang="en-US" b="0" dirty="0">
                    <a:effectLst/>
                    <a:latin typeface="Google Sans Text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𝑁𝑂𝑅𝑇𝐻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0.9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  <m:r>
                                <a:rPr lang="en-US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.0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−19</m:t>
                      </m:r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𝐸𝐴𝑆𝑇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  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</a:rPr>
                            <m:t>−1.0</m:t>
                          </m:r>
                          <m:r>
                            <a:rPr lang="en-US"/>
                            <m:t>+</m:t>
                          </m:r>
                          <m:r>
                            <a:rPr lang="en-US" smtClean="0">
                              <a:solidFill>
                                <a:schemeClr val="accent1"/>
                              </a:solidFill>
                            </a:rPr>
                            <m:t>0.9</m:t>
                          </m:r>
                          <m:d>
                            <m:dPr>
                              <m:ctrlP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  <m:t>0.0</m:t>
                              </m:r>
                            </m:e>
                          </m:d>
                        </m:e>
                      </m:d>
                      <m:r>
                        <a:rPr lang="en-US"/>
                        <m:t>=−1.0</m:t>
                      </m:r>
                    </m:oMath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𝑊𝐸𝑆𝑇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−1.0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0.9</m:t>
                          </m:r>
                          <m:d>
                            <m:dPr>
                              <m:ctrlPr>
                                <a:rPr lang="en-US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e>
                          </m:d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=−1.0</m:t>
                      </m:r>
                    </m:oMath>
                  </m:oMathPara>
                </a14:m>
                <a:endParaRPr lang="en-US" dirty="0">
                  <a:latin typeface="Google Sans Text"/>
                </a:endParaRPr>
              </a:p>
              <a:p>
                <a:endParaRPr lang="en-US" dirty="0">
                  <a:effectLst/>
                  <a:latin typeface="Google Sans Text"/>
                </a:endParaRPr>
              </a:p>
              <a:p>
                <a:endParaRPr lang="en-US" dirty="0">
                  <a:latin typeface="Google Sans Text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/>
                        <m:t>0.8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/>
                            <m:t>19.0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−1.0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−1.0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/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/>
                        <m:t>15.2−0.1−0.1=</m:t>
                      </m:r>
                      <m:r>
                        <a:rPr lang="en-US" b="1" i="1"/>
                        <m:t>𝟏𝟓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D7C899-5EE1-0EAC-9D2C-EAB5D3552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422" y="1202443"/>
                <a:ext cx="6105698" cy="4364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7">
            <a:extLst>
              <a:ext uri="{FF2B5EF4-FFF2-40B4-BE49-F238E27FC236}">
                <a16:creationId xmlns:a16="http://schemas.microsoft.com/office/drawing/2014/main" id="{026C14B1-40DD-7EA9-94C4-C8E67520D992}"/>
              </a:ext>
            </a:extLst>
          </p:cNvPr>
          <p:cNvSpPr/>
          <p:nvPr/>
        </p:nvSpPr>
        <p:spPr>
          <a:xfrm>
            <a:off x="914400" y="5353805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The current policy begins to reveal which states lead toward good or bad outcomes.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F5FE6E5B-1F0B-25CF-DEDC-1930D2108528}"/>
              </a:ext>
            </a:extLst>
          </p:cNvPr>
          <p:cNvSpPr/>
          <p:nvPr/>
        </p:nvSpPr>
        <p:spPr>
          <a:xfrm>
            <a:off x="2008762" y="4384555"/>
            <a:ext cx="2377440" cy="64008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95786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787754" y="20848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14218" y="2084832"/>
            <a:ext cx="713232" cy="713232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27450" y="2084832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87754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00986" y="2798064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14218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27450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7754" y="3511296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00986" y="3511296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14218" y="3511296"/>
            <a:ext cx="713232" cy="71323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27450" y="3511296"/>
            <a:ext cx="713232" cy="71323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3281D6D6-F9D4-182E-4259-5B8BD433B5A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Sweep 2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429879E1-0C91-06B4-D8D0-2153CB505DC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long-term consequences are reflected in the numbers.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3D5B53-763B-1FF7-966E-97C820E2C189}"/>
                  </a:ext>
                </a:extLst>
              </p:cNvPr>
              <p:cNvSpPr txBox="1"/>
              <p:nvPr/>
            </p:nvSpPr>
            <p:spPr>
              <a:xfrm>
                <a:off x="5141422" y="1202443"/>
                <a:ext cx="6679276" cy="5472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′|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𝐼𝑛𝑡𝑒𝑛𝑑𝑒𝑑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𝐴𝑐𝑡𝑖𝑜𝑛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𝐸𝐴𝑆𝑇</m:t>
                          </m:r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, 80%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−1 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𝑙𝑖𝑣𝑖𝑛𝑔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𝑎𝑤𝑎𝑟𝑑</m:t>
                      </m:r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=0.9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𝐸𝐴𝑆𝑇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𝑣𝑎𝑙𝑢𝑒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</a:rPr>
                        <m:t>15.0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;</m:t>
                      </m:r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𝑁𝑂𝑅𝑇𝐻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𝑆𝑂𝑈𝑇𝐻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effectLst/>
                          <a:latin typeface="Cambria Math" panose="02040503050406030204" pitchFamily="18" charset="0"/>
                        </a:rPr>
                        <m:t>−1.0, 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−1 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𝑙𝑖𝑣𝑖𝑛𝑔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</a:rPr>
                        <m:t>𝑟𝑒𝑤𝑎𝑟𝑑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br>
                  <a:rPr lang="en-US" b="0" dirty="0">
                    <a:effectLst/>
                    <a:latin typeface="Google Sans Text"/>
                  </a:rPr>
                </a:br>
                <a:br>
                  <a:rPr lang="en-US" b="0" dirty="0">
                    <a:effectLst/>
                    <a:latin typeface="Google Sans Text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𝑛𝑛𝑒𝑟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𝐸𝐴𝑆𝑇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</a:rPr>
                            <m:t>−1.0</m:t>
                          </m:r>
                          <m:r>
                            <a:rPr lang="en-US"/>
                            <m:t>+</m:t>
                          </m:r>
                          <m:r>
                            <a:rPr lang="en-US" smtClean="0">
                              <a:solidFill>
                                <a:srgbClr val="0070C0"/>
                              </a:solidFill>
                            </a:rPr>
                            <m:t>0.9</m:t>
                          </m:r>
                          <m:d>
                            <m:dPr>
                              <m:ctrlP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  <m:t>15.0</m:t>
                              </m:r>
                            </m:e>
                          </m:d>
                        </m:e>
                      </m:d>
                      <m:r>
                        <a:rPr lang="en-US"/>
                        <m:t>=−1.0+13.5=12.5</m:t>
                      </m:r>
                    </m:oMath>
                    <m:oMath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</a:rPr>
                            <m:t>𝑁𝑂𝑅𝑇𝐻</m:t>
                          </m:r>
                        </m:e>
                      </m:d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</a:rPr>
                            <m:t>−1.0</m:t>
                          </m:r>
                          <m:r>
                            <a:rPr lang="en-US"/>
                            <m:t>+</m:t>
                          </m:r>
                          <m:r>
                            <a:rPr lang="en-US" smtClean="0">
                              <a:solidFill>
                                <a:srgbClr val="0070C0"/>
                              </a:solidFill>
                            </a:rPr>
                            <m:t>0.9</m:t>
                          </m:r>
                          <m:d>
                            <m:dPr>
                              <m:ctrlP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  <m:t>−1.0</m:t>
                              </m:r>
                            </m:e>
                          </m:d>
                        </m:e>
                      </m:d>
                      <m:r>
                        <a:rPr lang="en-US"/>
                        <m:t>=−1.0−0.9=−1.9</m:t>
                      </m:r>
                    </m:oMath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𝑖𝑛𝑛𝑒𝑟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𝑆𝑂𝑈𝑇𝐻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mtClean="0">
                              <a:solidFill>
                                <a:srgbClr val="FF0000"/>
                              </a:solidFill>
                            </a:rPr>
                          </m:ctrlPr>
                        </m:dPr>
                        <m:e>
                          <m:r>
                            <a:rPr lang="en-US" smtClean="0">
                              <a:solidFill>
                                <a:srgbClr val="FF0000"/>
                              </a:solidFill>
                            </a:rPr>
                            <m:t>−1.0</m:t>
                          </m:r>
                          <m:r>
                            <a:rPr lang="en-US"/>
                            <m:t>+</m:t>
                          </m:r>
                          <m:r>
                            <a:rPr lang="en-US" smtClean="0">
                              <a:solidFill>
                                <a:srgbClr val="0070C0"/>
                              </a:solidFill>
                            </a:rPr>
                            <m:t>0.9</m:t>
                          </m:r>
                          <m:d>
                            <m:dPr>
                              <m:ctrlP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en-US" smtClean="0">
                                  <a:solidFill>
                                    <a:schemeClr val="accent2"/>
                                  </a:solidFill>
                                </a:rPr>
                                <m:t>−1.0</m:t>
                              </m:r>
                            </m:e>
                          </m:d>
                        </m:e>
                      </m:d>
                      <m:r>
                        <a:rPr lang="en-US"/>
                        <m:t>=−1.0−0.9=−1.9</m:t>
                      </m:r>
                    </m:oMath>
                  </m:oMathPara>
                </a14:m>
                <a:endParaRPr lang="en-US" dirty="0">
                  <a:latin typeface="Google Sans Text"/>
                </a:endParaRPr>
              </a:p>
              <a:p>
                <a:endParaRPr lang="en-US" dirty="0">
                  <a:effectLst/>
                  <a:latin typeface="Google Sans Text"/>
                </a:endParaRPr>
              </a:p>
              <a:p>
                <a:endParaRPr lang="en-US" dirty="0">
                  <a:latin typeface="Google Sans Text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/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𝑠</m:t>
                          </m:r>
                        </m:e>
                      </m:d>
                      <m:r>
                        <a:rPr lang="en-US"/>
                        <m:t>=0.8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12.5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−1.9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−1.9</m:t>
                          </m:r>
                        </m:e>
                      </m:d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𝑉</m:t>
                          </m:r>
                        </m:e>
                        <m:sub>
                          <m:r>
                            <a:rPr lang="en-US"/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𝑠</m:t>
                          </m:r>
                        </m:e>
                      </m:d>
                      <m:r>
                        <a:rPr lang="en-US"/>
                        <m:t>=10.0−0.19−0.19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b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pPr/>
                <a:endParaRPr lang="en-US" dirty="0"/>
              </a:p>
              <a:p>
                <a:endParaRPr lang="en-US" dirty="0"/>
              </a:p>
              <a:p>
                <a:endParaRPr lang="en-US" b="1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63D5B53-763B-1FF7-966E-97C820E2C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422" y="1202443"/>
                <a:ext cx="6679276" cy="5472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17">
            <a:extLst>
              <a:ext uri="{FF2B5EF4-FFF2-40B4-BE49-F238E27FC236}">
                <a16:creationId xmlns:a16="http://schemas.microsoft.com/office/drawing/2014/main" id="{E976D5AF-A981-84CC-9B7F-8F2EEE8054B2}"/>
              </a:ext>
            </a:extLst>
          </p:cNvPr>
          <p:cNvSpPr/>
          <p:nvPr/>
        </p:nvSpPr>
        <p:spPr>
          <a:xfrm>
            <a:off x="914400" y="5353805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The current policy begins to reveal which states lead toward good or bad outcomes.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00986" y="2084832"/>
            <a:ext cx="713232" cy="713232"/>
          </a:xfrm>
          <a:prstGeom prst="rect">
            <a:avLst/>
          </a:prstGeom>
          <a:solidFill>
            <a:srgbClr val="D9F0E5"/>
          </a:solidFill>
          <a:ln w="76200">
            <a:solidFill>
              <a:srgbClr val="7030A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CF6D1C0D-E3B0-3139-22E0-E02196B5CBE0}"/>
              </a:ext>
            </a:extLst>
          </p:cNvPr>
          <p:cNvSpPr/>
          <p:nvPr/>
        </p:nvSpPr>
        <p:spPr>
          <a:xfrm>
            <a:off x="2008762" y="4384555"/>
            <a:ext cx="2377440" cy="64008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916543" y="1810512"/>
            <a:ext cx="914400" cy="65836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45343" y="1810512"/>
            <a:ext cx="914400" cy="65836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74143" y="1810512"/>
            <a:ext cx="914400" cy="65836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02943" y="1810512"/>
            <a:ext cx="914400" cy="658368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76663" y="2139696"/>
            <a:ext cx="8229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05463" y="2139696"/>
            <a:ext cx="8229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34263" y="2139696"/>
            <a:ext cx="8229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8123" y="2779158"/>
            <a:ext cx="5048835" cy="12801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Sweep pattern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learns about the terminal reward.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B can use C.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 can use B.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68123" y="4425078"/>
            <a:ext cx="5048835" cy="612031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fixed behavior can require repeated value backups.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637219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Evaluation propagates long-term consequences through the locked policy.</a:t>
            </a:r>
            <a:endParaRPr lang="en-US" sz="16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A0A300F2-1DD9-F160-0290-6A838628B7A8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multiple sweeps?</a:t>
            </a:r>
            <a:endParaRPr lang="en-US" sz="32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6B185913-7962-B751-255F-75C8E3A4079A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depend on successor values, which may still be changing.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29517" y="358444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V₀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89837" y="358444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V₁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50157" y="354787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V₂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9210477" y="354787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739227" y="4558284"/>
            <a:ext cx="667512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arrows stay locked throughout evaluation.</a:t>
            </a:r>
            <a:endParaRPr lang="en-US" sz="1500" dirty="0"/>
          </a:p>
        </p:txBody>
      </p:sp>
      <p:sp>
        <p:nvSpPr>
          <p:cNvPr id="63" name="Text 0">
            <a:extLst>
              <a:ext uri="{FF2B5EF4-FFF2-40B4-BE49-F238E27FC236}">
                <a16:creationId xmlns:a16="http://schemas.microsoft.com/office/drawing/2014/main" id="{A5AC3867-8CAA-6F4A-A4C9-6F561D965A3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changes numbers — not behavior</a:t>
            </a:r>
            <a:endParaRPr lang="en-US" sz="3200" dirty="0"/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7F65EAB9-98DA-D9C9-8A9A-3A4A6E5DF84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arrows, evolving value estimates.</a:t>
            </a:r>
            <a:endParaRPr lang="en-US" sz="1600" dirty="0"/>
          </a:p>
        </p:txBody>
      </p:sp>
      <p:sp>
        <p:nvSpPr>
          <p:cNvPr id="139" name="Text 4">
            <a:extLst>
              <a:ext uri="{FF2B5EF4-FFF2-40B4-BE49-F238E27FC236}">
                <a16:creationId xmlns:a16="http://schemas.microsoft.com/office/drawing/2014/main" id="{0C6EC004-BA5F-4D6B-E799-50E1011B484E}"/>
              </a:ext>
            </a:extLst>
          </p:cNvPr>
          <p:cNvSpPr/>
          <p:nvPr/>
        </p:nvSpPr>
        <p:spPr>
          <a:xfrm>
            <a:off x="1255197" y="219456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1" name="Text 5">
            <a:extLst>
              <a:ext uri="{FF2B5EF4-FFF2-40B4-BE49-F238E27FC236}">
                <a16:creationId xmlns:a16="http://schemas.microsoft.com/office/drawing/2014/main" id="{25766B0E-2CC1-B419-6FB0-F1DB0B350A75}"/>
              </a:ext>
            </a:extLst>
          </p:cNvPr>
          <p:cNvSpPr/>
          <p:nvPr/>
        </p:nvSpPr>
        <p:spPr>
          <a:xfrm>
            <a:off x="1666677" y="219456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47E64B39-C881-F3F4-3CC3-2D4944D7A1D6}"/>
              </a:ext>
            </a:extLst>
          </p:cNvPr>
          <p:cNvSpPr/>
          <p:nvPr/>
        </p:nvSpPr>
        <p:spPr>
          <a:xfrm>
            <a:off x="2078157" y="219456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5" name="Text 7">
            <a:extLst>
              <a:ext uri="{FF2B5EF4-FFF2-40B4-BE49-F238E27FC236}">
                <a16:creationId xmlns:a16="http://schemas.microsoft.com/office/drawing/2014/main" id="{941D31C7-916D-7406-BF0C-AADE8845A07A}"/>
              </a:ext>
            </a:extLst>
          </p:cNvPr>
          <p:cNvSpPr/>
          <p:nvPr/>
        </p:nvSpPr>
        <p:spPr>
          <a:xfrm>
            <a:off x="248963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147" name="Text 8">
            <a:extLst>
              <a:ext uri="{FF2B5EF4-FFF2-40B4-BE49-F238E27FC236}">
                <a16:creationId xmlns:a16="http://schemas.microsoft.com/office/drawing/2014/main" id="{20307006-FFC8-AA90-6A8B-A431F5AFCBD7}"/>
              </a:ext>
            </a:extLst>
          </p:cNvPr>
          <p:cNvSpPr/>
          <p:nvPr/>
        </p:nvSpPr>
        <p:spPr>
          <a:xfrm>
            <a:off x="1255197" y="260604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9" name="Text 9">
            <a:extLst>
              <a:ext uri="{FF2B5EF4-FFF2-40B4-BE49-F238E27FC236}">
                <a16:creationId xmlns:a16="http://schemas.microsoft.com/office/drawing/2014/main" id="{2B177E15-E55A-CDA6-4D94-69593BC22BDF}"/>
              </a:ext>
            </a:extLst>
          </p:cNvPr>
          <p:cNvSpPr/>
          <p:nvPr/>
        </p:nvSpPr>
        <p:spPr>
          <a:xfrm>
            <a:off x="166667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151" name="Text 10">
            <a:extLst>
              <a:ext uri="{FF2B5EF4-FFF2-40B4-BE49-F238E27FC236}">
                <a16:creationId xmlns:a16="http://schemas.microsoft.com/office/drawing/2014/main" id="{CA8B5FAF-4797-2DD7-40F0-DD61F42A5520}"/>
              </a:ext>
            </a:extLst>
          </p:cNvPr>
          <p:cNvSpPr/>
          <p:nvPr/>
        </p:nvSpPr>
        <p:spPr>
          <a:xfrm>
            <a:off x="2078157" y="260604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53" name="Text 11">
            <a:extLst>
              <a:ext uri="{FF2B5EF4-FFF2-40B4-BE49-F238E27FC236}">
                <a16:creationId xmlns:a16="http://schemas.microsoft.com/office/drawing/2014/main" id="{FDE5508A-A199-BC78-63F2-F29C16D4B237}"/>
              </a:ext>
            </a:extLst>
          </p:cNvPr>
          <p:cNvSpPr/>
          <p:nvPr/>
        </p:nvSpPr>
        <p:spPr>
          <a:xfrm>
            <a:off x="248963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155" name="Text 12">
            <a:extLst>
              <a:ext uri="{FF2B5EF4-FFF2-40B4-BE49-F238E27FC236}">
                <a16:creationId xmlns:a16="http://schemas.microsoft.com/office/drawing/2014/main" id="{27650D4D-B13F-5196-7A99-453F064E744B}"/>
              </a:ext>
            </a:extLst>
          </p:cNvPr>
          <p:cNvSpPr/>
          <p:nvPr/>
        </p:nvSpPr>
        <p:spPr>
          <a:xfrm>
            <a:off x="125519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57" name="Text 13">
            <a:extLst>
              <a:ext uri="{FF2B5EF4-FFF2-40B4-BE49-F238E27FC236}">
                <a16:creationId xmlns:a16="http://schemas.microsoft.com/office/drawing/2014/main" id="{16DBE8DF-1391-9DC4-5127-B17EEF0A83CE}"/>
              </a:ext>
            </a:extLst>
          </p:cNvPr>
          <p:cNvSpPr/>
          <p:nvPr/>
        </p:nvSpPr>
        <p:spPr>
          <a:xfrm>
            <a:off x="166667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59" name="Text 14">
            <a:extLst>
              <a:ext uri="{FF2B5EF4-FFF2-40B4-BE49-F238E27FC236}">
                <a16:creationId xmlns:a16="http://schemas.microsoft.com/office/drawing/2014/main" id="{7A5D69AF-3872-2CD7-9029-EED9DC4931FD}"/>
              </a:ext>
            </a:extLst>
          </p:cNvPr>
          <p:cNvSpPr/>
          <p:nvPr/>
        </p:nvSpPr>
        <p:spPr>
          <a:xfrm>
            <a:off x="207815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61" name="Text 15">
            <a:extLst>
              <a:ext uri="{FF2B5EF4-FFF2-40B4-BE49-F238E27FC236}">
                <a16:creationId xmlns:a16="http://schemas.microsoft.com/office/drawing/2014/main" id="{A33EB85B-0E2A-E4BC-B6F7-9763D8C6C345}"/>
              </a:ext>
            </a:extLst>
          </p:cNvPr>
          <p:cNvSpPr/>
          <p:nvPr/>
        </p:nvSpPr>
        <p:spPr>
          <a:xfrm>
            <a:off x="248963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63" name="Text 17">
            <a:extLst>
              <a:ext uri="{FF2B5EF4-FFF2-40B4-BE49-F238E27FC236}">
                <a16:creationId xmlns:a16="http://schemas.microsoft.com/office/drawing/2014/main" id="{869CFD43-223D-A0D9-D799-62B3A2F516A9}"/>
              </a:ext>
            </a:extLst>
          </p:cNvPr>
          <p:cNvSpPr/>
          <p:nvPr/>
        </p:nvSpPr>
        <p:spPr>
          <a:xfrm>
            <a:off x="3815517" y="219456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65" name="Text 18">
            <a:extLst>
              <a:ext uri="{FF2B5EF4-FFF2-40B4-BE49-F238E27FC236}">
                <a16:creationId xmlns:a16="http://schemas.microsoft.com/office/drawing/2014/main" id="{9354B6F8-7711-C2D7-C89C-B4F04C9701D9}"/>
              </a:ext>
            </a:extLst>
          </p:cNvPr>
          <p:cNvSpPr/>
          <p:nvPr/>
        </p:nvSpPr>
        <p:spPr>
          <a:xfrm>
            <a:off x="4226997" y="219456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1E702D00-9E04-C1A7-054C-CB8116760285}"/>
              </a:ext>
            </a:extLst>
          </p:cNvPr>
          <p:cNvSpPr/>
          <p:nvPr/>
        </p:nvSpPr>
        <p:spPr>
          <a:xfrm>
            <a:off x="463847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</a:t>
            </a:r>
            <a:endParaRPr lang="en-US" sz="1050" dirty="0"/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DFBAFAE3-AA08-210B-0625-B288B20A2BA3}"/>
              </a:ext>
            </a:extLst>
          </p:cNvPr>
          <p:cNvSpPr/>
          <p:nvPr/>
        </p:nvSpPr>
        <p:spPr>
          <a:xfrm>
            <a:off x="504995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171" name="Text 21">
            <a:extLst>
              <a:ext uri="{FF2B5EF4-FFF2-40B4-BE49-F238E27FC236}">
                <a16:creationId xmlns:a16="http://schemas.microsoft.com/office/drawing/2014/main" id="{33B01FB0-69BF-5825-EBFA-9F974AC28524}"/>
              </a:ext>
            </a:extLst>
          </p:cNvPr>
          <p:cNvSpPr/>
          <p:nvPr/>
        </p:nvSpPr>
        <p:spPr>
          <a:xfrm>
            <a:off x="381551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73" name="Text 22">
            <a:extLst>
              <a:ext uri="{FF2B5EF4-FFF2-40B4-BE49-F238E27FC236}">
                <a16:creationId xmlns:a16="http://schemas.microsoft.com/office/drawing/2014/main" id="{D489A273-3F5F-0691-69B3-B25C94D64560}"/>
              </a:ext>
            </a:extLst>
          </p:cNvPr>
          <p:cNvSpPr/>
          <p:nvPr/>
        </p:nvSpPr>
        <p:spPr>
          <a:xfrm>
            <a:off x="422699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175" name="Text 23">
            <a:extLst>
              <a:ext uri="{FF2B5EF4-FFF2-40B4-BE49-F238E27FC236}">
                <a16:creationId xmlns:a16="http://schemas.microsoft.com/office/drawing/2014/main" id="{1E012002-A683-501B-86F4-E283C70A04A0}"/>
              </a:ext>
            </a:extLst>
          </p:cNvPr>
          <p:cNvSpPr/>
          <p:nvPr/>
        </p:nvSpPr>
        <p:spPr>
          <a:xfrm>
            <a:off x="463847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</a:t>
            </a:r>
            <a:endParaRPr lang="en-US" sz="1050" dirty="0"/>
          </a:p>
        </p:txBody>
      </p:sp>
      <p:sp>
        <p:nvSpPr>
          <p:cNvPr id="177" name="Text 24">
            <a:extLst>
              <a:ext uri="{FF2B5EF4-FFF2-40B4-BE49-F238E27FC236}">
                <a16:creationId xmlns:a16="http://schemas.microsoft.com/office/drawing/2014/main" id="{3C3C7DB5-0C00-79D6-6814-73773AB52591}"/>
              </a:ext>
            </a:extLst>
          </p:cNvPr>
          <p:cNvSpPr/>
          <p:nvPr/>
        </p:nvSpPr>
        <p:spPr>
          <a:xfrm>
            <a:off x="504995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179" name="Text 25">
            <a:extLst>
              <a:ext uri="{FF2B5EF4-FFF2-40B4-BE49-F238E27FC236}">
                <a16:creationId xmlns:a16="http://schemas.microsoft.com/office/drawing/2014/main" id="{B0309760-CB31-2D63-3782-6B0EA72E46AC}"/>
              </a:ext>
            </a:extLst>
          </p:cNvPr>
          <p:cNvSpPr/>
          <p:nvPr/>
        </p:nvSpPr>
        <p:spPr>
          <a:xfrm>
            <a:off x="381551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81" name="Text 26">
            <a:extLst>
              <a:ext uri="{FF2B5EF4-FFF2-40B4-BE49-F238E27FC236}">
                <a16:creationId xmlns:a16="http://schemas.microsoft.com/office/drawing/2014/main" id="{79687CE3-7E23-068F-23FB-A8CB5384D70B}"/>
              </a:ext>
            </a:extLst>
          </p:cNvPr>
          <p:cNvSpPr/>
          <p:nvPr/>
        </p:nvSpPr>
        <p:spPr>
          <a:xfrm>
            <a:off x="422699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83" name="Text 27">
            <a:extLst>
              <a:ext uri="{FF2B5EF4-FFF2-40B4-BE49-F238E27FC236}">
                <a16:creationId xmlns:a16="http://schemas.microsoft.com/office/drawing/2014/main" id="{D345A89A-EB7A-A07E-F90A-C420181AA230}"/>
              </a:ext>
            </a:extLst>
          </p:cNvPr>
          <p:cNvSpPr/>
          <p:nvPr/>
        </p:nvSpPr>
        <p:spPr>
          <a:xfrm>
            <a:off x="463847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85" name="Text 28">
            <a:extLst>
              <a:ext uri="{FF2B5EF4-FFF2-40B4-BE49-F238E27FC236}">
                <a16:creationId xmlns:a16="http://schemas.microsoft.com/office/drawing/2014/main" id="{B4156869-3C7A-2165-F28A-3D4404BF060F}"/>
              </a:ext>
            </a:extLst>
          </p:cNvPr>
          <p:cNvSpPr/>
          <p:nvPr/>
        </p:nvSpPr>
        <p:spPr>
          <a:xfrm>
            <a:off x="504995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-15.4</a:t>
            </a:r>
            <a:endParaRPr lang="en-US" sz="1050" dirty="0"/>
          </a:p>
        </p:txBody>
      </p:sp>
      <p:sp>
        <p:nvSpPr>
          <p:cNvPr id="187" name="Text 30">
            <a:extLst>
              <a:ext uri="{FF2B5EF4-FFF2-40B4-BE49-F238E27FC236}">
                <a16:creationId xmlns:a16="http://schemas.microsoft.com/office/drawing/2014/main" id="{2997B821-5632-2A85-8186-43CDE3E069F2}"/>
              </a:ext>
            </a:extLst>
          </p:cNvPr>
          <p:cNvSpPr/>
          <p:nvPr/>
        </p:nvSpPr>
        <p:spPr>
          <a:xfrm>
            <a:off x="6375837" y="219456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189" name="Text 31">
            <a:extLst>
              <a:ext uri="{FF2B5EF4-FFF2-40B4-BE49-F238E27FC236}">
                <a16:creationId xmlns:a16="http://schemas.microsoft.com/office/drawing/2014/main" id="{7068F412-F0BC-B5EA-B384-42F1AC986FF6}"/>
              </a:ext>
            </a:extLst>
          </p:cNvPr>
          <p:cNvSpPr/>
          <p:nvPr/>
        </p:nvSpPr>
        <p:spPr>
          <a:xfrm>
            <a:off x="6787317" y="2194560"/>
            <a:ext cx="411480" cy="411480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1050" dirty="0"/>
          </a:p>
        </p:txBody>
      </p:sp>
      <p:sp>
        <p:nvSpPr>
          <p:cNvPr id="191" name="Text 32">
            <a:extLst>
              <a:ext uri="{FF2B5EF4-FFF2-40B4-BE49-F238E27FC236}">
                <a16:creationId xmlns:a16="http://schemas.microsoft.com/office/drawing/2014/main" id="{3B7B03FF-E2DF-4C1F-4E3F-48C23A4099BE}"/>
              </a:ext>
            </a:extLst>
          </p:cNvPr>
          <p:cNvSpPr/>
          <p:nvPr/>
        </p:nvSpPr>
        <p:spPr>
          <a:xfrm>
            <a:off x="719879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050" dirty="0"/>
          </a:p>
        </p:txBody>
      </p:sp>
      <p:sp>
        <p:nvSpPr>
          <p:cNvPr id="193" name="Text 33">
            <a:extLst>
              <a:ext uri="{FF2B5EF4-FFF2-40B4-BE49-F238E27FC236}">
                <a16:creationId xmlns:a16="http://schemas.microsoft.com/office/drawing/2014/main" id="{8CC02CFF-D596-DB36-C460-451A2E093157}"/>
              </a:ext>
            </a:extLst>
          </p:cNvPr>
          <p:cNvSpPr/>
          <p:nvPr/>
        </p:nvSpPr>
        <p:spPr>
          <a:xfrm>
            <a:off x="761027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195" name="Text 34">
            <a:extLst>
              <a:ext uri="{FF2B5EF4-FFF2-40B4-BE49-F238E27FC236}">
                <a16:creationId xmlns:a16="http://schemas.microsoft.com/office/drawing/2014/main" id="{F7ED3181-452D-4833-6F92-8CAEEF75B9F8}"/>
              </a:ext>
            </a:extLst>
          </p:cNvPr>
          <p:cNvSpPr/>
          <p:nvPr/>
        </p:nvSpPr>
        <p:spPr>
          <a:xfrm>
            <a:off x="637583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197" name="Text 35">
            <a:extLst>
              <a:ext uri="{FF2B5EF4-FFF2-40B4-BE49-F238E27FC236}">
                <a16:creationId xmlns:a16="http://schemas.microsoft.com/office/drawing/2014/main" id="{C0BCD250-B959-0D8F-5FBF-BC27C1ECAC58}"/>
              </a:ext>
            </a:extLst>
          </p:cNvPr>
          <p:cNvSpPr/>
          <p:nvPr/>
        </p:nvSpPr>
        <p:spPr>
          <a:xfrm>
            <a:off x="678731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199" name="Text 36">
            <a:extLst>
              <a:ext uri="{FF2B5EF4-FFF2-40B4-BE49-F238E27FC236}">
                <a16:creationId xmlns:a16="http://schemas.microsoft.com/office/drawing/2014/main" id="{8DFC5610-9A3C-42C2-AECE-4635557C2447}"/>
              </a:ext>
            </a:extLst>
          </p:cNvPr>
          <p:cNvSpPr/>
          <p:nvPr/>
        </p:nvSpPr>
        <p:spPr>
          <a:xfrm>
            <a:off x="719879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1050" dirty="0"/>
          </a:p>
        </p:txBody>
      </p:sp>
      <p:sp>
        <p:nvSpPr>
          <p:cNvPr id="201" name="Text 37">
            <a:extLst>
              <a:ext uri="{FF2B5EF4-FFF2-40B4-BE49-F238E27FC236}">
                <a16:creationId xmlns:a16="http://schemas.microsoft.com/office/drawing/2014/main" id="{05B2469D-1EC2-893F-F911-F696FDCCE127}"/>
              </a:ext>
            </a:extLst>
          </p:cNvPr>
          <p:cNvSpPr/>
          <p:nvPr/>
        </p:nvSpPr>
        <p:spPr>
          <a:xfrm>
            <a:off x="761027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203" name="Text 38">
            <a:extLst>
              <a:ext uri="{FF2B5EF4-FFF2-40B4-BE49-F238E27FC236}">
                <a16:creationId xmlns:a16="http://schemas.microsoft.com/office/drawing/2014/main" id="{CB52D8F0-0BBA-CF40-AB37-AAF2A141FE60}"/>
              </a:ext>
            </a:extLst>
          </p:cNvPr>
          <p:cNvSpPr/>
          <p:nvPr/>
        </p:nvSpPr>
        <p:spPr>
          <a:xfrm>
            <a:off x="637583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205" name="Text 39">
            <a:extLst>
              <a:ext uri="{FF2B5EF4-FFF2-40B4-BE49-F238E27FC236}">
                <a16:creationId xmlns:a16="http://schemas.microsoft.com/office/drawing/2014/main" id="{9A62A29D-0D31-0645-D39B-3F53DEA0A232}"/>
              </a:ext>
            </a:extLst>
          </p:cNvPr>
          <p:cNvSpPr/>
          <p:nvPr/>
        </p:nvSpPr>
        <p:spPr>
          <a:xfrm>
            <a:off x="678731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207" name="Text 40">
            <a:extLst>
              <a:ext uri="{FF2B5EF4-FFF2-40B4-BE49-F238E27FC236}">
                <a16:creationId xmlns:a16="http://schemas.microsoft.com/office/drawing/2014/main" id="{6485CA27-4C54-CD2F-6088-386F51370DE8}"/>
              </a:ext>
            </a:extLst>
          </p:cNvPr>
          <p:cNvSpPr/>
          <p:nvPr/>
        </p:nvSpPr>
        <p:spPr>
          <a:xfrm>
            <a:off x="719879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1050" dirty="0"/>
          </a:p>
        </p:txBody>
      </p:sp>
      <p:sp>
        <p:nvSpPr>
          <p:cNvPr id="209" name="Text 41">
            <a:extLst>
              <a:ext uri="{FF2B5EF4-FFF2-40B4-BE49-F238E27FC236}">
                <a16:creationId xmlns:a16="http://schemas.microsoft.com/office/drawing/2014/main" id="{BC32AC1C-F44F-C61F-EF78-498675C3A046}"/>
              </a:ext>
            </a:extLst>
          </p:cNvPr>
          <p:cNvSpPr/>
          <p:nvPr/>
        </p:nvSpPr>
        <p:spPr>
          <a:xfrm>
            <a:off x="761027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1050" dirty="0"/>
          </a:p>
        </p:txBody>
      </p:sp>
      <p:sp>
        <p:nvSpPr>
          <p:cNvPr id="211" name="Text 43">
            <a:extLst>
              <a:ext uri="{FF2B5EF4-FFF2-40B4-BE49-F238E27FC236}">
                <a16:creationId xmlns:a16="http://schemas.microsoft.com/office/drawing/2014/main" id="{8A1D3BA2-59EF-BAA9-205E-9BC38A7BEF64}"/>
              </a:ext>
            </a:extLst>
          </p:cNvPr>
          <p:cNvSpPr/>
          <p:nvPr/>
        </p:nvSpPr>
        <p:spPr>
          <a:xfrm>
            <a:off x="893615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050" dirty="0"/>
          </a:p>
        </p:txBody>
      </p:sp>
      <p:sp>
        <p:nvSpPr>
          <p:cNvPr id="213" name="Text 44">
            <a:extLst>
              <a:ext uri="{FF2B5EF4-FFF2-40B4-BE49-F238E27FC236}">
                <a16:creationId xmlns:a16="http://schemas.microsoft.com/office/drawing/2014/main" id="{43F2FD92-299E-6125-6CE6-2D56E0A67928}"/>
              </a:ext>
            </a:extLst>
          </p:cNvPr>
          <p:cNvSpPr/>
          <p:nvPr/>
        </p:nvSpPr>
        <p:spPr>
          <a:xfrm>
            <a:off x="934763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050" dirty="0"/>
          </a:p>
        </p:txBody>
      </p:sp>
      <p:sp>
        <p:nvSpPr>
          <p:cNvPr id="215" name="Text 45">
            <a:extLst>
              <a:ext uri="{FF2B5EF4-FFF2-40B4-BE49-F238E27FC236}">
                <a16:creationId xmlns:a16="http://schemas.microsoft.com/office/drawing/2014/main" id="{EF93219C-02AE-9627-840E-8E3E260A0537}"/>
              </a:ext>
            </a:extLst>
          </p:cNvPr>
          <p:cNvSpPr/>
          <p:nvPr/>
        </p:nvSpPr>
        <p:spPr>
          <a:xfrm>
            <a:off x="975911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050" dirty="0"/>
          </a:p>
        </p:txBody>
      </p:sp>
      <p:sp>
        <p:nvSpPr>
          <p:cNvPr id="217" name="Text 46">
            <a:extLst>
              <a:ext uri="{FF2B5EF4-FFF2-40B4-BE49-F238E27FC236}">
                <a16:creationId xmlns:a16="http://schemas.microsoft.com/office/drawing/2014/main" id="{8FAC203B-A7DD-FA71-7C79-84596DEB2FA4}"/>
              </a:ext>
            </a:extLst>
          </p:cNvPr>
          <p:cNvSpPr/>
          <p:nvPr/>
        </p:nvSpPr>
        <p:spPr>
          <a:xfrm>
            <a:off x="1017059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219" name="Text 47">
            <a:extLst>
              <a:ext uri="{FF2B5EF4-FFF2-40B4-BE49-F238E27FC236}">
                <a16:creationId xmlns:a16="http://schemas.microsoft.com/office/drawing/2014/main" id="{CE4ABFE4-608C-9706-F013-FF75BBE6B9B7}"/>
              </a:ext>
            </a:extLst>
          </p:cNvPr>
          <p:cNvSpPr/>
          <p:nvPr/>
        </p:nvSpPr>
        <p:spPr>
          <a:xfrm>
            <a:off x="893615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050" dirty="0"/>
          </a:p>
        </p:txBody>
      </p:sp>
      <p:sp>
        <p:nvSpPr>
          <p:cNvPr id="221" name="Text 48">
            <a:extLst>
              <a:ext uri="{FF2B5EF4-FFF2-40B4-BE49-F238E27FC236}">
                <a16:creationId xmlns:a16="http://schemas.microsoft.com/office/drawing/2014/main" id="{98365CC3-0F93-852E-D969-7912AAA5B364}"/>
              </a:ext>
            </a:extLst>
          </p:cNvPr>
          <p:cNvSpPr/>
          <p:nvPr/>
        </p:nvSpPr>
        <p:spPr>
          <a:xfrm>
            <a:off x="934763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223" name="Text 49">
            <a:extLst>
              <a:ext uri="{FF2B5EF4-FFF2-40B4-BE49-F238E27FC236}">
                <a16:creationId xmlns:a16="http://schemas.microsoft.com/office/drawing/2014/main" id="{E96A3C1B-089C-7A13-B2E2-989F45C96351}"/>
              </a:ext>
            </a:extLst>
          </p:cNvPr>
          <p:cNvSpPr/>
          <p:nvPr/>
        </p:nvSpPr>
        <p:spPr>
          <a:xfrm>
            <a:off x="9759117" y="260604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sz="1050" dirty="0"/>
          </a:p>
        </p:txBody>
      </p:sp>
      <p:sp>
        <p:nvSpPr>
          <p:cNvPr id="225" name="Text 50">
            <a:extLst>
              <a:ext uri="{FF2B5EF4-FFF2-40B4-BE49-F238E27FC236}">
                <a16:creationId xmlns:a16="http://schemas.microsoft.com/office/drawing/2014/main" id="{135C7656-E45F-3DC3-5D3E-A462AF77C384}"/>
              </a:ext>
            </a:extLst>
          </p:cNvPr>
          <p:cNvSpPr/>
          <p:nvPr/>
        </p:nvSpPr>
        <p:spPr>
          <a:xfrm>
            <a:off x="1017059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227" name="Text 51">
            <a:extLst>
              <a:ext uri="{FF2B5EF4-FFF2-40B4-BE49-F238E27FC236}">
                <a16:creationId xmlns:a16="http://schemas.microsoft.com/office/drawing/2014/main" id="{FD0BDBD1-CB48-E2B6-1C3F-E11D2E83F7C4}"/>
              </a:ext>
            </a:extLst>
          </p:cNvPr>
          <p:cNvSpPr/>
          <p:nvPr/>
        </p:nvSpPr>
        <p:spPr>
          <a:xfrm>
            <a:off x="893615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050" dirty="0"/>
          </a:p>
        </p:txBody>
      </p:sp>
      <p:sp>
        <p:nvSpPr>
          <p:cNvPr id="229" name="Text 52">
            <a:extLst>
              <a:ext uri="{FF2B5EF4-FFF2-40B4-BE49-F238E27FC236}">
                <a16:creationId xmlns:a16="http://schemas.microsoft.com/office/drawing/2014/main" id="{9E1D6789-1B9F-61E1-3B18-64A3BB326692}"/>
              </a:ext>
            </a:extLst>
          </p:cNvPr>
          <p:cNvSpPr/>
          <p:nvPr/>
        </p:nvSpPr>
        <p:spPr>
          <a:xfrm>
            <a:off x="9347637" y="3017520"/>
            <a:ext cx="411480" cy="411480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sz="1050" dirty="0"/>
          </a:p>
        </p:txBody>
      </p:sp>
      <p:sp>
        <p:nvSpPr>
          <p:cNvPr id="231" name="Text 53">
            <a:extLst>
              <a:ext uri="{FF2B5EF4-FFF2-40B4-BE49-F238E27FC236}">
                <a16:creationId xmlns:a16="http://schemas.microsoft.com/office/drawing/2014/main" id="{40B07DD0-BE3F-C64F-222D-1203A3FA6963}"/>
              </a:ext>
            </a:extLst>
          </p:cNvPr>
          <p:cNvSpPr/>
          <p:nvPr/>
        </p:nvSpPr>
        <p:spPr>
          <a:xfrm>
            <a:off x="975911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sz="1050" dirty="0"/>
          </a:p>
        </p:txBody>
      </p:sp>
      <p:sp>
        <p:nvSpPr>
          <p:cNvPr id="233" name="Text 54">
            <a:extLst>
              <a:ext uri="{FF2B5EF4-FFF2-40B4-BE49-F238E27FC236}">
                <a16:creationId xmlns:a16="http://schemas.microsoft.com/office/drawing/2014/main" id="{0062895F-4EBB-A1A4-215F-3446B16FC43A}"/>
              </a:ext>
            </a:extLst>
          </p:cNvPr>
          <p:cNvSpPr/>
          <p:nvPr/>
        </p:nvSpPr>
        <p:spPr>
          <a:xfrm>
            <a:off x="1017059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sz="1050" dirty="0"/>
          </a:p>
        </p:txBody>
      </p:sp>
      <p:sp>
        <p:nvSpPr>
          <p:cNvPr id="235" name="Shape 56">
            <a:extLst>
              <a:ext uri="{FF2B5EF4-FFF2-40B4-BE49-F238E27FC236}">
                <a16:creationId xmlns:a16="http://schemas.microsoft.com/office/drawing/2014/main" id="{81C5EC5A-2751-48C0-3002-6A3FC6316FB3}"/>
              </a:ext>
            </a:extLst>
          </p:cNvPr>
          <p:cNvSpPr/>
          <p:nvPr/>
        </p:nvSpPr>
        <p:spPr>
          <a:xfrm>
            <a:off x="3083997" y="2898648"/>
            <a:ext cx="548640" cy="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7" name="Shape 57">
            <a:extLst>
              <a:ext uri="{FF2B5EF4-FFF2-40B4-BE49-F238E27FC236}">
                <a16:creationId xmlns:a16="http://schemas.microsoft.com/office/drawing/2014/main" id="{C52C08F3-C53A-2FD4-9095-CAEFDF9CC17F}"/>
              </a:ext>
            </a:extLst>
          </p:cNvPr>
          <p:cNvSpPr/>
          <p:nvPr/>
        </p:nvSpPr>
        <p:spPr>
          <a:xfrm>
            <a:off x="5644317" y="2898648"/>
            <a:ext cx="548640" cy="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9" name="Shape 58">
            <a:extLst>
              <a:ext uri="{FF2B5EF4-FFF2-40B4-BE49-F238E27FC236}">
                <a16:creationId xmlns:a16="http://schemas.microsoft.com/office/drawing/2014/main" id="{1D23C6F7-EF8B-A58E-F2D7-0CD26F641369}"/>
              </a:ext>
            </a:extLst>
          </p:cNvPr>
          <p:cNvSpPr/>
          <p:nvPr/>
        </p:nvSpPr>
        <p:spPr>
          <a:xfrm>
            <a:off x="8204637" y="2898648"/>
            <a:ext cx="548640" cy="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447800" y="1962033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06168" y="1962033"/>
            <a:ext cx="658368" cy="658368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64536" y="1962033"/>
            <a:ext cx="658368" cy="658368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2904" y="1962033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47800" y="2620401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06168" y="2620401"/>
            <a:ext cx="658368" cy="65836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64536" y="2620401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2904" y="2620401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47800" y="3278769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06168" y="3278769"/>
            <a:ext cx="658368" cy="658368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64536" y="3278769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2904" y="3278769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6320" y="2491740"/>
            <a:ext cx="2286000" cy="914400"/>
          </a:xfrm>
          <a:prstGeom prst="rect">
            <a:avLst/>
          </a:prstGeom>
          <a:solidFill>
            <a:srgbClr val="2AA876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IMPROVEMENT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9071" y="2491740"/>
            <a:ext cx="3989832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question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another action better in any state?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Evaluation gave us numbers. Improvement uses them to reconsider the arrows.</a:t>
            </a:r>
            <a:endParaRPr lang="en-US" sz="16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DDBD77B7-B1A3-4836-A951-1B9E56EB96F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unlock the policy</a:t>
            </a:r>
            <a:endParaRPr lang="en-US" sz="32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E1E04FD-AE89-BA89-3A76-3B8D5D01AC86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values are stable enough, we ask whether to change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73517" y="2108281"/>
            <a:ext cx="5304642" cy="11430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phase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the available actions and choose the largest estimated long-term value.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5989320" y="3677431"/>
                <a:ext cx="3474720" cy="594360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000" b="0" i="0" baseline="-25000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new</m:t>
                      </m:r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 = </m:t>
                      </m:r>
                      <m:func>
                        <m:funcPr>
                          <m:ctrlP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arg</m:t>
                              </m:r>
                              <m:r>
                                <a:rPr lang="en-US" sz="20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2000" b="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𝑄</m:t>
                          </m:r>
                          <m:r>
                            <a:rPr lang="en-US" sz="2000" b="0" i="1" baseline="30000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𝜋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(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𝑠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𝑎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20" y="3677431"/>
                <a:ext cx="3474720" cy="594360"/>
              </a:xfrm>
              <a:prstGeom prst="rect">
                <a:avLst/>
              </a:prstGeom>
              <a:blipFill>
                <a:blip r:embed="rId3"/>
                <a:stretch>
                  <a:fillRect t="-1000"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914400" y="5517815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Improvement chooses the greedy action according to the evaluated values.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0972F133-4A72-5A04-0998-391D01C3FF3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improvement asks: can I do better here?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D89B765A-D576-C6F6-B57A-73DADEBDD7E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compare action values at a state.</a:t>
            </a:r>
            <a:endParaRPr lang="en-US" sz="16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62350C9-C019-B31B-309C-B54CBD60D2E9}"/>
              </a:ext>
            </a:extLst>
          </p:cNvPr>
          <p:cNvSpPr/>
          <p:nvPr/>
        </p:nvSpPr>
        <p:spPr>
          <a:xfrm>
            <a:off x="2148840" y="2871216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32ACF78C-896A-681B-F871-6F97625D4B47}"/>
              </a:ext>
            </a:extLst>
          </p:cNvPr>
          <p:cNvSpPr/>
          <p:nvPr/>
        </p:nvSpPr>
        <p:spPr>
          <a:xfrm>
            <a:off x="2148840" y="1956816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C78D415-BC55-3EA6-A2E3-7D818A24AD75}"/>
              </a:ext>
            </a:extLst>
          </p:cNvPr>
          <p:cNvSpPr/>
          <p:nvPr/>
        </p:nvSpPr>
        <p:spPr>
          <a:xfrm>
            <a:off x="30632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9107CD56-663A-E609-A02F-ED79D4C07FAE}"/>
              </a:ext>
            </a:extLst>
          </p:cNvPr>
          <p:cNvSpPr/>
          <p:nvPr/>
        </p:nvSpPr>
        <p:spPr>
          <a:xfrm>
            <a:off x="2148840" y="37856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761961B-9471-877C-69DD-831B449880CF}"/>
              </a:ext>
            </a:extLst>
          </p:cNvPr>
          <p:cNvSpPr/>
          <p:nvPr/>
        </p:nvSpPr>
        <p:spPr>
          <a:xfrm>
            <a:off x="12344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E85E05D-6C85-385E-DF4B-2B6C67CD85D2}"/>
              </a:ext>
            </a:extLst>
          </p:cNvPr>
          <p:cNvSpPr/>
          <p:nvPr/>
        </p:nvSpPr>
        <p:spPr>
          <a:xfrm>
            <a:off x="2834640" y="3191256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344E0840-A8DE-C4AE-3354-ADEC2657E177}"/>
              </a:ext>
            </a:extLst>
          </p:cNvPr>
          <p:cNvSpPr/>
          <p:nvPr/>
        </p:nvSpPr>
        <p:spPr>
          <a:xfrm>
            <a:off x="2468880" y="3557016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A7C964D5-B409-1F68-5331-B70C9BDEB26B}"/>
              </a:ext>
            </a:extLst>
          </p:cNvPr>
          <p:cNvSpPr/>
          <p:nvPr/>
        </p:nvSpPr>
        <p:spPr>
          <a:xfrm>
            <a:off x="1280160" y="465547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1D6F3ABA-9B9C-4255-447E-3E2DAE9966E4}"/>
              </a:ext>
            </a:extLst>
          </p:cNvPr>
          <p:cNvSpPr/>
          <p:nvPr/>
        </p:nvSpPr>
        <p:spPr>
          <a:xfrm flipV="1">
            <a:off x="2468880" y="2597342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B6C20C58-2B49-E215-958F-2B816F8A5671}"/>
              </a:ext>
            </a:extLst>
          </p:cNvPr>
          <p:cNvSpPr/>
          <p:nvPr/>
        </p:nvSpPr>
        <p:spPr>
          <a:xfrm flipH="1" flipV="1">
            <a:off x="1912946" y="3191256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50178" y="1997964"/>
            <a:ext cx="3943701" cy="100584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Q-value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 has the largest action value: 6.1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35040" y="3456769"/>
            <a:ext cx="3573979" cy="10058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action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</a:t>
            </a:r>
            <a:r>
              <a:rPr lang="en-US" sz="2000" baseline="-25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000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= East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36663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We are no longer evaluating the old arrow; we are choosing the best arrow.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2AA999BA-CE0E-F44B-8E88-35C12B21997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Improvement chooses the greedy action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C31D594D-F18D-DC0B-B7BF-21E3D1BCC64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highest action value.</a:t>
            </a:r>
            <a:endParaRPr lang="en-US" sz="16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473F655-568A-3661-9879-8AD91358665F}"/>
              </a:ext>
            </a:extLst>
          </p:cNvPr>
          <p:cNvSpPr/>
          <p:nvPr/>
        </p:nvSpPr>
        <p:spPr>
          <a:xfrm>
            <a:off x="2148840" y="2871216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A483741-A0A2-3C03-1279-D5F82EA10127}"/>
              </a:ext>
            </a:extLst>
          </p:cNvPr>
          <p:cNvSpPr/>
          <p:nvPr/>
        </p:nvSpPr>
        <p:spPr>
          <a:xfrm>
            <a:off x="2148840" y="1956816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A33C377B-0AE5-FE98-1FA5-CB464EAF75D1}"/>
              </a:ext>
            </a:extLst>
          </p:cNvPr>
          <p:cNvSpPr/>
          <p:nvPr/>
        </p:nvSpPr>
        <p:spPr>
          <a:xfrm>
            <a:off x="30632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0EBC699C-F171-05F1-DFE9-441D6427CE0B}"/>
              </a:ext>
            </a:extLst>
          </p:cNvPr>
          <p:cNvSpPr/>
          <p:nvPr/>
        </p:nvSpPr>
        <p:spPr>
          <a:xfrm>
            <a:off x="2148840" y="37856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388F2621-0374-C751-C9CF-471AAB0F2695}"/>
              </a:ext>
            </a:extLst>
          </p:cNvPr>
          <p:cNvSpPr/>
          <p:nvPr/>
        </p:nvSpPr>
        <p:spPr>
          <a:xfrm>
            <a:off x="12344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CA59689A-BBED-DA50-EC0F-354C46FE605F}"/>
              </a:ext>
            </a:extLst>
          </p:cNvPr>
          <p:cNvSpPr/>
          <p:nvPr/>
        </p:nvSpPr>
        <p:spPr>
          <a:xfrm>
            <a:off x="2834640" y="3191256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6CAE323-7D3C-082D-50A1-EC3AA51B54B1}"/>
              </a:ext>
            </a:extLst>
          </p:cNvPr>
          <p:cNvSpPr/>
          <p:nvPr/>
        </p:nvSpPr>
        <p:spPr>
          <a:xfrm>
            <a:off x="2468880" y="3557016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75C1A6E-3261-A0F9-13B0-0F94271D2B2E}"/>
              </a:ext>
            </a:extLst>
          </p:cNvPr>
          <p:cNvSpPr/>
          <p:nvPr/>
        </p:nvSpPr>
        <p:spPr>
          <a:xfrm>
            <a:off x="1280160" y="465547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96CD8100-CA31-1CF4-83C1-BCD72BCA8A81}"/>
              </a:ext>
            </a:extLst>
          </p:cNvPr>
          <p:cNvSpPr/>
          <p:nvPr/>
        </p:nvSpPr>
        <p:spPr>
          <a:xfrm flipV="1">
            <a:off x="2468880" y="2597342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02717EB9-4C9A-A61F-1522-2969104CF467}"/>
              </a:ext>
            </a:extLst>
          </p:cNvPr>
          <p:cNvSpPr/>
          <p:nvPr/>
        </p:nvSpPr>
        <p:spPr>
          <a:xfrm flipH="1" flipV="1">
            <a:off x="1912946" y="3191256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524500" y="2884343"/>
            <a:ext cx="114300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5360" y="5401299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North → East because East gives the largest estimated long-term return.</a:t>
            </a:r>
            <a:endParaRPr lang="en-US" sz="160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67BD91EC-E723-E8ED-01E5-6E503B5FDD0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Sometimes the arrow changes</a:t>
            </a:r>
            <a:endParaRPr lang="en-US" sz="32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009141C-1813-7F38-A20B-28D488DD5BE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can replace a current action.</a:t>
            </a:r>
            <a:endParaRPr lang="en-US" sz="16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78AD31A-0155-A1E6-7469-A9ECE0663436}"/>
              </a:ext>
            </a:extLst>
          </p:cNvPr>
          <p:cNvSpPr/>
          <p:nvPr/>
        </p:nvSpPr>
        <p:spPr>
          <a:xfrm>
            <a:off x="3049636" y="2655743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FBA9FB68-F08A-04A9-8F9A-697F6CCC2221}"/>
              </a:ext>
            </a:extLst>
          </p:cNvPr>
          <p:cNvSpPr/>
          <p:nvPr/>
        </p:nvSpPr>
        <p:spPr>
          <a:xfrm>
            <a:off x="3049636" y="1741343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7A9F1458-D5AD-E990-44ED-1332C93A8DF6}"/>
              </a:ext>
            </a:extLst>
          </p:cNvPr>
          <p:cNvSpPr/>
          <p:nvPr/>
        </p:nvSpPr>
        <p:spPr>
          <a:xfrm>
            <a:off x="3964036" y="265574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82015DDA-B519-6AD7-A467-D3C7D9F3AC67}"/>
              </a:ext>
            </a:extLst>
          </p:cNvPr>
          <p:cNvSpPr/>
          <p:nvPr/>
        </p:nvSpPr>
        <p:spPr>
          <a:xfrm>
            <a:off x="3049636" y="357014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F70E55FE-1C72-CA15-2BF5-B97EF8F1AD90}"/>
              </a:ext>
            </a:extLst>
          </p:cNvPr>
          <p:cNvSpPr/>
          <p:nvPr/>
        </p:nvSpPr>
        <p:spPr>
          <a:xfrm>
            <a:off x="2135236" y="265574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365E6801-E8C4-720F-C523-AE4FC1138340}"/>
              </a:ext>
            </a:extLst>
          </p:cNvPr>
          <p:cNvSpPr/>
          <p:nvPr/>
        </p:nvSpPr>
        <p:spPr>
          <a:xfrm>
            <a:off x="3735436" y="2975783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11B82DAE-8383-DD43-9F94-02300F11FA5A}"/>
              </a:ext>
            </a:extLst>
          </p:cNvPr>
          <p:cNvSpPr/>
          <p:nvPr/>
        </p:nvSpPr>
        <p:spPr>
          <a:xfrm>
            <a:off x="3369676" y="3341543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02577631-737F-BFA9-2977-65DF5E77E500}"/>
              </a:ext>
            </a:extLst>
          </p:cNvPr>
          <p:cNvSpPr/>
          <p:nvPr/>
        </p:nvSpPr>
        <p:spPr>
          <a:xfrm>
            <a:off x="2180956" y="4440001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88929B68-65B4-6D24-27DC-8D24ACD1FD58}"/>
              </a:ext>
            </a:extLst>
          </p:cNvPr>
          <p:cNvSpPr/>
          <p:nvPr/>
        </p:nvSpPr>
        <p:spPr>
          <a:xfrm flipV="1">
            <a:off x="3369676" y="2381869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EA30126E-0823-54F5-71D9-E0EB565135B8}"/>
              </a:ext>
            </a:extLst>
          </p:cNvPr>
          <p:cNvSpPr/>
          <p:nvPr/>
        </p:nvSpPr>
        <p:spPr>
          <a:xfrm flipH="1" flipV="1">
            <a:off x="2813742" y="2975783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594A9AF5-1567-FBE4-E6C8-81892D1BF9A1}"/>
              </a:ext>
            </a:extLst>
          </p:cNvPr>
          <p:cNvSpPr/>
          <p:nvPr/>
        </p:nvSpPr>
        <p:spPr>
          <a:xfrm>
            <a:off x="8429132" y="2613424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F6F5EBBB-4A97-AC5A-A7DC-EA3646805613}"/>
              </a:ext>
            </a:extLst>
          </p:cNvPr>
          <p:cNvSpPr/>
          <p:nvPr/>
        </p:nvSpPr>
        <p:spPr>
          <a:xfrm>
            <a:off x="9370964" y="2613424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6.1</a:t>
            </a:r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A18E7272-739A-34AD-32F1-1251C52277E6}"/>
              </a:ext>
            </a:extLst>
          </p:cNvPr>
          <p:cNvSpPr/>
          <p:nvPr/>
        </p:nvSpPr>
        <p:spPr>
          <a:xfrm>
            <a:off x="8429132" y="1699024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4.8</a:t>
            </a: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FC8B71CC-A450-F8D6-8761-FA5C881157E9}"/>
              </a:ext>
            </a:extLst>
          </p:cNvPr>
          <p:cNvSpPr/>
          <p:nvPr/>
        </p:nvSpPr>
        <p:spPr>
          <a:xfrm>
            <a:off x="8429132" y="3527824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DE216AAD-26B0-D89F-1D95-98BDED724433}"/>
              </a:ext>
            </a:extLst>
          </p:cNvPr>
          <p:cNvSpPr/>
          <p:nvPr/>
        </p:nvSpPr>
        <p:spPr>
          <a:xfrm>
            <a:off x="7514732" y="2613424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08B73F8F-9E06-B1EF-9F7F-BB839B3C541D}"/>
              </a:ext>
            </a:extLst>
          </p:cNvPr>
          <p:cNvSpPr/>
          <p:nvPr/>
        </p:nvSpPr>
        <p:spPr>
          <a:xfrm>
            <a:off x="9114932" y="2933464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65" name="Shape 11">
            <a:extLst>
              <a:ext uri="{FF2B5EF4-FFF2-40B4-BE49-F238E27FC236}">
                <a16:creationId xmlns:a16="http://schemas.microsoft.com/office/drawing/2014/main" id="{6653FD7E-DAC9-2316-2382-CB61E0A3A614}"/>
              </a:ext>
            </a:extLst>
          </p:cNvPr>
          <p:cNvSpPr/>
          <p:nvPr/>
        </p:nvSpPr>
        <p:spPr>
          <a:xfrm>
            <a:off x="8749172" y="3299224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BB454803-136A-F64D-D1BF-89949D9C2F2A}"/>
              </a:ext>
            </a:extLst>
          </p:cNvPr>
          <p:cNvSpPr/>
          <p:nvPr/>
        </p:nvSpPr>
        <p:spPr>
          <a:xfrm>
            <a:off x="7560452" y="439768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E</a:t>
            </a:r>
            <a:endParaRPr lang="en-US" dirty="0"/>
          </a:p>
        </p:txBody>
      </p:sp>
      <p:sp>
        <p:nvSpPr>
          <p:cNvPr id="69" name="Shape 10">
            <a:extLst>
              <a:ext uri="{FF2B5EF4-FFF2-40B4-BE49-F238E27FC236}">
                <a16:creationId xmlns:a16="http://schemas.microsoft.com/office/drawing/2014/main" id="{11211F41-9AE5-97DF-E653-B3C11826F215}"/>
              </a:ext>
            </a:extLst>
          </p:cNvPr>
          <p:cNvSpPr/>
          <p:nvPr/>
        </p:nvSpPr>
        <p:spPr>
          <a:xfrm flipV="1">
            <a:off x="8749172" y="2339550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71" name="Shape 10">
            <a:extLst>
              <a:ext uri="{FF2B5EF4-FFF2-40B4-BE49-F238E27FC236}">
                <a16:creationId xmlns:a16="http://schemas.microsoft.com/office/drawing/2014/main" id="{C9AE3A95-28A1-0410-8CF2-C710F9F18796}"/>
              </a:ext>
            </a:extLst>
          </p:cNvPr>
          <p:cNvSpPr/>
          <p:nvPr/>
        </p:nvSpPr>
        <p:spPr>
          <a:xfrm flipH="1" flipV="1">
            <a:off x="8193238" y="2933464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75236" y="1994401"/>
            <a:ext cx="3825894" cy="91440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action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is already the largest value.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99635" y="3364403"/>
            <a:ext cx="6855194" cy="858416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happened, but this state’s policy entry stays North.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4400" y="54041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Rule: choose the greedy action — not “always change the action.”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FE77490B-09A1-054F-13AE-23795677B44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Sometimes the arrow stays exactly where it is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0B035594-018B-A69F-ACA1-CA65CB1F8C4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improvement does not require a change.</a:t>
            </a:r>
            <a:endParaRPr lang="en-US" sz="16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094F29A2-4884-124D-976A-32A8EDBF3D6E}"/>
              </a:ext>
            </a:extLst>
          </p:cNvPr>
          <p:cNvSpPr/>
          <p:nvPr/>
        </p:nvSpPr>
        <p:spPr>
          <a:xfrm>
            <a:off x="2095966" y="2724323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00FE604F-8391-7D40-6055-BE2B1A95E9F1}"/>
              </a:ext>
            </a:extLst>
          </p:cNvPr>
          <p:cNvSpPr/>
          <p:nvPr/>
        </p:nvSpPr>
        <p:spPr>
          <a:xfrm>
            <a:off x="2095966" y="1809923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7.0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9C9204EE-F5DF-E7F8-F36E-135E41E7EFA5}"/>
              </a:ext>
            </a:extLst>
          </p:cNvPr>
          <p:cNvSpPr/>
          <p:nvPr/>
        </p:nvSpPr>
        <p:spPr>
          <a:xfrm>
            <a:off x="3010366" y="272432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5.8</a:t>
            </a: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DFC1C322-2C33-8C27-879C-35E81561EFDA}"/>
              </a:ext>
            </a:extLst>
          </p:cNvPr>
          <p:cNvSpPr/>
          <p:nvPr/>
        </p:nvSpPr>
        <p:spPr>
          <a:xfrm>
            <a:off x="2095966" y="363872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200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74C4E1AF-7046-31D2-D551-2E08E81852F6}"/>
              </a:ext>
            </a:extLst>
          </p:cNvPr>
          <p:cNvSpPr/>
          <p:nvPr/>
        </p:nvSpPr>
        <p:spPr>
          <a:xfrm>
            <a:off x="1181566" y="272432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6744FDEE-70F8-40E9-2270-C403B32CC680}"/>
              </a:ext>
            </a:extLst>
          </p:cNvPr>
          <p:cNvSpPr/>
          <p:nvPr/>
        </p:nvSpPr>
        <p:spPr>
          <a:xfrm>
            <a:off x="2781766" y="3044363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6" name="Shape 11">
            <a:extLst>
              <a:ext uri="{FF2B5EF4-FFF2-40B4-BE49-F238E27FC236}">
                <a16:creationId xmlns:a16="http://schemas.microsoft.com/office/drawing/2014/main" id="{3BA4832A-63EE-EDCE-C7BE-56217C3FFBAF}"/>
              </a:ext>
            </a:extLst>
          </p:cNvPr>
          <p:cNvSpPr/>
          <p:nvPr/>
        </p:nvSpPr>
        <p:spPr>
          <a:xfrm>
            <a:off x="2416006" y="3410123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FA6EDE75-A4B7-65D8-C810-C3FBDF8CB764}"/>
              </a:ext>
            </a:extLst>
          </p:cNvPr>
          <p:cNvSpPr/>
          <p:nvPr/>
        </p:nvSpPr>
        <p:spPr>
          <a:xfrm>
            <a:off x="1227286" y="4508581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0DE8A5E6-C5E3-104A-B0AE-2A5E9E95BB77}"/>
              </a:ext>
            </a:extLst>
          </p:cNvPr>
          <p:cNvSpPr/>
          <p:nvPr/>
        </p:nvSpPr>
        <p:spPr>
          <a:xfrm flipV="1">
            <a:off x="2416006" y="2450449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8E8378AD-D8CD-B8BC-597C-8336DAD0ED66}"/>
              </a:ext>
            </a:extLst>
          </p:cNvPr>
          <p:cNvSpPr/>
          <p:nvPr/>
        </p:nvSpPr>
        <p:spPr>
          <a:xfrm flipH="1" flipV="1">
            <a:off x="1860072" y="3044363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5836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560320" y="160020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3240" y="1600200"/>
            <a:ext cx="502920" cy="502920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00200"/>
            <a:ext cx="502920" cy="50292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1600200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103120"/>
            <a:ext cx="502920" cy="50292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3240" y="260604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69080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30124" y="2392586"/>
            <a:ext cx="2112787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Text 23"/>
          <p:cNvSpPr/>
          <p:nvPr/>
        </p:nvSpPr>
        <p:spPr>
          <a:xfrm>
            <a:off x="7668665" y="1600200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71585" y="1600200"/>
            <a:ext cx="502920" cy="50292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74505" y="1600200"/>
            <a:ext cx="502920" cy="50292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77425" y="1600200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68665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71585" y="2103120"/>
            <a:ext cx="502920" cy="50292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74505" y="210312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77425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68665" y="260604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71585" y="2606040"/>
            <a:ext cx="502920" cy="502920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74505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77425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011680" y="5074920"/>
            <a:ext cx="8046720" cy="50292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arrows → update numbers. UNLOCK arrows → choose better actions.</a:t>
            </a:r>
            <a:endParaRPr lang="en-US" sz="140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A2305E57-C48B-7CCC-44DC-BC185E4D670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memory cue</a:t>
            </a:r>
            <a:endParaRPr lang="en-US" sz="320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D1280DEF-343C-9450-9CD0-4246E3518A94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changes values. Improvement changes actions.</a:t>
            </a:r>
            <a:endParaRPr lang="en-US" sz="1600" dirty="0"/>
          </a:p>
        </p:txBody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A5216C02-B842-A68A-6859-5100FFB3BBB9}"/>
              </a:ext>
            </a:extLst>
          </p:cNvPr>
          <p:cNvSpPr/>
          <p:nvPr/>
        </p:nvSpPr>
        <p:spPr>
          <a:xfrm>
            <a:off x="2148840" y="3538728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DD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115" name="Text 18">
            <a:extLst>
              <a:ext uri="{FF2B5EF4-FFF2-40B4-BE49-F238E27FC236}">
                <a16:creationId xmlns:a16="http://schemas.microsoft.com/office/drawing/2014/main" id="{64EF9E80-E8B9-758E-7471-C3619D60A585}"/>
              </a:ext>
            </a:extLst>
          </p:cNvPr>
          <p:cNvSpPr/>
          <p:nvPr/>
        </p:nvSpPr>
        <p:spPr>
          <a:xfrm>
            <a:off x="2258568" y="3630168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 policy</a:t>
            </a:r>
            <a:endParaRPr lang="en-US" sz="1400" dirty="0"/>
          </a:p>
        </p:txBody>
      </p:sp>
      <p:sp>
        <p:nvSpPr>
          <p:cNvPr id="117" name="Text 19">
            <a:extLst>
              <a:ext uri="{FF2B5EF4-FFF2-40B4-BE49-F238E27FC236}">
                <a16:creationId xmlns:a16="http://schemas.microsoft.com/office/drawing/2014/main" id="{B698481D-2DB7-BDE9-EE61-135CF354D947}"/>
              </a:ext>
            </a:extLst>
          </p:cNvPr>
          <p:cNvSpPr/>
          <p:nvPr/>
        </p:nvSpPr>
        <p:spPr>
          <a:xfrm>
            <a:off x="2258568" y="3922776"/>
            <a:ext cx="26151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Arrows stay fixed.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values change.</a:t>
            </a:r>
            <a:endParaRPr lang="en-US" sz="1600" dirty="0"/>
          </a:p>
        </p:txBody>
      </p:sp>
      <p:sp>
        <p:nvSpPr>
          <p:cNvPr id="119" name="Shape 32">
            <a:extLst>
              <a:ext uri="{FF2B5EF4-FFF2-40B4-BE49-F238E27FC236}">
                <a16:creationId xmlns:a16="http://schemas.microsoft.com/office/drawing/2014/main" id="{390CD8B4-209D-C001-05D6-F00C3D2587B0}"/>
              </a:ext>
            </a:extLst>
          </p:cNvPr>
          <p:cNvSpPr/>
          <p:nvPr/>
        </p:nvSpPr>
        <p:spPr>
          <a:xfrm>
            <a:off x="7342912" y="3534156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FFF2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121" name="Text 33">
            <a:extLst>
              <a:ext uri="{FF2B5EF4-FFF2-40B4-BE49-F238E27FC236}">
                <a16:creationId xmlns:a16="http://schemas.microsoft.com/office/drawing/2014/main" id="{24B17F1A-976B-47EB-2893-BA69B87C43B6}"/>
              </a:ext>
            </a:extLst>
          </p:cNvPr>
          <p:cNvSpPr/>
          <p:nvPr/>
        </p:nvSpPr>
        <p:spPr>
          <a:xfrm>
            <a:off x="7452640" y="3625596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UNLOCKED policy</a:t>
            </a:r>
            <a:endParaRPr lang="en-US" sz="1400" dirty="0"/>
          </a:p>
        </p:txBody>
      </p:sp>
      <p:sp>
        <p:nvSpPr>
          <p:cNvPr id="123" name="Text 34">
            <a:extLst>
              <a:ext uri="{FF2B5EF4-FFF2-40B4-BE49-F238E27FC236}">
                <a16:creationId xmlns:a16="http://schemas.microsoft.com/office/drawing/2014/main" id="{F2C3FA92-F4B5-2E3A-AD51-FD1CE4E35378}"/>
              </a:ext>
            </a:extLst>
          </p:cNvPr>
          <p:cNvSpPr/>
          <p:nvPr/>
        </p:nvSpPr>
        <p:spPr>
          <a:xfrm>
            <a:off x="7452640" y="3918204"/>
            <a:ext cx="26151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guide decisions.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Arrows may change.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36F66-14E2-0CC8-1D06-4A16CE091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FF04B62-8450-82FD-E687-A09F6AA30F28}"/>
              </a:ext>
            </a:extLst>
          </p:cNvPr>
          <p:cNvSpPr/>
          <p:nvPr/>
        </p:nvSpPr>
        <p:spPr>
          <a:xfrm>
            <a:off x="502920" y="65836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1BC077-08D5-A03D-A2C2-614FED480BE5}"/>
              </a:ext>
            </a:extLst>
          </p:cNvPr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004BB7-11DA-E88B-E421-33BC0E82D60A}"/>
              </a:ext>
            </a:extLst>
          </p:cNvPr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2280214-98F3-9073-9B9E-EB9B81A3F4CE}"/>
              </a:ext>
            </a:extLst>
          </p:cNvPr>
          <p:cNvSpPr/>
          <p:nvPr/>
        </p:nvSpPr>
        <p:spPr>
          <a:xfrm>
            <a:off x="1168112" y="1949335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7921C86-7D01-67BD-DF3A-C5D34A22CA49}"/>
              </a:ext>
            </a:extLst>
          </p:cNvPr>
          <p:cNvSpPr/>
          <p:nvPr/>
        </p:nvSpPr>
        <p:spPr>
          <a:xfrm>
            <a:off x="1671032" y="1949335"/>
            <a:ext cx="502920" cy="50292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ECF0F83-19D8-EE16-86E3-4A68EB122647}"/>
              </a:ext>
            </a:extLst>
          </p:cNvPr>
          <p:cNvSpPr/>
          <p:nvPr/>
        </p:nvSpPr>
        <p:spPr>
          <a:xfrm>
            <a:off x="2676872" y="1949335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4783255-577C-54DD-4481-43443C49A9C0}"/>
              </a:ext>
            </a:extLst>
          </p:cNvPr>
          <p:cNvSpPr/>
          <p:nvPr/>
        </p:nvSpPr>
        <p:spPr>
          <a:xfrm>
            <a:off x="1168112" y="2452255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4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10724BA-78F0-8E8E-D5BD-9628DA9B5A2D}"/>
              </a:ext>
            </a:extLst>
          </p:cNvPr>
          <p:cNvSpPr/>
          <p:nvPr/>
        </p:nvSpPr>
        <p:spPr>
          <a:xfrm>
            <a:off x="1671032" y="2452255"/>
            <a:ext cx="502920" cy="50292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1BFDDC4-9460-F6EF-2C72-E13356217FC9}"/>
              </a:ext>
            </a:extLst>
          </p:cNvPr>
          <p:cNvSpPr/>
          <p:nvPr/>
        </p:nvSpPr>
        <p:spPr>
          <a:xfrm>
            <a:off x="2173952" y="2452255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sz="14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D30F229-DEC5-6C1F-C100-A72696B5395E}"/>
              </a:ext>
            </a:extLst>
          </p:cNvPr>
          <p:cNvSpPr/>
          <p:nvPr/>
        </p:nvSpPr>
        <p:spPr>
          <a:xfrm>
            <a:off x="2676872" y="2452255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DBF34BC-F313-6C17-E6CE-4168C494C973}"/>
              </a:ext>
            </a:extLst>
          </p:cNvPr>
          <p:cNvSpPr/>
          <p:nvPr/>
        </p:nvSpPr>
        <p:spPr>
          <a:xfrm>
            <a:off x="1168112" y="2955175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FC2AF4F-EF7B-CDA9-DC66-6FB8AFAAD1B3}"/>
              </a:ext>
            </a:extLst>
          </p:cNvPr>
          <p:cNvSpPr/>
          <p:nvPr/>
        </p:nvSpPr>
        <p:spPr>
          <a:xfrm>
            <a:off x="1671032" y="2955175"/>
            <a:ext cx="502920" cy="502920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sz="14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9018611-46D9-3AFE-3B4B-B5CE40FAAE2E}"/>
              </a:ext>
            </a:extLst>
          </p:cNvPr>
          <p:cNvSpPr/>
          <p:nvPr/>
        </p:nvSpPr>
        <p:spPr>
          <a:xfrm>
            <a:off x="2173952" y="2955175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sz="1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77ABC9D-515A-2FB3-3850-E0338A4145CA}"/>
              </a:ext>
            </a:extLst>
          </p:cNvPr>
          <p:cNvSpPr/>
          <p:nvPr/>
        </p:nvSpPr>
        <p:spPr>
          <a:xfrm>
            <a:off x="2676872" y="2955175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sz="140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E681BFEF-1329-DB5D-3CA3-18550EADDFE9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did the policy not change </a:t>
            </a:r>
            <a:r>
              <a:rPr lang="en-US" sz="3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</a:t>
            </a:r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</a:t>
            </a:r>
            <a:r>
              <a:rPr lang="en-US" sz="3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 </a:t>
            </a:r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320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167905E4-08C3-2536-E831-EE4EDF13FD80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changes values. Improvement changes actions.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C497B02-8105-7368-D2D1-836FA9D3D533}"/>
              </a:ext>
            </a:extLst>
          </p:cNvPr>
          <p:cNvSpPr/>
          <p:nvPr/>
        </p:nvSpPr>
        <p:spPr>
          <a:xfrm>
            <a:off x="2173952" y="1949335"/>
            <a:ext cx="502920" cy="502920"/>
          </a:xfrm>
          <a:prstGeom prst="rect">
            <a:avLst/>
          </a:prstGeom>
          <a:solidFill>
            <a:srgbClr val="CBEDD9"/>
          </a:solidFill>
          <a:ln w="76200">
            <a:solidFill>
              <a:srgbClr val="7030A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F9F0A4-39F5-1209-DCB8-66EB8EE1BD01}"/>
                  </a:ext>
                </a:extLst>
              </p:cNvPr>
              <p:cNvSpPr txBox="1"/>
              <p:nvPr/>
            </p:nvSpPr>
            <p:spPr>
              <a:xfrm>
                <a:off x="6512572" y="960120"/>
                <a:ext cx="4807700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a:rPr lang="en-US" i="1">
                              <a:latin typeface="+mn-lt"/>
                            </a:rPr>
                            <m:t>𝑎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>
                              <a:latin typeface="+mn-lt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′</m:t>
                          </m:r>
                        </m:sub>
                        <m:sup/>
                        <m:e>
                          <m:r>
                            <a:rPr lang="en-US" i="1">
                              <a:latin typeface="+mn-lt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′|</m:t>
                          </m:r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a:rPr lang="en-US" i="1">
                              <a:latin typeface="+mn-lt"/>
                            </a:rPr>
                            <m:t>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𝑅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,</m:t>
                              </m:r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′</m:t>
                              </m:r>
                            </m:e>
                          </m:d>
                          <m:r>
                            <a:rPr lang="en-US" i="0">
                              <a:latin typeface="+mn-lt"/>
                            </a:rPr>
                            <m:t>+</m:t>
                          </m:r>
                          <m:r>
                            <a:rPr lang="en-US" i="1">
                              <a:latin typeface="+mn-lt"/>
                            </a:rPr>
                            <m:t>𝛾</m:t>
                          </m:r>
                          <m:r>
                            <a:rPr lang="en-US" i="1">
                              <a:latin typeface="+mn-lt"/>
                            </a:rPr>
                            <m:t>𝑉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𝑠</m:t>
                              </m:r>
                              <m:r>
                                <a:rPr lang="en-US" i="0">
                                  <a:latin typeface="+mn-lt"/>
                                </a:rPr>
                                <m:t>′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F9F0A4-39F5-1209-DCB8-66EB8EE1B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572" y="960120"/>
                <a:ext cx="4807700" cy="764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D1E83B-6E28-CD8A-EB0E-9B1AE999F81D}"/>
                  </a:ext>
                </a:extLst>
              </p:cNvPr>
              <p:cNvSpPr txBox="1"/>
              <p:nvPr/>
            </p:nvSpPr>
            <p:spPr>
              <a:xfrm>
                <a:off x="594360" y="3975786"/>
                <a:ext cx="370210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/>
                <a:r>
                  <a:rPr lang="en-US" b="1" dirty="0">
                    <a:effectLst/>
                    <a:latin typeface="+mn-lt"/>
                  </a:rPr>
                  <a:t>State to North (Wall Bounce):</a:t>
                </a:r>
                <a:r>
                  <a:rPr lang="en-US" dirty="0"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mtClean="0">
                        <a:latin typeface="+mn-lt"/>
                      </a:rPr>
                      <m:t>16.1</m:t>
                    </m:r>
                  </m:oMath>
                </a14:m>
                <a:endParaRPr lang="en-US" dirty="0">
                  <a:effectLst/>
                  <a:latin typeface="+mn-lt"/>
                </a:endParaRPr>
              </a:p>
              <a:p>
                <a:pPr marR="0" lvl="0"/>
                <a:r>
                  <a:rPr lang="en-US" b="1" dirty="0">
                    <a:effectLst/>
                    <a:latin typeface="+mn-lt"/>
                  </a:rPr>
                  <a:t>State to the West:</a:t>
                </a:r>
                <a:r>
                  <a:rPr lang="en-US" dirty="0"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mtClean="0">
                        <a:latin typeface="+mn-lt"/>
                      </a:rPr>
                      <m:t>12.3</m:t>
                    </m:r>
                  </m:oMath>
                </a14:m>
                <a:endParaRPr lang="en-US" dirty="0">
                  <a:effectLst/>
                  <a:latin typeface="+mn-lt"/>
                </a:endParaRPr>
              </a:p>
              <a:p>
                <a:pPr marR="0" lvl="0"/>
                <a:r>
                  <a:rPr lang="en-US" b="1" dirty="0">
                    <a:effectLst/>
                    <a:latin typeface="+mn-lt"/>
                  </a:rPr>
                  <a:t>State to the South:</a:t>
                </a:r>
                <a:r>
                  <a:rPr lang="en-US" dirty="0"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mtClean="0">
                        <a:latin typeface="+mn-lt"/>
                      </a:rPr>
                      <m:t>−</m:t>
                    </m:r>
                    <m:r>
                      <a:rPr lang="en-US" i="0">
                        <a:latin typeface="+mn-lt"/>
                      </a:rPr>
                      <m:t>12.1</m:t>
                    </m:r>
                  </m:oMath>
                </a14:m>
                <a:endParaRPr lang="en-US" dirty="0">
                  <a:effectLst/>
                  <a:latin typeface="Google Sans Text"/>
                </a:endParaRPr>
              </a:p>
              <a:p>
                <a:pPr marR="0" lvl="0"/>
                <a:r>
                  <a:rPr lang="en-US" b="1" dirty="0"/>
                  <a:t>Discount Fator: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=0.9</m:t>
                    </m:r>
                  </m:oMath>
                </a14:m>
                <a:endParaRPr lang="en-US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ED1E83B-6E28-CD8A-EB0E-9B1AE999F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3975786"/>
                <a:ext cx="3702108" cy="1200329"/>
              </a:xfrm>
              <a:prstGeom prst="rect">
                <a:avLst/>
              </a:prstGeom>
              <a:blipFill>
                <a:blip r:embed="rId4"/>
                <a:stretch>
                  <a:fillRect l="-1483" t="-2030" b="-76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3AEF4-5C4F-8C53-241E-6DCEAA060133}"/>
                  </a:ext>
                </a:extLst>
              </p:cNvPr>
              <p:cNvSpPr txBox="1"/>
              <p:nvPr/>
            </p:nvSpPr>
            <p:spPr>
              <a:xfrm>
                <a:off x="4588625" y="1825564"/>
                <a:ext cx="6105698" cy="2308324"/>
              </a:xfrm>
              <a:prstGeom prst="rect">
                <a:avLst/>
              </a:prstGeom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Evaluating </a:t>
                </a:r>
                <a14:m>
                  <m:oMath xmlns:m="http://schemas.openxmlformats.org/officeDocument/2006/math">
                    <m:r>
                      <a:rPr lang="en-US" i="1"/>
                      <m:t>𝑄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𝑠</m:t>
                        </m:r>
                        <m:r>
                          <a:rPr lang="en-US"/>
                          <m:t>,</m:t>
                        </m:r>
                        <m:r>
                          <m:rPr>
                            <m:nor/>
                          </m:rPr>
                          <a:rPr lang="en-US"/>
                          <m:t>West</m:t>
                        </m:r>
                      </m:e>
                    </m:d>
                  </m:oMath>
                </a14:m>
                <a:endParaRPr lang="en-US" b="1" dirty="0"/>
              </a:p>
              <a:p>
                <a:pPr lvl="0"/>
                <a:r>
                  <a:rPr lang="en-US" b="1" dirty="0"/>
                  <a:t>Intended (West, 80%):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/>
                        </m:ctrlPr>
                      </m:dPr>
                      <m:e>
                        <m:r>
                          <a:rPr lang="en-US"/>
                          <m:t>−1.0+0.9</m:t>
                        </m:r>
                        <m:d>
                          <m:dPr>
                            <m:ctrlPr>
                              <a:rPr lang="en-US"/>
                            </m:ctrlPr>
                          </m:dPr>
                          <m:e>
                            <m:r>
                              <a:rPr lang="en-US"/>
                              <m:t>12.3</m:t>
                            </m:r>
                          </m:e>
                        </m:d>
                      </m:e>
                    </m:d>
                    <m:r>
                      <a:rPr lang="en-US"/>
                      <m:t>=10.07</m:t>
                    </m:r>
                  </m:oMath>
                </a14:m>
                <a:endParaRPr lang="en-US" dirty="0"/>
              </a:p>
              <a:p>
                <a:pPr lvl="0"/>
                <a:r>
                  <a:rPr lang="en-US" b="1" dirty="0"/>
                  <a:t>Slip North (Stay, 10%):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/>
                        </m:ctrlPr>
                      </m:dPr>
                      <m:e>
                        <m:r>
                          <a:rPr lang="en-US"/>
                          <m:t>−1.0+0.9</m:t>
                        </m:r>
                        <m:d>
                          <m:dPr>
                            <m:ctrlPr>
                              <a:rPr lang="en-US"/>
                            </m:ctrlPr>
                          </m:dPr>
                          <m:e>
                            <m:r>
                              <a:rPr lang="en-US"/>
                              <m:t>16.1</m:t>
                            </m:r>
                          </m:e>
                        </m:d>
                      </m:e>
                    </m:d>
                    <m:r>
                      <a:rPr lang="en-US"/>
                      <m:t>=13.49</m:t>
                    </m:r>
                  </m:oMath>
                </a14:m>
                <a:endParaRPr lang="en-US" dirty="0"/>
              </a:p>
              <a:p>
                <a:pPr lvl="0"/>
                <a:r>
                  <a:rPr lang="en-US" b="1" dirty="0"/>
                  <a:t>Slip South (10%):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d>
                      <m:dPr>
                        <m:begChr m:val="["/>
                        <m:endChr m:val="]"/>
                        <m:ctrlPr>
                          <a:rPr lang="en-US"/>
                        </m:ctrlPr>
                      </m:dPr>
                      <m:e>
                        <m:r>
                          <a:rPr lang="en-US"/>
                          <m:t>−1.0+0.9</m:t>
                        </m:r>
                        <m:d>
                          <m:dPr>
                            <m:ctrlPr>
                              <a:rPr lang="en-US"/>
                            </m:ctrlPr>
                          </m:dPr>
                          <m:e>
                            <m:r>
                              <a:rPr lang="en-US"/>
                              <m:t>−12.1</m:t>
                            </m:r>
                          </m:e>
                        </m:d>
                      </m:e>
                    </m:d>
                    <m:r>
                      <a:rPr lang="en-US"/>
                      <m:t>=−11.89</m:t>
                    </m:r>
                  </m:oMath>
                </a14:m>
                <a:endParaRPr lang="en-US" dirty="0"/>
              </a:p>
              <a:p>
                <a:br>
                  <a:rPr lang="en-US" i="1" dirty="0"/>
                </a:br>
                <a14:m>
                  <m:oMathPara xmlns:m="http://schemas.openxmlformats.org/officeDocument/2006/math">
                    <m:oMath>
                      <m:r>
                        <a:rPr lang="en-US" i="1"/>
                        <m:t>𝑄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𝑠</m:t>
                          </m:r>
                          <m:r>
                            <a:rPr lang="en-US"/>
                            <m:t>,</m:t>
                          </m:r>
                          <m:r>
                            <m:rPr>
                              <m:nor/>
                            </m:rPr>
                            <a:rPr lang="en-US"/>
                            <m:t>West</m:t>
                          </m:r>
                        </m:e>
                      </m:d>
                      <m:r>
                        <a:rPr lang="en-US"/>
                        <m:t>=0.8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10.07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13.49</m:t>
                          </m:r>
                        </m:e>
                      </m:d>
                      <m:r>
                        <a:rPr lang="en-US"/>
                        <m:t>+0.1</m:t>
                      </m:r>
                      <m:d>
                        <m:dPr>
                          <m:ctrlPr>
                            <a:rPr lang="en-US"/>
                          </m:ctrlPr>
                        </m:dPr>
                        <m:e>
                          <m:r>
                            <a:rPr lang="en-US"/>
                            <m:t>−11.89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i="1"/>
                        <m:t>𝑄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𝑠</m:t>
                          </m:r>
                          <m:r>
                            <a:rPr lang="en-US"/>
                            <m:t>,</m:t>
                          </m:r>
                          <m:r>
                            <m:rPr>
                              <m:nor/>
                            </m:rPr>
                            <a:rPr lang="en-US"/>
                            <m:t>West</m:t>
                          </m:r>
                        </m:e>
                      </m:d>
                      <m:r>
                        <a:rPr lang="en-US"/>
                        <m:t>=8.056+1.349−1.189</m:t>
                      </m:r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>
                      <m:r>
                        <a:rPr lang="en-US" i="1"/>
                        <m:t>𝑄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r>
                            <a:rPr lang="en-US" i="1"/>
                            <m:t>𝑠</m:t>
                          </m:r>
                          <m:r>
                            <a:rPr lang="en-US"/>
                            <m:t>,</m:t>
                          </m:r>
                          <m:r>
                            <m:rPr>
                              <m:nor/>
                            </m:rPr>
                            <a:rPr lang="en-US"/>
                            <m:t>West</m:t>
                          </m:r>
                        </m:e>
                      </m:d>
                      <m:r>
                        <a:rPr lang="en-US"/>
                        <m:t>≈</m:t>
                      </m:r>
                      <m:r>
                        <a:rPr lang="en-US" b="1" i="1"/>
                        <m:t>𝟖</m:t>
                      </m:r>
                      <m:r>
                        <a:rPr lang="en-US" b="1"/>
                        <m:t>.</m:t>
                      </m:r>
                      <m:r>
                        <a:rPr lang="en-US" b="1" i="1"/>
                        <m:t>𝟐𝟐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3AEF4-5C4F-8C53-241E-6DCEAA060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625" y="1825564"/>
                <a:ext cx="6105698" cy="23083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CFB031-64ED-C0CF-C4A1-ED719E71243B}"/>
                  </a:ext>
                </a:extLst>
              </p:cNvPr>
              <p:cNvSpPr txBox="1"/>
              <p:nvPr/>
            </p:nvSpPr>
            <p:spPr>
              <a:xfrm>
                <a:off x="4588625" y="4333068"/>
                <a:ext cx="6105698" cy="2308324"/>
              </a:xfrm>
              <a:prstGeom prst="rect">
                <a:avLst/>
              </a:prstGeom>
              <a:solidFill>
                <a:schemeClr val="bg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effectLst/>
                    <a:latin typeface="+mn-lt"/>
                  </a:rPr>
                  <a:t>Evaluating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+mn-lt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+mn-lt"/>
                          </a:rPr>
                        </m:ctrlPr>
                      </m:dPr>
                      <m:e>
                        <m:r>
                          <a:rPr lang="en-US" i="1">
                            <a:latin typeface="+mn-lt"/>
                          </a:rPr>
                          <m:t>𝑠</m:t>
                        </m:r>
                        <m:r>
                          <a:rPr lang="en-US" i="0">
                            <a:latin typeface="+mn-lt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>
                            <a:latin typeface="+mn-lt"/>
                          </a:rPr>
                          <m:t>East</m:t>
                        </m:r>
                      </m:e>
                    </m:d>
                  </m:oMath>
                </a14:m>
                <a:br>
                  <a:rPr lang="en-US" b="1" dirty="0">
                    <a:effectLst/>
                    <a:latin typeface="+mn-lt"/>
                  </a:rPr>
                </a:br>
                <a:r>
                  <a:rPr lang="en-US" b="1" dirty="0">
                    <a:effectLst/>
                    <a:latin typeface="+mn-lt"/>
                  </a:rPr>
                  <a:t>Intended (East, 80%):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/>
                        </m:ctrlPr>
                      </m:dPr>
                      <m:e>
                        <m:r>
                          <a:rPr lang="en-US"/>
                          <m:t>10.0+0.9</m:t>
                        </m:r>
                        <m:d>
                          <m:dPr>
                            <m:ctrlPr>
                              <a:rPr lang="en-US"/>
                            </m:ctrlPr>
                          </m:dPr>
                          <m:e>
                            <m:r>
                              <a:rPr lang="en-US"/>
                              <m:t>10.0</m:t>
                            </m:r>
                          </m:e>
                        </m:d>
                      </m:e>
                    </m:d>
                    <m:r>
                      <a:rPr lang="en-US"/>
                      <m:t>=19.0</m:t>
                    </m:r>
                  </m:oMath>
                </a14:m>
                <a:endParaRPr lang="en-US" dirty="0">
                  <a:effectLst/>
                  <a:latin typeface="+mn-lt"/>
                </a:endParaRPr>
              </a:p>
              <a:p>
                <a:pPr marR="0" lvl="0"/>
                <a:r>
                  <a:rPr lang="en-US" b="1" dirty="0">
                    <a:effectLst/>
                    <a:latin typeface="+mn-lt"/>
                  </a:rPr>
                  <a:t>Slip North (Stay, 10%):     </a:t>
                </a:r>
                <a14:m>
                  <m:oMath xmlns:m="http://schemas.openxmlformats.org/officeDocument/2006/math">
                    <m:r>
                      <a:rPr lang="en-US" smtClean="0">
                        <a:latin typeface="+mn-lt"/>
                      </a:rPr>
                      <m:t>13.49</m:t>
                    </m:r>
                  </m:oMath>
                </a14:m>
                <a:endParaRPr lang="en-US" dirty="0">
                  <a:effectLst/>
                  <a:latin typeface="+mn-lt"/>
                </a:endParaRPr>
              </a:p>
              <a:p>
                <a:pPr marR="0" lvl="0"/>
                <a:r>
                  <a:rPr lang="en-US" b="1" dirty="0">
                    <a:effectLst/>
                    <a:latin typeface="+mn-lt"/>
                  </a:rPr>
                  <a:t>Slip South (10%):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smtClean="0">
                        <a:latin typeface="+mn-lt"/>
                      </a:rPr>
                      <m:t>−</m:t>
                    </m:r>
                    <m:r>
                      <a:rPr lang="en-US" i="0">
                        <a:latin typeface="+mn-lt"/>
                      </a:rPr>
                      <m:t>11.89</m:t>
                    </m:r>
                  </m:oMath>
                </a14:m>
                <a:endParaRPr lang="en-US" dirty="0">
                  <a:effectLst/>
                  <a:latin typeface="+mn-lt"/>
                </a:endParaRPr>
              </a:p>
              <a:p>
                <a:pPr marL="0" marR="0">
                  <a:buNone/>
                </a:pPr>
                <a:br>
                  <a:rPr lang="en-US" i="1" dirty="0">
                    <a:latin typeface="+mn-lt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+mn-lt"/>
                            </a:rPr>
                            <m:t>East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=0.8</m:t>
                      </m:r>
                      <m:d>
                        <m:dPr>
                          <m:ctrlPr>
                            <a:rPr lang="en-US" i="0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0">
                              <a:latin typeface="+mn-lt"/>
                            </a:rPr>
                            <m:t>19.0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+0.1</m:t>
                      </m:r>
                      <m:d>
                        <m:dPr>
                          <m:ctrlPr>
                            <a:rPr lang="en-US" i="0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0">
                              <a:latin typeface="+mn-lt"/>
                            </a:rPr>
                            <m:t>13.49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+0.1</m:t>
                      </m:r>
                      <m:d>
                        <m:dPr>
                          <m:ctrlPr>
                            <a:rPr lang="en-US" i="0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0">
                              <a:latin typeface="+mn-lt"/>
                            </a:rPr>
                            <m:t>−11.89</m:t>
                          </m:r>
                        </m:e>
                      </m:d>
                    </m:oMath>
                  </m:oMathPara>
                </a14:m>
                <a:endParaRPr lang="en-US" dirty="0">
                  <a:effectLst/>
                  <a:latin typeface="+mn-lt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+mn-lt"/>
                            </a:rPr>
                            <m:t>East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=15.2+1.349−1.189</m:t>
                      </m:r>
                    </m:oMath>
                  </m:oMathPara>
                </a14:m>
                <a:endParaRPr lang="en-US" dirty="0">
                  <a:effectLst/>
                  <a:latin typeface="+mn-lt"/>
                </a:endParaRPr>
              </a:p>
              <a:p>
                <a:pPr marL="0" marR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i="0">
                              <a:latin typeface="+mn-lt"/>
                            </a:rPr>
                            <m:t>East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≈</m:t>
                      </m:r>
                      <m:r>
                        <a:rPr lang="en-US" b="1" i="0"/>
                        <m:t>𝟏𝟓</m:t>
                      </m:r>
                      <m:r>
                        <a:rPr lang="en-US" b="1" i="0"/>
                        <m:t>.</m:t>
                      </m:r>
                      <m:r>
                        <a:rPr lang="en-US" b="1" i="0"/>
                        <m:t>𝟑𝟔</m:t>
                      </m:r>
                    </m:oMath>
                  </m:oMathPara>
                </a14:m>
                <a:endParaRPr lang="en-US" b="1" dirty="0">
                  <a:effectLst/>
                  <a:latin typeface="Google Sans Text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CFB031-64ED-C0CF-C4A1-ED719E712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625" y="4333068"/>
                <a:ext cx="6105698" cy="230832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65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6034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1754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7474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3194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6034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7540" y="2302829"/>
            <a:ext cx="457200" cy="45720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7474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194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603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175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747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19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08980" y="3400109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π₀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263460" y="2531429"/>
            <a:ext cx="73152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526930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26500" y="1845629"/>
            <a:ext cx="457200" cy="45720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3700" y="1845629"/>
            <a:ext cx="457200" cy="45720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4090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930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26500" y="2302829"/>
            <a:ext cx="457200" cy="45720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3700" y="2302829"/>
            <a:ext cx="457200" cy="45720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4090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69300" y="27600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26500" y="2760029"/>
            <a:ext cx="457200" cy="457200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3700" y="2760029"/>
            <a:ext cx="457200" cy="45720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0900" y="2760029"/>
            <a:ext cx="457200" cy="45720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69300" y="3400109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π₀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372420" y="2531429"/>
            <a:ext cx="73152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4" name="Text 32"/>
          <p:cNvSpPr/>
          <p:nvPr/>
        </p:nvSpPr>
        <p:spPr>
          <a:xfrm>
            <a:off x="837826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3546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9266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4986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7826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35460" y="2302829"/>
            <a:ext cx="457200" cy="45720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9266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4986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782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354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926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498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31949" y="3400109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π₁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14400" y="49834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Policy iteration alternates: evaluate the current policy, then improve it.</a:t>
            </a:r>
            <a:endParaRPr lang="en-US" sz="1600" dirty="0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7BDA7DB0-1B23-333F-1945-CD5A75EB1E2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complete policy-iteration cycle</a:t>
            </a:r>
            <a:endParaRPr lang="en-US" sz="320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DE32F24A-4F77-DD2F-40E1-D9FB7ECF6966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policy becomes a value estimate, then an improved policy.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25162" y="5592684"/>
            <a:ext cx="8088607" cy="548634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continues until improvement produces no changes.</a:t>
            </a:r>
            <a:endParaRPr lang="en-US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AB0393B9-10CF-8704-200D-52E61EA9054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do it again</a:t>
            </a:r>
            <a:endParaRPr lang="en-US" sz="32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B3706A0-3BB5-9D19-47EE-56BAF02C77F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improved policy becomes the new current policy.</a:t>
            </a:r>
            <a:endParaRPr lang="en-US" sz="16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ABDCF5E4-B496-817E-E95E-B29DBCA3F6ED}"/>
              </a:ext>
            </a:extLst>
          </p:cNvPr>
          <p:cNvSpPr/>
          <p:nvPr/>
        </p:nvSpPr>
        <p:spPr>
          <a:xfrm>
            <a:off x="792480" y="1819656"/>
            <a:ext cx="1989734" cy="694944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π₀</a:t>
            </a:r>
            <a:endParaRPr lang="en-US" sz="14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F22205F9-65A6-A504-DE25-AD1A6EFDD153}"/>
              </a:ext>
            </a:extLst>
          </p:cNvPr>
          <p:cNvSpPr/>
          <p:nvPr/>
        </p:nvSpPr>
        <p:spPr>
          <a:xfrm>
            <a:off x="2782214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387CF88F-9998-66C2-7493-3BB49DD90CC0}"/>
              </a:ext>
            </a:extLst>
          </p:cNvPr>
          <p:cNvSpPr/>
          <p:nvPr/>
        </p:nvSpPr>
        <p:spPr>
          <a:xfrm>
            <a:off x="2946806" y="1819656"/>
            <a:ext cx="1989734" cy="694944"/>
          </a:xfrm>
          <a:prstGeom prst="rect">
            <a:avLst/>
          </a:prstGeom>
          <a:solidFill>
            <a:srgbClr val="EAF2F8"/>
          </a:solidFill>
          <a:ln w="12700">
            <a:solidFill>
              <a:srgbClr val="F2C14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V^π₀</a:t>
            </a:r>
            <a:endParaRPr lang="en-US" sz="14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7AAAFA12-C83F-87DD-46F3-D072D505A1A0}"/>
              </a:ext>
            </a:extLst>
          </p:cNvPr>
          <p:cNvSpPr/>
          <p:nvPr/>
        </p:nvSpPr>
        <p:spPr>
          <a:xfrm>
            <a:off x="4936541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4E19F278-A4AD-3C67-582A-307F3C6F653C}"/>
              </a:ext>
            </a:extLst>
          </p:cNvPr>
          <p:cNvSpPr/>
          <p:nvPr/>
        </p:nvSpPr>
        <p:spPr>
          <a:xfrm>
            <a:off x="5101133" y="1819656"/>
            <a:ext cx="1989734" cy="694944"/>
          </a:xfrm>
          <a:prstGeom prst="rect">
            <a:avLst/>
          </a:prstGeom>
          <a:solidFill>
            <a:srgbClr val="FFF7DC"/>
          </a:solidFill>
          <a:ln w="12700">
            <a:solidFill>
              <a:srgbClr val="1F5D9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to π₁</a:t>
            </a:r>
            <a:endParaRPr lang="en-US" sz="14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309B7C7-D70B-A810-D02B-D3722EE3F4E5}"/>
              </a:ext>
            </a:extLst>
          </p:cNvPr>
          <p:cNvSpPr/>
          <p:nvPr/>
        </p:nvSpPr>
        <p:spPr>
          <a:xfrm>
            <a:off x="7090867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A87710C8-05CC-A8CA-F815-C351D6DEA46F}"/>
              </a:ext>
            </a:extLst>
          </p:cNvPr>
          <p:cNvSpPr/>
          <p:nvPr/>
        </p:nvSpPr>
        <p:spPr>
          <a:xfrm>
            <a:off x="7255459" y="1819656"/>
            <a:ext cx="1989734" cy="694944"/>
          </a:xfrm>
          <a:prstGeom prst="rect">
            <a:avLst/>
          </a:prstGeom>
          <a:solidFill>
            <a:srgbClr val="EAF2F8"/>
          </a:solidFill>
          <a:ln w="12700">
            <a:solidFill>
              <a:srgbClr val="F2C14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V^π₁</a:t>
            </a:r>
            <a:endParaRPr lang="en-US" sz="14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729B9BE0-F1C6-35CA-8E65-742B72F12F07}"/>
              </a:ext>
            </a:extLst>
          </p:cNvPr>
          <p:cNvSpPr/>
          <p:nvPr/>
        </p:nvSpPr>
        <p:spPr>
          <a:xfrm>
            <a:off x="9245194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DD3C5A16-8458-A42E-0745-80E758AB9A2C}"/>
              </a:ext>
            </a:extLst>
          </p:cNvPr>
          <p:cNvSpPr/>
          <p:nvPr/>
        </p:nvSpPr>
        <p:spPr>
          <a:xfrm>
            <a:off x="9409786" y="1819656"/>
            <a:ext cx="1989734" cy="694944"/>
          </a:xfrm>
          <a:prstGeom prst="rect">
            <a:avLst/>
          </a:prstGeom>
          <a:solidFill>
            <a:srgbClr val="FFF7DC"/>
          </a:solidFill>
          <a:ln w="12700">
            <a:solidFill>
              <a:srgbClr val="1F5D9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again</a:t>
            </a:r>
            <a:endParaRPr lang="en-US" sz="14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E9412EF4-709D-E78F-17D4-7AD039861C26}"/>
              </a:ext>
            </a:extLst>
          </p:cNvPr>
          <p:cNvSpPr/>
          <p:nvPr/>
        </p:nvSpPr>
        <p:spPr>
          <a:xfrm>
            <a:off x="883920" y="2962656"/>
            <a:ext cx="1828800" cy="393192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1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0B53F96C-6485-5F78-5F3A-6AFD2B2DB495}"/>
              </a:ext>
            </a:extLst>
          </p:cNvPr>
          <p:cNvSpPr/>
          <p:nvPr/>
        </p:nvSpPr>
        <p:spPr>
          <a:xfrm>
            <a:off x="2712720" y="2962656"/>
            <a:ext cx="1828800" cy="393192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π₀</a:t>
            </a:r>
            <a:endParaRPr lang="en-US" sz="11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765F5D07-5F03-A402-AD57-1A266645B95B}"/>
              </a:ext>
            </a:extLst>
          </p:cNvPr>
          <p:cNvSpPr/>
          <p:nvPr/>
        </p:nvSpPr>
        <p:spPr>
          <a:xfrm>
            <a:off x="4541520" y="2962656"/>
            <a:ext cx="1828800" cy="393192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π₁</a:t>
            </a:r>
            <a:endParaRPr lang="en-US" sz="11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FFD12E90-23D3-663E-C86C-86C744093CC3}"/>
              </a:ext>
            </a:extLst>
          </p:cNvPr>
          <p:cNvSpPr/>
          <p:nvPr/>
        </p:nvSpPr>
        <p:spPr>
          <a:xfrm>
            <a:off x="883920" y="335584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569CE5F7-B6A3-79BC-B73B-85E2506926CA}"/>
              </a:ext>
            </a:extLst>
          </p:cNvPr>
          <p:cNvSpPr/>
          <p:nvPr/>
        </p:nvSpPr>
        <p:spPr>
          <a:xfrm>
            <a:off x="2712720" y="335584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</a:t>
            </a:r>
            <a:endParaRPr lang="en-US" sz="14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D0A1DB09-1EF5-EF31-ABCC-75D78BBDC65C}"/>
              </a:ext>
            </a:extLst>
          </p:cNvPr>
          <p:cNvSpPr/>
          <p:nvPr/>
        </p:nvSpPr>
        <p:spPr>
          <a:xfrm>
            <a:off x="4541520" y="335584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140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197CB6D2-2257-1788-C4AA-617C5263D4A3}"/>
              </a:ext>
            </a:extLst>
          </p:cNvPr>
          <p:cNvSpPr/>
          <p:nvPr/>
        </p:nvSpPr>
        <p:spPr>
          <a:xfrm>
            <a:off x="883920" y="3749040"/>
            <a:ext cx="1828800" cy="393192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F7BE9A91-4505-99AB-1E50-12B4E4ACDCA3}"/>
              </a:ext>
            </a:extLst>
          </p:cNvPr>
          <p:cNvSpPr/>
          <p:nvPr/>
        </p:nvSpPr>
        <p:spPr>
          <a:xfrm>
            <a:off x="2712720" y="3749040"/>
            <a:ext cx="1828800" cy="393192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14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D0D00D27-4DEF-182F-FB91-7E153E8F25C1}"/>
              </a:ext>
            </a:extLst>
          </p:cNvPr>
          <p:cNvSpPr/>
          <p:nvPr/>
        </p:nvSpPr>
        <p:spPr>
          <a:xfrm>
            <a:off x="4541520" y="3749040"/>
            <a:ext cx="1828800" cy="393192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1400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3B37EE5C-49D4-CD24-05B0-C9F897389346}"/>
              </a:ext>
            </a:extLst>
          </p:cNvPr>
          <p:cNvSpPr/>
          <p:nvPr/>
        </p:nvSpPr>
        <p:spPr>
          <a:xfrm>
            <a:off x="883920" y="414223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B5C20878-252C-74C6-141B-20A1BB7E2FC3}"/>
              </a:ext>
            </a:extLst>
          </p:cNvPr>
          <p:cNvSpPr/>
          <p:nvPr/>
        </p:nvSpPr>
        <p:spPr>
          <a:xfrm>
            <a:off x="2712720" y="414223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Shed</a:t>
            </a:r>
            <a:endParaRPr lang="en-US" sz="14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9A26E6F6-03E6-E423-27DB-628CE3253D29}"/>
              </a:ext>
            </a:extLst>
          </p:cNvPr>
          <p:cNvSpPr/>
          <p:nvPr/>
        </p:nvSpPr>
        <p:spPr>
          <a:xfrm>
            <a:off x="4541520" y="414223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Shed</a:t>
            </a:r>
            <a:endParaRPr lang="en-US" sz="1400" dirty="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88395BA3-ED46-0DAD-87AB-A689B3B1080B}"/>
              </a:ext>
            </a:extLst>
          </p:cNvPr>
          <p:cNvSpPr/>
          <p:nvPr/>
        </p:nvSpPr>
        <p:spPr>
          <a:xfrm>
            <a:off x="6461760" y="3054096"/>
            <a:ext cx="4389120" cy="329184"/>
          </a:xfrm>
          <a:prstGeom prst="rect">
            <a:avLst/>
          </a:prstGeom>
          <a:solidFill>
            <a:srgbClr val="F2C14E"/>
          </a:solidFill>
          <a:ln w="6350">
            <a:solidFill>
              <a:srgbClr val="F2C14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</a:t>
            </a:r>
            <a:endParaRPr lang="en-US" sz="105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E334918E-63CA-9710-771E-2F89DE3A69D0}"/>
              </a:ext>
            </a:extLst>
          </p:cNvPr>
          <p:cNvSpPr/>
          <p:nvPr/>
        </p:nvSpPr>
        <p:spPr>
          <a:xfrm>
            <a:off x="6461760" y="3474720"/>
            <a:ext cx="4389120" cy="1225296"/>
          </a:xfrm>
          <a:prstGeom prst="rect">
            <a:avLst/>
          </a:prstGeom>
          <a:solidFill>
            <a:srgbClr val="FFF7DC"/>
          </a:solidFill>
          <a:ln w="6350">
            <a:solidFill>
              <a:srgbClr val="D9E0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at least one action changed, the new policy must be evaluated next.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03931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70859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37787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4715" y="1975104"/>
            <a:ext cx="566928" cy="56692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03931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0859" y="2542032"/>
            <a:ext cx="566928" cy="56692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37787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04715" y="2542032"/>
            <a:ext cx="566928" cy="56692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03931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0859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37787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4715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12891" y="2798064"/>
            <a:ext cx="91440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7093051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59979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6907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93835" y="1975104"/>
            <a:ext cx="566928" cy="56692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93051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59979" y="2542032"/>
            <a:ext cx="566928" cy="56692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6907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93835" y="2542032"/>
            <a:ext cx="566928" cy="56692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93051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59979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6907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93835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11680" y="4800600"/>
            <a:ext cx="813816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arrows changed → policy stable → stop.</a:t>
            </a:r>
            <a:endParaRPr lang="en-US" sz="16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7ACB6B69-C70B-ACA4-06DB-840DC94B508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do we stop?</a:t>
            </a:r>
            <a:endParaRPr lang="en-US" sz="32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673BD86F-D9AB-A2E5-8864-12ACF85F6A9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 terminates when the policy is stable.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0" cy="27432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value estimates change by less than a tolerance.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small.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0" y="1965960"/>
            <a:ext cx="4572000" cy="27432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improvement produces the same policy.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arrows changed.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9640" y="546822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</a:rPr>
              <a:t>VI watches the numbers. PI watches the arrows.</a:t>
            </a:r>
            <a:endParaRPr lang="en-US" sz="18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56C3CEC-47C6-3F00-5342-04DD3A632B4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stability is different from value convergence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F0E1A39C-5DCC-68A1-202E-7D43BC92237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algorithms use different stopping signals.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911096"/>
            <a:ext cx="4846320" cy="23774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V₀ → Bellman optimality backup → V₁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occurs inside each backup.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37960" y="1911096"/>
            <a:ext cx="4846320" cy="23774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π₀ → evaluate π₀ → improve → π₁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occurs during improvement.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72640" y="5120640"/>
            <a:ext cx="8046720" cy="5486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 mixes judging and choosing. PI separates judging from choosing.</a:t>
            </a:r>
            <a:endParaRPr lang="en-US" sz="1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BF7F1154-7496-BA2D-E364-015277EB377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 vs. PI: same ingredients, different organization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B4CBE8D5-CBCF-DCAA-0DF4-F71BA137545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use model-based Bellman reasoning.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602444"/>
            <a:ext cx="4754880" cy="2741376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backup: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actions → MAX → updated V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83680" y="1602444"/>
            <a:ext cx="4754880" cy="2741376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Evaluation: 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π only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Improvement: 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actions → MAX → new π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09800" y="4939583"/>
            <a:ext cx="7772400" cy="566928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MAX during evaluation of a fixed deterministic policy.</a:t>
            </a:r>
            <a:endParaRPr lang="en-US" sz="15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4D99132-3BC3-45B9-3E7E-8EA306E37170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does MAX happen?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2AA5302-6867-D239-94AD-7839E6A85A6C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placement of MAX tells the story.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800470"/>
            <a:ext cx="2148840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800470"/>
            <a:ext cx="2148840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800470"/>
            <a:ext cx="2148840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0" y="1800470"/>
            <a:ext cx="2148840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3670" y="3439939"/>
            <a:ext cx="4754880" cy="10058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for 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P(s′|s,a) and R determine the expected return under the policy.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1510" y="3439939"/>
            <a:ext cx="4754880" cy="10058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question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those transition probabilities are unknown?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5110" y="53675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This sets up Q-learning: learning from experience instead of a known model.</a:t>
            </a:r>
            <a:endParaRPr lang="en-US" sz="16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24DEC932-AE8C-B8C8-70E2-B0F97A2A2FE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Both are model-based</a:t>
            </a:r>
            <a:endParaRPr lang="en-US" sz="32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0AA1A9D-283C-34D6-5A66-761639EC1E60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 still needs the MDP model.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1873" y="1920240"/>
            <a:ext cx="91440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96273" y="1920240"/>
            <a:ext cx="155448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0753" y="1920240"/>
            <a:ext cx="118872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Q(Hold)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39473" y="1920240"/>
            <a:ext cx="118872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Q(Charge)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8193" y="1920240"/>
            <a:ext cx="155448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873" y="2446020"/>
            <a:ext cx="91440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96273" y="244602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0753" y="244602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39473" y="244602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28193" y="244602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873" y="2971800"/>
            <a:ext cx="91440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96273" y="2971800"/>
            <a:ext cx="155448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0753" y="2971800"/>
            <a:ext cx="118872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39473" y="2971800"/>
            <a:ext cx="118872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28193" y="2971800"/>
            <a:ext cx="155448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873" y="3497580"/>
            <a:ext cx="91440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96273" y="349758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0753" y="349758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9473" y="349758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28193" y="349758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31313" y="2199132"/>
            <a:ext cx="4115642" cy="15087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Fill in the improved action.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Identify which states changed.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Decide whether the policy is stable.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Improvement chooses the highest action value at each state.</a:t>
            </a:r>
            <a:endParaRPr lang="en-US" sz="160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4D5AD1F2-89F0-A8CC-8105-F3DFE5C81781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policy-improvement sprint</a:t>
            </a:r>
            <a:endParaRPr lang="en-US" sz="32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BBE5E66F-B41F-0BF4-D3E5-04334060E44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evaluated action values to improve the policy.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97280" y="2084832"/>
            <a:ext cx="3017520" cy="20116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policy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Hold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Charge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→ Hold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80560" y="3090672"/>
            <a:ext cx="73152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5577840" y="2084832"/>
            <a:ext cx="3017520" cy="201168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improvement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Charge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Hold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→ Hold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284245" y="2377440"/>
            <a:ext cx="2194560" cy="13716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policy stable?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next?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If any action changes, the new policy must be evaluated.</a:t>
            </a:r>
            <a:endParaRPr lang="en-US" sz="16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7A2166E0-A229-29A4-FB8A-30E53A80F01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cycle: are we done?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D1A8A07-643C-7C5C-27EA-4DA9324288A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current policy to the improved policy.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772400" cy="603504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Statement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0" y="1783080"/>
            <a:ext cx="2468880" cy="603504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77724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Policy </a:t>
            </a:r>
            <a:r>
              <a:rPr lang="en-US" b="1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finds the optimal policy.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0" y="2386584"/>
            <a:ext cx="246888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2990088"/>
            <a:ext cx="777240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The evaluation phase of a fixed deterministic policy uses MAX over actions.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86800" y="2990088"/>
            <a:ext cx="246888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3593592"/>
            <a:ext cx="77724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The Improvement phase must always change the action.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86800" y="3593592"/>
            <a:ext cx="246888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4197096"/>
            <a:ext cx="777240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Policy iteration stops when no policy entries change.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86800" y="4197096"/>
            <a:ext cx="246888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The most common errors confuse evaluation with improvement.</a:t>
            </a:r>
            <a:endParaRPr lang="en-US" sz="16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96C23A2C-D69D-6AA5-8C35-04F6176228A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diagnose the mistake</a:t>
            </a:r>
            <a:endParaRPr lang="en-US" sz="32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293AC522-8FAB-EC54-F6C2-48729150A839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each statement as correct or incorrect.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800750"/>
            <a:ext cx="4251960" cy="3045569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choose initial policy π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repeat: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evaluate π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stable = true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for each state s: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old = π(s)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π(s) = best action using V</a:t>
            </a:r>
            <a:r>
              <a:rPr lang="en-US" baseline="30000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π</a:t>
            </a:r>
            <a:endParaRPr lang="en-US" baseline="300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if π(s) != old: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  stable = false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until stable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0" y="1577340"/>
            <a:ext cx="1645920" cy="77724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1961388"/>
            <a:ext cx="54864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1000" y="1577340"/>
            <a:ext cx="1645920" cy="777240"/>
          </a:xfrm>
          <a:prstGeom prst="rect">
            <a:avLst/>
          </a:prstGeom>
          <a:solidFill>
            <a:srgbClr val="2AA876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02368" y="1961388"/>
            <a:ext cx="54864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0" y="1577340"/>
            <a:ext cx="1097280" cy="7772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The loop ends only when the improvement pass makes no changes.</a:t>
            </a:r>
            <a:endParaRPr lang="en-US" sz="155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87B1ED6F-D289-2B3A-31C7-F4E82776239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policy iteration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86331C7-23DA-4F34-FDD4-9F050184B96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each part of the pseudocode to a visual phase.</a:t>
            </a:r>
            <a:endParaRPr lang="en-US" sz="16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26B75F3-5D4B-25A8-4D64-D44F9E68AEE1}"/>
              </a:ext>
            </a:extLst>
          </p:cNvPr>
          <p:cNvSpPr/>
          <p:nvPr/>
        </p:nvSpPr>
        <p:spPr>
          <a:xfrm>
            <a:off x="7439738" y="3030661"/>
            <a:ext cx="2512076" cy="1234440"/>
          </a:xfrm>
          <a:prstGeom prst="roundRect">
            <a:avLst>
              <a:gd name="adj" fmla="val 4444"/>
            </a:avLst>
          </a:prstGeom>
          <a:solidFill>
            <a:srgbClr val="FFF2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A7681E38-F805-3E73-ED34-AB9BF0037B50}"/>
              </a:ext>
            </a:extLst>
          </p:cNvPr>
          <p:cNvSpPr/>
          <p:nvPr/>
        </p:nvSpPr>
        <p:spPr>
          <a:xfrm>
            <a:off x="7549466" y="3122101"/>
            <a:ext cx="238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9E57A18D-6814-7AEA-2317-E030290F9852}"/>
              </a:ext>
            </a:extLst>
          </p:cNvPr>
          <p:cNvSpPr/>
          <p:nvPr/>
        </p:nvSpPr>
        <p:spPr>
          <a:xfrm>
            <a:off x="7549466" y="3414709"/>
            <a:ext cx="23864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lines evaluate?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lines improve?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save old?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causes termination?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829081"/>
            <a:ext cx="5029200" cy="10058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__________ fixed and estimate __________.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5080" y="1829081"/>
            <a:ext cx="5029200" cy="10058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__________ action using the evaluated values.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3337841"/>
            <a:ext cx="502920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at least one action changes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______________________________.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3337841"/>
            <a:ext cx="502920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actions change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______________________________.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4553208"/>
            <a:ext cx="8321040" cy="7772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One-sentence comparison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policy iteration differ from value iteration?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5760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82B55"/>
                </a:solidFill>
              </a:rPr>
              <a:t>Next: What if we do not know the transition probabilities at all?</a:t>
            </a:r>
            <a:endParaRPr lang="en-US" sz="145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BA249F2A-3C62-9A09-79A9-F1F69A4F1B87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ticket: rebuild policy iteration</a:t>
            </a:r>
            <a:endParaRPr lang="en-US" sz="3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02E7347-34C9-6008-E872-804251D343E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two-phase story.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B5596-152B-0DAA-1207-49AC61C5EE3E}"/>
              </a:ext>
            </a:extLst>
          </p:cNvPr>
          <p:cNvSpPr txBox="1"/>
          <p:nvPr/>
        </p:nvSpPr>
        <p:spPr>
          <a:xfrm>
            <a:off x="239168" y="1515425"/>
            <a:ext cx="610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evaluation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C643D0-4918-561B-1D54-B835FFE62279}"/>
              </a:ext>
            </a:extLst>
          </p:cNvPr>
          <p:cNvSpPr txBox="1"/>
          <p:nvPr/>
        </p:nvSpPr>
        <p:spPr>
          <a:xfrm>
            <a:off x="5852160" y="1490293"/>
            <a:ext cx="6100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improvement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56f87f42-bac6-49e2-b9d5-04744cb514ee" xsi:nil="true"/>
    <lcf76f155ced4ddcb4097134ff3c332f xmlns="fcae3b96-bd14-4ee2-8386-a94084e60018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7D154A9B6B4745A92074A700A40869" ma:contentTypeVersion="24" ma:contentTypeDescription="Create a new document." ma:contentTypeScope="" ma:versionID="49c36a49e684e25092aa685b0fe35842">
  <xsd:schema xmlns:xsd="http://www.w3.org/2001/XMLSchema" xmlns:xs="http://www.w3.org/2001/XMLSchema" xmlns:p="http://schemas.microsoft.com/office/2006/metadata/properties" xmlns:ns1="http://schemas.microsoft.com/sharepoint/v3" xmlns:ns2="fcae3b96-bd14-4ee2-8386-a94084e60018" xmlns:ns3="56f87f42-bac6-49e2-b9d5-04744cb514ee" targetNamespace="http://schemas.microsoft.com/office/2006/metadata/properties" ma:root="true" ma:fieldsID="9c960b9d532a5d3a9032170b89435a2d" ns1:_="" ns2:_="" ns3:_="">
    <xsd:import namespace="http://schemas.microsoft.com/sharepoint/v3"/>
    <xsd:import namespace="fcae3b96-bd14-4ee2-8386-a94084e60018"/>
    <xsd:import namespace="56f87f42-bac6-49e2-b9d5-04744cb514e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e3b96-bd14-4ee2-8386-a94084e60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87f42-bac6-49e2-b9d5-04744cb514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8e345d7-e916-42f7-ade4-36d8c15b0911}" ma:internalName="TaxCatchAll" ma:showField="CatchAllData" ma:web="56f87f42-bac6-49e2-b9d5-04744cb514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A64697-FCEF-4A42-AB49-8CC9E80E8B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7DABD0-B9F6-4F32-AAFC-E7E71FF8D4F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56f87f42-bac6-49e2-b9d5-04744cb514ee"/>
    <ds:schemaRef ds:uri="fcae3b96-bd14-4ee2-8386-a94084e60018"/>
  </ds:schemaRefs>
</ds:datastoreItem>
</file>

<file path=customXml/itemProps3.xml><?xml version="1.0" encoding="utf-8"?>
<ds:datastoreItem xmlns:ds="http://schemas.openxmlformats.org/officeDocument/2006/customXml" ds:itemID="{3BD0AB8D-7916-4238-A60E-359F9AF205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cae3b96-bd14-4ee2-8386-a94084e60018"/>
    <ds:schemaRef ds:uri="56f87f42-bac6-49e2-b9d5-04744cb514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8897</TotalTime>
  <Words>3828</Words>
  <Application>Microsoft Office PowerPoint</Application>
  <PresentationFormat>Widescreen</PresentationFormat>
  <Paragraphs>1090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Consolas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CompSci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14 Policy Iteration</dc:title>
  <dc:subject>Lesson 14: Policy Iteration</dc:subject>
  <dc:creator>CS 471 Instructional Team</dc:creator>
  <cp:lastModifiedBy>Michael Todd</cp:lastModifiedBy>
  <cp:revision>8</cp:revision>
  <dcterms:created xsi:type="dcterms:W3CDTF">2026-08-25T22:23:54Z</dcterms:created>
  <dcterms:modified xsi:type="dcterms:W3CDTF">2026-09-16T02:27:02Z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0x0101006A7D154A9B6B4745A92074A700A40869</vt:lpwstr>
  </property>
  <property fmtid="{D5CDD505-2E9C-101B-9397-08002B2CF9AE}" pid="3" name="MediaServiceImageTags">
    <vt:lpwstr/>
  </property>
</Properties>
</file>